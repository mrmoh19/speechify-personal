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Names, course number on the board. This course has one running example: a town called Farrlandia. By the end of today you will have caught your first spurious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sit. Coffee, drugs, air, vaccines: every health claim they trust arrived through somebody comparing groups of people. This course is about how that comparing is done well, and how it goes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 today. We start with a puzzle, not a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answers for two minutes. Someone will say experiment; hold that thought for week 8. Someone will say ask doctors; push on why that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DEMO, about eight minutes. Open the site, play the coffee story to the first reveal only. Stop before the smoking split. Come back to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scaffold first. Ask: what four numbers do we need? Students name the cells before seeing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table, filled. Coffee drinkers had 3.4 times the risk. Pause. Ask the room: do we warn the public?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 the next table yet. Ask what they now suspect will happen if we look at smokers and non-smokers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again. Predictions first,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3.4 is nearly gone in both groups. Same people, same counts, one extra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extra question dissolved a finding that looked publishable. Everything in this course is machinery for asking that extra question on purpose rather than by luck.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working definition for the semester. The formal one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two. Now the definition can land, because they have seen the thing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definition, unpacked. Application is in the definition on purpose; this is the book's argument about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from clinical backgrounds this is the reorientation. My own path ran through an HIV treatment centre before population work; one patient at a time was never going to explain the pattern in the queue outside.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Farr built vital statistics. Our town is named for him. The quote is the course in one line: counts are facts, and everything else we say is inference that can be done carefully or carelessly.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catalogue without naming it all: confounding, selection, measurement, chance. Each gets its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three: the framework the whole book hangs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all seven aloud, slowly. This list returns at the start of every lecture with our position marked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is a decision that can quietly wreck a study. Measurement's hidden politics is the Consequence Box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coffee example lives here: we estimated 3.4 and the causal claim collapsed.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and external validity, the two steps most curricula squeeze out. The book gives them full chapters and so do 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papers becomes auditing decisions. That is the skill on the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part: how the course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sessions are hands-on in the Farrlandia data. Laptops required Thursdays.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the payoff plainly: in real data you never know the answer; in Farrlandia you can check yours. The colliery, the clinic, and the closed factory are waiting in later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 in brackets are for your syllabus decisions; fill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from the syllabus. Grad section: the project plus two lab analyses are the D2 competency-one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Thursday is the first lab: loading the census, computing a prevalence by hand and by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site. Nothing else on this slide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Epidemiology Matters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Lecture 1  ·  A pattern in a population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98989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Mohammed Abba-Aji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8989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Washington University in St. Louis  ·  School of Public Health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0"/>
            <a:ext cx="749808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Almost everything you believe about your health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began as a pattern in a population.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371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1.  A puzzle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2.  What epidemiology is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3.  The seven steps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4.  This course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 question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Does drinking coffee cause heart attacks?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You have seen the headlines in both directions.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How would you actually find out?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240 people in Farrlandia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We followed 240 adults in an imagined town.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For each: coffee habit, and whether they had a heart attack.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epidemiologymatters.com  →  the opening story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What we counted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Heart attack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No heart attack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Risk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Heavy coffee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Little or none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9D9D9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?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What we counted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Heart attack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No heart attack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Risk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Heavy coffee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35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81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30.2%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Little or none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11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113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8.9%</a:t>
                      </a:r>
                      <a:endParaRPr lang="en-US" sz="16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097280" y="3474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Risk ratio: 30.2 / 8.9  =  3.4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One more question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Who drinks heavy coffee?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 Farrlandia, a third of adults smoke.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Smokers drink heavy coffee at 78%; non-smokers at 25%.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Smoking, not coffee, drives heart attacks.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Split the population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D9D9D9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Among smokers:        risk ratio  ?</a:t>
            </a:r>
            <a:endParaRPr lang="en-US" sz="1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D9D9D9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Among non-smokers:  risk ratio  ?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Split the population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Among smokers:        risk ratio  1.3</a:t>
            </a:r>
            <a:endParaRPr lang="en-US" sz="1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Among non-smokers:  risk ratio  1.1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3.4 was never coffee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Smoking raised both coffee drinking and heart attacks.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Compare like with like and the signal nearly vanishes.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This has a name: confounding.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We meet it properly in week ten.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0"/>
            <a:ext cx="749808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Epidemiology is the science of fair comparison.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371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1.  A puzzle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2.  What epidemiology is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3.  The seven steps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4.  This course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What epidemiology 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study of the distribution and determinants of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health and disease in populations,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and the application of what we learn.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Distribution: who, where, when.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Determinants: why.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Populations, not patients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clinician asks: what is wrong with this person?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epidemiologist asks: why does this population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have this pattern?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Both questions matter. This course trains the second.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0"/>
            <a:ext cx="749808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“The death rate is a fact; anything beyond this is an inference.”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— William Farr, 1807–1883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Inference is the job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Counts are facts.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Risk ratios, causes, and forecasts are inferences.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Inference fails in predictable ways.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You watched one failure today. There is a catalogue.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371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1.  A puzzle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2.  What epidemiology is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3.  The seven steps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4.  This course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Seven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1.  Define the population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2.  Measure exposures and outcomes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3.  Take a sample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4.  Estimate associations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5.  Evaluate causality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6.  Assess interaction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7.  Assess external validity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Steps one to three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Define who counts, before anything else.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Decide what to measure, and accept what that choice hides.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Study a sample; claim it speaks for the population.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Weeks two to five.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Steps four and five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Estimate the association between exposure and outcome.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Then earn the causal claim, or decline to make it.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Weeks six to ten.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Steps six and seven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Causes work together; measure how.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Ask where else the answer travels.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Weeks eleven to thirteen.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0"/>
            <a:ext cx="749808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Every study you will read this semester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made these seven decisions.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371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1.  A puzzle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2.  What epidemiology is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3.  The seven steps
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4.  This course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This course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Two sessions each week, 80 minutes each: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lecture, then lab.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Text: Epidemiology Matters, second edition.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Tools: epidemiologymatters.com, free.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Farrlandia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One imagined town of 10,000 residents.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 census you can download: 30 variables, every method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 the course testable against it.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coffee finding you dismantled today lives there too.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What you will 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Read the assigned chapter before lecture.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Analyze the census in lab:  [R / Stata — confirm software].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Build one study across the semester, step by step.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Exams:  [midterm and final — confirm format].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Assessment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Lab analyses:            [ __ % ]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Study design project:  [ __ % ]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Midterm:                    [ __ % ]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Final:                          [ __ % ]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Before Thursday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Play the coffee story yourself, to the end.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Download the Farrlandia census.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Read chapter one.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[Software installation instructions — confirm]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epidemiologymatters.com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2026-09-27T23:32:47Z</dcterms:created>
  <dcterms:modified xsi:type="dcterms:W3CDTF">2026-09-27T23:32:47Z</dcterms:modified>
</cp:coreProperties>
</file>