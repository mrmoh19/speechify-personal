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rts/chart1.xml" ContentType="application/vnd.openxmlformats-officedocument.drawingml.chart+xml"/>
  <Override PartName="/ppt/media/image4.svg" ContentType="image/svg+xml"/>
  <Override PartName="/ppt/media/image5.svg" ContentType="image/svg+xml"/>
  <Override PartName="/ppt/media/image6.svg" ContentType="image/svg+xml"/>
  <Override PartName="/ppt/media/image7.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6.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4.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4.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Override PartName="/ppt/webextensions/taskpanes.xml" ContentType="application/vnd.ms-office.webextensiontaskpanes+xml"/>
  <Override PartName="/ppt/webextensions/webextension1.xml" ContentType="application/vnd.ms-office.webextension+xml"/>
</Types>
</file>

<file path=_rels/.rels><?xml version='1.0' encoding='UTF-8' standalone='yes'?>
<Relationships xmlns="http://schemas.openxmlformats.org/package/2006/relationships"><Relationship Id="rId1" Type="http://schemas.microsoft.com/office/2011/relationships/webextensiontaskpanes" Target="ppt/webextensions/taskpanes.xml"/><Relationship Id="rId2" Type="http://schemas.openxmlformats.org/officeDocument/2006/relationships/officeDocument" Target="ppt/presentation.xml"/><Relationship Id="rId3" Type="http://schemas.openxmlformats.org/package/2006/relationships/metadata/thumbnail" Target="docProps/thumbnail.jpeg"/><Relationship Id="rId4" Type="http://schemas.openxmlformats.org/package/2006/relationships/metadata/core-properties" Target="docProps/core.xml"/><Relationship Id="rId5" Type="http://schemas.openxmlformats.org/officeDocument/2006/relationships/extended-properties" Target="docProps/app.xml"/><Relationship Id="rId6"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31"/>
  </p:notesMasterIdLst>
  <p:sldIdLst>
    <p:sldId id="256" r:id="rId5"/>
    <p:sldId id="257" r:id="rId6"/>
    <p:sldId id="337" r:id="rId8"/>
    <p:sldId id="290" r:id="rId10"/>
    <p:sldId id="260" r:id="rId11"/>
    <p:sldId id="261" r:id="rId12"/>
    <p:sldId id="326" r:id="rId14"/>
    <p:sldId id="295" r:id="rId15"/>
    <p:sldId id="304" r:id="rId16"/>
    <p:sldId id="263" r:id="rId17"/>
    <p:sldId id="338" r:id="rId36"/>
    <p:sldId id="296" r:id="rId18"/>
    <p:sldId id="339" r:id="rId37"/>
    <p:sldId id="264" r:id="rId20"/>
    <p:sldId id="331" r:id="rId22"/>
    <p:sldId id="300" r:id="rId23"/>
    <p:sldId id="301" r:id="rId24"/>
    <p:sldId id="268" r:id="rId25"/>
    <p:sldId id="329" r:id="rId26"/>
    <p:sldId id="281" r:id="rId30"/>
    <p:sldId id="340" r:id="rId38"/>
    <p:sldId id="269" r:id="rId2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995" autoAdjust="0"/>
    <p:restoredTop sz="94663"/>
  </p:normalViewPr>
  <p:slideViewPr>
    <p:cSldViewPr snapToGrid="0">
      <p:cViewPr varScale="1">
        <p:scale>
          <a:sx n="85" d="100"/>
          <a:sy n="85" d="100"/>
        </p:scale>
        <p:origin x="192" y="76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1.xml"/><Relationship Id="rId6" Type="http://schemas.openxmlformats.org/officeDocument/2006/relationships/slide" Target="slides/slide2.xml"/><Relationship Id="rId8" Type="http://schemas.openxmlformats.org/officeDocument/2006/relationships/slide" Target="slides/slide4.xml"/><Relationship Id="rId10" Type="http://schemas.openxmlformats.org/officeDocument/2006/relationships/slide" Target="slides/slide6.xml"/><Relationship Id="rId11" Type="http://schemas.openxmlformats.org/officeDocument/2006/relationships/slide" Target="slides/slide7.xml"/><Relationship Id="rId12" Type="http://schemas.openxmlformats.org/officeDocument/2006/relationships/slide" Target="slides/slide8.xml"/><Relationship Id="rId14" Type="http://schemas.openxmlformats.org/officeDocument/2006/relationships/slide" Target="slides/slide10.xml"/><Relationship Id="rId15" Type="http://schemas.openxmlformats.org/officeDocument/2006/relationships/slide" Target="slides/slide11.xml"/><Relationship Id="rId16" Type="http://schemas.openxmlformats.org/officeDocument/2006/relationships/slide" Target="slides/slide12.xml"/><Relationship Id="rId17" Type="http://schemas.openxmlformats.org/officeDocument/2006/relationships/slide" Target="slides/slide13.xml"/><Relationship Id="rId18" Type="http://schemas.openxmlformats.org/officeDocument/2006/relationships/slide" Target="slides/slide14.xml"/><Relationship Id="rId20" Type="http://schemas.openxmlformats.org/officeDocument/2006/relationships/slide" Target="slides/slide16.xml"/><Relationship Id="rId22" Type="http://schemas.openxmlformats.org/officeDocument/2006/relationships/slide" Target="slides/slide18.xml"/><Relationship Id="rId23" Type="http://schemas.openxmlformats.org/officeDocument/2006/relationships/slide" Target="slides/slide19.xml"/><Relationship Id="rId24" Type="http://schemas.openxmlformats.org/officeDocument/2006/relationships/slide" Target="slides/slide20.xml"/><Relationship Id="rId25" Type="http://schemas.openxmlformats.org/officeDocument/2006/relationships/slide" Target="slides/slide21.xml"/><Relationship Id="rId26" Type="http://schemas.openxmlformats.org/officeDocument/2006/relationships/slide" Target="slides/slide22.xml"/><Relationship Id="rId28" Type="http://schemas.openxmlformats.org/officeDocument/2006/relationships/slide" Target="slides/slide24.xml"/><Relationship Id="rId30" Type="http://schemas.openxmlformats.org/officeDocument/2006/relationships/slide" Target="slides/slide26.xml"/><Relationship Id="rId31" Type="http://schemas.openxmlformats.org/officeDocument/2006/relationships/notesMaster" Target="notesMasters/notesMaster1.xml"/><Relationship Id="rId32" Type="http://schemas.openxmlformats.org/officeDocument/2006/relationships/presProps" Target="presProps.xml"/><Relationship Id="rId33" Type="http://schemas.openxmlformats.org/officeDocument/2006/relationships/viewProps" Target="viewProps.xml"/><Relationship Id="rId34" Type="http://schemas.openxmlformats.org/officeDocument/2006/relationships/theme" Target="theme/theme1.xml"/><Relationship Id="rId35" Type="http://schemas.openxmlformats.org/officeDocument/2006/relationships/tableStyles" Target="tableStyles.xml"/><Relationship Id="rId36" Type="http://schemas.openxmlformats.org/officeDocument/2006/relationships/slide" Target="slides/slide27.xml"/><Relationship Id="rId37" Type="http://schemas.openxmlformats.org/officeDocument/2006/relationships/slide" Target="slides/slide28.xml"/><Relationship Id="rId38" Type="http://schemas.openxmlformats.org/officeDocument/2006/relationships/slide" Target="slides/slide29.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barChart>
        <c:barDir val="col"/>
        <c:grouping val="clustered"/>
        <c:varyColors val="0"/>
        <c:ser>
          <c:idx val="0"/>
          <c:order val="0"/>
          <c:tx>
            <c:v>Values</c:v>
          </c:tx>
          <c:spPr>
            <a:solidFill>
              <a:srgbClr val="1E3A5C"/>
            </a:solidFill>
            <a:ln>
              <a:noFill/>
            </a:ln>
          </c:spPr>
          <c:invertIfNegative val="1"/>
          <c:dPt>
            <c:idx val="3"/>
            <c:invertIfNegative val="1"/>
            <c:bubble3D val="0"/>
            <c:spPr>
              <a:solidFill>
                <a:srgbClr val="C8102E"/>
              </a:solidFill>
              <a:ln>
                <a:noFill/>
              </a:ln>
            </c:spPr>
            <c:extLst>
              <c:ext xmlns:c16="http://schemas.microsoft.com/office/drawing/2014/chart" uri="{C3380CC4-5D6E-409C-BE32-E72D297353CC}">
                <c16:uniqueId val="{00000001-2DA2-4246-8E88-DD5AAA12A68A}"/>
              </c:ext>
            </c:extLst>
          </c:dPt>
          <c:dLbls>
            <c:dLbl>
              <c:idx val="0"/>
              <c:layout>
                <c:manualLayout>
                  <c:x val="-5.1999999999999998E-2"/>
                  <c:y val="0"/>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02F3-5940-8C72-FBDDBAFBC093}"/>
                </c:ext>
              </c:extLst>
            </c:dLbl>
            <c:dLbl>
              <c:idx val="1"/>
              <c:layout>
                <c:manualLayout>
                  <c:x val="-5.1999999999999998E-2"/>
                  <c:y val="0"/>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02F3-5940-8C72-FBDDBAFBC093}"/>
                </c:ext>
              </c:extLst>
            </c:dLbl>
            <c:dLbl>
              <c:idx val="2"/>
              <c:layout>
                <c:manualLayout>
                  <c:x val="-5.1999999999999998E-2"/>
                  <c:y val="0"/>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02F3-5940-8C72-FBDDBAFBC093}"/>
                </c:ext>
              </c:extLst>
            </c:dLbl>
            <c:numFmt formatCode="0.0&quot;%&quot;" sourceLinked="0"/>
            <c:spPr>
              <a:noFill/>
              <a:ln>
                <a:noFill/>
              </a:ln>
              <a:effectLst/>
            </c:spPr>
            <c:txPr>
              <a:bodyPr wrap="none"/>
              <a:lstStyle/>
              <a:p>
                <a:pPr>
                  <a:defRPr sz="1400" b="0">
                    <a:solidFill>
                      <a:srgbClr val="262626"/>
                    </a:solidFill>
                    <a:latin typeface="Calibri"/>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pPr xmlns:c15="http://schemas.microsoft.com/office/drawing/2012/chart">
                  <a:prstGeom prst="rect">
                    <a:avLst/>
                  </a:prstGeom>
                </c15:spPr>
                <c15:showLeaderLines val="0"/>
              </c:ext>
            </c:extLst>
          </c:dLbls>
          <c:errBars>
            <c:errBarType val="both"/>
            <c:errValType val="cust"/>
            <c:noEndCap val="0"/>
            <c:plus>
              <c:numLit>
                <c:formatCode>General</c:formatCode>
                <c:ptCount val="4"/>
                <c:pt idx="0">
                  <c:v>5.3</c:v>
                </c:pt>
                <c:pt idx="1">
                  <c:v>5.3</c:v>
                </c:pt>
                <c:pt idx="2">
                  <c:v>4.4000000000000004</c:v>
                </c:pt>
              </c:numLit>
            </c:plus>
            <c:minus>
              <c:numLit>
                <c:formatCode>General</c:formatCode>
                <c:ptCount val="4"/>
                <c:pt idx="0">
                  <c:v>4.3</c:v>
                </c:pt>
                <c:pt idx="1">
                  <c:v>4.5999999999999996</c:v>
                </c:pt>
                <c:pt idx="2">
                  <c:v>3.8</c:v>
                </c:pt>
              </c:numLit>
            </c:minus>
            <c:spPr>
              <a:ln w="19050">
                <a:solidFill>
                  <a:srgbClr val="595959"/>
                </a:solidFill>
              </a:ln>
            </c:spPr>
          </c:errBars>
          <c:cat>
            <c:strLit>
              <c:ptCount val="4"/>
              <c:pt idx="0">
                <c:v>PTSD</c:v>
              </c:pt>
              <c:pt idx="1">
                <c:v>Depression</c:v>
              </c:pt>
              <c:pt idx="2">
                <c:v>Anxiety</c:v>
              </c:pt>
              <c:pt idx="3">
                <c:v>Any of the three</c:v>
              </c:pt>
            </c:strLit>
          </c:cat>
          <c:val>
            <c:numLit>
              <c:formatCode>General</c:formatCode>
              <c:ptCount val="4"/>
              <c:pt idx="0">
                <c:v>18.5</c:v>
              </c:pt>
              <c:pt idx="1">
                <c:v>21</c:v>
              </c:pt>
              <c:pt idx="2">
                <c:v>20.7</c:v>
              </c:pt>
              <c:pt idx="3">
                <c:v>30.4</c:v>
              </c:pt>
            </c:numLit>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2-2DA2-4246-8E88-DD5AAA12A68A}"/>
            </c:ext>
          </c:extLst>
        </c:ser>
        <c:dLbls>
          <c:showLegendKey val="0"/>
          <c:showVal val="0"/>
          <c:showCatName val="0"/>
          <c:showSerName val="0"/>
          <c:showPercent val="0"/>
          <c:showBubbleSize val="0"/>
        </c:dLbls>
        <c:gapWidth val="50"/>
        <c:axId val="1"/>
        <c:axId val="2"/>
      </c:barChart>
      <c:catAx>
        <c:axId val="1"/>
        <c:scaling>
          <c:orientation val="minMax"/>
        </c:scaling>
        <c:delete val="0"/>
        <c:axPos val="b"/>
        <c:numFmt formatCode="General" sourceLinked="0"/>
        <c:majorTickMark val="none"/>
        <c:minorTickMark val="none"/>
        <c:tickLblPos val="nextTo"/>
        <c:spPr>
          <a:ln w="9525">
            <a:solidFill>
              <a:srgbClr val="C9C9C9"/>
            </a:solidFill>
          </a:ln>
        </c:spPr>
        <c:txPr>
          <a:bodyPr rot="0" vert="horz"/>
          <a:lstStyle/>
          <a:p>
            <a:pPr>
              <a:defRPr sz="1400" b="0">
                <a:solidFill>
                  <a:srgbClr val="262626"/>
                </a:solidFill>
                <a:latin typeface="Calibri"/>
              </a:defRPr>
            </a:pPr>
            <a:endParaRPr lang="en-US"/>
          </a:p>
        </c:txPr>
        <c:crossAx val="2"/>
        <c:crosses val="autoZero"/>
        <c:auto val="1"/>
        <c:lblAlgn val="ctr"/>
        <c:lblOffset val="100"/>
        <c:noMultiLvlLbl val="1"/>
      </c:catAx>
      <c:valAx>
        <c:axId val="2"/>
        <c:scaling>
          <c:orientation val="minMax"/>
          <c:min val="0"/>
        </c:scaling>
        <c:delete val="1"/>
        <c:axPos val="l"/>
        <c:numFmt formatCode="General" sourceLinked="1"/>
        <c:majorTickMark val="none"/>
        <c:minorTickMark val="none"/>
        <c:tickLblPos val="none"/>
        <c:crossAx val="1"/>
        <c:crosses val="autoZero"/>
        <c:crossBetween val="between"/>
      </c:valAx>
      <c:spPr>
        <a:noFill/>
        <a:ln>
          <a:noFill/>
        </a:ln>
      </c:spPr>
    </c:plotArea>
    <c:plotVisOnly val="1"/>
    <c:dispBlanksAs val="gap"/>
    <c:showDLblsOverMax val="1"/>
  </c:chart>
  <c:spPr>
    <a:solidFill>
      <a:srgbClr val="FFFFFF"/>
    </a:solidFill>
    <a:ln>
      <a:noFill/>
    </a:ln>
  </c:spPr>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66006954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Thank you, Jaimie. I am presenting this paper on behalf of Dr. Salma Abdalla, who led the analysis and could not be here today. Jaimie has shown that the instruments hold in this population, provided they are calibrated. This paper puts them to work across the country and asks two questions: how large is the burden, and what, besides trauma itself, drives it?</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Dr. Abdalla has no financial relationships to disclose.</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The intraclass correlations are unusually high: 0.86 for PTSD before adjustment, and between 0.49 and 0.62 after full adjustment. After everything we can measure, about half of the remaining variation lies between communities, not between neighbours. The burden belongs to places as much as to people.</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a:noFill/>
          <a:ln w="12700">
            <a:solidFill>
              <a:prstClr val="black"/>
            </a:solidFill>
          </a:ln>
        </p:spPr>
      </p:sp>
      <p:sp>
        <p:nvSpPr>
          <p:cNvPr id="3" name="Notes Placeholder 2"/>
          <p:cNvSpPr>
            <a:spLocks noGrp="1"/>
          </p:cNvSpPr>
          <p:nvPr>
            <p:ph type="body" idx="1"/>
          </p:nvPr>
        </p:nvSpPr>
        <p:spPr>
          <a:xfrm>
            <a:off x="685800" y="4400550"/>
            <a:ext cx="5486400" cy="3600450"/>
          </a:xfrm>
          <a:prstGeom prst="rect">
            <a:avLst/>
          </a:prstGeom>
        </p:spPr>
        <p:txBody>
          <a:bodyPr/>
          <a:lstStyle/>
          <a:p>
            <a:r>
              <a:t>Jaimie described the landscape, so I will be brief. Nigeria has no single conflict. It has insurgency in the northeast, banditry and mass kidnapping in the northwest, farmer–herder conflict in the Middle Belt, separatist violence in the southeast, and cult violence in the Niger Delta. All three recognised forms of organised violence are present at once: conflict involving the state, conflict between armed groups, and violence aimed directly at civilians. Together they have displaced more than three million people.</a:t>
            </a:r>
          </a:p>
        </p:txBody>
      </p:sp>
    </p:spTree>
    <p:extLst>
      <p:ext uri="{BB962C8B-B14F-4D97-AF65-F5344CB8AC3E}">
        <p14:creationId xmlns:p14="http://schemas.microsoft.com/office/powerpoint/2010/main" val="1165195654"/>
      </p:ext>
    </p:extLst>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Of the 1,774 adults interviewed, 1,732 had complete outcome and covariate data and enter the adjusted models. This is a complete-case analysis; 42 people were excluded for missing data.</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Until now the evidence has been fragmented. Most studies were hospital-based or drawn from a single camp, used instruments never validated here, and, as Jaimie showed, produced estimates that vary too widely to guide planning. No study had estimated prevalence across several states using population sampling. The Federal Ministry needs exactly that to implement the Mental Health Act, which is why it co-owns this study.</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paper has three objectives: to estimate the prevalence of PTSD, depression, and anxiety across all six geopolitical zones; to identify the factors associated with each; and to separate two pathways that are usually tangled together, the trauma a person has lived through and the conditions displacement has placed them in.</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We addressed four sources of bias. Outcome misclassification, through case definitions validated against psychiatrist interview in this population. Measurement error, through standardized tablet-based interviews with built-in checks. Over-adjustment: daily stressors and food insecurity are likely part of the pathway from camp life to symptoms, so we kept them out of the models; adjusting for them would hide the effect we are trying to measure. And selection into camps, which Model B addresses by adjusting for trauma.</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a:noFill/>
          <a:ln w="12700">
            <a:solidFill>
              <a:prstClr val="black"/>
            </a:solidFill>
          </a:ln>
        </p:spPr>
      </p:sp>
      <p:sp>
        <p:nvSpPr>
          <p:cNvPr id="3" name="Notes Placeholder 2"/>
          <p:cNvSpPr>
            <a:spLocks noGrp="1"/>
          </p:cNvSpPr>
          <p:nvPr>
            <p:ph type="body" idx="1"/>
          </p:nvPr>
        </p:nvSpPr>
        <p:spPr>
          <a:xfrm>
            <a:off x="685800" y="4400550"/>
            <a:ext cx="5486400" cy="3600450"/>
          </a:xfrm>
          <a:prstGeom prst="rect">
            <a:avLst/>
          </a:prstGeom>
        </p:spPr>
        <p:txBody>
          <a:bodyPr/>
          <a:lstStyle/>
          <a:p>
            <a:r>
              <a:t>This is a cross-sectional, population-based survey. We selected one state in each geopolitical zone: Sokoto, Borno, Benue, Ogun, Enugu, and Rivers. Five are affected by different forms of violence; Ogun, in the southwest, serves as the comparison state. In each state we sampled two local government areas, one urban and one rural, and within them seventy wards and their communities. Households were selected systematically from a random start.</a:t>
            </a:r>
          </a:p>
        </p:txBody>
      </p:sp>
    </p:spTree>
    <p:extLst>
      <p:ext uri="{BB962C8B-B14F-4D97-AF65-F5344CB8AC3E}">
        <p14:creationId xmlns:p14="http://schemas.microsoft.com/office/powerpoint/2010/main" val="271602582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a:noFill/>
          <a:ln w="12700">
            <a:solidFill>
              <a:prstClr val="black"/>
            </a:solidFill>
          </a:ln>
        </p:spPr>
      </p:sp>
      <p:sp>
        <p:nvSpPr>
          <p:cNvPr id="3" name="Notes Placeholder 2"/>
          <p:cNvSpPr>
            <a:spLocks noGrp="1"/>
          </p:cNvSpPr>
          <p:nvPr>
            <p:ph type="body" idx="1"/>
          </p:nvPr>
        </p:nvSpPr>
        <p:spPr>
          <a:xfrm>
            <a:off x="685800" y="4400550"/>
            <a:ext cx="5486400" cy="3600450"/>
          </a:xfrm>
          <a:prstGeom prst="rect">
            <a:avLst/>
          </a:prstGeom>
        </p:spPr>
        <p:txBody>
          <a:bodyPr/>
          <a:lstStyle/>
          <a:p>
            <a:r>
              <a:t>The outcomes use the thresholds from Jaimie's validation: probable PTSD at a PCL-5 score of 38 or more, and probable depression at a PHQ-9 score of 10 or more. For anxiety we used the international GAD-7 threshold of 10, and, given what Jaimie showed about its discrimination, we read the anxiety estimates with caution.</a:t>
            </a:r>
          </a:p>
        </p:txBody>
      </p:sp>
    </p:spTree>
    <p:extLst>
      <p:ext uri="{BB962C8B-B14F-4D97-AF65-F5344CB8AC3E}">
        <p14:creationId xmlns:p14="http://schemas.microsoft.com/office/powerpoint/2010/main" val="344720710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Trauma exposure is a count of lifetime event types from an adapted Life Events Checklist. Camp residence was verified by the field team at the time of sampling. The covariates are sex, age group, education, marital status, state, and urban or rural setting.</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Participants were adults aged 18 or older who had lived in the community for at least six months. Camps for internally displaced people were sampled by the same procedure in the three states that have them. The result is 1,774 adults, interviewed face to face between August and December 2025 by teams working with AFENET and the Federal Ministry of Health and Social Welfare.</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sample reflects the six zones. Mean age was 41; 55 percent were women. Quranic education is concentrated in Borno and Sokoto, and tertiary education in Enugu and Rivers. A quarter of participants lived in camps. Two thirds were moderately or severely food insecure. On average, people reported one and a half types of traumatic event, and 18 percent reported three or more.</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That violence falls on a population under severe economic pressure. Income per person fell from about 3,100 dollars in 2014 to about 800 in 2024. The mental health system cannot absorb the result: about 0.6 mental health workers per 100,000 people, against a WHO benchmark of 5, roughly 250 psychiatrists for more than 200 million people, and fewer than one in ten people who need care receive any.</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a:noFill/>
          <a:ln w="12700">
            <a:solidFill>
              <a:prstClr val="black"/>
            </a:solidFill>
          </a:ln>
        </p:spPr>
      </p:sp>
      <p:sp>
        <p:nvSpPr>
          <p:cNvPr id="3" name="Notes Placeholder 2"/>
          <p:cNvSpPr>
            <a:spLocks noGrp="1"/>
          </p:cNvSpPr>
          <p:nvPr>
            <p:ph type="body" idx="1"/>
          </p:nvPr>
        </p:nvSpPr>
        <p:spPr>
          <a:xfrm>
            <a:off x="685800" y="4400550"/>
            <a:ext cx="5486400" cy="3600450"/>
          </a:xfrm>
          <a:prstGeom prst="rect">
            <a:avLst/>
          </a:prstGeom>
        </p:spPr>
        <p:txBody>
          <a:bodyPr/>
          <a:lstStyle/>
          <a:p>
            <a:r>
              <a:t>Before adjustment, the variation is striking. PTSD prevalence ranges from 1.5 percent in Ogun to 42 percent in Benue, a 28-fold difference. Camp residents have about four times the prevalence of people living in communities: 40 percent against 11. And trauma shows a clear gradient: 8 percent among people with no traumatic events, 45 percent among those with five or more. The question is which of these survives adjustment.</a:t>
            </a:r>
          </a:p>
        </p:txBody>
      </p:sp>
    </p:spTree>
    <p:extLst>
      <p:ext uri="{BB962C8B-B14F-4D97-AF65-F5344CB8AC3E}">
        <p14:creationId xmlns:p14="http://schemas.microsoft.com/office/powerpoint/2010/main" val="328065139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a:noFill/>
          <a:ln w="12700">
            <a:solidFill>
              <a:prstClr val="black"/>
            </a:solidFill>
          </a:ln>
        </p:spPr>
      </p:sp>
      <p:sp>
        <p:nvSpPr>
          <p:cNvPr id="3" name="Notes Placeholder 2"/>
          <p:cNvSpPr>
            <a:spLocks noGrp="1"/>
          </p:cNvSpPr>
          <p:nvPr>
            <p:ph type="body" idx="1"/>
          </p:nvPr>
        </p:nvSpPr>
        <p:spPr>
          <a:xfrm>
            <a:off x="685800" y="4400550"/>
            <a:ext cx="5486400" cy="3600450"/>
          </a:xfrm>
          <a:prstGeom prst="rect">
            <a:avLst/>
          </a:prstGeom>
        </p:spPr>
        <p:txBody>
          <a:bodyPr/>
          <a:lstStyle/>
          <a:p>
            <a:r>
              <a:t>Both do. In Model A, each additional traumatic event is associated with about 15 percent higher prevalence of each condition. In Model B, living in a camp is associated with roughly twice the prevalence of PTSD and depression and nearly three times the prevalence of anxiety, after accounting for trauma. The trauma estimates hardly move when camp residence enters the model. Note that it is these prevalence ratios, not the prevalences on the previous slides, that are adjusted. These are two separable pathways: what happened to people, and where they now live.</a:t>
            </a:r>
          </a:p>
        </p:txBody>
      </p:sp>
    </p:spTree>
    <p:extLst>
      <p:ext uri="{BB962C8B-B14F-4D97-AF65-F5344CB8AC3E}">
        <p14:creationId xmlns:p14="http://schemas.microsoft.com/office/powerpoint/2010/main" val="206556647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Two further analyses. The association between trauma and outcomes is not the same everywhere. It is steepest in Enugu and Rivers, where exposure is lowest, and nearly flat in Borno, where exposure is highest. Keep that result in mind; my own paper begins there. The findings hold under post-stratification weights, the international PCL-5 threshold of 33, local government fixed effects, continuous scores, and multilevel models.</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We fit two models, each with one focal exposure. Model A asks about trauma: each additional event, adjusted for demographics and geography. Model B asks about camp residence and adds the trauma count to the adjustment, so the camp estimate is the camp's association over and above the events people report. Both are modified Poisson regressions giving prevalence ratios, with variances that respect the clustered design. Multilevel models estimate how much of the variation lies between communities.</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Three implications. First, the post-displacement environment is an intervention target in its own right: treating individual trauma leaves the camp pathway untouched, and shelter, safety, livelihoods, and services act as mental health interventions in camps. Second, the clustering argues for delivering services by community, not only by screening individuals. Third, because the associations held across six zones that differ in conflict type, religion, language, and economy, we expect them to transfer to other violence-affected settings with similar displacement conditions. These are the estimates the Ministry needs to implement the Mental Health Act.</a:t>
            </a:r>
          </a:p>
          <a:p/>
          <a:p>
            <a:r>
              <a:t>[Handover, no pause] That is Dr. Abdalla's paper. I want to stay with one of her results, the flat trauma gradient in Borno, because that is where my own paper begins.</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Prevalence was 18.5 percent for probable PTSD, 21 percent for depression, and 20.7 percent for anxiety. These are crude proportions; only the confidence intervals account for the clustered design. At that level, at least one adult in five met criteria for each condition, and 30.4 percent met criteria for at least one. Those of you who read the program will see slightly different figures there; the abstract carried preliminary estimates, and these are the final estimates from the fully cleaned sample. The conditions travel together: among people with any condition, more than a third met criteria for all three. The design effects, close to seven, are the first sign that the burden clusters by community.</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To summarise the key results: at least one adult in five met criteria for each condition, and 30 percent for at least one. Camp residents carry about four times the PTSD burden of community residents, and that association holds after adjustment for trauma. And much of the variation lies between communities.</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The limitations are the ones you would expect. The design is cross-sectional. The states were chosen purposively, so these are not national estimates. Camps exist in only three states. And people may enter camps partly because they were more affected, although adjusting for trauma addresses the most obvious form of that selection.</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8D2F07-ACD0-46D7-5BFB-BAA0E7043F9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08DD8877-66BE-034D-D927-46D0CFC5CE7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Tree>
    <p:extLst>
      <p:ext uri="{BB962C8B-B14F-4D97-AF65-F5344CB8AC3E}">
        <p14:creationId xmlns:p14="http://schemas.microsoft.com/office/powerpoint/2010/main" val="160559819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DA7AD1-73C4-45F4-685A-791D9BA00D0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8B016B9-DA0F-8DBB-30CF-93F515B64E5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21006154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1A9D04-BFB6-D2BC-915D-4141F304F3DC}"/>
              </a:ext>
            </a:extLst>
          </p:cNvPr>
          <p:cNvSpPr>
            <a:spLocks noGrp="1"/>
          </p:cNvSpPr>
          <p:nvPr>
            <p:ph type="title"/>
          </p:nvPr>
        </p:nvSpPr>
        <p:spPr>
          <a:xfrm>
            <a:off x="838200" y="1389064"/>
            <a:ext cx="10515600" cy="2852737"/>
          </a:xfrm>
        </p:spPr>
        <p:txBody>
          <a:bodyPr anchor="b"/>
          <a:lstStyle>
            <a:lvl1pPr>
              <a:defRPr sz="6000"/>
            </a:lvl1pPr>
          </a:lstStyle>
          <a:p>
            <a:r>
              <a:rPr lang="en-US" dirty="0"/>
              <a:t>Click to edit Master title style</a:t>
            </a:r>
          </a:p>
        </p:txBody>
      </p:sp>
      <p:sp>
        <p:nvSpPr>
          <p:cNvPr id="3" name="Text Placeholder 2">
            <a:extLst>
              <a:ext uri="{FF2B5EF4-FFF2-40B4-BE49-F238E27FC236}">
                <a16:creationId xmlns:a16="http://schemas.microsoft.com/office/drawing/2014/main" id="{F2FBB4D8-C7D6-5799-D878-9127D945061D}"/>
              </a:ext>
            </a:extLst>
          </p:cNvPr>
          <p:cNvSpPr>
            <a:spLocks noGrp="1"/>
          </p:cNvSpPr>
          <p:nvPr>
            <p:ph type="body" idx="1"/>
          </p:nvPr>
        </p:nvSpPr>
        <p:spPr>
          <a:xfrm>
            <a:off x="831850" y="4239419"/>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 Master text styles</a:t>
            </a:r>
          </a:p>
        </p:txBody>
      </p:sp>
    </p:spTree>
    <p:extLst>
      <p:ext uri="{BB962C8B-B14F-4D97-AF65-F5344CB8AC3E}">
        <p14:creationId xmlns:p14="http://schemas.microsoft.com/office/powerpoint/2010/main" val="141844070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3C3695-D63C-614A-592E-C7C8FACCA88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F8F1E00-535F-7798-D7B7-5A0785FC9EF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FF184D3-E0CB-B543-4600-1FE46236B57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97729390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D98F22-5587-8C51-9F26-1E85693E018B}"/>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F094F101-494F-5244-4B75-4BC8C06B7DC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DFA9443-1733-8D80-2317-10C962795CC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CAEE2E3-1BBA-B796-F81E-702496D229C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63D05EE-EFD6-E52C-CC7B-97E1B68F784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47394000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7F998D-6DCB-8761-7948-816D8008FC41}"/>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52705028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41295939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0F78FD-4F04-A735-7227-DD9D0C8771A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05CBADDE-A346-86EE-C54B-288C8AFFEDD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9A7005A3-29D6-AA06-6647-2698D53E25D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Tree>
    <p:extLst>
      <p:ext uri="{BB962C8B-B14F-4D97-AF65-F5344CB8AC3E}">
        <p14:creationId xmlns:p14="http://schemas.microsoft.com/office/powerpoint/2010/main" val="29189925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A21318-1CBF-6DBA-89C5-EB895780A5F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2082C6D3-53AB-5EF9-3972-451B4205945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4F8AF908-CEBB-39F5-AB46-A54554EF418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Tree>
    <p:extLst>
      <p:ext uri="{BB962C8B-B14F-4D97-AF65-F5344CB8AC3E}">
        <p14:creationId xmlns:p14="http://schemas.microsoft.com/office/powerpoint/2010/main" val="93971295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A26688-A6E8-DA47-A8C6-286905CD890E}"/>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2B3F5354-8E45-2730-2ADA-A0763238929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64887705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A12CACC-1178-676F-DA41-87E1A8685BCD}"/>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59D34D08-8B2B-9DEF-6A0A-537FAE2CEDA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577060871"/>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 Id="rId13" Type="http://schemas.openxmlformats.org/officeDocument/2006/relationships/image" Target="../media/image1.jp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0E5FE3E-9707-5232-D1A7-10EE269B70E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83727243-EF1D-5BAF-7E5C-54B7AE28949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29649358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bg1">
              <a:lumMod val="95000"/>
            </a:schemeClr>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1">
              <a:lumMod val="9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1">
              <a:lumMod val="9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1">
              <a:lumMod val="9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lumMod val="9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lumMod val="9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svg"/><Relationship Id="rId3" Type="http://schemas.openxmlformats.org/officeDocument/2006/relationships/image" Target="../media/image5.svg"/><Relationship Id="rId4" Type="http://schemas.openxmlformats.org/officeDocument/2006/relationships/image" Target="../media/image6.svg"/><Relationship Id="rId5" Type="http://schemas.openxmlformats.org/officeDocument/2006/relationships/image" Target="../media/image7.svg"/><Relationship Id="rId6" Type="http://schemas.openxmlformats.org/officeDocument/2006/relationships/notesSlide" Target="../notesSlides/notesSlide1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8.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chart" Target="../charts/chart1.xml"/><Relationship Id="rId3" Type="http://schemas.openxmlformats.org/officeDocument/2006/relationships/notesSlide" Target="../notesSlides/notesSlide20.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5018A9-85F0-3BCF-08E3-53242BED322C}"/>
              </a:ext>
            </a:extLst>
          </p:cNvPr>
          <p:cNvSpPr>
            <a:spLocks noGrp="1"/>
          </p:cNvSpPr>
          <p:nvPr>
            <p:ph type="ctrTitle"/>
          </p:nvPr>
        </p:nvSpPr>
        <p:spPr/>
        <p:txBody>
          <a:bodyPr/>
          <a:lstStyle/>
          <a:p>
            <a:r>
              <a:rPr sz="2600"/>
              <a:t>Prevalence and Predictors of PTSD, Depression, and Anxiety Among Persons Exposed to Diverse Forms of Armed Violence Across Six Nigerian States</a:t>
            </a:r>
          </a:p>
        </p:txBody>
      </p:sp>
      <p:sp>
        <p:nvSpPr>
          <p:cNvPr id="3" name="Subtitle 2">
            <a:extLst>
              <a:ext uri="{FF2B5EF4-FFF2-40B4-BE49-F238E27FC236}">
                <a16:creationId xmlns:a16="http://schemas.microsoft.com/office/drawing/2014/main" id="{27C44F12-169B-E2E1-BF80-C326C1BF9763}"/>
              </a:ext>
            </a:extLst>
          </p:cNvPr>
          <p:cNvSpPr>
            <a:spLocks noGrp="1"/>
          </p:cNvSpPr>
          <p:nvPr>
            <p:ph type="subTitle" idx="1"/>
          </p:nvPr>
        </p:nvSpPr>
        <p:spPr/>
        <p:txBody>
          <a:bodyPr/>
          <a:lstStyle/>
          <a:p>
            <a:r>
              <a:t>Salma M. Abdalla, MBBS, MPH, DrPH · Washington University in St. Louis</a:t>
            </a:r>
          </a:p>
          <a:p>
            <a:r>
              <a:rPr sz="1400">
                <a:solidFill>
                  <a:srgbClr val="898989"/>
                </a:solidFill>
              </a:rPr>
              <a:t>The MaRVIN study — Abba-Aji, Abdalla, Gradus, Ojo, Magaji, Galea</a:t>
            </a:r>
          </a:p>
          <a:p>
            <a:r>
              <a:rPr sz="1300">
                <a:solidFill>
                  <a:srgbClr val="898989"/>
                </a:solidFill>
              </a:rPr>
              <a:t>ISTSS 42nd Annual Meeting · San Antonio, TX · September 24, 2026</a:t>
            </a:r>
          </a:p>
        </p:txBody>
      </p:sp>
    </p:spTree>
    <p:extLst>
      <p:ext uri="{BB962C8B-B14F-4D97-AF65-F5344CB8AC3E}">
        <p14:creationId xmlns:p14="http://schemas.microsoft.com/office/powerpoint/2010/main" val="180432055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41808E-CCF4-3463-2FDA-3BA4D8F6B1F1}"/>
              </a:ext>
            </a:extLst>
          </p:cNvPr>
          <p:cNvSpPr>
            <a:spLocks noGrp="1"/>
          </p:cNvSpPr>
          <p:nvPr>
            <p:ph type="title"/>
          </p:nvPr>
        </p:nvSpPr>
        <p:spPr>
          <a:xfrm>
            <a:off x="838200" y="389316"/>
            <a:ext cx="10515600" cy="1325563"/>
          </a:xfrm>
        </p:spPr>
        <p:txBody>
          <a:bodyPr>
            <a:normAutofit fontScale="90000"/>
          </a:bodyPr>
          <a:lstStyle/>
          <a:p>
            <a:pPr algn="ctr"/>
            <a:r>
              <a:rPr lang="en-US" sz="5600">
                <a:solidFill>
                  <a:schemeClr val="bg1"/>
                </a:solidFill>
                <a:ea typeface="+mj-lt"/>
                <a:cs typeface="+mj-lt"/>
              </a:rPr>
              <a:t>Continuing Medical Education Financial Disclosure </a:t>
            </a:r>
            <a:endParaRPr lang="en-US">
              <a:solidFill>
                <a:schemeClr val="bg1"/>
              </a:solidFill>
            </a:endParaRPr>
          </a:p>
        </p:txBody>
      </p:sp>
      <p:sp>
        <p:nvSpPr>
          <p:cNvPr id="3" name="Content Placeholder 2">
            <a:extLst>
              <a:ext uri="{FF2B5EF4-FFF2-40B4-BE49-F238E27FC236}">
                <a16:creationId xmlns:a16="http://schemas.microsoft.com/office/drawing/2014/main" id="{D81E43C8-B81F-911F-DFA1-9067AA2E8A2B}"/>
              </a:ext>
            </a:extLst>
          </p:cNvPr>
          <p:cNvSpPr>
            <a:spLocks noGrp="1"/>
          </p:cNvSpPr>
          <p:nvPr>
            <p:ph idx="1"/>
          </p:nvPr>
        </p:nvSpPr>
        <p:spPr>
          <a:xfrm>
            <a:off x="838200" y="1958673"/>
            <a:ext cx="10515600" cy="4145719"/>
          </a:xfrm>
        </p:spPr>
        <p:txBody>
          <a:bodyPr vert="horz" lIns="91440" tIns="45720" rIns="91440" bIns="45720" rtlCol="0" anchor="t">
            <a:normAutofit/>
          </a:bodyPr>
          <a:lstStyle/>
          <a:p>
            <a:pPr marL="0" indent="0">
              <a:lnSpc>
                <a:spcPct val="100000"/>
              </a:lnSpc>
              <a:spcBef>
                <a:spcPts val="0"/>
              </a:spcBef>
              <a:buNone/>
            </a:pPr>
            <a:r>
              <a:rPr lang="en-US" sz="2400" dirty="0" err="1">
                <a:solidFill>
                  <a:schemeClr val="bg1"/>
                </a:solidFill>
                <a:latin typeface="Aptos"/>
              </a:rPr>
              <a:t>Amedco</a:t>
            </a:r>
            <a:r>
              <a:rPr lang="en-US" sz="2400" dirty="0">
                <a:solidFill>
                  <a:schemeClr val="bg1"/>
                </a:solidFill>
                <a:latin typeface="Aptos"/>
              </a:rPr>
              <a:t>, our CME provider, asks that all individuals who have the ability to influence and/or control the content of this accredited activity disclose any/all relationships with ‎Ineligible Companies. </a:t>
            </a:r>
          </a:p>
          <a:p>
            <a:pPr marL="0" indent="0">
              <a:lnSpc>
                <a:spcPct val="100000"/>
              </a:lnSpc>
              <a:spcBef>
                <a:spcPts val="0"/>
              </a:spcBef>
              <a:buNone/>
            </a:pPr>
            <a:r>
              <a:rPr lang="en-US" sz="2400" dirty="0">
                <a:solidFill>
                  <a:schemeClr val="bg1"/>
                </a:solidFill>
                <a:latin typeface="Aptos"/>
              </a:rPr>
              <a:t>This information is disclosed to CME activity participants, and </a:t>
            </a:r>
            <a:r>
              <a:rPr lang="en-US" sz="2400" dirty="0" err="1">
                <a:solidFill>
                  <a:schemeClr val="bg1"/>
                </a:solidFill>
                <a:latin typeface="Aptos"/>
              </a:rPr>
              <a:t>Amedco</a:t>
            </a:r>
            <a:r>
              <a:rPr lang="en-US" sz="2400" dirty="0">
                <a:solidFill>
                  <a:schemeClr val="bg1"/>
                </a:solidFill>
                <a:latin typeface="Aptos"/>
              </a:rPr>
              <a:t> has procedures in place to resolve any apparent conflicts. In addition, presenters are asked to disclose when any discussion of unapproved use of pharmaceuticals and devices are being discussed. </a:t>
            </a:r>
          </a:p>
          <a:p>
            <a:pPr marL="0" indent="0">
              <a:lnSpc>
                <a:spcPct val="100000"/>
              </a:lnSpc>
              <a:spcBef>
                <a:spcPts val="0"/>
              </a:spcBef>
              <a:buNone/>
            </a:pPr>
            <a:endParaRPr lang="en-US" sz="2400" dirty="0">
              <a:solidFill>
                <a:schemeClr val="bg1"/>
              </a:solidFill>
              <a:latin typeface="Aptos"/>
              <a:ea typeface="Calibri"/>
              <a:cs typeface="Calibri"/>
            </a:endParaRPr>
          </a:p>
          <a:p>
            <a:pPr marL="0" indent="0">
              <a:lnSpc>
                <a:spcPct val="100000"/>
              </a:lnSpc>
              <a:spcBef>
                <a:spcPts val="0"/>
              </a:spcBef>
              <a:buNone/>
            </a:pPr>
            <a:r>
              <a:rPr lang="en-US" sz="2400">
                <a:solidFill>
                  <a:schemeClr val="bg1"/>
                </a:solidFill>
                <a:latin typeface="Aptos"/>
              </a:rPr>
              <a:t>In the past 24 months, I Salma M. Abdalla, have not had financial relationships with any ineligible companies. </a:t>
            </a:r>
          </a:p>
          <a:p>
            <a:pPr marL="0" indent="0">
              <a:lnSpc>
                <a:spcPct val="100000"/>
              </a:lnSpc>
              <a:spcBef>
                <a:spcPts val="0"/>
              </a:spcBef>
              <a:buNone/>
            </a:pPr>
            <a:endParaRPr lang="en-US" sz="2400" dirty="0">
              <a:solidFill>
                <a:schemeClr val="bg1"/>
              </a:solidFill>
              <a:latin typeface="Aptos"/>
              <a:ea typeface="Calibri"/>
              <a:cs typeface="Calibri"/>
            </a:endParaRPr>
          </a:p>
        </p:txBody>
      </p:sp>
    </p:spTree>
    <p:extLst>
      <p:ext uri="{BB962C8B-B14F-4D97-AF65-F5344CB8AC3E}">
        <p14:creationId xmlns:p14="http://schemas.microsoft.com/office/powerpoint/2010/main" val="121737041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6FED8B-CC10-9010-93CC-91AEFA804EB3}"/>
              </a:ext>
            </a:extLst>
          </p:cNvPr>
          <p:cNvSpPr>
            <a:spLocks noGrp="1"/>
          </p:cNvSpPr>
          <p:nvPr>
            <p:ph type="title"/>
          </p:nvPr>
        </p:nvSpPr>
        <p:spPr/>
        <p:txBody>
          <a:bodyPr/>
          <a:lstStyle/>
          <a:p>
            <a:r>
              <a:rPr lang="en-US" dirty="0"/>
              <a:t>Background: Conflict Landscape</a:t>
            </a:r>
          </a:p>
        </p:txBody>
      </p:sp>
      <p:sp>
        <p:nvSpPr>
          <p:cNvPr id="301" name="Map301"/>
          <p:cNvSpPr/>
          <p:nvPr/>
        </p:nvSpPr>
        <p:spPr>
          <a:xfrm>
            <a:off x="3649133" y="1925108"/>
            <a:ext cx="2774950" cy="1890183"/>
          </a:xfrm>
          <a:custGeom>
            <a:avLst/>
            <a:gdLst/>
            <a:ahLst/>
            <a:cxnLst/>
            <a:rect l="0" t="0" r="r" b="b"/>
            <a:pathLst>
              <a:path w="2774950" h="1890183">
                <a:moveTo>
                  <a:pt x="0" y="1166283"/>
                </a:moveTo>
                <a:lnTo>
                  <a:pt x="40217" y="563033"/>
                </a:lnTo>
                <a:lnTo>
                  <a:pt x="241300" y="160867"/>
                </a:lnTo>
                <a:lnTo>
                  <a:pt x="804333" y="0"/>
                </a:lnTo>
                <a:lnTo>
                  <a:pt x="1367367" y="241300"/>
                </a:lnTo>
                <a:lnTo>
                  <a:pt x="1849967" y="241300"/>
                </a:lnTo>
                <a:lnTo>
                  <a:pt x="2533650" y="442383"/>
                </a:lnTo>
                <a:lnTo>
                  <a:pt x="2734733" y="402167"/>
                </a:lnTo>
                <a:lnTo>
                  <a:pt x="2774950" y="844550"/>
                </a:lnTo>
                <a:lnTo>
                  <a:pt x="2573867" y="1166283"/>
                </a:lnTo>
                <a:lnTo>
                  <a:pt x="2211917" y="1488017"/>
                </a:lnTo>
                <a:lnTo>
                  <a:pt x="2051050" y="1809750"/>
                </a:lnTo>
                <a:lnTo>
                  <a:pt x="1528233" y="1890183"/>
                </a:lnTo>
                <a:lnTo>
                  <a:pt x="1206500" y="1488017"/>
                </a:lnTo>
                <a:lnTo>
                  <a:pt x="844550" y="1327150"/>
                </a:lnTo>
                <a:lnTo>
                  <a:pt x="442383" y="1206500"/>
                </a:lnTo>
                <a:close/>
              </a:path>
            </a:pathLst>
          </a:custGeom>
          <a:solidFill>
            <a:srgbClr val="3E6FA5"/>
          </a:solidFill>
          <a:ln w="15875">
            <a:solidFill>
              <a:srgbClr val="FFFFFF"/>
            </a:solidFill>
            <a:round/>
          </a:ln>
        </p:spPr>
        <p:txBody>
          <a:bodyPr/>
          <a:lstStyle/>
          <a:p>
            <a:endParaRPr/>
          </a:p>
        </p:txBody>
      </p:sp>
      <p:sp>
        <p:nvSpPr>
          <p:cNvPr id="302" name="Map302"/>
          <p:cNvSpPr/>
          <p:nvPr/>
        </p:nvSpPr>
        <p:spPr>
          <a:xfrm>
            <a:off x="5861050" y="2045758"/>
            <a:ext cx="2252133" cy="2855383"/>
          </a:xfrm>
          <a:custGeom>
            <a:avLst/>
            <a:gdLst/>
            <a:ahLst/>
            <a:cxnLst/>
            <a:rect l="0" t="0" r="r" b="b"/>
            <a:pathLst>
              <a:path w="2252133" h="2855383">
                <a:moveTo>
                  <a:pt x="522817" y="281517"/>
                </a:moveTo>
                <a:lnTo>
                  <a:pt x="804333" y="80433"/>
                </a:lnTo>
                <a:lnTo>
                  <a:pt x="1286933" y="160867"/>
                </a:lnTo>
                <a:lnTo>
                  <a:pt x="1648883" y="0"/>
                </a:lnTo>
                <a:lnTo>
                  <a:pt x="2010833" y="201083"/>
                </a:lnTo>
                <a:lnTo>
                  <a:pt x="2252133" y="563033"/>
                </a:lnTo>
                <a:lnTo>
                  <a:pt x="2091267" y="965200"/>
                </a:lnTo>
                <a:lnTo>
                  <a:pt x="1809750" y="1367367"/>
                </a:lnTo>
                <a:lnTo>
                  <a:pt x="1568450" y="1689100"/>
                </a:lnTo>
                <a:lnTo>
                  <a:pt x="1286933" y="2091267"/>
                </a:lnTo>
                <a:lnTo>
                  <a:pt x="1126067" y="2614083"/>
                </a:lnTo>
                <a:lnTo>
                  <a:pt x="844550" y="2855383"/>
                </a:lnTo>
                <a:lnTo>
                  <a:pt x="643467" y="2694517"/>
                </a:lnTo>
                <a:lnTo>
                  <a:pt x="402167" y="2413000"/>
                </a:lnTo>
                <a:lnTo>
                  <a:pt x="361950" y="2010833"/>
                </a:lnTo>
                <a:lnTo>
                  <a:pt x="241300" y="1648883"/>
                </a:lnTo>
                <a:lnTo>
                  <a:pt x="0" y="1367367"/>
                </a:lnTo>
                <a:lnTo>
                  <a:pt x="361950" y="1045633"/>
                </a:lnTo>
                <a:lnTo>
                  <a:pt x="563033" y="723900"/>
                </a:lnTo>
                <a:close/>
              </a:path>
            </a:pathLst>
          </a:custGeom>
          <a:solidFill>
            <a:srgbClr val="6B4C8A"/>
          </a:solidFill>
          <a:ln w="15875">
            <a:solidFill>
              <a:srgbClr val="FFFFFF"/>
            </a:solidFill>
            <a:round/>
          </a:ln>
        </p:spPr>
        <p:txBody>
          <a:bodyPr/>
          <a:lstStyle/>
          <a:p>
            <a:endParaRPr/>
          </a:p>
        </p:txBody>
      </p:sp>
      <p:sp>
        <p:nvSpPr>
          <p:cNvPr id="303" name="Map303"/>
          <p:cNvSpPr/>
          <p:nvPr/>
        </p:nvSpPr>
        <p:spPr>
          <a:xfrm>
            <a:off x="3407833" y="3091392"/>
            <a:ext cx="3096683" cy="1689100"/>
          </a:xfrm>
          <a:custGeom>
            <a:avLst/>
            <a:gdLst/>
            <a:ahLst/>
            <a:cxnLst/>
            <a:rect l="0" t="0" r="r" b="b"/>
            <a:pathLst>
              <a:path w="3096683" h="1689100">
                <a:moveTo>
                  <a:pt x="241300" y="0"/>
                </a:moveTo>
                <a:lnTo>
                  <a:pt x="683683" y="40217"/>
                </a:lnTo>
                <a:lnTo>
                  <a:pt x="1085850" y="160867"/>
                </a:lnTo>
                <a:lnTo>
                  <a:pt x="1447800" y="321733"/>
                </a:lnTo>
                <a:lnTo>
                  <a:pt x="1769533" y="723900"/>
                </a:lnTo>
                <a:lnTo>
                  <a:pt x="2292350" y="643467"/>
                </a:lnTo>
                <a:lnTo>
                  <a:pt x="2453217" y="321733"/>
                </a:lnTo>
                <a:lnTo>
                  <a:pt x="2694517" y="603250"/>
                </a:lnTo>
                <a:lnTo>
                  <a:pt x="2815167" y="965200"/>
                </a:lnTo>
                <a:lnTo>
                  <a:pt x="2855383" y="1367367"/>
                </a:lnTo>
                <a:lnTo>
                  <a:pt x="3096683" y="1648883"/>
                </a:lnTo>
                <a:lnTo>
                  <a:pt x="2774950" y="1689100"/>
                </a:lnTo>
                <a:lnTo>
                  <a:pt x="2211917" y="1648883"/>
                </a:lnTo>
                <a:lnTo>
                  <a:pt x="1849967" y="1608667"/>
                </a:lnTo>
                <a:lnTo>
                  <a:pt x="1568450" y="1528233"/>
                </a:lnTo>
                <a:lnTo>
                  <a:pt x="1246717" y="1246717"/>
                </a:lnTo>
                <a:lnTo>
                  <a:pt x="965200" y="1206500"/>
                </a:lnTo>
                <a:lnTo>
                  <a:pt x="563033" y="1126067"/>
                </a:lnTo>
                <a:lnTo>
                  <a:pt x="0" y="1005417"/>
                </a:lnTo>
                <a:lnTo>
                  <a:pt x="80433" y="764117"/>
                </a:lnTo>
                <a:lnTo>
                  <a:pt x="281517" y="281517"/>
                </a:lnTo>
                <a:close/>
              </a:path>
            </a:pathLst>
          </a:custGeom>
          <a:solidFill>
            <a:srgbClr val="A8743A"/>
          </a:solidFill>
          <a:ln w="15875">
            <a:solidFill>
              <a:srgbClr val="FFFFFF"/>
            </a:solidFill>
            <a:round/>
          </a:ln>
        </p:spPr>
        <p:txBody>
          <a:bodyPr/>
          <a:lstStyle/>
          <a:p>
            <a:endParaRPr/>
          </a:p>
        </p:txBody>
      </p:sp>
      <p:sp>
        <p:nvSpPr>
          <p:cNvPr id="304" name="Map304"/>
          <p:cNvSpPr/>
          <p:nvPr/>
        </p:nvSpPr>
        <p:spPr>
          <a:xfrm>
            <a:off x="3327400" y="4096808"/>
            <a:ext cx="1327150" cy="1126067"/>
          </a:xfrm>
          <a:custGeom>
            <a:avLst/>
            <a:gdLst/>
            <a:ahLst/>
            <a:cxnLst/>
            <a:rect l="0" t="0" r="r" b="b"/>
            <a:pathLst>
              <a:path w="1327150" h="1126067">
                <a:moveTo>
                  <a:pt x="0" y="844550"/>
                </a:moveTo>
                <a:lnTo>
                  <a:pt x="0" y="241300"/>
                </a:lnTo>
                <a:lnTo>
                  <a:pt x="80433" y="0"/>
                </a:lnTo>
                <a:lnTo>
                  <a:pt x="643467" y="120650"/>
                </a:lnTo>
                <a:lnTo>
                  <a:pt x="1045633" y="201083"/>
                </a:lnTo>
                <a:lnTo>
                  <a:pt x="1327150" y="241300"/>
                </a:lnTo>
                <a:lnTo>
                  <a:pt x="1246717" y="522817"/>
                </a:lnTo>
                <a:lnTo>
                  <a:pt x="1085850" y="804333"/>
                </a:lnTo>
                <a:lnTo>
                  <a:pt x="904875" y="1126067"/>
                </a:lnTo>
                <a:lnTo>
                  <a:pt x="723900" y="924983"/>
                </a:lnTo>
                <a:lnTo>
                  <a:pt x="281517" y="844550"/>
                </a:lnTo>
                <a:close/>
              </a:path>
            </a:pathLst>
          </a:custGeom>
          <a:solidFill>
            <a:srgbClr val="2E7D6B"/>
          </a:solidFill>
          <a:ln w="15875">
            <a:solidFill>
              <a:srgbClr val="FFFFFF"/>
            </a:solidFill>
            <a:round/>
          </a:ln>
        </p:spPr>
        <p:txBody>
          <a:bodyPr/>
          <a:lstStyle/>
          <a:p>
            <a:endParaRPr/>
          </a:p>
        </p:txBody>
      </p:sp>
      <p:sp>
        <p:nvSpPr>
          <p:cNvPr id="305" name="Map305"/>
          <p:cNvSpPr/>
          <p:nvPr/>
        </p:nvSpPr>
        <p:spPr>
          <a:xfrm>
            <a:off x="4976283" y="4619625"/>
            <a:ext cx="643467" cy="884767"/>
          </a:xfrm>
          <a:custGeom>
            <a:avLst/>
            <a:gdLst/>
            <a:ahLst/>
            <a:cxnLst/>
            <a:rect l="0" t="0" r="r" b="b"/>
            <a:pathLst>
              <a:path w="643467" h="884767">
                <a:moveTo>
                  <a:pt x="0" y="0"/>
                </a:moveTo>
                <a:lnTo>
                  <a:pt x="281517" y="80433"/>
                </a:lnTo>
                <a:lnTo>
                  <a:pt x="643467" y="120650"/>
                </a:lnTo>
                <a:lnTo>
                  <a:pt x="603250" y="402167"/>
                </a:lnTo>
                <a:lnTo>
                  <a:pt x="442383" y="723900"/>
                </a:lnTo>
                <a:lnTo>
                  <a:pt x="241300" y="884767"/>
                </a:lnTo>
                <a:lnTo>
                  <a:pt x="80433" y="764117"/>
                </a:lnTo>
                <a:lnTo>
                  <a:pt x="0" y="522817"/>
                </a:lnTo>
                <a:close/>
              </a:path>
            </a:pathLst>
          </a:custGeom>
          <a:solidFill>
            <a:srgbClr val="8E3B55"/>
          </a:solidFill>
          <a:ln w="15875">
            <a:solidFill>
              <a:srgbClr val="FFFFFF"/>
            </a:solidFill>
            <a:round/>
          </a:ln>
        </p:spPr>
        <p:txBody>
          <a:bodyPr/>
          <a:lstStyle/>
          <a:p>
            <a:endParaRPr/>
          </a:p>
        </p:txBody>
      </p:sp>
      <p:sp>
        <p:nvSpPr>
          <p:cNvPr id="306" name="Map306"/>
          <p:cNvSpPr/>
          <p:nvPr/>
        </p:nvSpPr>
        <p:spPr>
          <a:xfrm>
            <a:off x="4232275" y="4338108"/>
            <a:ext cx="1950508" cy="1447800"/>
          </a:xfrm>
          <a:custGeom>
            <a:avLst/>
            <a:gdLst/>
            <a:ahLst/>
            <a:cxnLst/>
            <a:rect l="0" t="0" r="r" b="b"/>
            <a:pathLst>
              <a:path w="1950508" h="1447800">
                <a:moveTo>
                  <a:pt x="0" y="884767"/>
                </a:moveTo>
                <a:lnTo>
                  <a:pt x="180975" y="1085850"/>
                </a:lnTo>
                <a:lnTo>
                  <a:pt x="502708" y="1447800"/>
                </a:lnTo>
                <a:lnTo>
                  <a:pt x="1025525" y="1407583"/>
                </a:lnTo>
                <a:lnTo>
                  <a:pt x="1427692" y="1286933"/>
                </a:lnTo>
                <a:lnTo>
                  <a:pt x="1548342" y="1005417"/>
                </a:lnTo>
                <a:lnTo>
                  <a:pt x="1709208" y="643467"/>
                </a:lnTo>
                <a:lnTo>
                  <a:pt x="1950508" y="442383"/>
                </a:lnTo>
                <a:lnTo>
                  <a:pt x="1387475" y="402167"/>
                </a:lnTo>
                <a:lnTo>
                  <a:pt x="1347258" y="683683"/>
                </a:lnTo>
                <a:lnTo>
                  <a:pt x="1186392" y="1005417"/>
                </a:lnTo>
                <a:lnTo>
                  <a:pt x="985308" y="1166283"/>
                </a:lnTo>
                <a:lnTo>
                  <a:pt x="824442" y="1045633"/>
                </a:lnTo>
                <a:lnTo>
                  <a:pt x="744008" y="804333"/>
                </a:lnTo>
                <a:lnTo>
                  <a:pt x="744008" y="281517"/>
                </a:lnTo>
                <a:lnTo>
                  <a:pt x="422275" y="0"/>
                </a:lnTo>
                <a:lnTo>
                  <a:pt x="341842" y="281517"/>
                </a:lnTo>
                <a:lnTo>
                  <a:pt x="180975" y="563033"/>
                </a:lnTo>
                <a:close/>
              </a:path>
            </a:pathLst>
          </a:custGeom>
          <a:solidFill>
            <a:srgbClr val="5B7F34"/>
          </a:solidFill>
          <a:ln w="15875">
            <a:solidFill>
              <a:srgbClr val="FFFFFF"/>
            </a:solidFill>
            <a:round/>
          </a:ln>
        </p:spPr>
        <p:txBody>
          <a:bodyPr/>
          <a:lstStyle/>
          <a:p>
            <a:endParaRPr/>
          </a:p>
        </p:txBody>
      </p:sp>
      <p:sp>
        <p:nvSpPr>
          <p:cNvPr id="307" name="T307"/>
          <p:cNvSpPr txBox="1"/>
          <p:nvPr/>
        </p:nvSpPr>
        <p:spPr>
          <a:xfrm>
            <a:off x="4597400" y="2466975"/>
            <a:ext cx="355600" cy="203200"/>
          </a:xfrm>
          <a:prstGeom prst="rect">
            <a:avLst/>
          </a:prstGeom>
          <a:noFill/>
        </p:spPr>
        <p:txBody>
          <a:bodyPr wrap="square" lIns="0" tIns="0" rIns="0" bIns="0" anchor="ctr"/>
          <a:lstStyle/>
          <a:p>
            <a:pPr algn="ctr">
              <a:lnSpc>
                <a:spcPct val="110000"/>
              </a:lnSpc>
              <a:buNone/>
            </a:pPr>
            <a:r>
              <a:rPr lang="en-US" sz="1100" dirty="0">
                <a:solidFill>
                  <a:srgbClr val="FFFFFF"/>
                </a:solidFill>
              </a:rPr>
              <a:t>NW</a:t>
            </a:r>
          </a:p>
        </p:txBody>
      </p:sp>
      <p:sp>
        <p:nvSpPr>
          <p:cNvPr id="308" name="T308"/>
          <p:cNvSpPr txBox="1"/>
          <p:nvPr/>
        </p:nvSpPr>
        <p:spPr>
          <a:xfrm>
            <a:off x="7010400" y="2748492"/>
            <a:ext cx="355600" cy="203200"/>
          </a:xfrm>
          <a:prstGeom prst="rect">
            <a:avLst/>
          </a:prstGeom>
          <a:noFill/>
        </p:spPr>
        <p:txBody>
          <a:bodyPr wrap="square" lIns="0" tIns="0" rIns="0" bIns="0" anchor="ctr"/>
          <a:lstStyle/>
          <a:p>
            <a:pPr algn="ctr">
              <a:lnSpc>
                <a:spcPct val="110000"/>
              </a:lnSpc>
              <a:buNone/>
            </a:pPr>
            <a:r>
              <a:rPr lang="en-US" sz="1100" dirty="0">
                <a:solidFill>
                  <a:srgbClr val="FFFFFF"/>
                </a:solidFill>
              </a:rPr>
              <a:t>NE</a:t>
            </a:r>
          </a:p>
        </p:txBody>
      </p:sp>
      <p:sp>
        <p:nvSpPr>
          <p:cNvPr id="309" name="T309"/>
          <p:cNvSpPr txBox="1"/>
          <p:nvPr/>
        </p:nvSpPr>
        <p:spPr>
          <a:xfrm>
            <a:off x="4476750" y="3673475"/>
            <a:ext cx="355600" cy="203200"/>
          </a:xfrm>
          <a:prstGeom prst="rect">
            <a:avLst/>
          </a:prstGeom>
          <a:noFill/>
        </p:spPr>
        <p:txBody>
          <a:bodyPr wrap="square" lIns="0" tIns="0" rIns="0" bIns="0" anchor="ctr"/>
          <a:lstStyle/>
          <a:p>
            <a:pPr algn="ctr">
              <a:lnSpc>
                <a:spcPct val="110000"/>
              </a:lnSpc>
              <a:buNone/>
            </a:pPr>
            <a:r>
              <a:rPr lang="en-US" sz="1100" dirty="0">
                <a:solidFill>
                  <a:srgbClr val="FFFFFF"/>
                </a:solidFill>
              </a:rPr>
              <a:t>NC</a:t>
            </a:r>
          </a:p>
        </p:txBody>
      </p:sp>
      <p:sp>
        <p:nvSpPr>
          <p:cNvPr id="310" name="T310"/>
          <p:cNvSpPr txBox="1"/>
          <p:nvPr/>
        </p:nvSpPr>
        <p:spPr>
          <a:xfrm>
            <a:off x="3632200" y="4477808"/>
            <a:ext cx="355600" cy="203200"/>
          </a:xfrm>
          <a:prstGeom prst="rect">
            <a:avLst/>
          </a:prstGeom>
          <a:noFill/>
        </p:spPr>
        <p:txBody>
          <a:bodyPr wrap="square" lIns="0" tIns="0" rIns="0" bIns="0" anchor="ctr"/>
          <a:lstStyle/>
          <a:p>
            <a:pPr algn="ctr">
              <a:lnSpc>
                <a:spcPct val="110000"/>
              </a:lnSpc>
              <a:buNone/>
            </a:pPr>
            <a:r>
              <a:rPr lang="en-US" sz="1100" dirty="0">
                <a:solidFill>
                  <a:srgbClr val="FFFFFF"/>
                </a:solidFill>
              </a:rPr>
              <a:t>SW</a:t>
            </a:r>
          </a:p>
        </p:txBody>
      </p:sp>
      <p:sp>
        <p:nvSpPr>
          <p:cNvPr id="311" name="T311"/>
          <p:cNvSpPr txBox="1"/>
          <p:nvPr/>
        </p:nvSpPr>
        <p:spPr>
          <a:xfrm>
            <a:off x="5019675" y="5121275"/>
            <a:ext cx="355600" cy="203200"/>
          </a:xfrm>
          <a:prstGeom prst="rect">
            <a:avLst/>
          </a:prstGeom>
          <a:noFill/>
        </p:spPr>
        <p:txBody>
          <a:bodyPr wrap="square" lIns="0" tIns="0" rIns="0" bIns="0" anchor="ctr"/>
          <a:lstStyle/>
          <a:p>
            <a:pPr algn="ctr">
              <a:lnSpc>
                <a:spcPct val="110000"/>
              </a:lnSpc>
              <a:buNone/>
            </a:pPr>
            <a:r>
              <a:rPr lang="en-US" sz="1100" dirty="0">
                <a:solidFill>
                  <a:srgbClr val="FFFFFF"/>
                </a:solidFill>
              </a:rPr>
              <a:t>SE</a:t>
            </a:r>
          </a:p>
        </p:txBody>
      </p:sp>
      <p:sp>
        <p:nvSpPr>
          <p:cNvPr id="312" name="T312"/>
          <p:cNvSpPr txBox="1"/>
          <p:nvPr/>
        </p:nvSpPr>
        <p:spPr>
          <a:xfrm>
            <a:off x="4617508" y="5302250"/>
            <a:ext cx="355600" cy="203200"/>
          </a:xfrm>
          <a:prstGeom prst="rect">
            <a:avLst/>
          </a:prstGeom>
          <a:noFill/>
        </p:spPr>
        <p:txBody>
          <a:bodyPr wrap="square" lIns="0" tIns="0" rIns="0" bIns="0" anchor="ctr"/>
          <a:lstStyle/>
          <a:p>
            <a:pPr algn="ctr">
              <a:lnSpc>
                <a:spcPct val="110000"/>
              </a:lnSpc>
              <a:buNone/>
            </a:pPr>
            <a:r>
              <a:rPr lang="en-US" sz="1100" dirty="0">
                <a:solidFill>
                  <a:srgbClr val="FFFFFF"/>
                </a:solidFill>
              </a:rPr>
              <a:t>SS</a:t>
            </a:r>
          </a:p>
        </p:txBody>
      </p:sp>
      <p:cxnSp>
        <p:nvCxnSpPr>
          <p:cNvPr id="313" name="Leader313"/>
          <p:cNvCxnSpPr/>
          <p:nvPr/>
        </p:nvCxnSpPr>
        <p:spPr>
          <a:xfrm flipH="1" flipV="1">
            <a:off x="3073400" y="2311400"/>
            <a:ext cx="1540933" cy="15875"/>
          </a:xfrm>
          <a:prstGeom prst="line">
            <a:avLst/>
          </a:prstGeom>
          <a:ln w="12700">
            <a:solidFill>
              <a:srgbClr val="BFC8D6"/>
            </a:solidFill>
          </a:ln>
        </p:spPr>
      </p:cxnSp>
      <p:sp>
        <p:nvSpPr>
          <p:cNvPr id="314" name="D314"/>
          <p:cNvSpPr/>
          <p:nvPr/>
        </p:nvSpPr>
        <p:spPr>
          <a:xfrm>
            <a:off x="4557183" y="2270125"/>
            <a:ext cx="114300" cy="114300"/>
          </a:xfrm>
          <a:prstGeom prst="ellipse">
            <a:avLst/>
          </a:prstGeom>
          <a:solidFill>
            <a:srgbClr val="C8102E"/>
          </a:solidFill>
          <a:ln w="19050">
            <a:solidFill>
              <a:srgbClr val="FFFFFF"/>
            </a:solidFill>
          </a:ln>
        </p:spPr>
        <p:txBody>
          <a:bodyPr/>
          <a:lstStyle/>
          <a:p>
            <a:endParaRPr/>
          </a:p>
        </p:txBody>
      </p:sp>
      <p:sp>
        <p:nvSpPr>
          <p:cNvPr id="315" name="T315"/>
          <p:cNvSpPr txBox="1"/>
          <p:nvPr/>
        </p:nvSpPr>
        <p:spPr>
          <a:xfrm>
            <a:off x="838200" y="2032000"/>
            <a:ext cx="2159000" cy="584200"/>
          </a:xfrm>
          <a:prstGeom prst="rect">
            <a:avLst/>
          </a:prstGeom>
          <a:noFill/>
        </p:spPr>
        <p:txBody>
          <a:bodyPr wrap="square" lIns="0" tIns="0" rIns="0" bIns="0" anchor="t"/>
          <a:lstStyle/>
          <a:p>
            <a:pPr algn="r">
              <a:lnSpc>
                <a:spcPct val="110000"/>
              </a:lnSpc>
              <a:buNone/>
            </a:pPr>
            <a:r>
              <a:rPr lang="en-US" sz="1600" dirty="0">
                <a:solidFill>
                  <a:srgbClr val="FFFFFF"/>
                </a:solidFill>
              </a:rPr>
              <a:t>North West</a:t>
            </a:r>
          </a:p>
          <a:p>
            <a:pPr algn="r">
              <a:lnSpc>
                <a:spcPct val="110000"/>
              </a:lnSpc>
              <a:buNone/>
            </a:pPr>
            <a:r>
              <a:rPr lang="en-US" sz="1400" dirty="0">
                <a:solidFill>
                  <a:srgbClr val="D9D9D9"/>
                </a:solidFill>
              </a:rPr>
              <a:t>Banditry and mass kidnappings</a:t>
            </a:r>
          </a:p>
        </p:txBody>
      </p:sp>
      <p:cxnSp>
        <p:nvCxnSpPr>
          <p:cNvPr id="316" name="Leader316"/>
          <p:cNvCxnSpPr/>
          <p:nvPr/>
        </p:nvCxnSpPr>
        <p:spPr>
          <a:xfrm flipH="1" flipV="1">
            <a:off x="3073400" y="4089400"/>
            <a:ext cx="2385483" cy="47625"/>
          </a:xfrm>
          <a:prstGeom prst="line">
            <a:avLst/>
          </a:prstGeom>
          <a:ln w="12700">
            <a:solidFill>
              <a:srgbClr val="BFC8D6"/>
            </a:solidFill>
          </a:ln>
        </p:spPr>
      </p:cxnSp>
      <p:sp>
        <p:nvSpPr>
          <p:cNvPr id="317" name="D317"/>
          <p:cNvSpPr/>
          <p:nvPr/>
        </p:nvSpPr>
        <p:spPr>
          <a:xfrm>
            <a:off x="5401733" y="4079875"/>
            <a:ext cx="114300" cy="114300"/>
          </a:xfrm>
          <a:prstGeom prst="ellipse">
            <a:avLst/>
          </a:prstGeom>
          <a:solidFill>
            <a:srgbClr val="C8102E"/>
          </a:solidFill>
          <a:ln w="19050">
            <a:solidFill>
              <a:srgbClr val="FFFFFF"/>
            </a:solidFill>
          </a:ln>
        </p:spPr>
        <p:txBody>
          <a:bodyPr/>
          <a:lstStyle/>
          <a:p>
            <a:endParaRPr/>
          </a:p>
        </p:txBody>
      </p:sp>
      <p:sp>
        <p:nvSpPr>
          <p:cNvPr id="318" name="T318"/>
          <p:cNvSpPr txBox="1"/>
          <p:nvPr/>
        </p:nvSpPr>
        <p:spPr>
          <a:xfrm>
            <a:off x="838200" y="3810000"/>
            <a:ext cx="2159000" cy="584200"/>
          </a:xfrm>
          <a:prstGeom prst="rect">
            <a:avLst/>
          </a:prstGeom>
          <a:noFill/>
        </p:spPr>
        <p:txBody>
          <a:bodyPr wrap="square" lIns="0" tIns="0" rIns="0" bIns="0" anchor="t"/>
          <a:lstStyle/>
          <a:p>
            <a:pPr algn="r">
              <a:lnSpc>
                <a:spcPct val="110000"/>
              </a:lnSpc>
              <a:buNone/>
            </a:pPr>
            <a:r>
              <a:rPr lang="en-US" sz="1600" dirty="0">
                <a:solidFill>
                  <a:srgbClr val="FFFFFF"/>
                </a:solidFill>
              </a:rPr>
              <a:t>Middle Belt</a:t>
            </a:r>
          </a:p>
          <a:p>
            <a:pPr algn="r">
              <a:lnSpc>
                <a:spcPct val="110000"/>
              </a:lnSpc>
              <a:buNone/>
            </a:pPr>
            <a:r>
              <a:rPr lang="en-US" sz="1400" dirty="0">
                <a:solidFill>
                  <a:srgbClr val="D9D9D9"/>
                </a:solidFill>
              </a:rPr>
              <a:t>Farmer–herder conflict</a:t>
            </a:r>
          </a:p>
        </p:txBody>
      </p:sp>
      <p:cxnSp>
        <p:nvCxnSpPr>
          <p:cNvPr id="319" name="Leader319"/>
          <p:cNvCxnSpPr/>
          <p:nvPr/>
        </p:nvCxnSpPr>
        <p:spPr>
          <a:xfrm flipV="1">
            <a:off x="7429500" y="2438400"/>
            <a:ext cx="1257300" cy="291042"/>
          </a:xfrm>
          <a:prstGeom prst="line">
            <a:avLst/>
          </a:prstGeom>
          <a:ln w="12700">
            <a:solidFill>
              <a:srgbClr val="BFC8D6"/>
            </a:solidFill>
          </a:ln>
        </p:spPr>
      </p:cxnSp>
      <p:sp>
        <p:nvSpPr>
          <p:cNvPr id="320" name="D320"/>
          <p:cNvSpPr/>
          <p:nvPr/>
        </p:nvSpPr>
        <p:spPr>
          <a:xfrm>
            <a:off x="7372350" y="2672292"/>
            <a:ext cx="114300" cy="114300"/>
          </a:xfrm>
          <a:prstGeom prst="ellipse">
            <a:avLst/>
          </a:prstGeom>
          <a:solidFill>
            <a:srgbClr val="C8102E"/>
          </a:solidFill>
          <a:ln w="19050">
            <a:solidFill>
              <a:srgbClr val="FFFFFF"/>
            </a:solidFill>
          </a:ln>
        </p:spPr>
        <p:txBody>
          <a:bodyPr/>
          <a:lstStyle/>
          <a:p>
            <a:endParaRPr/>
          </a:p>
        </p:txBody>
      </p:sp>
      <p:sp>
        <p:nvSpPr>
          <p:cNvPr id="321" name="T321"/>
          <p:cNvSpPr txBox="1"/>
          <p:nvPr/>
        </p:nvSpPr>
        <p:spPr>
          <a:xfrm>
            <a:off x="8763000" y="2159000"/>
            <a:ext cx="2590800" cy="584200"/>
          </a:xfrm>
          <a:prstGeom prst="rect">
            <a:avLst/>
          </a:prstGeom>
          <a:noFill/>
        </p:spPr>
        <p:txBody>
          <a:bodyPr wrap="square" lIns="0" tIns="0" rIns="0" bIns="0" anchor="t"/>
          <a:lstStyle/>
          <a:p>
            <a:pPr algn="l">
              <a:lnSpc>
                <a:spcPct val="110000"/>
              </a:lnSpc>
              <a:buNone/>
            </a:pPr>
            <a:r>
              <a:rPr lang="en-US" sz="1600" dirty="0">
                <a:solidFill>
                  <a:srgbClr val="FFFFFF"/>
                </a:solidFill>
              </a:rPr>
              <a:t>North East</a:t>
            </a:r>
          </a:p>
          <a:p>
            <a:pPr algn="l">
              <a:lnSpc>
                <a:spcPct val="110000"/>
              </a:lnSpc>
              <a:buNone/>
            </a:pPr>
            <a:r>
              <a:rPr lang="en-US" sz="1400" dirty="0">
                <a:solidFill>
                  <a:srgbClr val="D9D9D9"/>
                </a:solidFill>
              </a:rPr>
              <a:t>Boko Haram / ISWAP insurgency</a:t>
            </a:r>
          </a:p>
        </p:txBody>
      </p:sp>
      <p:cxnSp>
        <p:nvCxnSpPr>
          <p:cNvPr id="322" name="Leader322"/>
          <p:cNvCxnSpPr/>
          <p:nvPr/>
        </p:nvCxnSpPr>
        <p:spPr>
          <a:xfrm flipV="1">
            <a:off x="5358342" y="4089400"/>
            <a:ext cx="3328458" cy="791633"/>
          </a:xfrm>
          <a:prstGeom prst="line">
            <a:avLst/>
          </a:prstGeom>
          <a:ln w="12700">
            <a:solidFill>
              <a:srgbClr val="BFC8D6"/>
            </a:solidFill>
          </a:ln>
        </p:spPr>
      </p:cxnSp>
      <p:sp>
        <p:nvSpPr>
          <p:cNvPr id="323" name="D323"/>
          <p:cNvSpPr/>
          <p:nvPr/>
        </p:nvSpPr>
        <p:spPr>
          <a:xfrm>
            <a:off x="5301192" y="4823883"/>
            <a:ext cx="114300" cy="114300"/>
          </a:xfrm>
          <a:prstGeom prst="ellipse">
            <a:avLst/>
          </a:prstGeom>
          <a:solidFill>
            <a:srgbClr val="C8102E"/>
          </a:solidFill>
          <a:ln w="19050">
            <a:solidFill>
              <a:srgbClr val="FFFFFF"/>
            </a:solidFill>
          </a:ln>
        </p:spPr>
        <p:txBody>
          <a:bodyPr/>
          <a:lstStyle/>
          <a:p>
            <a:endParaRPr/>
          </a:p>
        </p:txBody>
      </p:sp>
      <p:sp>
        <p:nvSpPr>
          <p:cNvPr id="324" name="T324"/>
          <p:cNvSpPr txBox="1"/>
          <p:nvPr/>
        </p:nvSpPr>
        <p:spPr>
          <a:xfrm>
            <a:off x="8763000" y="3810000"/>
            <a:ext cx="2590800" cy="584200"/>
          </a:xfrm>
          <a:prstGeom prst="rect">
            <a:avLst/>
          </a:prstGeom>
          <a:noFill/>
        </p:spPr>
        <p:txBody>
          <a:bodyPr wrap="square" lIns="0" tIns="0" rIns="0" bIns="0" anchor="t"/>
          <a:lstStyle/>
          <a:p>
            <a:pPr algn="l">
              <a:lnSpc>
                <a:spcPct val="110000"/>
              </a:lnSpc>
              <a:buNone/>
            </a:pPr>
            <a:r>
              <a:rPr lang="en-US" sz="1600" dirty="0">
                <a:solidFill>
                  <a:srgbClr val="FFFFFF"/>
                </a:solidFill>
              </a:rPr>
              <a:t>South East</a:t>
            </a:r>
          </a:p>
          <a:p>
            <a:pPr algn="l">
              <a:lnSpc>
                <a:spcPct val="110000"/>
              </a:lnSpc>
              <a:buNone/>
            </a:pPr>
            <a:r>
              <a:rPr lang="en-US" sz="1400" dirty="0">
                <a:solidFill>
                  <a:srgbClr val="D9D9D9"/>
                </a:solidFill>
              </a:rPr>
              <a:t>Separatist violence</a:t>
            </a:r>
          </a:p>
        </p:txBody>
      </p:sp>
      <p:cxnSp>
        <p:nvCxnSpPr>
          <p:cNvPr id="325" name="Leader325"/>
          <p:cNvCxnSpPr/>
          <p:nvPr/>
        </p:nvCxnSpPr>
        <p:spPr>
          <a:xfrm flipV="1">
            <a:off x="5639858" y="5156200"/>
            <a:ext cx="3046942" cy="328083"/>
          </a:xfrm>
          <a:prstGeom prst="line">
            <a:avLst/>
          </a:prstGeom>
          <a:ln w="12700">
            <a:solidFill>
              <a:srgbClr val="BFC8D6"/>
            </a:solidFill>
          </a:ln>
        </p:spPr>
      </p:cxnSp>
      <p:sp>
        <p:nvSpPr>
          <p:cNvPr id="326" name="D326"/>
          <p:cNvSpPr/>
          <p:nvPr/>
        </p:nvSpPr>
        <p:spPr>
          <a:xfrm>
            <a:off x="5582708" y="5427133"/>
            <a:ext cx="114300" cy="114300"/>
          </a:xfrm>
          <a:prstGeom prst="ellipse">
            <a:avLst/>
          </a:prstGeom>
          <a:solidFill>
            <a:srgbClr val="C8102E"/>
          </a:solidFill>
          <a:ln w="19050">
            <a:solidFill>
              <a:srgbClr val="FFFFFF"/>
            </a:solidFill>
          </a:ln>
        </p:spPr>
        <p:txBody>
          <a:bodyPr/>
          <a:lstStyle/>
          <a:p>
            <a:endParaRPr/>
          </a:p>
        </p:txBody>
      </p:sp>
      <p:sp>
        <p:nvSpPr>
          <p:cNvPr id="327" name="T327"/>
          <p:cNvSpPr txBox="1"/>
          <p:nvPr/>
        </p:nvSpPr>
        <p:spPr>
          <a:xfrm>
            <a:off x="8763000" y="4876800"/>
            <a:ext cx="2590800" cy="584200"/>
          </a:xfrm>
          <a:prstGeom prst="rect">
            <a:avLst/>
          </a:prstGeom>
          <a:noFill/>
        </p:spPr>
        <p:txBody>
          <a:bodyPr wrap="square" lIns="0" tIns="0" rIns="0" bIns="0" anchor="t"/>
          <a:lstStyle/>
          <a:p>
            <a:pPr algn="l">
              <a:lnSpc>
                <a:spcPct val="110000"/>
              </a:lnSpc>
              <a:buNone/>
            </a:pPr>
            <a:r>
              <a:rPr lang="en-US" sz="1600" dirty="0">
                <a:solidFill>
                  <a:srgbClr val="FFFFFF"/>
                </a:solidFill>
              </a:rPr>
              <a:t>Niger Delta</a:t>
            </a:r>
          </a:p>
          <a:p>
            <a:pPr algn="l">
              <a:lnSpc>
                <a:spcPct val="110000"/>
              </a:lnSpc>
              <a:buNone/>
            </a:pPr>
            <a:r>
              <a:rPr lang="en-US" sz="1400" dirty="0">
                <a:solidFill>
                  <a:srgbClr val="D9D9D9"/>
                </a:solidFill>
              </a:rPr>
              <a:t>Cultist violence</a:t>
            </a:r>
          </a:p>
        </p:txBody>
      </p:sp>
      <p:sp>
        <p:nvSpPr>
          <p:cNvPr id="328" name="T328"/>
          <p:cNvSpPr txBox="1"/>
          <p:nvPr/>
        </p:nvSpPr>
        <p:spPr>
          <a:xfrm>
            <a:off x="838200" y="5867400"/>
            <a:ext cx="7112000" cy="304800"/>
          </a:xfrm>
          <a:prstGeom prst="rect">
            <a:avLst/>
          </a:prstGeom>
          <a:noFill/>
        </p:spPr>
        <p:txBody>
          <a:bodyPr wrap="square" lIns="0" tIns="0" rIns="0" bIns="0" anchor="ctr"/>
          <a:lstStyle/>
          <a:p>
            <a:pPr>
              <a:buNone/>
            </a:pPr>
            <a:r>
              <a:rPr lang="en-US" sz="1600" dirty="0">
                <a:solidFill>
                  <a:srgbClr val="FF6B6B"/>
                </a:solidFill>
              </a:rPr>
              <a:t>3 million+</a:t>
            </a:r>
            <a:r>
              <a:rPr lang="en-US" sz="1400" dirty="0">
                <a:solidFill>
                  <a:srgbClr val="D9D9D9"/>
                </a:solidFill>
              </a:rPr>
              <a:t>  internally displaced · all three forms of organized violence co-occur</a:t>
            </a:r>
          </a:p>
        </p:txBody>
      </p:sp>
      <p:sp>
        <p:nvSpPr>
          <p:cNvPr id="329" name="T329"/>
          <p:cNvSpPr txBox="1"/>
          <p:nvPr/>
        </p:nvSpPr>
        <p:spPr>
          <a:xfrm>
            <a:off x="8763000" y="5588000"/>
            <a:ext cx="2590800" cy="254000"/>
          </a:xfrm>
          <a:prstGeom prst="rect">
            <a:avLst/>
          </a:prstGeom>
          <a:noFill/>
        </p:spPr>
        <p:txBody>
          <a:bodyPr wrap="square" lIns="0" tIns="0" rIns="0" bIns="0" anchor="ctr"/>
          <a:lstStyle/>
          <a:p>
            <a:pPr algn="l">
              <a:lnSpc>
                <a:spcPct val="110000"/>
              </a:lnSpc>
              <a:buNone/>
            </a:pPr>
            <a:r>
              <a:rPr lang="en-US" sz="1100" dirty="0">
                <a:solidFill>
                  <a:srgbClr val="BFBFBF"/>
                </a:solidFill>
              </a:rPr>
              <a:t>Schematic map; zones approximate</a:t>
            </a:r>
          </a:p>
        </p:txBody>
      </p:sp>
      <p:sp>
        <p:nvSpPr>
          <p:cNvPr id="700" name="Dim NW"/>
          <p:cNvSpPr/>
          <p:nvPr/>
        </p:nvSpPr>
        <p:spPr>
          <a:xfrm>
            <a:off x="3649133" y="1925108"/>
            <a:ext cx="2774950" cy="1890183"/>
          </a:xfrm>
          <a:custGeom>
            <a:avLst/>
            <a:gdLst/>
            <a:ahLst/>
            <a:cxnLst/>
            <a:rect l="0" t="0" r="r" b="b"/>
            <a:pathLst>
              <a:path w="2774950" h="1890183">
                <a:moveTo>
                  <a:pt x="0" y="1166283"/>
                </a:moveTo>
                <a:lnTo>
                  <a:pt x="40217" y="563033"/>
                </a:lnTo>
                <a:lnTo>
                  <a:pt x="241300" y="160867"/>
                </a:lnTo>
                <a:lnTo>
                  <a:pt x="804333" y="0"/>
                </a:lnTo>
                <a:lnTo>
                  <a:pt x="1367367" y="241300"/>
                </a:lnTo>
                <a:lnTo>
                  <a:pt x="1849967" y="241300"/>
                </a:lnTo>
                <a:lnTo>
                  <a:pt x="2533650" y="442383"/>
                </a:lnTo>
                <a:lnTo>
                  <a:pt x="2734733" y="402167"/>
                </a:lnTo>
                <a:lnTo>
                  <a:pt x="2774950" y="844550"/>
                </a:lnTo>
                <a:lnTo>
                  <a:pt x="2573867" y="1166283"/>
                </a:lnTo>
                <a:lnTo>
                  <a:pt x="2211917" y="1488017"/>
                </a:lnTo>
                <a:lnTo>
                  <a:pt x="2051050" y="1809750"/>
                </a:lnTo>
                <a:lnTo>
                  <a:pt x="1528233" y="1890183"/>
                </a:lnTo>
                <a:lnTo>
                  <a:pt x="1206500" y="1488017"/>
                </a:lnTo>
                <a:lnTo>
                  <a:pt x="844550" y="1327150"/>
                </a:lnTo>
                <a:lnTo>
                  <a:pt x="442383" y="1206500"/>
                </a:lnTo>
                <a:close/>
              </a:path>
            </a:pathLst>
          </a:custGeom>
          <a:solidFill>
            <a:srgbClr val="0B1630">
              <a:alpha val="78000"/>
            </a:srgbClr>
          </a:solidFill>
          <a:ln w="15875">
            <a:solidFill>
              <a:srgbClr val="0B1630">
                <a:alpha val="78000"/>
              </a:srgbClr>
            </a:solidFill>
          </a:ln>
        </p:spPr>
        <p:txBody>
          <a:bodyPr/>
          <a:lstStyle/>
          <a:p>
            <a:endParaRPr/>
          </a:p>
        </p:txBody>
      </p:sp>
      <p:sp>
        <p:nvSpPr>
          <p:cNvPr id="701" name="Dim NW label"/>
          <p:cNvSpPr/>
          <p:nvPr/>
        </p:nvSpPr>
        <p:spPr>
          <a:xfrm>
            <a:off x="762000" y="1981200"/>
            <a:ext cx="2311400" cy="685800"/>
          </a:xfrm>
          <a:prstGeom prst="rect">
            <a:avLst/>
          </a:prstGeom>
          <a:solidFill>
            <a:srgbClr val="0B1630">
              <a:alpha val="78000"/>
            </a:srgbClr>
          </a:solidFill>
          <a:ln>
            <a:noFill/>
          </a:ln>
        </p:spPr>
        <p:txBody>
          <a:bodyPr/>
          <a:lstStyle/>
          <a:p>
            <a:endParaRPr/>
          </a:p>
        </p:txBody>
      </p:sp>
      <p:sp>
        <p:nvSpPr>
          <p:cNvPr id="702" name="Dim NE"/>
          <p:cNvSpPr/>
          <p:nvPr/>
        </p:nvSpPr>
        <p:spPr>
          <a:xfrm>
            <a:off x="5861050" y="2045758"/>
            <a:ext cx="2252133" cy="2855383"/>
          </a:xfrm>
          <a:custGeom>
            <a:avLst/>
            <a:gdLst/>
            <a:ahLst/>
            <a:cxnLst/>
            <a:rect l="0" t="0" r="r" b="b"/>
            <a:pathLst>
              <a:path w="2252133" h="2855383">
                <a:moveTo>
                  <a:pt x="522817" y="281517"/>
                </a:moveTo>
                <a:lnTo>
                  <a:pt x="804333" y="80433"/>
                </a:lnTo>
                <a:lnTo>
                  <a:pt x="1286933" y="160867"/>
                </a:lnTo>
                <a:lnTo>
                  <a:pt x="1648883" y="0"/>
                </a:lnTo>
                <a:lnTo>
                  <a:pt x="2010833" y="201083"/>
                </a:lnTo>
                <a:lnTo>
                  <a:pt x="2252133" y="563033"/>
                </a:lnTo>
                <a:lnTo>
                  <a:pt x="2091267" y="965200"/>
                </a:lnTo>
                <a:lnTo>
                  <a:pt x="1809750" y="1367367"/>
                </a:lnTo>
                <a:lnTo>
                  <a:pt x="1568450" y="1689100"/>
                </a:lnTo>
                <a:lnTo>
                  <a:pt x="1286933" y="2091267"/>
                </a:lnTo>
                <a:lnTo>
                  <a:pt x="1126067" y="2614083"/>
                </a:lnTo>
                <a:lnTo>
                  <a:pt x="844550" y="2855383"/>
                </a:lnTo>
                <a:lnTo>
                  <a:pt x="643467" y="2694517"/>
                </a:lnTo>
                <a:lnTo>
                  <a:pt x="402167" y="2413000"/>
                </a:lnTo>
                <a:lnTo>
                  <a:pt x="361950" y="2010833"/>
                </a:lnTo>
                <a:lnTo>
                  <a:pt x="241300" y="1648883"/>
                </a:lnTo>
                <a:lnTo>
                  <a:pt x="0" y="1367367"/>
                </a:lnTo>
                <a:lnTo>
                  <a:pt x="361950" y="1045633"/>
                </a:lnTo>
                <a:lnTo>
                  <a:pt x="563033" y="723900"/>
                </a:lnTo>
                <a:close/>
              </a:path>
            </a:pathLst>
          </a:custGeom>
          <a:solidFill>
            <a:srgbClr val="0B1630">
              <a:alpha val="78000"/>
            </a:srgbClr>
          </a:solidFill>
          <a:ln w="15875">
            <a:solidFill>
              <a:srgbClr val="0B1630">
                <a:alpha val="78000"/>
              </a:srgbClr>
            </a:solidFill>
          </a:ln>
        </p:spPr>
        <p:txBody>
          <a:bodyPr/>
          <a:lstStyle/>
          <a:p>
            <a:endParaRPr/>
          </a:p>
        </p:txBody>
      </p:sp>
      <p:sp>
        <p:nvSpPr>
          <p:cNvPr id="703" name="Dim NE label"/>
          <p:cNvSpPr/>
          <p:nvPr/>
        </p:nvSpPr>
        <p:spPr>
          <a:xfrm>
            <a:off x="8686800" y="2108200"/>
            <a:ext cx="2717800" cy="685800"/>
          </a:xfrm>
          <a:prstGeom prst="rect">
            <a:avLst/>
          </a:prstGeom>
          <a:solidFill>
            <a:srgbClr val="0B1630">
              <a:alpha val="78000"/>
            </a:srgbClr>
          </a:solidFill>
          <a:ln>
            <a:noFill/>
          </a:ln>
        </p:spPr>
        <p:txBody>
          <a:bodyPr/>
          <a:lstStyle/>
          <a:p>
            <a:endParaRPr/>
          </a:p>
        </p:txBody>
      </p:sp>
      <p:sp>
        <p:nvSpPr>
          <p:cNvPr id="704" name="Dim NC"/>
          <p:cNvSpPr/>
          <p:nvPr/>
        </p:nvSpPr>
        <p:spPr>
          <a:xfrm>
            <a:off x="3407833" y="3091392"/>
            <a:ext cx="3096683" cy="1689100"/>
          </a:xfrm>
          <a:custGeom>
            <a:avLst/>
            <a:gdLst/>
            <a:ahLst/>
            <a:cxnLst/>
            <a:rect l="0" t="0" r="r" b="b"/>
            <a:pathLst>
              <a:path w="3096683" h="1689100">
                <a:moveTo>
                  <a:pt x="241300" y="0"/>
                </a:moveTo>
                <a:lnTo>
                  <a:pt x="683683" y="40217"/>
                </a:lnTo>
                <a:lnTo>
                  <a:pt x="1085850" y="160867"/>
                </a:lnTo>
                <a:lnTo>
                  <a:pt x="1447800" y="321733"/>
                </a:lnTo>
                <a:lnTo>
                  <a:pt x="1769533" y="723900"/>
                </a:lnTo>
                <a:lnTo>
                  <a:pt x="2292350" y="643467"/>
                </a:lnTo>
                <a:lnTo>
                  <a:pt x="2453217" y="321733"/>
                </a:lnTo>
                <a:lnTo>
                  <a:pt x="2694517" y="603250"/>
                </a:lnTo>
                <a:lnTo>
                  <a:pt x="2815167" y="965200"/>
                </a:lnTo>
                <a:lnTo>
                  <a:pt x="2855383" y="1367367"/>
                </a:lnTo>
                <a:lnTo>
                  <a:pt x="3096683" y="1648883"/>
                </a:lnTo>
                <a:lnTo>
                  <a:pt x="2774950" y="1689100"/>
                </a:lnTo>
                <a:lnTo>
                  <a:pt x="2211917" y="1648883"/>
                </a:lnTo>
                <a:lnTo>
                  <a:pt x="1849967" y="1608667"/>
                </a:lnTo>
                <a:lnTo>
                  <a:pt x="1568450" y="1528233"/>
                </a:lnTo>
                <a:lnTo>
                  <a:pt x="1246717" y="1246717"/>
                </a:lnTo>
                <a:lnTo>
                  <a:pt x="965200" y="1206500"/>
                </a:lnTo>
                <a:lnTo>
                  <a:pt x="563033" y="1126067"/>
                </a:lnTo>
                <a:lnTo>
                  <a:pt x="0" y="1005417"/>
                </a:lnTo>
                <a:lnTo>
                  <a:pt x="80433" y="764117"/>
                </a:lnTo>
                <a:lnTo>
                  <a:pt x="281517" y="281517"/>
                </a:lnTo>
                <a:close/>
              </a:path>
            </a:pathLst>
          </a:custGeom>
          <a:solidFill>
            <a:srgbClr val="0B1630">
              <a:alpha val="78000"/>
            </a:srgbClr>
          </a:solidFill>
          <a:ln w="15875">
            <a:solidFill>
              <a:srgbClr val="0B1630">
                <a:alpha val="78000"/>
              </a:srgbClr>
            </a:solidFill>
          </a:ln>
        </p:spPr>
        <p:txBody>
          <a:bodyPr/>
          <a:lstStyle/>
          <a:p>
            <a:endParaRPr/>
          </a:p>
        </p:txBody>
      </p:sp>
      <p:sp>
        <p:nvSpPr>
          <p:cNvPr id="705" name="Dim NC label"/>
          <p:cNvSpPr/>
          <p:nvPr/>
        </p:nvSpPr>
        <p:spPr>
          <a:xfrm>
            <a:off x="762000" y="3759200"/>
            <a:ext cx="2311400" cy="685800"/>
          </a:xfrm>
          <a:prstGeom prst="rect">
            <a:avLst/>
          </a:prstGeom>
          <a:solidFill>
            <a:srgbClr val="0B1630">
              <a:alpha val="78000"/>
            </a:srgbClr>
          </a:solidFill>
          <a:ln>
            <a:noFill/>
          </a:ln>
        </p:spPr>
        <p:txBody>
          <a:bodyPr/>
          <a:lstStyle/>
          <a:p>
            <a:endParaRPr/>
          </a:p>
        </p:txBody>
      </p:sp>
      <p:sp>
        <p:nvSpPr>
          <p:cNvPr id="706" name="Dim SW"/>
          <p:cNvSpPr/>
          <p:nvPr/>
        </p:nvSpPr>
        <p:spPr>
          <a:xfrm>
            <a:off x="3327400" y="4096808"/>
            <a:ext cx="1327150" cy="1126067"/>
          </a:xfrm>
          <a:custGeom>
            <a:avLst/>
            <a:gdLst/>
            <a:ahLst/>
            <a:cxnLst/>
            <a:rect l="0" t="0" r="r" b="b"/>
            <a:pathLst>
              <a:path w="1327150" h="1126067">
                <a:moveTo>
                  <a:pt x="0" y="844550"/>
                </a:moveTo>
                <a:lnTo>
                  <a:pt x="0" y="241300"/>
                </a:lnTo>
                <a:lnTo>
                  <a:pt x="80433" y="0"/>
                </a:lnTo>
                <a:lnTo>
                  <a:pt x="643467" y="120650"/>
                </a:lnTo>
                <a:lnTo>
                  <a:pt x="1045633" y="201083"/>
                </a:lnTo>
                <a:lnTo>
                  <a:pt x="1327150" y="241300"/>
                </a:lnTo>
                <a:lnTo>
                  <a:pt x="1246717" y="522817"/>
                </a:lnTo>
                <a:lnTo>
                  <a:pt x="1085850" y="804333"/>
                </a:lnTo>
                <a:lnTo>
                  <a:pt x="904875" y="1126067"/>
                </a:lnTo>
                <a:lnTo>
                  <a:pt x="723900" y="924983"/>
                </a:lnTo>
                <a:lnTo>
                  <a:pt x="281517" y="844550"/>
                </a:lnTo>
                <a:close/>
              </a:path>
            </a:pathLst>
          </a:custGeom>
          <a:solidFill>
            <a:srgbClr val="0B1630">
              <a:alpha val="78000"/>
            </a:srgbClr>
          </a:solidFill>
          <a:ln w="15875">
            <a:solidFill>
              <a:srgbClr val="0B1630">
                <a:alpha val="78000"/>
              </a:srgbClr>
            </a:solidFill>
          </a:ln>
        </p:spPr>
        <p:txBody>
          <a:bodyPr/>
          <a:lstStyle/>
          <a:p>
            <a:endParaRPr/>
          </a:p>
        </p:txBody>
      </p:sp>
      <p:sp>
        <p:nvSpPr>
          <p:cNvPr id="707" name="Dim SE"/>
          <p:cNvSpPr/>
          <p:nvPr/>
        </p:nvSpPr>
        <p:spPr>
          <a:xfrm>
            <a:off x="4976283" y="4619625"/>
            <a:ext cx="643467" cy="884767"/>
          </a:xfrm>
          <a:custGeom>
            <a:avLst/>
            <a:gdLst/>
            <a:ahLst/>
            <a:cxnLst/>
            <a:rect l="0" t="0" r="r" b="b"/>
            <a:pathLst>
              <a:path w="643467" h="884767">
                <a:moveTo>
                  <a:pt x="0" y="0"/>
                </a:moveTo>
                <a:lnTo>
                  <a:pt x="281517" y="80433"/>
                </a:lnTo>
                <a:lnTo>
                  <a:pt x="643467" y="120650"/>
                </a:lnTo>
                <a:lnTo>
                  <a:pt x="603250" y="402167"/>
                </a:lnTo>
                <a:lnTo>
                  <a:pt x="442383" y="723900"/>
                </a:lnTo>
                <a:lnTo>
                  <a:pt x="241300" y="884767"/>
                </a:lnTo>
                <a:lnTo>
                  <a:pt x="80433" y="764117"/>
                </a:lnTo>
                <a:lnTo>
                  <a:pt x="0" y="522817"/>
                </a:lnTo>
                <a:close/>
              </a:path>
            </a:pathLst>
          </a:custGeom>
          <a:solidFill>
            <a:srgbClr val="0B1630">
              <a:alpha val="78000"/>
            </a:srgbClr>
          </a:solidFill>
          <a:ln w="15875">
            <a:solidFill>
              <a:srgbClr val="0B1630">
                <a:alpha val="78000"/>
              </a:srgbClr>
            </a:solidFill>
          </a:ln>
        </p:spPr>
        <p:txBody>
          <a:bodyPr/>
          <a:lstStyle/>
          <a:p>
            <a:endParaRPr/>
          </a:p>
        </p:txBody>
      </p:sp>
      <p:sp>
        <p:nvSpPr>
          <p:cNvPr id="708" name="Dim SE label"/>
          <p:cNvSpPr/>
          <p:nvPr/>
        </p:nvSpPr>
        <p:spPr>
          <a:xfrm>
            <a:off x="8686800" y="3759200"/>
            <a:ext cx="2717800" cy="685800"/>
          </a:xfrm>
          <a:prstGeom prst="rect">
            <a:avLst/>
          </a:prstGeom>
          <a:solidFill>
            <a:srgbClr val="0B1630">
              <a:alpha val="78000"/>
            </a:srgbClr>
          </a:solidFill>
          <a:ln>
            <a:noFill/>
          </a:ln>
        </p:spPr>
        <p:txBody>
          <a:bodyPr/>
          <a:lstStyle/>
          <a:p>
            <a:endParaRPr/>
          </a:p>
        </p:txBody>
      </p:sp>
      <p:sp>
        <p:nvSpPr>
          <p:cNvPr id="709" name="Dim SS"/>
          <p:cNvSpPr/>
          <p:nvPr/>
        </p:nvSpPr>
        <p:spPr>
          <a:xfrm>
            <a:off x="4232275" y="4338108"/>
            <a:ext cx="1950508" cy="1447800"/>
          </a:xfrm>
          <a:custGeom>
            <a:avLst/>
            <a:gdLst/>
            <a:ahLst/>
            <a:cxnLst/>
            <a:rect l="0" t="0" r="r" b="b"/>
            <a:pathLst>
              <a:path w="1950508" h="1447800">
                <a:moveTo>
                  <a:pt x="0" y="884767"/>
                </a:moveTo>
                <a:lnTo>
                  <a:pt x="180975" y="1085850"/>
                </a:lnTo>
                <a:lnTo>
                  <a:pt x="502708" y="1447800"/>
                </a:lnTo>
                <a:lnTo>
                  <a:pt x="1025525" y="1407583"/>
                </a:lnTo>
                <a:lnTo>
                  <a:pt x="1427692" y="1286933"/>
                </a:lnTo>
                <a:lnTo>
                  <a:pt x="1548342" y="1005417"/>
                </a:lnTo>
                <a:lnTo>
                  <a:pt x="1709208" y="643467"/>
                </a:lnTo>
                <a:lnTo>
                  <a:pt x="1950508" y="442383"/>
                </a:lnTo>
                <a:lnTo>
                  <a:pt x="1387475" y="402167"/>
                </a:lnTo>
                <a:lnTo>
                  <a:pt x="1347258" y="683683"/>
                </a:lnTo>
                <a:lnTo>
                  <a:pt x="1186392" y="1005417"/>
                </a:lnTo>
                <a:lnTo>
                  <a:pt x="985308" y="1166283"/>
                </a:lnTo>
                <a:lnTo>
                  <a:pt x="824442" y="1045633"/>
                </a:lnTo>
                <a:lnTo>
                  <a:pt x="744008" y="804333"/>
                </a:lnTo>
                <a:lnTo>
                  <a:pt x="744008" y="281517"/>
                </a:lnTo>
                <a:lnTo>
                  <a:pt x="422275" y="0"/>
                </a:lnTo>
                <a:lnTo>
                  <a:pt x="341842" y="281517"/>
                </a:lnTo>
                <a:lnTo>
                  <a:pt x="180975" y="563033"/>
                </a:lnTo>
                <a:close/>
              </a:path>
            </a:pathLst>
          </a:custGeom>
          <a:solidFill>
            <a:srgbClr val="0B1630">
              <a:alpha val="78000"/>
            </a:srgbClr>
          </a:solidFill>
          <a:ln w="15875">
            <a:solidFill>
              <a:srgbClr val="0B1630">
                <a:alpha val="78000"/>
              </a:srgbClr>
            </a:solidFill>
          </a:ln>
        </p:spPr>
        <p:txBody>
          <a:bodyPr/>
          <a:lstStyle/>
          <a:p>
            <a:endParaRPr/>
          </a:p>
        </p:txBody>
      </p:sp>
      <p:sp>
        <p:nvSpPr>
          <p:cNvPr id="710" name="Dim SS label"/>
          <p:cNvSpPr/>
          <p:nvPr/>
        </p:nvSpPr>
        <p:spPr>
          <a:xfrm>
            <a:off x="8686800" y="4826000"/>
            <a:ext cx="2717800" cy="685800"/>
          </a:xfrm>
          <a:prstGeom prst="rect">
            <a:avLst/>
          </a:prstGeom>
          <a:solidFill>
            <a:srgbClr val="0B1630">
              <a:alpha val="78000"/>
            </a:srgbClr>
          </a:solidFill>
          <a:ln>
            <a:noFill/>
          </a:ln>
        </p:spPr>
        <p:txBody>
          <a:bodyPr/>
          <a:lstStyle/>
          <a:p>
            <a:endParaRPr/>
          </a:p>
        </p:txBody>
      </p:sp>
      <p:sp>
        <p:nvSpPr>
          <p:cNvPr id="711" name="Section label"/>
          <p:cNvSpPr txBox="1"/>
          <p:nvPr/>
        </p:nvSpPr>
        <p:spPr>
          <a:xfrm>
            <a:off x="841248" y="128016"/>
            <a:ext cx="5486400" cy="292608"/>
          </a:xfrm>
          <a:prstGeom prst="rect">
            <a:avLst/>
          </a:prstGeom>
          <a:noFill/>
        </p:spPr>
        <p:txBody>
          <a:bodyPr wrap="none" lIns="0" rIns="0" tIns="0" bIns="0">
            <a:spAutoFit/>
          </a:bodyPr>
          <a:lstStyle/>
          <a:p>
            <a:pPr algn="l"/>
            <a:r>
              <a:rPr sz="1200" b="1" spc="150">
                <a:solidFill>
                  <a:srgbClr val="E8963C"/>
                </a:solidFill>
              </a:rPr>
              <a:t>INTRODUCTION</a:t>
            </a:r>
          </a:p>
        </p:txBody>
      </p:sp>
    </p:spTree>
    <p:extLst>
      <p:ext uri="{BB962C8B-B14F-4D97-AF65-F5344CB8AC3E}">
        <p14:creationId xmlns:p14="http://schemas.microsoft.com/office/powerpoint/2010/main" val="40431213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00"/>
                                        </p:tgtEl>
                                        <p:attrNameLst>
                                          <p:attrName>style.visibility</p:attrName>
                                        </p:attrNameLst>
                                      </p:cBhvr>
                                      <p:to>
                                        <p:strVal val="visible"/>
                                      </p:to>
                                    </p:set>
                                    <p:animEffect transition="in" filter="fade">
                                      <p:cBhvr>
                                        <p:cTn id="7" dur="400"/>
                                        <p:tgtEl>
                                          <p:spTgt spid="700"/>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701"/>
                                        </p:tgtEl>
                                        <p:attrNameLst>
                                          <p:attrName>style.visibility</p:attrName>
                                        </p:attrNameLst>
                                      </p:cBhvr>
                                      <p:to>
                                        <p:strVal val="visible"/>
                                      </p:to>
                                    </p:set>
                                    <p:animEffect transition="in" filter="fade">
                                      <p:cBhvr>
                                        <p:cTn id="10" dur="400"/>
                                        <p:tgtEl>
                                          <p:spTgt spid="701"/>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04"/>
                                        </p:tgtEl>
                                        <p:attrNameLst>
                                          <p:attrName>style.visibility</p:attrName>
                                        </p:attrNameLst>
                                      </p:cBhvr>
                                      <p:to>
                                        <p:strVal val="visible"/>
                                      </p:to>
                                    </p:set>
                                    <p:animEffect transition="in" filter="fade">
                                      <p:cBhvr>
                                        <p:cTn id="13" dur="400"/>
                                        <p:tgtEl>
                                          <p:spTgt spid="704"/>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705"/>
                                        </p:tgtEl>
                                        <p:attrNameLst>
                                          <p:attrName>style.visibility</p:attrName>
                                        </p:attrNameLst>
                                      </p:cBhvr>
                                      <p:to>
                                        <p:strVal val="visible"/>
                                      </p:to>
                                    </p:set>
                                    <p:animEffect transition="in" filter="fade">
                                      <p:cBhvr>
                                        <p:cTn id="16" dur="400"/>
                                        <p:tgtEl>
                                          <p:spTgt spid="705"/>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706"/>
                                        </p:tgtEl>
                                        <p:attrNameLst>
                                          <p:attrName>style.visibility</p:attrName>
                                        </p:attrNameLst>
                                      </p:cBhvr>
                                      <p:to>
                                        <p:strVal val="visible"/>
                                      </p:to>
                                    </p:set>
                                    <p:animEffect transition="in" filter="fade">
                                      <p:cBhvr>
                                        <p:cTn id="19" dur="400"/>
                                        <p:tgtEl>
                                          <p:spTgt spid="706"/>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707"/>
                                        </p:tgtEl>
                                        <p:attrNameLst>
                                          <p:attrName>style.visibility</p:attrName>
                                        </p:attrNameLst>
                                      </p:cBhvr>
                                      <p:to>
                                        <p:strVal val="visible"/>
                                      </p:to>
                                    </p:set>
                                    <p:animEffect transition="in" filter="fade">
                                      <p:cBhvr>
                                        <p:cTn id="22" dur="400"/>
                                        <p:tgtEl>
                                          <p:spTgt spid="707"/>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708"/>
                                        </p:tgtEl>
                                        <p:attrNameLst>
                                          <p:attrName>style.visibility</p:attrName>
                                        </p:attrNameLst>
                                      </p:cBhvr>
                                      <p:to>
                                        <p:strVal val="visible"/>
                                      </p:to>
                                    </p:set>
                                    <p:animEffect transition="in" filter="fade">
                                      <p:cBhvr>
                                        <p:cTn id="25" dur="400"/>
                                        <p:tgtEl>
                                          <p:spTgt spid="708"/>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709"/>
                                        </p:tgtEl>
                                        <p:attrNameLst>
                                          <p:attrName>style.visibility</p:attrName>
                                        </p:attrNameLst>
                                      </p:cBhvr>
                                      <p:to>
                                        <p:strVal val="visible"/>
                                      </p:to>
                                    </p:set>
                                    <p:animEffect transition="in" filter="fade">
                                      <p:cBhvr>
                                        <p:cTn id="28" dur="400"/>
                                        <p:tgtEl>
                                          <p:spTgt spid="709"/>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710"/>
                                        </p:tgtEl>
                                        <p:attrNameLst>
                                          <p:attrName>style.visibility</p:attrName>
                                        </p:attrNameLst>
                                      </p:cBhvr>
                                      <p:to>
                                        <p:strVal val="visible"/>
                                      </p:to>
                                    </p:set>
                                    <p:animEffect transition="in" filter="fade">
                                      <p:cBhvr>
                                        <p:cTn id="31" dur="400"/>
                                        <p:tgtEl>
                                          <p:spTgt spid="710"/>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xit" presetSubtype="0" fill="hold" grpId="1" nodeType="clickEffect">
                                  <p:stCondLst>
                                    <p:cond delay="0"/>
                                  </p:stCondLst>
                                  <p:childTnLst>
                                    <p:animEffect transition="out" filter="fade">
                                      <p:cBhvr>
                                        <p:cTn id="35" dur="400"/>
                                        <p:tgtEl>
                                          <p:spTgt spid="700"/>
                                        </p:tgtEl>
                                      </p:cBhvr>
                                    </p:animEffect>
                                    <p:set>
                                      <p:cBhvr>
                                        <p:cTn id="36" dur="1" fill="hold">
                                          <p:stCondLst>
                                            <p:cond delay="399"/>
                                          </p:stCondLst>
                                        </p:cTn>
                                        <p:tgtEl>
                                          <p:spTgt spid="700"/>
                                        </p:tgtEl>
                                        <p:attrNameLst>
                                          <p:attrName>style.visibility</p:attrName>
                                        </p:attrNameLst>
                                      </p:cBhvr>
                                      <p:to>
                                        <p:strVal val="hidden"/>
                                      </p:to>
                                    </p:set>
                                  </p:childTnLst>
                                </p:cTn>
                              </p:par>
                              <p:par>
                                <p:cTn id="37" presetID="10" presetClass="exit" presetSubtype="0" fill="hold" grpId="1" nodeType="withEffect">
                                  <p:stCondLst>
                                    <p:cond delay="0"/>
                                  </p:stCondLst>
                                  <p:childTnLst>
                                    <p:animEffect transition="out" filter="fade">
                                      <p:cBhvr>
                                        <p:cTn id="38" dur="400"/>
                                        <p:tgtEl>
                                          <p:spTgt spid="701"/>
                                        </p:tgtEl>
                                      </p:cBhvr>
                                    </p:animEffect>
                                    <p:set>
                                      <p:cBhvr>
                                        <p:cTn id="39" dur="1" fill="hold">
                                          <p:stCondLst>
                                            <p:cond delay="399"/>
                                          </p:stCondLst>
                                        </p:cTn>
                                        <p:tgtEl>
                                          <p:spTgt spid="701"/>
                                        </p:tgtEl>
                                        <p:attrNameLst>
                                          <p:attrName>style.visibility</p:attrName>
                                        </p:attrNameLst>
                                      </p:cBhvr>
                                      <p:to>
                                        <p:strVal val="hidden"/>
                                      </p:to>
                                    </p:set>
                                  </p:childTnLst>
                                </p:cTn>
                              </p:par>
                              <p:par>
                                <p:cTn id="40" presetID="10" presetClass="entr" presetSubtype="0" fill="hold" grpId="0" nodeType="withEffect">
                                  <p:stCondLst>
                                    <p:cond delay="0"/>
                                  </p:stCondLst>
                                  <p:childTnLst>
                                    <p:set>
                                      <p:cBhvr>
                                        <p:cTn id="41" dur="1" fill="hold">
                                          <p:stCondLst>
                                            <p:cond delay="0"/>
                                          </p:stCondLst>
                                        </p:cTn>
                                        <p:tgtEl>
                                          <p:spTgt spid="702"/>
                                        </p:tgtEl>
                                        <p:attrNameLst>
                                          <p:attrName>style.visibility</p:attrName>
                                        </p:attrNameLst>
                                      </p:cBhvr>
                                      <p:to>
                                        <p:strVal val="visible"/>
                                      </p:to>
                                    </p:set>
                                    <p:animEffect transition="in" filter="fade">
                                      <p:cBhvr>
                                        <p:cTn id="42" dur="400"/>
                                        <p:tgtEl>
                                          <p:spTgt spid="702"/>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703"/>
                                        </p:tgtEl>
                                        <p:attrNameLst>
                                          <p:attrName>style.visibility</p:attrName>
                                        </p:attrNameLst>
                                      </p:cBhvr>
                                      <p:to>
                                        <p:strVal val="visible"/>
                                      </p:to>
                                    </p:set>
                                    <p:animEffect transition="in" filter="fade">
                                      <p:cBhvr>
                                        <p:cTn id="45" dur="400"/>
                                        <p:tgtEl>
                                          <p:spTgt spid="703"/>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xit" presetSubtype="0" fill="hold" grpId="1" nodeType="clickEffect">
                                  <p:stCondLst>
                                    <p:cond delay="0"/>
                                  </p:stCondLst>
                                  <p:childTnLst>
                                    <p:animEffect transition="out" filter="fade">
                                      <p:cBhvr>
                                        <p:cTn id="49" dur="400"/>
                                        <p:tgtEl>
                                          <p:spTgt spid="704"/>
                                        </p:tgtEl>
                                      </p:cBhvr>
                                    </p:animEffect>
                                    <p:set>
                                      <p:cBhvr>
                                        <p:cTn id="50" dur="1" fill="hold">
                                          <p:stCondLst>
                                            <p:cond delay="399"/>
                                          </p:stCondLst>
                                        </p:cTn>
                                        <p:tgtEl>
                                          <p:spTgt spid="704"/>
                                        </p:tgtEl>
                                        <p:attrNameLst>
                                          <p:attrName>style.visibility</p:attrName>
                                        </p:attrNameLst>
                                      </p:cBhvr>
                                      <p:to>
                                        <p:strVal val="hidden"/>
                                      </p:to>
                                    </p:set>
                                  </p:childTnLst>
                                </p:cTn>
                              </p:par>
                              <p:par>
                                <p:cTn id="51" presetID="10" presetClass="exit" presetSubtype="0" fill="hold" grpId="1" nodeType="withEffect">
                                  <p:stCondLst>
                                    <p:cond delay="0"/>
                                  </p:stCondLst>
                                  <p:childTnLst>
                                    <p:animEffect transition="out" filter="fade">
                                      <p:cBhvr>
                                        <p:cTn id="52" dur="400"/>
                                        <p:tgtEl>
                                          <p:spTgt spid="705"/>
                                        </p:tgtEl>
                                      </p:cBhvr>
                                    </p:animEffect>
                                    <p:set>
                                      <p:cBhvr>
                                        <p:cTn id="53" dur="1" fill="hold">
                                          <p:stCondLst>
                                            <p:cond delay="399"/>
                                          </p:stCondLst>
                                        </p:cTn>
                                        <p:tgtEl>
                                          <p:spTgt spid="705"/>
                                        </p:tgtEl>
                                        <p:attrNameLst>
                                          <p:attrName>style.visibility</p:attrName>
                                        </p:attrNameLst>
                                      </p:cBhvr>
                                      <p:to>
                                        <p:strVal val="hidden"/>
                                      </p:to>
                                    </p:set>
                                  </p:childTnLst>
                                </p:cTn>
                              </p:par>
                              <p:par>
                                <p:cTn id="54" presetID="10" presetClass="entr" presetSubtype="0" fill="hold" grpId="2" nodeType="withEffect">
                                  <p:stCondLst>
                                    <p:cond delay="0"/>
                                  </p:stCondLst>
                                  <p:childTnLst>
                                    <p:set>
                                      <p:cBhvr>
                                        <p:cTn id="55" dur="1" fill="hold">
                                          <p:stCondLst>
                                            <p:cond delay="0"/>
                                          </p:stCondLst>
                                        </p:cTn>
                                        <p:tgtEl>
                                          <p:spTgt spid="700"/>
                                        </p:tgtEl>
                                        <p:attrNameLst>
                                          <p:attrName>style.visibility</p:attrName>
                                        </p:attrNameLst>
                                      </p:cBhvr>
                                      <p:to>
                                        <p:strVal val="visible"/>
                                      </p:to>
                                    </p:set>
                                    <p:animEffect transition="in" filter="fade">
                                      <p:cBhvr>
                                        <p:cTn id="56" dur="400"/>
                                        <p:tgtEl>
                                          <p:spTgt spid="700"/>
                                        </p:tgtEl>
                                      </p:cBhvr>
                                    </p:animEffect>
                                  </p:childTnLst>
                                </p:cTn>
                              </p:par>
                              <p:par>
                                <p:cTn id="57" presetID="10" presetClass="entr" presetSubtype="0" fill="hold" grpId="2" nodeType="withEffect">
                                  <p:stCondLst>
                                    <p:cond delay="0"/>
                                  </p:stCondLst>
                                  <p:childTnLst>
                                    <p:set>
                                      <p:cBhvr>
                                        <p:cTn id="58" dur="1" fill="hold">
                                          <p:stCondLst>
                                            <p:cond delay="0"/>
                                          </p:stCondLst>
                                        </p:cTn>
                                        <p:tgtEl>
                                          <p:spTgt spid="701"/>
                                        </p:tgtEl>
                                        <p:attrNameLst>
                                          <p:attrName>style.visibility</p:attrName>
                                        </p:attrNameLst>
                                      </p:cBhvr>
                                      <p:to>
                                        <p:strVal val="visible"/>
                                      </p:to>
                                    </p:set>
                                    <p:animEffect transition="in" filter="fade">
                                      <p:cBhvr>
                                        <p:cTn id="59" dur="400"/>
                                        <p:tgtEl>
                                          <p:spTgt spid="701"/>
                                        </p:tgtEl>
                                      </p:cBhvr>
                                    </p:animEffect>
                                  </p:childTnLst>
                                </p:cTn>
                              </p:par>
                            </p:childTnLst>
                          </p:cTn>
                        </p:par>
                      </p:childTnLst>
                    </p:cTn>
                  </p:par>
                  <p:par>
                    <p:cTn id="60" fill="hold">
                      <p:stCondLst>
                        <p:cond delay="indefinite"/>
                      </p:stCondLst>
                      <p:childTnLst>
                        <p:par>
                          <p:cTn id="61" fill="hold">
                            <p:stCondLst>
                              <p:cond delay="0"/>
                            </p:stCondLst>
                            <p:childTnLst>
                              <p:par>
                                <p:cTn id="62" presetID="10" presetClass="exit" presetSubtype="0" fill="hold" grpId="1" nodeType="clickEffect">
                                  <p:stCondLst>
                                    <p:cond delay="0"/>
                                  </p:stCondLst>
                                  <p:childTnLst>
                                    <p:animEffect transition="out" filter="fade">
                                      <p:cBhvr>
                                        <p:cTn id="63" dur="400"/>
                                        <p:tgtEl>
                                          <p:spTgt spid="707"/>
                                        </p:tgtEl>
                                      </p:cBhvr>
                                    </p:animEffect>
                                    <p:set>
                                      <p:cBhvr>
                                        <p:cTn id="64" dur="1" fill="hold">
                                          <p:stCondLst>
                                            <p:cond delay="399"/>
                                          </p:stCondLst>
                                        </p:cTn>
                                        <p:tgtEl>
                                          <p:spTgt spid="707"/>
                                        </p:tgtEl>
                                        <p:attrNameLst>
                                          <p:attrName>style.visibility</p:attrName>
                                        </p:attrNameLst>
                                      </p:cBhvr>
                                      <p:to>
                                        <p:strVal val="hidden"/>
                                      </p:to>
                                    </p:set>
                                  </p:childTnLst>
                                </p:cTn>
                              </p:par>
                              <p:par>
                                <p:cTn id="65" presetID="10" presetClass="exit" presetSubtype="0" fill="hold" grpId="1" nodeType="withEffect">
                                  <p:stCondLst>
                                    <p:cond delay="0"/>
                                  </p:stCondLst>
                                  <p:childTnLst>
                                    <p:animEffect transition="out" filter="fade">
                                      <p:cBhvr>
                                        <p:cTn id="66" dur="400"/>
                                        <p:tgtEl>
                                          <p:spTgt spid="708"/>
                                        </p:tgtEl>
                                      </p:cBhvr>
                                    </p:animEffect>
                                    <p:set>
                                      <p:cBhvr>
                                        <p:cTn id="67" dur="1" fill="hold">
                                          <p:stCondLst>
                                            <p:cond delay="399"/>
                                          </p:stCondLst>
                                        </p:cTn>
                                        <p:tgtEl>
                                          <p:spTgt spid="708"/>
                                        </p:tgtEl>
                                        <p:attrNameLst>
                                          <p:attrName>style.visibility</p:attrName>
                                        </p:attrNameLst>
                                      </p:cBhvr>
                                      <p:to>
                                        <p:strVal val="hidden"/>
                                      </p:to>
                                    </p:set>
                                  </p:childTnLst>
                                </p:cTn>
                              </p:par>
                              <p:par>
                                <p:cTn id="68" presetID="10" presetClass="entr" presetSubtype="0" fill="hold" grpId="2" nodeType="withEffect">
                                  <p:stCondLst>
                                    <p:cond delay="0"/>
                                  </p:stCondLst>
                                  <p:childTnLst>
                                    <p:set>
                                      <p:cBhvr>
                                        <p:cTn id="69" dur="1" fill="hold">
                                          <p:stCondLst>
                                            <p:cond delay="0"/>
                                          </p:stCondLst>
                                        </p:cTn>
                                        <p:tgtEl>
                                          <p:spTgt spid="704"/>
                                        </p:tgtEl>
                                        <p:attrNameLst>
                                          <p:attrName>style.visibility</p:attrName>
                                        </p:attrNameLst>
                                      </p:cBhvr>
                                      <p:to>
                                        <p:strVal val="visible"/>
                                      </p:to>
                                    </p:set>
                                    <p:animEffect transition="in" filter="fade">
                                      <p:cBhvr>
                                        <p:cTn id="70" dur="400"/>
                                        <p:tgtEl>
                                          <p:spTgt spid="704"/>
                                        </p:tgtEl>
                                      </p:cBhvr>
                                    </p:animEffect>
                                  </p:childTnLst>
                                </p:cTn>
                              </p:par>
                              <p:par>
                                <p:cTn id="71" presetID="10" presetClass="entr" presetSubtype="0" fill="hold" grpId="2" nodeType="withEffect">
                                  <p:stCondLst>
                                    <p:cond delay="0"/>
                                  </p:stCondLst>
                                  <p:childTnLst>
                                    <p:set>
                                      <p:cBhvr>
                                        <p:cTn id="72" dur="1" fill="hold">
                                          <p:stCondLst>
                                            <p:cond delay="0"/>
                                          </p:stCondLst>
                                        </p:cTn>
                                        <p:tgtEl>
                                          <p:spTgt spid="705"/>
                                        </p:tgtEl>
                                        <p:attrNameLst>
                                          <p:attrName>style.visibility</p:attrName>
                                        </p:attrNameLst>
                                      </p:cBhvr>
                                      <p:to>
                                        <p:strVal val="visible"/>
                                      </p:to>
                                    </p:set>
                                    <p:animEffect transition="in" filter="fade">
                                      <p:cBhvr>
                                        <p:cTn id="73" dur="400"/>
                                        <p:tgtEl>
                                          <p:spTgt spid="705"/>
                                        </p:tgtEl>
                                      </p:cBhvr>
                                    </p:animEffect>
                                  </p:childTnLst>
                                </p:cTn>
                              </p:par>
                            </p:childTnLst>
                          </p:cTn>
                        </p:par>
                      </p:childTnLst>
                    </p:cTn>
                  </p:par>
                  <p:par>
                    <p:cTn id="74" fill="hold">
                      <p:stCondLst>
                        <p:cond delay="indefinite"/>
                      </p:stCondLst>
                      <p:childTnLst>
                        <p:par>
                          <p:cTn id="75" fill="hold">
                            <p:stCondLst>
                              <p:cond delay="0"/>
                            </p:stCondLst>
                            <p:childTnLst>
                              <p:par>
                                <p:cTn id="76" presetID="10" presetClass="exit" presetSubtype="0" fill="hold" grpId="1" nodeType="clickEffect">
                                  <p:stCondLst>
                                    <p:cond delay="0"/>
                                  </p:stCondLst>
                                  <p:childTnLst>
                                    <p:animEffect transition="out" filter="fade">
                                      <p:cBhvr>
                                        <p:cTn id="77" dur="400"/>
                                        <p:tgtEl>
                                          <p:spTgt spid="709"/>
                                        </p:tgtEl>
                                      </p:cBhvr>
                                    </p:animEffect>
                                    <p:set>
                                      <p:cBhvr>
                                        <p:cTn id="78" dur="1" fill="hold">
                                          <p:stCondLst>
                                            <p:cond delay="399"/>
                                          </p:stCondLst>
                                        </p:cTn>
                                        <p:tgtEl>
                                          <p:spTgt spid="709"/>
                                        </p:tgtEl>
                                        <p:attrNameLst>
                                          <p:attrName>style.visibility</p:attrName>
                                        </p:attrNameLst>
                                      </p:cBhvr>
                                      <p:to>
                                        <p:strVal val="hidden"/>
                                      </p:to>
                                    </p:set>
                                  </p:childTnLst>
                                </p:cTn>
                              </p:par>
                              <p:par>
                                <p:cTn id="79" presetID="10" presetClass="exit" presetSubtype="0" fill="hold" grpId="1" nodeType="withEffect">
                                  <p:stCondLst>
                                    <p:cond delay="0"/>
                                  </p:stCondLst>
                                  <p:childTnLst>
                                    <p:animEffect transition="out" filter="fade">
                                      <p:cBhvr>
                                        <p:cTn id="80" dur="400"/>
                                        <p:tgtEl>
                                          <p:spTgt spid="710"/>
                                        </p:tgtEl>
                                      </p:cBhvr>
                                    </p:animEffect>
                                    <p:set>
                                      <p:cBhvr>
                                        <p:cTn id="81" dur="1" fill="hold">
                                          <p:stCondLst>
                                            <p:cond delay="399"/>
                                          </p:stCondLst>
                                        </p:cTn>
                                        <p:tgtEl>
                                          <p:spTgt spid="710"/>
                                        </p:tgtEl>
                                        <p:attrNameLst>
                                          <p:attrName>style.visibility</p:attrName>
                                        </p:attrNameLst>
                                      </p:cBhvr>
                                      <p:to>
                                        <p:strVal val="hidden"/>
                                      </p:to>
                                    </p:set>
                                  </p:childTnLst>
                                </p:cTn>
                              </p:par>
                              <p:par>
                                <p:cTn id="82" presetID="10" presetClass="entr" presetSubtype="0" fill="hold" grpId="2" nodeType="withEffect">
                                  <p:stCondLst>
                                    <p:cond delay="0"/>
                                  </p:stCondLst>
                                  <p:childTnLst>
                                    <p:set>
                                      <p:cBhvr>
                                        <p:cTn id="83" dur="1" fill="hold">
                                          <p:stCondLst>
                                            <p:cond delay="0"/>
                                          </p:stCondLst>
                                        </p:cTn>
                                        <p:tgtEl>
                                          <p:spTgt spid="707"/>
                                        </p:tgtEl>
                                        <p:attrNameLst>
                                          <p:attrName>style.visibility</p:attrName>
                                        </p:attrNameLst>
                                      </p:cBhvr>
                                      <p:to>
                                        <p:strVal val="visible"/>
                                      </p:to>
                                    </p:set>
                                    <p:animEffect transition="in" filter="fade">
                                      <p:cBhvr>
                                        <p:cTn id="84" dur="400"/>
                                        <p:tgtEl>
                                          <p:spTgt spid="707"/>
                                        </p:tgtEl>
                                      </p:cBhvr>
                                    </p:animEffect>
                                  </p:childTnLst>
                                </p:cTn>
                              </p:par>
                              <p:par>
                                <p:cTn id="85" presetID="10" presetClass="entr" presetSubtype="0" fill="hold" grpId="2" nodeType="withEffect">
                                  <p:stCondLst>
                                    <p:cond delay="0"/>
                                  </p:stCondLst>
                                  <p:childTnLst>
                                    <p:set>
                                      <p:cBhvr>
                                        <p:cTn id="86" dur="1" fill="hold">
                                          <p:stCondLst>
                                            <p:cond delay="0"/>
                                          </p:stCondLst>
                                        </p:cTn>
                                        <p:tgtEl>
                                          <p:spTgt spid="708"/>
                                        </p:tgtEl>
                                        <p:attrNameLst>
                                          <p:attrName>style.visibility</p:attrName>
                                        </p:attrNameLst>
                                      </p:cBhvr>
                                      <p:to>
                                        <p:strVal val="visible"/>
                                      </p:to>
                                    </p:set>
                                    <p:animEffect transition="in" filter="fade">
                                      <p:cBhvr>
                                        <p:cTn id="87" dur="400"/>
                                        <p:tgtEl>
                                          <p:spTgt spid="708"/>
                                        </p:tgtEl>
                                      </p:cBhvr>
                                    </p:animEffect>
                                  </p:childTnLst>
                                </p:cTn>
                              </p:par>
                            </p:childTnLst>
                          </p:cTn>
                        </p:par>
                      </p:childTnLst>
                    </p:cTn>
                  </p:par>
                  <p:par>
                    <p:cTn id="88" fill="hold">
                      <p:stCondLst>
                        <p:cond delay="indefinite"/>
                      </p:stCondLst>
                      <p:childTnLst>
                        <p:par>
                          <p:cTn id="89" fill="hold">
                            <p:stCondLst>
                              <p:cond delay="0"/>
                            </p:stCondLst>
                            <p:childTnLst>
                              <p:par>
                                <p:cTn id="90" presetID="10" presetClass="exit" presetSubtype="0" fill="hold" grpId="1" nodeType="clickEffect">
                                  <p:stCondLst>
                                    <p:cond delay="0"/>
                                  </p:stCondLst>
                                  <p:childTnLst>
                                    <p:animEffect transition="out" filter="fade">
                                      <p:cBhvr>
                                        <p:cTn id="91" dur="400"/>
                                        <p:tgtEl>
                                          <p:spTgt spid="706"/>
                                        </p:tgtEl>
                                      </p:cBhvr>
                                    </p:animEffect>
                                    <p:set>
                                      <p:cBhvr>
                                        <p:cTn id="92" dur="1" fill="hold">
                                          <p:stCondLst>
                                            <p:cond delay="399"/>
                                          </p:stCondLst>
                                        </p:cTn>
                                        <p:tgtEl>
                                          <p:spTgt spid="706"/>
                                        </p:tgtEl>
                                        <p:attrNameLst>
                                          <p:attrName>style.visibility</p:attrName>
                                        </p:attrNameLst>
                                      </p:cBhvr>
                                      <p:to>
                                        <p:strVal val="hidden"/>
                                      </p:to>
                                    </p:set>
                                  </p:childTnLst>
                                </p:cTn>
                              </p:par>
                              <p:par>
                                <p:cTn id="93" presetID="10" presetClass="entr" presetSubtype="0" fill="hold" grpId="2" nodeType="withEffect">
                                  <p:stCondLst>
                                    <p:cond delay="0"/>
                                  </p:stCondLst>
                                  <p:childTnLst>
                                    <p:set>
                                      <p:cBhvr>
                                        <p:cTn id="94" dur="1" fill="hold">
                                          <p:stCondLst>
                                            <p:cond delay="0"/>
                                          </p:stCondLst>
                                        </p:cTn>
                                        <p:tgtEl>
                                          <p:spTgt spid="709"/>
                                        </p:tgtEl>
                                        <p:attrNameLst>
                                          <p:attrName>style.visibility</p:attrName>
                                        </p:attrNameLst>
                                      </p:cBhvr>
                                      <p:to>
                                        <p:strVal val="visible"/>
                                      </p:to>
                                    </p:set>
                                    <p:animEffect transition="in" filter="fade">
                                      <p:cBhvr>
                                        <p:cTn id="95" dur="400"/>
                                        <p:tgtEl>
                                          <p:spTgt spid="709"/>
                                        </p:tgtEl>
                                      </p:cBhvr>
                                    </p:animEffect>
                                  </p:childTnLst>
                                </p:cTn>
                              </p:par>
                              <p:par>
                                <p:cTn id="96" presetID="10" presetClass="entr" presetSubtype="0" fill="hold" grpId="2" nodeType="withEffect">
                                  <p:stCondLst>
                                    <p:cond delay="0"/>
                                  </p:stCondLst>
                                  <p:childTnLst>
                                    <p:set>
                                      <p:cBhvr>
                                        <p:cTn id="97" dur="1" fill="hold">
                                          <p:stCondLst>
                                            <p:cond delay="0"/>
                                          </p:stCondLst>
                                        </p:cTn>
                                        <p:tgtEl>
                                          <p:spTgt spid="710"/>
                                        </p:tgtEl>
                                        <p:attrNameLst>
                                          <p:attrName>style.visibility</p:attrName>
                                        </p:attrNameLst>
                                      </p:cBhvr>
                                      <p:to>
                                        <p:strVal val="visible"/>
                                      </p:to>
                                    </p:set>
                                    <p:animEffect transition="in" filter="fade">
                                      <p:cBhvr>
                                        <p:cTn id="98" dur="400"/>
                                        <p:tgtEl>
                                          <p:spTgt spid="710"/>
                                        </p:tgtEl>
                                      </p:cBhvr>
                                    </p:animEffect>
                                  </p:childTnLst>
                                </p:cTn>
                              </p:par>
                            </p:childTnLst>
                          </p:cTn>
                        </p:par>
                      </p:childTnLst>
                    </p:cTn>
                  </p:par>
                  <p:par>
                    <p:cTn id="99" fill="hold">
                      <p:stCondLst>
                        <p:cond delay="indefinite"/>
                      </p:stCondLst>
                      <p:childTnLst>
                        <p:par>
                          <p:cTn id="100" fill="hold">
                            <p:stCondLst>
                              <p:cond delay="0"/>
                            </p:stCondLst>
                            <p:childTnLst>
                              <p:par>
                                <p:cTn id="101" presetID="10" presetClass="exit" presetSubtype="0" fill="hold" grpId="3" nodeType="clickEffect">
                                  <p:stCondLst>
                                    <p:cond delay="0"/>
                                  </p:stCondLst>
                                  <p:childTnLst>
                                    <p:animEffect transition="out" filter="fade">
                                      <p:cBhvr>
                                        <p:cTn id="102" dur="400"/>
                                        <p:tgtEl>
                                          <p:spTgt spid="700"/>
                                        </p:tgtEl>
                                      </p:cBhvr>
                                    </p:animEffect>
                                    <p:set>
                                      <p:cBhvr>
                                        <p:cTn id="103" dur="1" fill="hold">
                                          <p:stCondLst>
                                            <p:cond delay="399"/>
                                          </p:stCondLst>
                                        </p:cTn>
                                        <p:tgtEl>
                                          <p:spTgt spid="700"/>
                                        </p:tgtEl>
                                        <p:attrNameLst>
                                          <p:attrName>style.visibility</p:attrName>
                                        </p:attrNameLst>
                                      </p:cBhvr>
                                      <p:to>
                                        <p:strVal val="hidden"/>
                                      </p:to>
                                    </p:set>
                                  </p:childTnLst>
                                </p:cTn>
                              </p:par>
                              <p:par>
                                <p:cTn id="104" presetID="10" presetClass="exit" presetSubtype="0" fill="hold" grpId="3" nodeType="withEffect">
                                  <p:stCondLst>
                                    <p:cond delay="0"/>
                                  </p:stCondLst>
                                  <p:childTnLst>
                                    <p:animEffect transition="out" filter="fade">
                                      <p:cBhvr>
                                        <p:cTn id="105" dur="400"/>
                                        <p:tgtEl>
                                          <p:spTgt spid="701"/>
                                        </p:tgtEl>
                                      </p:cBhvr>
                                    </p:animEffect>
                                    <p:set>
                                      <p:cBhvr>
                                        <p:cTn id="106" dur="1" fill="hold">
                                          <p:stCondLst>
                                            <p:cond delay="399"/>
                                          </p:stCondLst>
                                        </p:cTn>
                                        <p:tgtEl>
                                          <p:spTgt spid="701"/>
                                        </p:tgtEl>
                                        <p:attrNameLst>
                                          <p:attrName>style.visibility</p:attrName>
                                        </p:attrNameLst>
                                      </p:cBhvr>
                                      <p:to>
                                        <p:strVal val="hidden"/>
                                      </p:to>
                                    </p:set>
                                  </p:childTnLst>
                                </p:cTn>
                              </p:par>
                              <p:par>
                                <p:cTn id="107" presetID="10" presetClass="exit" presetSubtype="0" fill="hold" grpId="1" nodeType="withEffect">
                                  <p:stCondLst>
                                    <p:cond delay="0"/>
                                  </p:stCondLst>
                                  <p:childTnLst>
                                    <p:animEffect transition="out" filter="fade">
                                      <p:cBhvr>
                                        <p:cTn id="108" dur="400"/>
                                        <p:tgtEl>
                                          <p:spTgt spid="702"/>
                                        </p:tgtEl>
                                      </p:cBhvr>
                                    </p:animEffect>
                                    <p:set>
                                      <p:cBhvr>
                                        <p:cTn id="109" dur="1" fill="hold">
                                          <p:stCondLst>
                                            <p:cond delay="399"/>
                                          </p:stCondLst>
                                        </p:cTn>
                                        <p:tgtEl>
                                          <p:spTgt spid="702"/>
                                        </p:tgtEl>
                                        <p:attrNameLst>
                                          <p:attrName>style.visibility</p:attrName>
                                        </p:attrNameLst>
                                      </p:cBhvr>
                                      <p:to>
                                        <p:strVal val="hidden"/>
                                      </p:to>
                                    </p:set>
                                  </p:childTnLst>
                                </p:cTn>
                              </p:par>
                              <p:par>
                                <p:cTn id="110" presetID="10" presetClass="exit" presetSubtype="0" fill="hold" grpId="1" nodeType="withEffect">
                                  <p:stCondLst>
                                    <p:cond delay="0"/>
                                  </p:stCondLst>
                                  <p:childTnLst>
                                    <p:animEffect transition="out" filter="fade">
                                      <p:cBhvr>
                                        <p:cTn id="111" dur="400"/>
                                        <p:tgtEl>
                                          <p:spTgt spid="703"/>
                                        </p:tgtEl>
                                      </p:cBhvr>
                                    </p:animEffect>
                                    <p:set>
                                      <p:cBhvr>
                                        <p:cTn id="112" dur="1" fill="hold">
                                          <p:stCondLst>
                                            <p:cond delay="399"/>
                                          </p:stCondLst>
                                        </p:cTn>
                                        <p:tgtEl>
                                          <p:spTgt spid="703"/>
                                        </p:tgtEl>
                                        <p:attrNameLst>
                                          <p:attrName>style.visibility</p:attrName>
                                        </p:attrNameLst>
                                      </p:cBhvr>
                                      <p:to>
                                        <p:strVal val="hidden"/>
                                      </p:to>
                                    </p:set>
                                  </p:childTnLst>
                                </p:cTn>
                              </p:par>
                              <p:par>
                                <p:cTn id="113" presetID="10" presetClass="exit" presetSubtype="0" fill="hold" grpId="3" nodeType="withEffect">
                                  <p:stCondLst>
                                    <p:cond delay="0"/>
                                  </p:stCondLst>
                                  <p:childTnLst>
                                    <p:animEffect transition="out" filter="fade">
                                      <p:cBhvr>
                                        <p:cTn id="114" dur="400"/>
                                        <p:tgtEl>
                                          <p:spTgt spid="704"/>
                                        </p:tgtEl>
                                      </p:cBhvr>
                                    </p:animEffect>
                                    <p:set>
                                      <p:cBhvr>
                                        <p:cTn id="115" dur="1" fill="hold">
                                          <p:stCondLst>
                                            <p:cond delay="399"/>
                                          </p:stCondLst>
                                        </p:cTn>
                                        <p:tgtEl>
                                          <p:spTgt spid="704"/>
                                        </p:tgtEl>
                                        <p:attrNameLst>
                                          <p:attrName>style.visibility</p:attrName>
                                        </p:attrNameLst>
                                      </p:cBhvr>
                                      <p:to>
                                        <p:strVal val="hidden"/>
                                      </p:to>
                                    </p:set>
                                  </p:childTnLst>
                                </p:cTn>
                              </p:par>
                              <p:par>
                                <p:cTn id="116" presetID="10" presetClass="exit" presetSubtype="0" fill="hold" grpId="3" nodeType="withEffect">
                                  <p:stCondLst>
                                    <p:cond delay="0"/>
                                  </p:stCondLst>
                                  <p:childTnLst>
                                    <p:animEffect transition="out" filter="fade">
                                      <p:cBhvr>
                                        <p:cTn id="117" dur="400"/>
                                        <p:tgtEl>
                                          <p:spTgt spid="705"/>
                                        </p:tgtEl>
                                      </p:cBhvr>
                                    </p:animEffect>
                                    <p:set>
                                      <p:cBhvr>
                                        <p:cTn id="118" dur="1" fill="hold">
                                          <p:stCondLst>
                                            <p:cond delay="399"/>
                                          </p:stCondLst>
                                        </p:cTn>
                                        <p:tgtEl>
                                          <p:spTgt spid="705"/>
                                        </p:tgtEl>
                                        <p:attrNameLst>
                                          <p:attrName>style.visibility</p:attrName>
                                        </p:attrNameLst>
                                      </p:cBhvr>
                                      <p:to>
                                        <p:strVal val="hidden"/>
                                      </p:to>
                                    </p:set>
                                  </p:childTnLst>
                                </p:cTn>
                              </p:par>
                              <p:par>
                                <p:cTn id="119" presetID="10" presetClass="exit" presetSubtype="0" fill="hold" grpId="3" nodeType="withEffect">
                                  <p:stCondLst>
                                    <p:cond delay="0"/>
                                  </p:stCondLst>
                                  <p:childTnLst>
                                    <p:animEffect transition="out" filter="fade">
                                      <p:cBhvr>
                                        <p:cTn id="120" dur="400"/>
                                        <p:tgtEl>
                                          <p:spTgt spid="707"/>
                                        </p:tgtEl>
                                      </p:cBhvr>
                                    </p:animEffect>
                                    <p:set>
                                      <p:cBhvr>
                                        <p:cTn id="121" dur="1" fill="hold">
                                          <p:stCondLst>
                                            <p:cond delay="399"/>
                                          </p:stCondLst>
                                        </p:cTn>
                                        <p:tgtEl>
                                          <p:spTgt spid="707"/>
                                        </p:tgtEl>
                                        <p:attrNameLst>
                                          <p:attrName>style.visibility</p:attrName>
                                        </p:attrNameLst>
                                      </p:cBhvr>
                                      <p:to>
                                        <p:strVal val="hidden"/>
                                      </p:to>
                                    </p:set>
                                  </p:childTnLst>
                                </p:cTn>
                              </p:par>
                              <p:par>
                                <p:cTn id="122" presetID="10" presetClass="exit" presetSubtype="0" fill="hold" grpId="3" nodeType="withEffect">
                                  <p:stCondLst>
                                    <p:cond delay="0"/>
                                  </p:stCondLst>
                                  <p:childTnLst>
                                    <p:animEffect transition="out" filter="fade">
                                      <p:cBhvr>
                                        <p:cTn id="123" dur="400"/>
                                        <p:tgtEl>
                                          <p:spTgt spid="708"/>
                                        </p:tgtEl>
                                      </p:cBhvr>
                                    </p:animEffect>
                                    <p:set>
                                      <p:cBhvr>
                                        <p:cTn id="124" dur="1" fill="hold">
                                          <p:stCondLst>
                                            <p:cond delay="399"/>
                                          </p:stCondLst>
                                        </p:cTn>
                                        <p:tgtEl>
                                          <p:spTgt spid="708"/>
                                        </p:tgtEl>
                                        <p:attrNameLst>
                                          <p:attrName>style.visibility</p:attrName>
                                        </p:attrNameLst>
                                      </p:cBhvr>
                                      <p:to>
                                        <p:strVal val="hidden"/>
                                      </p:to>
                                    </p:set>
                                  </p:childTnLst>
                                </p:cTn>
                              </p:par>
                              <p:par>
                                <p:cTn id="125" presetID="10" presetClass="exit" presetSubtype="0" fill="hold" grpId="3" nodeType="withEffect">
                                  <p:stCondLst>
                                    <p:cond delay="0"/>
                                  </p:stCondLst>
                                  <p:childTnLst>
                                    <p:animEffect transition="out" filter="fade">
                                      <p:cBhvr>
                                        <p:cTn id="126" dur="400"/>
                                        <p:tgtEl>
                                          <p:spTgt spid="709"/>
                                        </p:tgtEl>
                                      </p:cBhvr>
                                    </p:animEffect>
                                    <p:set>
                                      <p:cBhvr>
                                        <p:cTn id="127" dur="1" fill="hold">
                                          <p:stCondLst>
                                            <p:cond delay="399"/>
                                          </p:stCondLst>
                                        </p:cTn>
                                        <p:tgtEl>
                                          <p:spTgt spid="709"/>
                                        </p:tgtEl>
                                        <p:attrNameLst>
                                          <p:attrName>style.visibility</p:attrName>
                                        </p:attrNameLst>
                                      </p:cBhvr>
                                      <p:to>
                                        <p:strVal val="hidden"/>
                                      </p:to>
                                    </p:set>
                                  </p:childTnLst>
                                </p:cTn>
                              </p:par>
                              <p:par>
                                <p:cTn id="128" presetID="10" presetClass="exit" presetSubtype="0" fill="hold" grpId="3" nodeType="withEffect">
                                  <p:stCondLst>
                                    <p:cond delay="0"/>
                                  </p:stCondLst>
                                  <p:childTnLst>
                                    <p:animEffect transition="out" filter="fade">
                                      <p:cBhvr>
                                        <p:cTn id="129" dur="400"/>
                                        <p:tgtEl>
                                          <p:spTgt spid="710"/>
                                        </p:tgtEl>
                                      </p:cBhvr>
                                    </p:animEffect>
                                    <p:set>
                                      <p:cBhvr>
                                        <p:cTn id="130" dur="1" fill="hold">
                                          <p:stCondLst>
                                            <p:cond delay="399"/>
                                          </p:stCondLst>
                                        </p:cTn>
                                        <p:tgtEl>
                                          <p:spTgt spid="71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00" grpId="0" animBg="1"/>
      <p:bldP spid="700" grpId="1" animBg="1"/>
      <p:bldP spid="700" grpId="2" animBg="1"/>
      <p:bldP spid="700" grpId="3" animBg="1"/>
      <p:bldP spid="701" grpId="0" animBg="1"/>
      <p:bldP spid="701" grpId="1" animBg="1"/>
      <p:bldP spid="701" grpId="2" animBg="1"/>
      <p:bldP spid="701" grpId="3" animBg="1"/>
      <p:bldP spid="702" grpId="0" animBg="1"/>
      <p:bldP spid="702" grpId="1" animBg="1"/>
      <p:bldP spid="703" grpId="0" animBg="1"/>
      <p:bldP spid="703" grpId="1" animBg="1"/>
      <p:bldP spid="704" grpId="0" animBg="1"/>
      <p:bldP spid="704" grpId="1" animBg="1"/>
      <p:bldP spid="704" grpId="2" animBg="1"/>
      <p:bldP spid="704" grpId="3" animBg="1"/>
      <p:bldP spid="705" grpId="0" animBg="1"/>
      <p:bldP spid="705" grpId="1" animBg="1"/>
      <p:bldP spid="705" grpId="2" animBg="1"/>
      <p:bldP spid="705" grpId="3" animBg="1"/>
      <p:bldP spid="706" grpId="0" animBg="1"/>
      <p:bldP spid="706" grpId="1" animBg="1"/>
      <p:bldP spid="707" grpId="0" animBg="1"/>
      <p:bldP spid="707" grpId="1" animBg="1"/>
      <p:bldP spid="707" grpId="2" animBg="1"/>
      <p:bldP spid="707" grpId="3" animBg="1"/>
      <p:bldP spid="708" grpId="0" animBg="1"/>
      <p:bldP spid="708" grpId="1" animBg="1"/>
      <p:bldP spid="708" grpId="2" animBg="1"/>
      <p:bldP spid="708" grpId="3" animBg="1"/>
      <p:bldP spid="709" grpId="0" animBg="1"/>
      <p:bldP spid="709" grpId="1" animBg="1"/>
      <p:bldP spid="709" grpId="2" animBg="1"/>
      <p:bldP spid="709" grpId="3" animBg="1"/>
      <p:bldP spid="710" grpId="0" animBg="1"/>
      <p:bldP spid="710" grpId="1" animBg="1"/>
      <p:bldP spid="710" grpId="2" animBg="1"/>
      <p:bldP spid="710" grpId="3"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137750-76C7-648F-0430-3F114085E463}"/>
              </a:ext>
            </a:extLst>
          </p:cNvPr>
          <p:cNvSpPr>
            <a:spLocks noGrp="1"/>
          </p:cNvSpPr>
          <p:nvPr>
            <p:ph type="title"/>
          </p:nvPr>
        </p:nvSpPr>
        <p:spPr/>
        <p:txBody>
          <a:bodyPr/>
          <a:lstStyle/>
          <a:p>
            <a:r>
              <a:rPr lang="en-US"/>
              <a:t>Background: Economic Context and Mental Health Capacity</a:t>
            </a:r>
          </a:p>
        </p:txBody>
      </p:sp>
      <p:sp>
        <p:nvSpPr>
          <p:cNvPr id="301" name="R301"/>
          <p:cNvSpPr/>
          <p:nvPr/>
        </p:nvSpPr>
        <p:spPr>
          <a:xfrm>
            <a:off x="838200" y="1854200"/>
            <a:ext cx="10515600" cy="1905000"/>
          </a:xfrm>
          <a:prstGeom prst="roundRect">
            <a:avLst>
              <a:gd name="adj" fmla="val 4000"/>
            </a:avLst>
          </a:prstGeom>
          <a:solidFill>
            <a:srgbClr val="FFFFFF"/>
          </a:solidFill>
          <a:ln>
            <a:noFill/>
          </a:ln>
        </p:spPr>
        <p:txBody>
          <a:bodyPr/>
          <a:lstStyle/>
          <a:p>
            <a:endParaRPr/>
          </a:p>
        </p:txBody>
      </p:sp>
      <p:sp>
        <p:nvSpPr>
          <p:cNvPr id="302" name="T302"/>
          <p:cNvSpPr txBox="1"/>
          <p:nvPr/>
        </p:nvSpPr>
        <p:spPr>
          <a:xfrm>
            <a:off x="1117600" y="2006600"/>
            <a:ext cx="9906000" cy="330200"/>
          </a:xfrm>
          <a:prstGeom prst="rect">
            <a:avLst/>
          </a:prstGeom>
          <a:noFill/>
        </p:spPr>
        <p:txBody>
          <a:bodyPr wrap="square" lIns="0" tIns="0" rIns="0" bIns="0" anchor="t"/>
          <a:lstStyle/>
          <a:p>
            <a:pPr algn="l">
              <a:lnSpc>
                <a:spcPct val="130000"/>
              </a:lnSpc>
              <a:spcAft>
                <a:spcPts val="0"/>
              </a:spcAft>
              <a:buNone/>
            </a:pPr>
            <a:r>
              <a:rPr lang="en-US" sz="1800" dirty="0">
                <a:solidFill>
                  <a:srgbClr val="262626"/>
                </a:solidFill>
              </a:rPr>
              <a:t>Mental health workers per 100,000 people</a:t>
            </a:r>
          </a:p>
        </p:txBody>
      </p:sp>
      <p:sp>
        <p:nvSpPr>
          <p:cNvPr id="303" name="T303"/>
          <p:cNvSpPr txBox="1"/>
          <p:nvPr/>
        </p:nvSpPr>
        <p:spPr>
          <a:xfrm>
            <a:off x="1117600" y="2540000"/>
            <a:ext cx="1905000" cy="381000"/>
          </a:xfrm>
          <a:prstGeom prst="rect">
            <a:avLst/>
          </a:prstGeom>
          <a:noFill/>
        </p:spPr>
        <p:txBody>
          <a:bodyPr wrap="square" lIns="0" tIns="0" rIns="0" bIns="0" anchor="ctr"/>
          <a:lstStyle/>
          <a:p>
            <a:pPr algn="l">
              <a:lnSpc>
                <a:spcPct val="130000"/>
              </a:lnSpc>
              <a:spcAft>
                <a:spcPts val="0"/>
              </a:spcAft>
              <a:buNone/>
            </a:pPr>
            <a:r>
              <a:rPr lang="en-US" sz="1600" dirty="0">
                <a:solidFill>
                  <a:srgbClr val="262626"/>
                </a:solidFill>
              </a:rPr>
              <a:t>Nigeria</a:t>
            </a:r>
          </a:p>
        </p:txBody>
      </p:sp>
      <p:sp>
        <p:nvSpPr>
          <p:cNvPr id="304" name="R304"/>
          <p:cNvSpPr/>
          <p:nvPr/>
        </p:nvSpPr>
        <p:spPr>
          <a:xfrm>
            <a:off x="3175000" y="2565400"/>
            <a:ext cx="914400" cy="330200"/>
          </a:xfrm>
          <a:prstGeom prst="rect">
            <a:avLst/>
          </a:prstGeom>
          <a:solidFill>
            <a:srgbClr val="C8102E"/>
          </a:solidFill>
          <a:ln>
            <a:noFill/>
          </a:ln>
        </p:spPr>
        <p:txBody>
          <a:bodyPr/>
          <a:lstStyle/>
          <a:p>
            <a:endParaRPr/>
          </a:p>
        </p:txBody>
      </p:sp>
      <p:sp>
        <p:nvSpPr>
          <p:cNvPr id="305" name="T305"/>
          <p:cNvSpPr txBox="1"/>
          <p:nvPr/>
        </p:nvSpPr>
        <p:spPr>
          <a:xfrm>
            <a:off x="4216400" y="2540000"/>
            <a:ext cx="1016000" cy="381000"/>
          </a:xfrm>
          <a:prstGeom prst="rect">
            <a:avLst/>
          </a:prstGeom>
          <a:noFill/>
        </p:spPr>
        <p:txBody>
          <a:bodyPr wrap="square" lIns="0" tIns="0" rIns="0" bIns="0" anchor="ctr"/>
          <a:lstStyle/>
          <a:p>
            <a:pPr algn="l">
              <a:lnSpc>
                <a:spcPct val="130000"/>
              </a:lnSpc>
              <a:spcAft>
                <a:spcPts val="0"/>
              </a:spcAft>
              <a:buNone/>
            </a:pPr>
            <a:r>
              <a:rPr lang="en-US" sz="2000" dirty="0">
                <a:solidFill>
                  <a:srgbClr val="C8102E"/>
                </a:solidFill>
              </a:rPr>
              <a:t>0.6</a:t>
            </a:r>
          </a:p>
        </p:txBody>
      </p:sp>
      <p:sp>
        <p:nvSpPr>
          <p:cNvPr id="306" name="T306"/>
          <p:cNvSpPr txBox="1"/>
          <p:nvPr/>
        </p:nvSpPr>
        <p:spPr>
          <a:xfrm>
            <a:off x="1117600" y="3098800"/>
            <a:ext cx="1905000" cy="381000"/>
          </a:xfrm>
          <a:prstGeom prst="rect">
            <a:avLst/>
          </a:prstGeom>
          <a:noFill/>
        </p:spPr>
        <p:txBody>
          <a:bodyPr wrap="square" lIns="0" tIns="0" rIns="0" bIns="0" anchor="ctr"/>
          <a:lstStyle/>
          <a:p>
            <a:pPr algn="l">
              <a:lnSpc>
                <a:spcPct val="130000"/>
              </a:lnSpc>
              <a:spcAft>
                <a:spcPts val="0"/>
              </a:spcAft>
              <a:buNone/>
            </a:pPr>
            <a:r>
              <a:rPr lang="en-US" sz="1600" dirty="0">
                <a:solidFill>
                  <a:srgbClr val="262626"/>
                </a:solidFill>
              </a:rPr>
              <a:t>WHO recommends</a:t>
            </a:r>
          </a:p>
        </p:txBody>
      </p:sp>
      <p:sp>
        <p:nvSpPr>
          <p:cNvPr id="307" name="R307"/>
          <p:cNvSpPr/>
          <p:nvPr/>
        </p:nvSpPr>
        <p:spPr>
          <a:xfrm>
            <a:off x="3175000" y="3124200"/>
            <a:ext cx="7620000" cy="330200"/>
          </a:xfrm>
          <a:prstGeom prst="rect">
            <a:avLst/>
          </a:prstGeom>
          <a:solidFill>
            <a:srgbClr val="1E3A5C"/>
          </a:solidFill>
          <a:ln>
            <a:noFill/>
          </a:ln>
        </p:spPr>
        <p:txBody>
          <a:bodyPr/>
          <a:lstStyle/>
          <a:p>
            <a:endParaRPr/>
          </a:p>
        </p:txBody>
      </p:sp>
      <p:sp>
        <p:nvSpPr>
          <p:cNvPr id="308" name="T308"/>
          <p:cNvSpPr txBox="1"/>
          <p:nvPr/>
        </p:nvSpPr>
        <p:spPr>
          <a:xfrm>
            <a:off x="10033000" y="3098800"/>
            <a:ext cx="660400" cy="381000"/>
          </a:xfrm>
          <a:prstGeom prst="rect">
            <a:avLst/>
          </a:prstGeom>
          <a:noFill/>
        </p:spPr>
        <p:txBody>
          <a:bodyPr wrap="square" lIns="0" tIns="0" rIns="0" bIns="0" anchor="ctr"/>
          <a:lstStyle/>
          <a:p>
            <a:pPr algn="r">
              <a:lnSpc>
                <a:spcPct val="130000"/>
              </a:lnSpc>
              <a:spcAft>
                <a:spcPts val="0"/>
              </a:spcAft>
              <a:buNone/>
            </a:pPr>
            <a:r>
              <a:rPr lang="en-US" sz="2000" dirty="0">
                <a:solidFill>
                  <a:srgbClr val="FFFFFF"/>
                </a:solidFill>
              </a:rPr>
              <a:t>5.0</a:t>
            </a:r>
          </a:p>
        </p:txBody>
      </p:sp>
      <p:sp>
        <p:nvSpPr>
          <p:cNvPr id="309" name="R309"/>
          <p:cNvSpPr/>
          <p:nvPr/>
        </p:nvSpPr>
        <p:spPr>
          <a:xfrm>
            <a:off x="838200" y="4089400"/>
            <a:ext cx="3352800" cy="1778000"/>
          </a:xfrm>
          <a:prstGeom prst="roundRect">
            <a:avLst>
              <a:gd name="adj" fmla="val 4000"/>
            </a:avLst>
          </a:prstGeom>
          <a:solidFill>
            <a:srgbClr val="FFFFFF"/>
          </a:solidFill>
          <a:ln>
            <a:noFill/>
          </a:ln>
        </p:spPr>
        <p:txBody>
          <a:bodyPr/>
          <a:lstStyle/>
          <a:p>
            <a:endParaRPr/>
          </a:p>
        </p:txBody>
      </p:sp>
      <p:sp>
        <p:nvSpPr>
          <p:cNvPr id="310" name="T310"/>
          <p:cNvSpPr txBox="1"/>
          <p:nvPr/>
        </p:nvSpPr>
        <p:spPr>
          <a:xfrm>
            <a:off x="1092200" y="4267200"/>
            <a:ext cx="2895600" cy="635000"/>
          </a:xfrm>
          <a:prstGeom prst="rect">
            <a:avLst/>
          </a:prstGeom>
          <a:noFill/>
        </p:spPr>
        <p:txBody>
          <a:bodyPr wrap="square" lIns="0" tIns="0" rIns="0" bIns="0" anchor="t"/>
          <a:lstStyle/>
          <a:p>
            <a:pPr algn="l">
              <a:lnSpc>
                <a:spcPct val="130000"/>
              </a:lnSpc>
              <a:spcAft>
                <a:spcPts val="0"/>
              </a:spcAft>
              <a:buNone/>
            </a:pPr>
            <a:r>
              <a:rPr lang="en-US" sz="3200" dirty="0">
                <a:solidFill>
                  <a:srgbClr val="1E3A5C"/>
                </a:solidFill>
              </a:rPr>
              <a:t>~250</a:t>
            </a:r>
          </a:p>
        </p:txBody>
      </p:sp>
      <p:sp>
        <p:nvSpPr>
          <p:cNvPr id="311" name="T311"/>
          <p:cNvSpPr txBox="1"/>
          <p:nvPr/>
        </p:nvSpPr>
        <p:spPr>
          <a:xfrm>
            <a:off x="1092200" y="4978400"/>
            <a:ext cx="2895600" cy="762000"/>
          </a:xfrm>
          <a:prstGeom prst="rect">
            <a:avLst/>
          </a:prstGeom>
          <a:noFill/>
        </p:spPr>
        <p:txBody>
          <a:bodyPr wrap="square" lIns="0" tIns="0" rIns="0" bIns="0" anchor="t"/>
          <a:lstStyle/>
          <a:p>
            <a:pPr algn="l">
              <a:lnSpc>
                <a:spcPct val="130000"/>
              </a:lnSpc>
              <a:spcAft>
                <a:spcPts val="0"/>
              </a:spcAft>
              <a:buNone/>
            </a:pPr>
            <a:r>
              <a:rPr lang="en-US" sz="1600" dirty="0">
                <a:solidFill>
                  <a:srgbClr val="262626"/>
                </a:solidFill>
              </a:rPr>
              <a:t>psychiatrists for more than 200 million people</a:t>
            </a:r>
          </a:p>
        </p:txBody>
      </p:sp>
      <p:sp>
        <p:nvSpPr>
          <p:cNvPr id="312" name="R312"/>
          <p:cNvSpPr/>
          <p:nvPr/>
        </p:nvSpPr>
        <p:spPr>
          <a:xfrm>
            <a:off x="4419600" y="4089400"/>
            <a:ext cx="3352800" cy="1778000"/>
          </a:xfrm>
          <a:prstGeom prst="roundRect">
            <a:avLst>
              <a:gd name="adj" fmla="val 4000"/>
            </a:avLst>
          </a:prstGeom>
          <a:solidFill>
            <a:srgbClr val="FFFFFF"/>
          </a:solidFill>
          <a:ln>
            <a:noFill/>
          </a:ln>
        </p:spPr>
        <p:txBody>
          <a:bodyPr/>
          <a:lstStyle/>
          <a:p>
            <a:endParaRPr/>
          </a:p>
        </p:txBody>
      </p:sp>
      <p:sp>
        <p:nvSpPr>
          <p:cNvPr id="313" name="T313"/>
          <p:cNvSpPr txBox="1"/>
          <p:nvPr/>
        </p:nvSpPr>
        <p:spPr>
          <a:xfrm>
            <a:off x="4673600" y="4267200"/>
            <a:ext cx="2895600" cy="635000"/>
          </a:xfrm>
          <a:prstGeom prst="rect">
            <a:avLst/>
          </a:prstGeom>
          <a:noFill/>
        </p:spPr>
        <p:txBody>
          <a:bodyPr wrap="square" lIns="0" tIns="0" rIns="0" bIns="0" anchor="t"/>
          <a:lstStyle/>
          <a:p>
            <a:pPr algn="l">
              <a:lnSpc>
                <a:spcPct val="130000"/>
              </a:lnSpc>
              <a:spcAft>
                <a:spcPts val="0"/>
              </a:spcAft>
              <a:buNone/>
            </a:pPr>
            <a:r>
              <a:rPr lang="en-US" sz="3200" dirty="0">
                <a:solidFill>
                  <a:srgbClr val="1E3A5C"/>
                </a:solidFill>
              </a:rPr>
              <a:t>&lt;10%</a:t>
            </a:r>
          </a:p>
        </p:txBody>
      </p:sp>
      <p:sp>
        <p:nvSpPr>
          <p:cNvPr id="314" name="T314"/>
          <p:cNvSpPr txBox="1"/>
          <p:nvPr/>
        </p:nvSpPr>
        <p:spPr>
          <a:xfrm>
            <a:off x="4673600" y="4978400"/>
            <a:ext cx="2895600" cy="762000"/>
          </a:xfrm>
          <a:prstGeom prst="rect">
            <a:avLst/>
          </a:prstGeom>
          <a:noFill/>
        </p:spPr>
        <p:txBody>
          <a:bodyPr wrap="square" lIns="0" tIns="0" rIns="0" bIns="0" anchor="t"/>
          <a:lstStyle/>
          <a:p>
            <a:pPr algn="l">
              <a:lnSpc>
                <a:spcPct val="130000"/>
              </a:lnSpc>
              <a:spcAft>
                <a:spcPts val="0"/>
              </a:spcAft>
              <a:buNone/>
            </a:pPr>
            <a:r>
              <a:rPr lang="en-US" sz="1600" dirty="0">
                <a:solidFill>
                  <a:srgbClr val="262626"/>
                </a:solidFill>
              </a:rPr>
              <a:t>of those affected get any care</a:t>
            </a:r>
          </a:p>
        </p:txBody>
      </p:sp>
      <p:sp>
        <p:nvSpPr>
          <p:cNvPr id="315" name="R315"/>
          <p:cNvSpPr/>
          <p:nvPr/>
        </p:nvSpPr>
        <p:spPr>
          <a:xfrm>
            <a:off x="8001000" y="4089400"/>
            <a:ext cx="3352800" cy="1778000"/>
          </a:xfrm>
          <a:prstGeom prst="roundRect">
            <a:avLst>
              <a:gd name="adj" fmla="val 4000"/>
            </a:avLst>
          </a:prstGeom>
          <a:solidFill>
            <a:srgbClr val="FFFFFF"/>
          </a:solidFill>
          <a:ln>
            <a:noFill/>
          </a:ln>
        </p:spPr>
        <p:txBody>
          <a:bodyPr/>
          <a:lstStyle/>
          <a:p>
            <a:endParaRPr/>
          </a:p>
        </p:txBody>
      </p:sp>
      <p:sp>
        <p:nvSpPr>
          <p:cNvPr id="316" name="T316"/>
          <p:cNvSpPr txBox="1"/>
          <p:nvPr/>
        </p:nvSpPr>
        <p:spPr>
          <a:xfrm>
            <a:off x="8255000" y="4267200"/>
            <a:ext cx="2895600" cy="635000"/>
          </a:xfrm>
          <a:prstGeom prst="rect">
            <a:avLst/>
          </a:prstGeom>
          <a:noFill/>
        </p:spPr>
        <p:txBody>
          <a:bodyPr wrap="square" lIns="0" tIns="0" rIns="0" bIns="0" anchor="t"/>
          <a:lstStyle/>
          <a:p>
            <a:pPr algn="l">
              <a:lnSpc>
                <a:spcPct val="130000"/>
              </a:lnSpc>
              <a:spcAft>
                <a:spcPts val="0"/>
              </a:spcAft>
              <a:buNone/>
            </a:pPr>
            <a:r>
              <a:rPr lang="en-US" sz="3200" dirty="0">
                <a:solidFill>
                  <a:srgbClr val="1E3A5C"/>
                </a:solidFill>
              </a:rPr>
              <a:t>$3,100 → $800</a:t>
            </a:r>
          </a:p>
        </p:txBody>
      </p:sp>
      <p:sp>
        <p:nvSpPr>
          <p:cNvPr id="317" name="T317"/>
          <p:cNvSpPr txBox="1"/>
          <p:nvPr/>
        </p:nvSpPr>
        <p:spPr>
          <a:xfrm>
            <a:off x="8255000" y="4978400"/>
            <a:ext cx="2895600" cy="762000"/>
          </a:xfrm>
          <a:prstGeom prst="rect">
            <a:avLst/>
          </a:prstGeom>
          <a:noFill/>
        </p:spPr>
        <p:txBody>
          <a:bodyPr wrap="square" lIns="0" tIns="0" rIns="0" bIns="0" anchor="t"/>
          <a:lstStyle/>
          <a:p>
            <a:pPr algn="l">
              <a:lnSpc>
                <a:spcPct val="130000"/>
              </a:lnSpc>
              <a:spcAft>
                <a:spcPts val="0"/>
              </a:spcAft>
              <a:buNone/>
            </a:pPr>
            <a:r>
              <a:rPr lang="en-US" sz="1600" dirty="0">
                <a:solidFill>
                  <a:srgbClr val="262626"/>
                </a:solidFill>
              </a:rPr>
              <a:t>GDP per capita, 2014 to 2024</a:t>
            </a:r>
          </a:p>
        </p:txBody>
      </p:sp>
      <p:sp>
        <p:nvSpPr>
          <p:cNvPr id="318" name="Section label"/>
          <p:cNvSpPr txBox="1"/>
          <p:nvPr/>
        </p:nvSpPr>
        <p:spPr>
          <a:xfrm>
            <a:off x="841248" y="128016"/>
            <a:ext cx="5486400" cy="292608"/>
          </a:xfrm>
          <a:prstGeom prst="rect">
            <a:avLst/>
          </a:prstGeom>
          <a:noFill/>
        </p:spPr>
        <p:txBody>
          <a:bodyPr wrap="none" lIns="0" rIns="0" tIns="0" bIns="0">
            <a:spAutoFit/>
          </a:bodyPr>
          <a:lstStyle/>
          <a:p>
            <a:pPr algn="l"/>
            <a:r>
              <a:rPr sz="1200" b="1" spc="150">
                <a:solidFill>
                  <a:srgbClr val="E8963C"/>
                </a:solidFill>
              </a:rPr>
              <a:t>INTRODUCTION</a:t>
            </a:r>
          </a:p>
        </p:txBody>
      </p:sp>
    </p:spTree>
    <p:extLst>
      <p:ext uri="{BB962C8B-B14F-4D97-AF65-F5344CB8AC3E}">
        <p14:creationId xmlns:p14="http://schemas.microsoft.com/office/powerpoint/2010/main" val="146149850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Rationale: The Evidence Gap</a:t>
            </a:r>
          </a:p>
        </p:txBody>
      </p:sp>
      <p:sp>
        <p:nvSpPr>
          <p:cNvPr id="3" name="Content Placeholder 2"/>
          <p:cNvSpPr>
            <a:spLocks noGrp="1"/>
          </p:cNvSpPr>
          <p:nvPr>
            <p:ph idx="1"/>
          </p:nvPr>
        </p:nvSpPr>
        <p:spPr/>
        <p:txBody>
          <a:bodyPr wrap="square"/>
          <a:lstStyle/>
          <a:p>
            <a:pPr>
              <a:spcAft>
                <a:spcPts val="800"/>
              </a:spcAft>
            </a:pPr>
            <a:r>
              <a:rPr sz="1800"/>
              <a:t>Existing studies: fragmented, mostly hospital-based or single-site convenience samples, with widely varying estimates and instruments rarely validated locally</a:t>
            </a:r>
          </a:p>
          <a:p>
            <a:pPr>
              <a:spcAft>
                <a:spcPts val="800"/>
              </a:spcAft>
            </a:pPr>
            <a:r>
              <a:rPr sz="1800"/>
              <a:t>No multi-state population-based prevalence estimates existed</a:t>
            </a:r>
          </a:p>
          <a:p>
            <a:pPr>
              <a:spcAft>
                <a:spcPts val="800"/>
              </a:spcAft>
            </a:pPr>
            <a:r>
              <a:rPr sz="1800"/>
              <a:t>Predictors, comorbidity patterns, and the trauma-vs-displacement question largely unexamined</a:t>
            </a:r>
          </a:p>
          <a:p>
            <a:pPr>
              <a:spcAft>
                <a:spcPts val="800"/>
              </a:spcAft>
            </a:pPr>
            <a:r>
              <a:rPr sz="1800"/>
              <a:t>Data needed to implement Nigeria's National Mental Health Policy and Mental Health Act</a:t>
            </a:r>
          </a:p>
        </p:txBody>
      </p:sp>
      <p:sp>
        <p:nvSpPr>
          <p:cNvPr id="4" name="Section label"/>
          <p:cNvSpPr txBox="1"/>
          <p:nvPr/>
        </p:nvSpPr>
        <p:spPr>
          <a:xfrm>
            <a:off x="841248" y="128016"/>
            <a:ext cx="5486400" cy="292608"/>
          </a:xfrm>
          <a:prstGeom prst="rect">
            <a:avLst/>
          </a:prstGeom>
          <a:noFill/>
        </p:spPr>
        <p:txBody>
          <a:bodyPr wrap="none" lIns="0" rIns="0" tIns="0" bIns="0">
            <a:spAutoFit/>
          </a:bodyPr>
          <a:lstStyle/>
          <a:p>
            <a:pPr algn="l"/>
            <a:r>
              <a:rPr sz="1200" b="1" spc="150">
                <a:solidFill>
                  <a:srgbClr val="E8963C"/>
                </a:solidFill>
              </a:rPr>
              <a:t>INTRODUCTION</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Objectives</a:t>
            </a:r>
          </a:p>
        </p:txBody>
      </p:sp>
      <p:sp>
        <p:nvSpPr>
          <p:cNvPr id="3" name="Content Placeholder 2"/>
          <p:cNvSpPr>
            <a:spLocks noGrp="1"/>
          </p:cNvSpPr>
          <p:nvPr>
            <p:ph idx="1"/>
          </p:nvPr>
        </p:nvSpPr>
        <p:spPr/>
        <p:txBody>
          <a:bodyPr wrap="square"/>
          <a:lstStyle/>
          <a:p>
            <a:pPr>
              <a:spcAft>
                <a:spcPts val="800"/>
              </a:spcAft>
            </a:pPr>
            <a:r>
              <a:rPr sz="1800" dirty="0"/>
              <a:t>Estimate the prevalence of PTSD, depression, and generalized anxiety across violence-exposed populations in all six geopolitical zones</a:t>
            </a:r>
          </a:p>
          <a:p>
            <a:pPr>
              <a:spcAft>
                <a:spcPts val="800"/>
              </a:spcAft>
            </a:pPr>
            <a:r>
              <a:rPr sz="1800" dirty="0"/>
              <a:t>Identify demographic, geographic, and contextual factors associated with each condition</a:t>
            </a:r>
          </a:p>
          <a:p>
            <a:pPr>
              <a:spcAft>
                <a:spcPts val="800"/>
              </a:spcAft>
            </a:pPr>
            <a:r>
              <a:rPr sz="1800" dirty="0"/>
              <a:t>Distinguish the contribution of cumulative trauma exposure from that of the post-displacement environment (IDP camp residence)</a:t>
            </a:r>
          </a:p>
        </p:txBody>
      </p:sp>
      <p:sp>
        <p:nvSpPr>
          <p:cNvPr id="4" name="Section label"/>
          <p:cNvSpPr txBox="1"/>
          <p:nvPr/>
        </p:nvSpPr>
        <p:spPr>
          <a:xfrm>
            <a:off x="841248" y="128016"/>
            <a:ext cx="5486400" cy="292608"/>
          </a:xfrm>
          <a:prstGeom prst="rect">
            <a:avLst/>
          </a:prstGeom>
          <a:noFill/>
        </p:spPr>
        <p:txBody>
          <a:bodyPr wrap="none" lIns="0" rIns="0" tIns="0" bIns="0">
            <a:spAutoFit/>
          </a:bodyPr>
          <a:lstStyle/>
          <a:p>
            <a:pPr algn="l"/>
            <a:r>
              <a:rPr sz="1200" b="1" spc="150">
                <a:solidFill>
                  <a:srgbClr val="E8963C"/>
                </a:solidFill>
              </a:rPr>
              <a:t>INTRODUCTION</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1FF9C7-C2FB-1258-47D9-4BF7A9FBB21B}"/>
              </a:ext>
            </a:extLst>
          </p:cNvPr>
          <p:cNvSpPr>
            <a:spLocks noGrp="1"/>
          </p:cNvSpPr>
          <p:nvPr>
            <p:ph type="title"/>
          </p:nvPr>
        </p:nvSpPr>
        <p:spPr/>
        <p:txBody>
          <a:bodyPr/>
          <a:lstStyle/>
          <a:p>
            <a:r>
              <a:rPr lang="en-US"/>
              <a:t>Study Design and Setting</a:t>
            </a:r>
          </a:p>
        </p:txBody>
      </p:sp>
      <p:sp>
        <p:nvSpPr>
          <p:cNvPr id="301" name="R301"/>
          <p:cNvSpPr/>
          <p:nvPr/>
        </p:nvSpPr>
        <p:spPr>
          <a:xfrm>
            <a:off x="838200" y="1854200"/>
            <a:ext cx="1473200" cy="3810000"/>
          </a:xfrm>
          <a:prstGeom prst="roundRect">
            <a:avLst>
              <a:gd name="adj" fmla="val 4000"/>
            </a:avLst>
          </a:prstGeom>
          <a:solidFill>
            <a:srgbClr val="FFFFFF"/>
          </a:solidFill>
          <a:ln>
            <a:noFill/>
          </a:ln>
        </p:spPr>
        <p:txBody>
          <a:bodyPr/>
          <a:lstStyle/>
          <a:p>
            <a:endParaRPr/>
          </a:p>
        </p:txBody>
      </p:sp>
      <p:sp>
        <p:nvSpPr>
          <p:cNvPr id="302" name="R302"/>
          <p:cNvSpPr/>
          <p:nvPr/>
        </p:nvSpPr>
        <p:spPr>
          <a:xfrm>
            <a:off x="2616200" y="1854200"/>
            <a:ext cx="1905000" cy="3810000"/>
          </a:xfrm>
          <a:prstGeom prst="roundRect">
            <a:avLst>
              <a:gd name="adj" fmla="val 4000"/>
            </a:avLst>
          </a:prstGeom>
          <a:solidFill>
            <a:srgbClr val="FFFFFF"/>
          </a:solidFill>
          <a:ln>
            <a:noFill/>
          </a:ln>
        </p:spPr>
        <p:txBody>
          <a:bodyPr/>
          <a:lstStyle/>
          <a:p>
            <a:endParaRPr/>
          </a:p>
        </p:txBody>
      </p:sp>
      <p:sp>
        <p:nvSpPr>
          <p:cNvPr id="303" name="R303"/>
          <p:cNvSpPr/>
          <p:nvPr/>
        </p:nvSpPr>
        <p:spPr>
          <a:xfrm>
            <a:off x="4826000" y="1854200"/>
            <a:ext cx="2235200" cy="3810000"/>
          </a:xfrm>
          <a:prstGeom prst="roundRect">
            <a:avLst>
              <a:gd name="adj" fmla="val 4000"/>
            </a:avLst>
          </a:prstGeom>
          <a:solidFill>
            <a:srgbClr val="FFFFFF"/>
          </a:solidFill>
          <a:ln>
            <a:noFill/>
          </a:ln>
        </p:spPr>
        <p:txBody>
          <a:bodyPr/>
          <a:lstStyle/>
          <a:p>
            <a:endParaRPr/>
          </a:p>
        </p:txBody>
      </p:sp>
      <p:sp>
        <p:nvSpPr>
          <p:cNvPr id="304" name="R304"/>
          <p:cNvSpPr/>
          <p:nvPr/>
        </p:nvSpPr>
        <p:spPr>
          <a:xfrm>
            <a:off x="7366000" y="1854200"/>
            <a:ext cx="2235200" cy="3810000"/>
          </a:xfrm>
          <a:prstGeom prst="roundRect">
            <a:avLst>
              <a:gd name="adj" fmla="val 4000"/>
            </a:avLst>
          </a:prstGeom>
          <a:solidFill>
            <a:srgbClr val="FFFFFF"/>
          </a:solidFill>
          <a:ln>
            <a:noFill/>
          </a:ln>
        </p:spPr>
        <p:txBody>
          <a:bodyPr/>
          <a:lstStyle/>
          <a:p>
            <a:endParaRPr/>
          </a:p>
        </p:txBody>
      </p:sp>
      <p:sp>
        <p:nvSpPr>
          <p:cNvPr id="305" name="R305"/>
          <p:cNvSpPr/>
          <p:nvPr/>
        </p:nvSpPr>
        <p:spPr>
          <a:xfrm>
            <a:off x="9906000" y="1854200"/>
            <a:ext cx="1447800" cy="3810000"/>
          </a:xfrm>
          <a:prstGeom prst="roundRect">
            <a:avLst>
              <a:gd name="adj" fmla="val 4000"/>
            </a:avLst>
          </a:prstGeom>
          <a:solidFill>
            <a:srgbClr val="FFFFFF"/>
          </a:solidFill>
          <a:ln>
            <a:noFill/>
          </a:ln>
        </p:spPr>
        <p:txBody>
          <a:bodyPr/>
          <a:lstStyle/>
          <a:p>
            <a:endParaRPr/>
          </a:p>
        </p:txBody>
      </p:sp>
      <p:sp>
        <p:nvSpPr>
          <p:cNvPr id="306" name="R306"/>
          <p:cNvSpPr/>
          <p:nvPr/>
        </p:nvSpPr>
        <p:spPr>
          <a:xfrm>
            <a:off x="2374900" y="3644900"/>
            <a:ext cx="177800" cy="228600"/>
          </a:xfrm>
          <a:prstGeom prst="chevron">
            <a:avLst/>
          </a:prstGeom>
          <a:solidFill>
            <a:srgbClr val="FFFFFF"/>
          </a:solidFill>
          <a:ln>
            <a:noFill/>
          </a:ln>
        </p:spPr>
        <p:txBody>
          <a:bodyPr/>
          <a:lstStyle/>
          <a:p>
            <a:endParaRPr/>
          </a:p>
        </p:txBody>
      </p:sp>
      <p:sp>
        <p:nvSpPr>
          <p:cNvPr id="307" name="R307"/>
          <p:cNvSpPr/>
          <p:nvPr/>
        </p:nvSpPr>
        <p:spPr>
          <a:xfrm>
            <a:off x="4584700" y="3644900"/>
            <a:ext cx="177800" cy="228600"/>
          </a:xfrm>
          <a:prstGeom prst="chevron">
            <a:avLst/>
          </a:prstGeom>
          <a:solidFill>
            <a:srgbClr val="FFFFFF"/>
          </a:solidFill>
          <a:ln>
            <a:noFill/>
          </a:ln>
        </p:spPr>
        <p:txBody>
          <a:bodyPr/>
          <a:lstStyle/>
          <a:p>
            <a:endParaRPr/>
          </a:p>
        </p:txBody>
      </p:sp>
      <p:sp>
        <p:nvSpPr>
          <p:cNvPr id="308" name="R308"/>
          <p:cNvSpPr/>
          <p:nvPr/>
        </p:nvSpPr>
        <p:spPr>
          <a:xfrm>
            <a:off x="7124700" y="3644900"/>
            <a:ext cx="177800" cy="228600"/>
          </a:xfrm>
          <a:prstGeom prst="chevron">
            <a:avLst/>
          </a:prstGeom>
          <a:solidFill>
            <a:srgbClr val="FFFFFF"/>
          </a:solidFill>
          <a:ln>
            <a:noFill/>
          </a:ln>
        </p:spPr>
        <p:txBody>
          <a:bodyPr/>
          <a:lstStyle/>
          <a:p>
            <a:endParaRPr/>
          </a:p>
        </p:txBody>
      </p:sp>
      <p:sp>
        <p:nvSpPr>
          <p:cNvPr id="309" name="R309"/>
          <p:cNvSpPr/>
          <p:nvPr/>
        </p:nvSpPr>
        <p:spPr>
          <a:xfrm>
            <a:off x="9664700" y="3644900"/>
            <a:ext cx="177800" cy="228600"/>
          </a:xfrm>
          <a:prstGeom prst="chevron">
            <a:avLst/>
          </a:prstGeom>
          <a:solidFill>
            <a:srgbClr val="FFFFFF"/>
          </a:solidFill>
          <a:ln>
            <a:noFill/>
          </a:ln>
        </p:spPr>
        <p:txBody>
          <a:bodyPr/>
          <a:lstStyle/>
          <a:p>
            <a:endParaRPr/>
          </a:p>
        </p:txBody>
      </p:sp>
      <p:sp>
        <p:nvSpPr>
          <p:cNvPr id="310" name="T310"/>
          <p:cNvSpPr txBox="1"/>
          <p:nvPr/>
        </p:nvSpPr>
        <p:spPr>
          <a:xfrm>
            <a:off x="965200" y="2006600"/>
            <a:ext cx="1219200" cy="279400"/>
          </a:xfrm>
          <a:prstGeom prst="rect">
            <a:avLst/>
          </a:prstGeom>
          <a:noFill/>
        </p:spPr>
        <p:txBody>
          <a:bodyPr wrap="square" lIns="0" tIns="0" rIns="0" bIns="0" anchor="t"/>
          <a:lstStyle/>
          <a:p>
            <a:pPr algn="l">
              <a:lnSpc>
                <a:spcPct val="115000"/>
              </a:lnSpc>
              <a:spcAft>
                <a:spcPts val="0"/>
              </a:spcAft>
              <a:buNone/>
            </a:pPr>
            <a:r>
              <a:rPr lang="en-US" sz="1400" dirty="0">
                <a:solidFill>
                  <a:srgbClr val="262626"/>
                </a:solidFill>
              </a:rPr>
              <a:t>1  Country</a:t>
            </a:r>
          </a:p>
        </p:txBody>
      </p:sp>
      <p:sp>
        <p:nvSpPr>
          <p:cNvPr id="311" name="T311"/>
          <p:cNvSpPr txBox="1"/>
          <p:nvPr/>
        </p:nvSpPr>
        <p:spPr>
          <a:xfrm>
            <a:off x="2743200" y="2006600"/>
            <a:ext cx="1651000" cy="279400"/>
          </a:xfrm>
          <a:prstGeom prst="rect">
            <a:avLst/>
          </a:prstGeom>
          <a:noFill/>
        </p:spPr>
        <p:txBody>
          <a:bodyPr wrap="square" lIns="0" tIns="0" rIns="0" bIns="0" anchor="t"/>
          <a:lstStyle/>
          <a:p>
            <a:pPr algn="l">
              <a:lnSpc>
                <a:spcPct val="115000"/>
              </a:lnSpc>
              <a:spcAft>
                <a:spcPts val="0"/>
              </a:spcAft>
              <a:buNone/>
            </a:pPr>
            <a:r>
              <a:rPr lang="en-US" sz="1400" dirty="0">
                <a:solidFill>
                  <a:srgbClr val="262626"/>
                </a:solidFill>
              </a:rPr>
              <a:t>2  Zones</a:t>
            </a:r>
          </a:p>
        </p:txBody>
      </p:sp>
      <p:sp>
        <p:nvSpPr>
          <p:cNvPr id="312" name="T312"/>
          <p:cNvSpPr txBox="1"/>
          <p:nvPr/>
        </p:nvSpPr>
        <p:spPr>
          <a:xfrm>
            <a:off x="4953000" y="2006600"/>
            <a:ext cx="1981200" cy="279400"/>
          </a:xfrm>
          <a:prstGeom prst="rect">
            <a:avLst/>
          </a:prstGeom>
          <a:noFill/>
        </p:spPr>
        <p:txBody>
          <a:bodyPr wrap="square" lIns="0" tIns="0" rIns="0" bIns="0" anchor="t"/>
          <a:lstStyle/>
          <a:p>
            <a:pPr algn="l">
              <a:lnSpc>
                <a:spcPct val="115000"/>
              </a:lnSpc>
              <a:spcAft>
                <a:spcPts val="0"/>
              </a:spcAft>
              <a:buNone/>
            </a:pPr>
            <a:r>
              <a:rPr lang="en-US" sz="1400" dirty="0">
                <a:solidFill>
                  <a:srgbClr val="262626"/>
                </a:solidFill>
              </a:rPr>
              <a:t>3  States</a:t>
            </a:r>
          </a:p>
        </p:txBody>
      </p:sp>
      <p:sp>
        <p:nvSpPr>
          <p:cNvPr id="313" name="T313"/>
          <p:cNvSpPr txBox="1"/>
          <p:nvPr/>
        </p:nvSpPr>
        <p:spPr>
          <a:xfrm>
            <a:off x="7493000" y="2006600"/>
            <a:ext cx="1981200" cy="279400"/>
          </a:xfrm>
          <a:prstGeom prst="rect">
            <a:avLst/>
          </a:prstGeom>
          <a:noFill/>
        </p:spPr>
        <p:txBody>
          <a:bodyPr wrap="square" lIns="0" tIns="0" rIns="0" bIns="0" anchor="t"/>
          <a:lstStyle/>
          <a:p>
            <a:pPr algn="l">
              <a:lnSpc>
                <a:spcPct val="115000"/>
              </a:lnSpc>
              <a:spcAft>
                <a:spcPts val="0"/>
              </a:spcAft>
              <a:buNone/>
            </a:pPr>
            <a:r>
              <a:rPr lang="en-US" sz="1400" dirty="0">
                <a:solidFill>
                  <a:srgbClr val="262626"/>
                </a:solidFill>
              </a:rPr>
              <a:t>4  LGAs</a:t>
            </a:r>
          </a:p>
        </p:txBody>
      </p:sp>
      <p:sp>
        <p:nvSpPr>
          <p:cNvPr id="314" name="T314"/>
          <p:cNvSpPr txBox="1"/>
          <p:nvPr/>
        </p:nvSpPr>
        <p:spPr>
          <a:xfrm>
            <a:off x="10033000" y="2006600"/>
            <a:ext cx="1193800" cy="279400"/>
          </a:xfrm>
          <a:prstGeom prst="rect">
            <a:avLst/>
          </a:prstGeom>
          <a:noFill/>
        </p:spPr>
        <p:txBody>
          <a:bodyPr wrap="square" lIns="0" tIns="0" rIns="0" bIns="0" anchor="t"/>
          <a:lstStyle/>
          <a:p>
            <a:pPr algn="l">
              <a:lnSpc>
                <a:spcPct val="115000"/>
              </a:lnSpc>
              <a:spcAft>
                <a:spcPts val="0"/>
              </a:spcAft>
              <a:buNone/>
            </a:pPr>
            <a:r>
              <a:rPr lang="en-US" sz="1400" dirty="0">
                <a:solidFill>
                  <a:srgbClr val="262626"/>
                </a:solidFill>
              </a:rPr>
              <a:t>5  Wards</a:t>
            </a:r>
          </a:p>
        </p:txBody>
      </p:sp>
      <p:sp>
        <p:nvSpPr>
          <p:cNvPr id="315" name="Map315"/>
          <p:cNvSpPr/>
          <p:nvPr/>
        </p:nvSpPr>
        <p:spPr>
          <a:xfrm>
            <a:off x="1046480" y="2722880"/>
            <a:ext cx="701040" cy="477520"/>
          </a:xfrm>
          <a:custGeom>
            <a:avLst/>
            <a:gdLst/>
            <a:ahLst/>
            <a:cxnLst/>
            <a:rect l="0" t="0" r="r" b="b"/>
            <a:pathLst>
              <a:path w="701040" h="477520">
                <a:moveTo>
                  <a:pt x="0" y="294640"/>
                </a:moveTo>
                <a:lnTo>
                  <a:pt x="10160" y="142240"/>
                </a:lnTo>
                <a:lnTo>
                  <a:pt x="60960" y="40640"/>
                </a:lnTo>
                <a:lnTo>
                  <a:pt x="203200" y="0"/>
                </a:lnTo>
                <a:lnTo>
                  <a:pt x="345440" y="60960"/>
                </a:lnTo>
                <a:lnTo>
                  <a:pt x="467360" y="60960"/>
                </a:lnTo>
                <a:lnTo>
                  <a:pt x="640080" y="111760"/>
                </a:lnTo>
                <a:lnTo>
                  <a:pt x="690880" y="101600"/>
                </a:lnTo>
                <a:lnTo>
                  <a:pt x="701040" y="213360"/>
                </a:lnTo>
                <a:lnTo>
                  <a:pt x="650240" y="294640"/>
                </a:lnTo>
                <a:lnTo>
                  <a:pt x="558800" y="375920"/>
                </a:lnTo>
                <a:lnTo>
                  <a:pt x="518160" y="457200"/>
                </a:lnTo>
                <a:lnTo>
                  <a:pt x="386080" y="477520"/>
                </a:lnTo>
                <a:lnTo>
                  <a:pt x="304800" y="375920"/>
                </a:lnTo>
                <a:lnTo>
                  <a:pt x="213360" y="335280"/>
                </a:lnTo>
                <a:lnTo>
                  <a:pt x="111760" y="304800"/>
                </a:lnTo>
                <a:close/>
              </a:path>
            </a:pathLst>
          </a:custGeom>
          <a:solidFill>
            <a:srgbClr val="1E3A5C"/>
          </a:solidFill>
          <a:ln w="9525">
            <a:solidFill>
              <a:srgbClr val="1E3A5C"/>
            </a:solidFill>
            <a:round/>
          </a:ln>
        </p:spPr>
        <p:txBody>
          <a:bodyPr/>
          <a:lstStyle/>
          <a:p>
            <a:endParaRPr/>
          </a:p>
        </p:txBody>
      </p:sp>
      <p:sp>
        <p:nvSpPr>
          <p:cNvPr id="316" name="Map316"/>
          <p:cNvSpPr/>
          <p:nvPr/>
        </p:nvSpPr>
        <p:spPr>
          <a:xfrm>
            <a:off x="1605280" y="2753360"/>
            <a:ext cx="568960" cy="721360"/>
          </a:xfrm>
          <a:custGeom>
            <a:avLst/>
            <a:gdLst/>
            <a:ahLst/>
            <a:cxnLst/>
            <a:rect l="0" t="0" r="r" b="b"/>
            <a:pathLst>
              <a:path w="568960" h="721360">
                <a:moveTo>
                  <a:pt x="132080" y="71120"/>
                </a:moveTo>
                <a:lnTo>
                  <a:pt x="203200" y="20320"/>
                </a:lnTo>
                <a:lnTo>
                  <a:pt x="325120" y="40640"/>
                </a:lnTo>
                <a:lnTo>
                  <a:pt x="416560" y="0"/>
                </a:lnTo>
                <a:lnTo>
                  <a:pt x="508000" y="50800"/>
                </a:lnTo>
                <a:lnTo>
                  <a:pt x="568960" y="142240"/>
                </a:lnTo>
                <a:lnTo>
                  <a:pt x="528320" y="243840"/>
                </a:lnTo>
                <a:lnTo>
                  <a:pt x="457200" y="345440"/>
                </a:lnTo>
                <a:lnTo>
                  <a:pt x="396240" y="426720"/>
                </a:lnTo>
                <a:lnTo>
                  <a:pt x="325120" y="528320"/>
                </a:lnTo>
                <a:lnTo>
                  <a:pt x="284480" y="660400"/>
                </a:lnTo>
                <a:lnTo>
                  <a:pt x="213360" y="721360"/>
                </a:lnTo>
                <a:lnTo>
                  <a:pt x="162560" y="680720"/>
                </a:lnTo>
                <a:lnTo>
                  <a:pt x="101600" y="609600"/>
                </a:lnTo>
                <a:lnTo>
                  <a:pt x="91440" y="508000"/>
                </a:lnTo>
                <a:lnTo>
                  <a:pt x="60960" y="416560"/>
                </a:lnTo>
                <a:lnTo>
                  <a:pt x="0" y="345440"/>
                </a:lnTo>
                <a:lnTo>
                  <a:pt x="91440" y="264160"/>
                </a:lnTo>
                <a:lnTo>
                  <a:pt x="142240" y="182880"/>
                </a:lnTo>
                <a:close/>
              </a:path>
            </a:pathLst>
          </a:custGeom>
          <a:solidFill>
            <a:srgbClr val="1E3A5C"/>
          </a:solidFill>
          <a:ln w="9525">
            <a:solidFill>
              <a:srgbClr val="1E3A5C"/>
            </a:solidFill>
            <a:round/>
          </a:ln>
        </p:spPr>
        <p:txBody>
          <a:bodyPr/>
          <a:lstStyle/>
          <a:p>
            <a:endParaRPr/>
          </a:p>
        </p:txBody>
      </p:sp>
      <p:sp>
        <p:nvSpPr>
          <p:cNvPr id="317" name="Map317"/>
          <p:cNvSpPr/>
          <p:nvPr/>
        </p:nvSpPr>
        <p:spPr>
          <a:xfrm>
            <a:off x="985520" y="3017520"/>
            <a:ext cx="782320" cy="426720"/>
          </a:xfrm>
          <a:custGeom>
            <a:avLst/>
            <a:gdLst/>
            <a:ahLst/>
            <a:cxnLst/>
            <a:rect l="0" t="0" r="r" b="b"/>
            <a:pathLst>
              <a:path w="782320" h="426720">
                <a:moveTo>
                  <a:pt x="60960" y="0"/>
                </a:moveTo>
                <a:lnTo>
                  <a:pt x="172720" y="10160"/>
                </a:lnTo>
                <a:lnTo>
                  <a:pt x="274320" y="40640"/>
                </a:lnTo>
                <a:lnTo>
                  <a:pt x="365760" y="81280"/>
                </a:lnTo>
                <a:lnTo>
                  <a:pt x="447040" y="182880"/>
                </a:lnTo>
                <a:lnTo>
                  <a:pt x="579120" y="162560"/>
                </a:lnTo>
                <a:lnTo>
                  <a:pt x="619760" y="81280"/>
                </a:lnTo>
                <a:lnTo>
                  <a:pt x="680720" y="152400"/>
                </a:lnTo>
                <a:lnTo>
                  <a:pt x="711200" y="243840"/>
                </a:lnTo>
                <a:lnTo>
                  <a:pt x="721360" y="345440"/>
                </a:lnTo>
                <a:lnTo>
                  <a:pt x="782320" y="416560"/>
                </a:lnTo>
                <a:lnTo>
                  <a:pt x="701040" y="426720"/>
                </a:lnTo>
                <a:lnTo>
                  <a:pt x="558800" y="416560"/>
                </a:lnTo>
                <a:lnTo>
                  <a:pt x="467360" y="406400"/>
                </a:lnTo>
                <a:lnTo>
                  <a:pt x="396240" y="386080"/>
                </a:lnTo>
                <a:lnTo>
                  <a:pt x="314960" y="314960"/>
                </a:lnTo>
                <a:lnTo>
                  <a:pt x="243840" y="304800"/>
                </a:lnTo>
                <a:lnTo>
                  <a:pt x="142240" y="284480"/>
                </a:lnTo>
                <a:lnTo>
                  <a:pt x="0" y="254000"/>
                </a:lnTo>
                <a:lnTo>
                  <a:pt x="20320" y="193040"/>
                </a:lnTo>
                <a:lnTo>
                  <a:pt x="71120" y="71120"/>
                </a:lnTo>
                <a:close/>
              </a:path>
            </a:pathLst>
          </a:custGeom>
          <a:solidFill>
            <a:srgbClr val="1E3A5C"/>
          </a:solidFill>
          <a:ln w="9525">
            <a:solidFill>
              <a:srgbClr val="1E3A5C"/>
            </a:solidFill>
            <a:round/>
          </a:ln>
        </p:spPr>
        <p:txBody>
          <a:bodyPr/>
          <a:lstStyle/>
          <a:p>
            <a:endParaRPr/>
          </a:p>
        </p:txBody>
      </p:sp>
      <p:sp>
        <p:nvSpPr>
          <p:cNvPr id="318" name="Map318"/>
          <p:cNvSpPr/>
          <p:nvPr/>
        </p:nvSpPr>
        <p:spPr>
          <a:xfrm>
            <a:off x="965200" y="3271520"/>
            <a:ext cx="335280" cy="284480"/>
          </a:xfrm>
          <a:custGeom>
            <a:avLst/>
            <a:gdLst/>
            <a:ahLst/>
            <a:cxnLst/>
            <a:rect l="0" t="0" r="r" b="b"/>
            <a:pathLst>
              <a:path w="335280" h="284480">
                <a:moveTo>
                  <a:pt x="0" y="213360"/>
                </a:moveTo>
                <a:lnTo>
                  <a:pt x="0" y="60960"/>
                </a:lnTo>
                <a:lnTo>
                  <a:pt x="20320" y="0"/>
                </a:lnTo>
                <a:lnTo>
                  <a:pt x="162560" y="30480"/>
                </a:lnTo>
                <a:lnTo>
                  <a:pt x="264160" y="50800"/>
                </a:lnTo>
                <a:lnTo>
                  <a:pt x="335280" y="60960"/>
                </a:lnTo>
                <a:lnTo>
                  <a:pt x="314960" y="132080"/>
                </a:lnTo>
                <a:lnTo>
                  <a:pt x="274320" y="203200"/>
                </a:lnTo>
                <a:lnTo>
                  <a:pt x="228600" y="284480"/>
                </a:lnTo>
                <a:lnTo>
                  <a:pt x="182880" y="233680"/>
                </a:lnTo>
                <a:lnTo>
                  <a:pt x="71120" y="213360"/>
                </a:lnTo>
                <a:close/>
              </a:path>
            </a:pathLst>
          </a:custGeom>
          <a:solidFill>
            <a:srgbClr val="1E3A5C"/>
          </a:solidFill>
          <a:ln w="9525">
            <a:solidFill>
              <a:srgbClr val="1E3A5C"/>
            </a:solidFill>
            <a:round/>
          </a:ln>
        </p:spPr>
        <p:txBody>
          <a:bodyPr/>
          <a:lstStyle/>
          <a:p>
            <a:endParaRPr/>
          </a:p>
        </p:txBody>
      </p:sp>
      <p:sp>
        <p:nvSpPr>
          <p:cNvPr id="319" name="Map319"/>
          <p:cNvSpPr/>
          <p:nvPr/>
        </p:nvSpPr>
        <p:spPr>
          <a:xfrm>
            <a:off x="1381760" y="3403600"/>
            <a:ext cx="162560" cy="223520"/>
          </a:xfrm>
          <a:custGeom>
            <a:avLst/>
            <a:gdLst/>
            <a:ahLst/>
            <a:cxnLst/>
            <a:rect l="0" t="0" r="r" b="b"/>
            <a:pathLst>
              <a:path w="162560" h="223520">
                <a:moveTo>
                  <a:pt x="0" y="0"/>
                </a:moveTo>
                <a:lnTo>
                  <a:pt x="71120" y="20320"/>
                </a:lnTo>
                <a:lnTo>
                  <a:pt x="162560" y="30480"/>
                </a:lnTo>
                <a:lnTo>
                  <a:pt x="152400" y="101600"/>
                </a:lnTo>
                <a:lnTo>
                  <a:pt x="111760" y="182880"/>
                </a:lnTo>
                <a:lnTo>
                  <a:pt x="60960" y="223520"/>
                </a:lnTo>
                <a:lnTo>
                  <a:pt x="20320" y="193040"/>
                </a:lnTo>
                <a:lnTo>
                  <a:pt x="0" y="132080"/>
                </a:lnTo>
                <a:close/>
              </a:path>
            </a:pathLst>
          </a:custGeom>
          <a:solidFill>
            <a:srgbClr val="1E3A5C"/>
          </a:solidFill>
          <a:ln w="9525">
            <a:solidFill>
              <a:srgbClr val="1E3A5C"/>
            </a:solidFill>
            <a:round/>
          </a:ln>
        </p:spPr>
        <p:txBody>
          <a:bodyPr/>
          <a:lstStyle/>
          <a:p>
            <a:endParaRPr/>
          </a:p>
        </p:txBody>
      </p:sp>
      <p:sp>
        <p:nvSpPr>
          <p:cNvPr id="320" name="Map320"/>
          <p:cNvSpPr/>
          <p:nvPr/>
        </p:nvSpPr>
        <p:spPr>
          <a:xfrm>
            <a:off x="1193800" y="3332480"/>
            <a:ext cx="492760" cy="365760"/>
          </a:xfrm>
          <a:custGeom>
            <a:avLst/>
            <a:gdLst/>
            <a:ahLst/>
            <a:cxnLst/>
            <a:rect l="0" t="0" r="r" b="b"/>
            <a:pathLst>
              <a:path w="492760" h="365760">
                <a:moveTo>
                  <a:pt x="0" y="223520"/>
                </a:moveTo>
                <a:lnTo>
                  <a:pt x="45720" y="274320"/>
                </a:lnTo>
                <a:lnTo>
                  <a:pt x="127000" y="365760"/>
                </a:lnTo>
                <a:lnTo>
                  <a:pt x="259080" y="355600"/>
                </a:lnTo>
                <a:lnTo>
                  <a:pt x="360680" y="325120"/>
                </a:lnTo>
                <a:lnTo>
                  <a:pt x="391160" y="254000"/>
                </a:lnTo>
                <a:lnTo>
                  <a:pt x="431800" y="162560"/>
                </a:lnTo>
                <a:lnTo>
                  <a:pt x="492760" y="111760"/>
                </a:lnTo>
                <a:lnTo>
                  <a:pt x="350520" y="101600"/>
                </a:lnTo>
                <a:lnTo>
                  <a:pt x="340360" y="172720"/>
                </a:lnTo>
                <a:lnTo>
                  <a:pt x="299720" y="254000"/>
                </a:lnTo>
                <a:lnTo>
                  <a:pt x="248920" y="294640"/>
                </a:lnTo>
                <a:lnTo>
                  <a:pt x="208280" y="264160"/>
                </a:lnTo>
                <a:lnTo>
                  <a:pt x="187960" y="203200"/>
                </a:lnTo>
                <a:lnTo>
                  <a:pt x="187960" y="71120"/>
                </a:lnTo>
                <a:lnTo>
                  <a:pt x="106680" y="0"/>
                </a:lnTo>
                <a:lnTo>
                  <a:pt x="86360" y="71120"/>
                </a:lnTo>
                <a:lnTo>
                  <a:pt x="45720" y="142240"/>
                </a:lnTo>
                <a:close/>
              </a:path>
            </a:pathLst>
          </a:custGeom>
          <a:solidFill>
            <a:srgbClr val="1E3A5C"/>
          </a:solidFill>
          <a:ln w="9525">
            <a:solidFill>
              <a:srgbClr val="1E3A5C"/>
            </a:solidFill>
            <a:round/>
          </a:ln>
        </p:spPr>
        <p:txBody>
          <a:bodyPr/>
          <a:lstStyle/>
          <a:p>
            <a:endParaRPr/>
          </a:p>
        </p:txBody>
      </p:sp>
      <p:sp>
        <p:nvSpPr>
          <p:cNvPr id="321" name="T321"/>
          <p:cNvSpPr txBox="1"/>
          <p:nvPr/>
        </p:nvSpPr>
        <p:spPr>
          <a:xfrm>
            <a:off x="965200" y="3937000"/>
            <a:ext cx="1219200" cy="1016000"/>
          </a:xfrm>
          <a:prstGeom prst="rect">
            <a:avLst/>
          </a:prstGeom>
          <a:noFill/>
        </p:spPr>
        <p:txBody>
          <a:bodyPr wrap="square" lIns="0" tIns="0" rIns="0" bIns="0" anchor="t"/>
          <a:lstStyle/>
          <a:p>
            <a:pPr algn="l">
              <a:lnSpc>
                <a:spcPct val="115000"/>
              </a:lnSpc>
              <a:spcAft>
                <a:spcPts val="0"/>
              </a:spcAft>
              <a:buNone/>
            </a:pPr>
            <a:r>
              <a:rPr lang="en-US" sz="1600" dirty="0">
                <a:solidFill>
                  <a:srgbClr val="262626"/>
                </a:solidFill>
              </a:rPr>
              <a:t>Nigeria</a:t>
            </a:r>
          </a:p>
          <a:p>
            <a:pPr algn="l">
              <a:lnSpc>
                <a:spcPct val="115000"/>
              </a:lnSpc>
              <a:spcAft>
                <a:spcPts val="0"/>
              </a:spcAft>
              <a:buNone/>
            </a:pPr>
            <a:r>
              <a:rPr lang="en-US" sz="1400" dirty="0">
                <a:solidFill>
                  <a:srgbClr val="595959"/>
                </a:solidFill>
              </a:rPr>
              <a:t>200+ million people</a:t>
            </a:r>
          </a:p>
        </p:txBody>
      </p:sp>
      <p:sp>
        <p:nvSpPr>
          <p:cNvPr id="322" name="Map322"/>
          <p:cNvSpPr/>
          <p:nvPr/>
        </p:nvSpPr>
        <p:spPr>
          <a:xfrm>
            <a:off x="2880166" y="2489256"/>
            <a:ext cx="905510" cy="616797"/>
          </a:xfrm>
          <a:custGeom>
            <a:avLst/>
            <a:gdLst/>
            <a:ahLst/>
            <a:cxnLst/>
            <a:rect l="0" t="0" r="r" b="b"/>
            <a:pathLst>
              <a:path w="905510" h="616797">
                <a:moveTo>
                  <a:pt x="0" y="380577"/>
                </a:moveTo>
                <a:lnTo>
                  <a:pt x="13123" y="183727"/>
                </a:lnTo>
                <a:lnTo>
                  <a:pt x="78740" y="52493"/>
                </a:lnTo>
                <a:lnTo>
                  <a:pt x="262467" y="0"/>
                </a:lnTo>
                <a:lnTo>
                  <a:pt x="446193" y="78740"/>
                </a:lnTo>
                <a:lnTo>
                  <a:pt x="603673" y="78740"/>
                </a:lnTo>
                <a:lnTo>
                  <a:pt x="826770" y="144357"/>
                </a:lnTo>
                <a:lnTo>
                  <a:pt x="892387" y="131233"/>
                </a:lnTo>
                <a:lnTo>
                  <a:pt x="905510" y="275590"/>
                </a:lnTo>
                <a:lnTo>
                  <a:pt x="839893" y="380577"/>
                </a:lnTo>
                <a:lnTo>
                  <a:pt x="721783" y="485563"/>
                </a:lnTo>
                <a:lnTo>
                  <a:pt x="669290" y="590550"/>
                </a:lnTo>
                <a:lnTo>
                  <a:pt x="498687" y="616797"/>
                </a:lnTo>
                <a:lnTo>
                  <a:pt x="393700" y="485563"/>
                </a:lnTo>
                <a:lnTo>
                  <a:pt x="275590" y="433070"/>
                </a:lnTo>
                <a:lnTo>
                  <a:pt x="144357" y="393700"/>
                </a:lnTo>
                <a:close/>
              </a:path>
            </a:pathLst>
          </a:custGeom>
          <a:solidFill>
            <a:srgbClr val="2A4C75"/>
          </a:solidFill>
          <a:ln w="12700">
            <a:solidFill>
              <a:srgbClr val="FFFFFF"/>
            </a:solidFill>
            <a:round/>
          </a:ln>
        </p:spPr>
        <p:txBody>
          <a:bodyPr/>
          <a:lstStyle/>
          <a:p>
            <a:endParaRPr/>
          </a:p>
        </p:txBody>
      </p:sp>
      <p:sp>
        <p:nvSpPr>
          <p:cNvPr id="323" name="Map323"/>
          <p:cNvSpPr/>
          <p:nvPr/>
        </p:nvSpPr>
        <p:spPr>
          <a:xfrm>
            <a:off x="3649072" y="2542257"/>
            <a:ext cx="734907" cy="931757"/>
          </a:xfrm>
          <a:custGeom>
            <a:avLst/>
            <a:gdLst/>
            <a:ahLst/>
            <a:cxnLst/>
            <a:rect l="0" t="0" r="r" b="b"/>
            <a:pathLst>
              <a:path w="734907" h="931757">
                <a:moveTo>
                  <a:pt x="170603" y="91863"/>
                </a:moveTo>
                <a:lnTo>
                  <a:pt x="262467" y="26247"/>
                </a:lnTo>
                <a:lnTo>
                  <a:pt x="419947" y="52493"/>
                </a:lnTo>
                <a:lnTo>
                  <a:pt x="538057" y="0"/>
                </a:lnTo>
                <a:lnTo>
                  <a:pt x="656167" y="65617"/>
                </a:lnTo>
                <a:lnTo>
                  <a:pt x="734907" y="183727"/>
                </a:lnTo>
                <a:lnTo>
                  <a:pt x="682413" y="314960"/>
                </a:lnTo>
                <a:lnTo>
                  <a:pt x="590550" y="446193"/>
                </a:lnTo>
                <a:lnTo>
                  <a:pt x="511810" y="551180"/>
                </a:lnTo>
                <a:lnTo>
                  <a:pt x="419947" y="682413"/>
                </a:lnTo>
                <a:lnTo>
                  <a:pt x="367453" y="853017"/>
                </a:lnTo>
                <a:lnTo>
                  <a:pt x="275590" y="931757"/>
                </a:lnTo>
                <a:lnTo>
                  <a:pt x="209973" y="879263"/>
                </a:lnTo>
                <a:lnTo>
                  <a:pt x="131233" y="787400"/>
                </a:lnTo>
                <a:lnTo>
                  <a:pt x="118110" y="656167"/>
                </a:lnTo>
                <a:lnTo>
                  <a:pt x="78740" y="538057"/>
                </a:lnTo>
                <a:lnTo>
                  <a:pt x="0" y="446193"/>
                </a:lnTo>
                <a:lnTo>
                  <a:pt x="118110" y="341207"/>
                </a:lnTo>
                <a:lnTo>
                  <a:pt x="183727" y="236220"/>
                </a:lnTo>
                <a:close/>
              </a:path>
            </a:pathLst>
          </a:custGeom>
          <a:solidFill>
            <a:srgbClr val="2A4C75"/>
          </a:solidFill>
          <a:ln w="12700">
            <a:solidFill>
              <a:srgbClr val="FFFFFF"/>
            </a:solidFill>
            <a:round/>
          </a:ln>
        </p:spPr>
        <p:txBody>
          <a:bodyPr/>
          <a:lstStyle/>
          <a:p>
            <a:endParaRPr/>
          </a:p>
        </p:txBody>
      </p:sp>
      <p:sp>
        <p:nvSpPr>
          <p:cNvPr id="324" name="Map324"/>
          <p:cNvSpPr/>
          <p:nvPr/>
        </p:nvSpPr>
        <p:spPr>
          <a:xfrm>
            <a:off x="2798261" y="2900219"/>
            <a:ext cx="1010497" cy="551180"/>
          </a:xfrm>
          <a:custGeom>
            <a:avLst/>
            <a:gdLst/>
            <a:ahLst/>
            <a:cxnLst/>
            <a:rect l="0" t="0" r="r" b="b"/>
            <a:pathLst>
              <a:path w="1010497" h="551180">
                <a:moveTo>
                  <a:pt x="78740" y="0"/>
                </a:moveTo>
                <a:lnTo>
                  <a:pt x="223097" y="13123"/>
                </a:lnTo>
                <a:lnTo>
                  <a:pt x="354330" y="52493"/>
                </a:lnTo>
                <a:lnTo>
                  <a:pt x="472440" y="104987"/>
                </a:lnTo>
                <a:lnTo>
                  <a:pt x="577427" y="236220"/>
                </a:lnTo>
                <a:lnTo>
                  <a:pt x="748030" y="209973"/>
                </a:lnTo>
                <a:lnTo>
                  <a:pt x="800523" y="104987"/>
                </a:lnTo>
                <a:lnTo>
                  <a:pt x="879263" y="196850"/>
                </a:lnTo>
                <a:lnTo>
                  <a:pt x="918633" y="314960"/>
                </a:lnTo>
                <a:lnTo>
                  <a:pt x="931757" y="446193"/>
                </a:lnTo>
                <a:lnTo>
                  <a:pt x="1010497" y="538057"/>
                </a:lnTo>
                <a:lnTo>
                  <a:pt x="905510" y="551180"/>
                </a:lnTo>
                <a:lnTo>
                  <a:pt x="721783" y="538057"/>
                </a:lnTo>
                <a:lnTo>
                  <a:pt x="603673" y="524933"/>
                </a:lnTo>
                <a:lnTo>
                  <a:pt x="511810" y="498687"/>
                </a:lnTo>
                <a:lnTo>
                  <a:pt x="406823" y="406823"/>
                </a:lnTo>
                <a:lnTo>
                  <a:pt x="314960" y="393700"/>
                </a:lnTo>
                <a:lnTo>
                  <a:pt x="183727" y="367453"/>
                </a:lnTo>
                <a:lnTo>
                  <a:pt x="0" y="328083"/>
                </a:lnTo>
                <a:lnTo>
                  <a:pt x="26247" y="249343"/>
                </a:lnTo>
                <a:lnTo>
                  <a:pt x="91863" y="91863"/>
                </a:lnTo>
                <a:close/>
              </a:path>
            </a:pathLst>
          </a:custGeom>
          <a:solidFill>
            <a:srgbClr val="2A4C75"/>
          </a:solidFill>
          <a:ln w="12700">
            <a:solidFill>
              <a:srgbClr val="FFFFFF"/>
            </a:solidFill>
            <a:round/>
          </a:ln>
        </p:spPr>
        <p:txBody>
          <a:bodyPr/>
          <a:lstStyle/>
          <a:p>
            <a:endParaRPr/>
          </a:p>
        </p:txBody>
      </p:sp>
      <p:sp>
        <p:nvSpPr>
          <p:cNvPr id="325" name="Map325"/>
          <p:cNvSpPr/>
          <p:nvPr/>
        </p:nvSpPr>
        <p:spPr>
          <a:xfrm>
            <a:off x="2746338" y="3244987"/>
            <a:ext cx="433070" cy="367453"/>
          </a:xfrm>
          <a:custGeom>
            <a:avLst/>
            <a:gdLst/>
            <a:ahLst/>
            <a:cxnLst/>
            <a:rect l="0" t="0" r="r" b="b"/>
            <a:pathLst>
              <a:path w="433070" h="367453">
                <a:moveTo>
                  <a:pt x="0" y="275590"/>
                </a:moveTo>
                <a:lnTo>
                  <a:pt x="0" y="78740"/>
                </a:lnTo>
                <a:lnTo>
                  <a:pt x="26247" y="0"/>
                </a:lnTo>
                <a:lnTo>
                  <a:pt x="209973" y="39370"/>
                </a:lnTo>
                <a:lnTo>
                  <a:pt x="341207" y="65617"/>
                </a:lnTo>
                <a:lnTo>
                  <a:pt x="433070" y="78740"/>
                </a:lnTo>
                <a:lnTo>
                  <a:pt x="406823" y="170603"/>
                </a:lnTo>
                <a:lnTo>
                  <a:pt x="354330" y="262467"/>
                </a:lnTo>
                <a:lnTo>
                  <a:pt x="295275" y="367453"/>
                </a:lnTo>
                <a:lnTo>
                  <a:pt x="236220" y="301837"/>
                </a:lnTo>
                <a:lnTo>
                  <a:pt x="91863" y="275590"/>
                </a:lnTo>
                <a:close/>
              </a:path>
            </a:pathLst>
          </a:custGeom>
          <a:solidFill>
            <a:srgbClr val="246C67"/>
          </a:solidFill>
          <a:ln w="12700">
            <a:solidFill>
              <a:srgbClr val="FFFFFF"/>
            </a:solidFill>
            <a:round/>
          </a:ln>
        </p:spPr>
        <p:txBody>
          <a:bodyPr/>
          <a:lstStyle/>
          <a:p>
            <a:endParaRPr/>
          </a:p>
        </p:txBody>
      </p:sp>
      <p:sp>
        <p:nvSpPr>
          <p:cNvPr id="326" name="Map326"/>
          <p:cNvSpPr/>
          <p:nvPr/>
        </p:nvSpPr>
        <p:spPr>
          <a:xfrm>
            <a:off x="3317501" y="3426721"/>
            <a:ext cx="209973" cy="288713"/>
          </a:xfrm>
          <a:custGeom>
            <a:avLst/>
            <a:gdLst/>
            <a:ahLst/>
            <a:cxnLst/>
            <a:rect l="0" t="0" r="r" b="b"/>
            <a:pathLst>
              <a:path w="209973" h="288713">
                <a:moveTo>
                  <a:pt x="0" y="0"/>
                </a:moveTo>
                <a:lnTo>
                  <a:pt x="91863" y="26247"/>
                </a:lnTo>
                <a:lnTo>
                  <a:pt x="209973" y="39370"/>
                </a:lnTo>
                <a:lnTo>
                  <a:pt x="196850" y="131233"/>
                </a:lnTo>
                <a:lnTo>
                  <a:pt x="144357" y="236220"/>
                </a:lnTo>
                <a:lnTo>
                  <a:pt x="78740" y="288713"/>
                </a:lnTo>
                <a:lnTo>
                  <a:pt x="26247" y="249343"/>
                </a:lnTo>
                <a:lnTo>
                  <a:pt x="0" y="170603"/>
                </a:lnTo>
                <a:close/>
              </a:path>
            </a:pathLst>
          </a:custGeom>
          <a:solidFill>
            <a:srgbClr val="246C67"/>
          </a:solidFill>
          <a:ln w="12700">
            <a:solidFill>
              <a:srgbClr val="FFFFFF"/>
            </a:solidFill>
            <a:round/>
          </a:ln>
        </p:spPr>
        <p:txBody>
          <a:bodyPr/>
          <a:lstStyle/>
          <a:p>
            <a:endParaRPr/>
          </a:p>
        </p:txBody>
      </p:sp>
      <p:sp>
        <p:nvSpPr>
          <p:cNvPr id="327" name="Map327"/>
          <p:cNvSpPr/>
          <p:nvPr/>
        </p:nvSpPr>
        <p:spPr>
          <a:xfrm>
            <a:off x="3071759" y="3337030"/>
            <a:ext cx="636482" cy="472440"/>
          </a:xfrm>
          <a:custGeom>
            <a:avLst/>
            <a:gdLst/>
            <a:ahLst/>
            <a:cxnLst/>
            <a:rect l="0" t="0" r="r" b="b"/>
            <a:pathLst>
              <a:path w="636482" h="472440">
                <a:moveTo>
                  <a:pt x="0" y="288713"/>
                </a:moveTo>
                <a:lnTo>
                  <a:pt x="59055" y="354330"/>
                </a:lnTo>
                <a:lnTo>
                  <a:pt x="164042" y="472440"/>
                </a:lnTo>
                <a:lnTo>
                  <a:pt x="334645" y="459317"/>
                </a:lnTo>
                <a:lnTo>
                  <a:pt x="465878" y="419947"/>
                </a:lnTo>
                <a:lnTo>
                  <a:pt x="505248" y="328083"/>
                </a:lnTo>
                <a:lnTo>
                  <a:pt x="557742" y="209973"/>
                </a:lnTo>
                <a:lnTo>
                  <a:pt x="636482" y="144357"/>
                </a:lnTo>
                <a:lnTo>
                  <a:pt x="452755" y="131233"/>
                </a:lnTo>
                <a:lnTo>
                  <a:pt x="439632" y="223097"/>
                </a:lnTo>
                <a:lnTo>
                  <a:pt x="387138" y="328083"/>
                </a:lnTo>
                <a:lnTo>
                  <a:pt x="321522" y="380577"/>
                </a:lnTo>
                <a:lnTo>
                  <a:pt x="269028" y="341207"/>
                </a:lnTo>
                <a:lnTo>
                  <a:pt x="242782" y="262467"/>
                </a:lnTo>
                <a:lnTo>
                  <a:pt x="242782" y="91863"/>
                </a:lnTo>
                <a:lnTo>
                  <a:pt x="137795" y="0"/>
                </a:lnTo>
                <a:lnTo>
                  <a:pt x="111548" y="91863"/>
                </a:lnTo>
                <a:lnTo>
                  <a:pt x="59055" y="183727"/>
                </a:lnTo>
                <a:close/>
              </a:path>
            </a:pathLst>
          </a:custGeom>
          <a:solidFill>
            <a:srgbClr val="246C67"/>
          </a:solidFill>
          <a:ln w="12700">
            <a:solidFill>
              <a:srgbClr val="FFFFFF"/>
            </a:solidFill>
            <a:round/>
          </a:ln>
        </p:spPr>
        <p:txBody>
          <a:bodyPr/>
          <a:lstStyle/>
          <a:p>
            <a:endParaRPr/>
          </a:p>
        </p:txBody>
      </p:sp>
      <p:sp>
        <p:nvSpPr>
          <p:cNvPr id="328" name="T328"/>
          <p:cNvSpPr txBox="1"/>
          <p:nvPr/>
        </p:nvSpPr>
        <p:spPr>
          <a:xfrm>
            <a:off x="3134166" y="2649699"/>
            <a:ext cx="279400" cy="177800"/>
          </a:xfrm>
          <a:prstGeom prst="rect">
            <a:avLst/>
          </a:prstGeom>
          <a:noFill/>
        </p:spPr>
        <p:txBody>
          <a:bodyPr wrap="square" lIns="0" tIns="0" rIns="0" bIns="0" anchor="ctr"/>
          <a:lstStyle/>
          <a:p>
            <a:pPr algn="ctr">
              <a:lnSpc>
                <a:spcPct val="115000"/>
              </a:lnSpc>
              <a:spcAft>
                <a:spcPts val="0"/>
              </a:spcAft>
              <a:buNone/>
            </a:pPr>
            <a:r>
              <a:rPr lang="en-US" sz="1000" dirty="0">
                <a:solidFill>
                  <a:srgbClr val="FFFFFF"/>
                </a:solidFill>
              </a:rPr>
              <a:t>NW</a:t>
            </a:r>
          </a:p>
        </p:txBody>
      </p:sp>
      <p:sp>
        <p:nvSpPr>
          <p:cNvPr id="329" name="T329"/>
          <p:cNvSpPr txBox="1"/>
          <p:nvPr/>
        </p:nvSpPr>
        <p:spPr>
          <a:xfrm>
            <a:off x="3942442" y="2755193"/>
            <a:ext cx="279400" cy="177800"/>
          </a:xfrm>
          <a:prstGeom prst="rect">
            <a:avLst/>
          </a:prstGeom>
          <a:noFill/>
        </p:spPr>
        <p:txBody>
          <a:bodyPr wrap="square" lIns="0" tIns="0" rIns="0" bIns="0" anchor="ctr"/>
          <a:lstStyle/>
          <a:p>
            <a:pPr algn="ctr">
              <a:lnSpc>
                <a:spcPct val="115000"/>
              </a:lnSpc>
              <a:spcAft>
                <a:spcPts val="0"/>
              </a:spcAft>
              <a:buNone/>
            </a:pPr>
            <a:r>
              <a:rPr lang="en-US" sz="1000" dirty="0">
                <a:solidFill>
                  <a:srgbClr val="FFFFFF"/>
                </a:solidFill>
              </a:rPr>
              <a:t>NE</a:t>
            </a:r>
          </a:p>
        </p:txBody>
      </p:sp>
      <p:sp>
        <p:nvSpPr>
          <p:cNvPr id="330" name="T330"/>
          <p:cNvSpPr txBox="1"/>
          <p:nvPr/>
        </p:nvSpPr>
        <p:spPr>
          <a:xfrm>
            <a:off x="3170371" y="3073786"/>
            <a:ext cx="279400" cy="177800"/>
          </a:xfrm>
          <a:prstGeom prst="rect">
            <a:avLst/>
          </a:prstGeom>
          <a:noFill/>
        </p:spPr>
        <p:txBody>
          <a:bodyPr wrap="square" lIns="0" tIns="0" rIns="0" bIns="0" anchor="ctr"/>
          <a:lstStyle/>
          <a:p>
            <a:pPr algn="ctr">
              <a:lnSpc>
                <a:spcPct val="115000"/>
              </a:lnSpc>
              <a:spcAft>
                <a:spcPts val="0"/>
              </a:spcAft>
              <a:buNone/>
            </a:pPr>
            <a:r>
              <a:rPr lang="en-US" sz="1000" dirty="0">
                <a:solidFill>
                  <a:srgbClr val="FFFFFF"/>
                </a:solidFill>
              </a:rPr>
              <a:t>NC</a:t>
            </a:r>
          </a:p>
        </p:txBody>
      </p:sp>
      <p:sp>
        <p:nvSpPr>
          <p:cNvPr id="331" name="T331"/>
          <p:cNvSpPr txBox="1"/>
          <p:nvPr/>
        </p:nvSpPr>
        <p:spPr>
          <a:xfrm>
            <a:off x="2764118" y="3300443"/>
            <a:ext cx="279400" cy="177800"/>
          </a:xfrm>
          <a:prstGeom prst="rect">
            <a:avLst/>
          </a:prstGeom>
          <a:noFill/>
        </p:spPr>
        <p:txBody>
          <a:bodyPr wrap="square" lIns="0" tIns="0" rIns="0" bIns="0" anchor="ctr"/>
          <a:lstStyle/>
          <a:p>
            <a:pPr algn="ctr">
              <a:lnSpc>
                <a:spcPct val="115000"/>
              </a:lnSpc>
              <a:spcAft>
                <a:spcPts val="0"/>
              </a:spcAft>
              <a:buNone/>
            </a:pPr>
            <a:r>
              <a:rPr lang="en-US" sz="1000" dirty="0">
                <a:solidFill>
                  <a:srgbClr val="FFFFFF"/>
                </a:solidFill>
              </a:rPr>
              <a:t>SW</a:t>
            </a:r>
          </a:p>
        </p:txBody>
      </p:sp>
      <p:sp>
        <p:nvSpPr>
          <p:cNvPr id="332" name="T332"/>
          <p:cNvSpPr txBox="1"/>
          <p:nvPr/>
        </p:nvSpPr>
        <p:spPr>
          <a:xfrm>
            <a:off x="3302473" y="3469054"/>
            <a:ext cx="279400" cy="177800"/>
          </a:xfrm>
          <a:prstGeom prst="rect">
            <a:avLst/>
          </a:prstGeom>
          <a:noFill/>
        </p:spPr>
        <p:txBody>
          <a:bodyPr wrap="square" lIns="0" tIns="0" rIns="0" bIns="0" anchor="ctr"/>
          <a:lstStyle/>
          <a:p>
            <a:pPr algn="ctr">
              <a:lnSpc>
                <a:spcPct val="115000"/>
              </a:lnSpc>
              <a:spcAft>
                <a:spcPts val="0"/>
              </a:spcAft>
              <a:buNone/>
            </a:pPr>
            <a:r>
              <a:rPr lang="en-US" sz="1000" dirty="0">
                <a:solidFill>
                  <a:srgbClr val="FFFFFF"/>
                </a:solidFill>
              </a:rPr>
              <a:t>SE</a:t>
            </a:r>
          </a:p>
        </p:txBody>
      </p:sp>
      <p:sp>
        <p:nvSpPr>
          <p:cNvPr id="334" name="T334"/>
          <p:cNvSpPr txBox="1"/>
          <p:nvPr/>
        </p:nvSpPr>
        <p:spPr>
          <a:xfrm>
            <a:off x="2743200" y="4038600"/>
            <a:ext cx="1651000" cy="889000"/>
          </a:xfrm>
          <a:prstGeom prst="rect">
            <a:avLst/>
          </a:prstGeom>
          <a:noFill/>
        </p:spPr>
        <p:txBody>
          <a:bodyPr wrap="square" lIns="0" tIns="0" rIns="0" bIns="0" anchor="t"/>
          <a:lstStyle/>
          <a:p>
            <a:pPr algn="l">
              <a:lnSpc>
                <a:spcPct val="115000"/>
              </a:lnSpc>
              <a:buNone/>
            </a:pPr>
            <a:r>
              <a:rPr lang="en-US" sz="1400" dirty="0">
                <a:solidFill>
                  <a:srgbClr val="2A4C75"/>
                </a:solidFill>
              </a:rPr>
              <a:t>North</a:t>
            </a:r>
          </a:p>
          <a:p>
            <a:pPr algn="l">
              <a:lnSpc>
                <a:spcPct val="115000"/>
              </a:lnSpc>
              <a:buNone/>
            </a:pPr>
            <a:r>
              <a:rPr lang="en-US" sz="1400" dirty="0">
                <a:solidFill>
                  <a:srgbClr val="246C67"/>
                </a:solidFill>
              </a:rPr>
              <a:t>South</a:t>
            </a:r>
          </a:p>
          <a:p>
            <a:pPr algn="l">
              <a:lnSpc>
                <a:spcPct val="115000"/>
              </a:lnSpc>
              <a:spcAft>
                <a:spcPts val="0"/>
              </a:spcAft>
              <a:buNone/>
            </a:pPr>
            <a:r>
              <a:rPr lang="en-US" sz="1400" dirty="0">
                <a:solidFill>
                  <a:srgbClr val="595959"/>
                </a:solidFill>
              </a:rPr>
              <a:t>six zones</a:t>
            </a:r>
          </a:p>
        </p:txBody>
      </p:sp>
      <p:sp>
        <p:nvSpPr>
          <p:cNvPr id="335" name="Map335"/>
          <p:cNvSpPr/>
          <p:nvPr/>
        </p:nvSpPr>
        <p:spPr>
          <a:xfrm>
            <a:off x="5085080" y="2421255"/>
            <a:ext cx="1139190" cy="775970"/>
          </a:xfrm>
          <a:custGeom>
            <a:avLst/>
            <a:gdLst/>
            <a:ahLst/>
            <a:cxnLst/>
            <a:rect l="0" t="0" r="r" b="b"/>
            <a:pathLst>
              <a:path w="1139190" h="775970">
                <a:moveTo>
                  <a:pt x="0" y="478790"/>
                </a:moveTo>
                <a:lnTo>
                  <a:pt x="16510" y="231140"/>
                </a:lnTo>
                <a:lnTo>
                  <a:pt x="99060" y="66040"/>
                </a:lnTo>
                <a:lnTo>
                  <a:pt x="330200" y="0"/>
                </a:lnTo>
                <a:lnTo>
                  <a:pt x="561340" y="99060"/>
                </a:lnTo>
                <a:lnTo>
                  <a:pt x="759460" y="99060"/>
                </a:lnTo>
                <a:lnTo>
                  <a:pt x="1040130" y="181610"/>
                </a:lnTo>
                <a:lnTo>
                  <a:pt x="1122680" y="165100"/>
                </a:lnTo>
                <a:lnTo>
                  <a:pt x="1139190" y="346710"/>
                </a:lnTo>
                <a:lnTo>
                  <a:pt x="1056640" y="478790"/>
                </a:lnTo>
                <a:lnTo>
                  <a:pt x="908050" y="610870"/>
                </a:lnTo>
                <a:lnTo>
                  <a:pt x="842010" y="742950"/>
                </a:lnTo>
                <a:lnTo>
                  <a:pt x="627380" y="775970"/>
                </a:lnTo>
                <a:lnTo>
                  <a:pt x="495300" y="610870"/>
                </a:lnTo>
                <a:lnTo>
                  <a:pt x="346710" y="544830"/>
                </a:lnTo>
                <a:lnTo>
                  <a:pt x="181610" y="495300"/>
                </a:lnTo>
                <a:close/>
              </a:path>
            </a:pathLst>
          </a:custGeom>
          <a:solidFill>
            <a:srgbClr val="2A4C75"/>
          </a:solidFill>
          <a:ln w="9525">
            <a:solidFill>
              <a:srgbClr val="FFFFFF"/>
            </a:solidFill>
            <a:round/>
          </a:ln>
        </p:spPr>
        <p:txBody>
          <a:bodyPr/>
          <a:lstStyle/>
          <a:p>
            <a:endParaRPr/>
          </a:p>
        </p:txBody>
      </p:sp>
      <p:sp>
        <p:nvSpPr>
          <p:cNvPr id="336" name="Map336"/>
          <p:cNvSpPr/>
          <p:nvPr/>
        </p:nvSpPr>
        <p:spPr>
          <a:xfrm>
            <a:off x="5993130" y="2470785"/>
            <a:ext cx="924560" cy="1172210"/>
          </a:xfrm>
          <a:custGeom>
            <a:avLst/>
            <a:gdLst/>
            <a:ahLst/>
            <a:cxnLst/>
            <a:rect l="0" t="0" r="r" b="b"/>
            <a:pathLst>
              <a:path w="924560" h="1172210">
                <a:moveTo>
                  <a:pt x="214630" y="115570"/>
                </a:moveTo>
                <a:lnTo>
                  <a:pt x="330200" y="33020"/>
                </a:lnTo>
                <a:lnTo>
                  <a:pt x="528320" y="66040"/>
                </a:lnTo>
                <a:lnTo>
                  <a:pt x="676910" y="0"/>
                </a:lnTo>
                <a:lnTo>
                  <a:pt x="825500" y="82550"/>
                </a:lnTo>
                <a:lnTo>
                  <a:pt x="924560" y="231140"/>
                </a:lnTo>
                <a:lnTo>
                  <a:pt x="858520" y="396240"/>
                </a:lnTo>
                <a:lnTo>
                  <a:pt x="742950" y="561340"/>
                </a:lnTo>
                <a:lnTo>
                  <a:pt x="643890" y="693420"/>
                </a:lnTo>
                <a:lnTo>
                  <a:pt x="528320" y="858520"/>
                </a:lnTo>
                <a:lnTo>
                  <a:pt x="462280" y="1073150"/>
                </a:lnTo>
                <a:lnTo>
                  <a:pt x="346710" y="1172210"/>
                </a:lnTo>
                <a:lnTo>
                  <a:pt x="264160" y="1106170"/>
                </a:lnTo>
                <a:lnTo>
                  <a:pt x="165100" y="990600"/>
                </a:lnTo>
                <a:lnTo>
                  <a:pt x="148590" y="825500"/>
                </a:lnTo>
                <a:lnTo>
                  <a:pt x="99060" y="676910"/>
                </a:lnTo>
                <a:lnTo>
                  <a:pt x="0" y="561340"/>
                </a:lnTo>
                <a:lnTo>
                  <a:pt x="148590" y="429260"/>
                </a:lnTo>
                <a:lnTo>
                  <a:pt x="231140" y="297180"/>
                </a:lnTo>
                <a:close/>
              </a:path>
            </a:pathLst>
          </a:custGeom>
          <a:solidFill>
            <a:srgbClr val="2A4C75"/>
          </a:solidFill>
          <a:ln w="9525">
            <a:solidFill>
              <a:srgbClr val="FFFFFF"/>
            </a:solidFill>
            <a:round/>
          </a:ln>
        </p:spPr>
        <p:txBody>
          <a:bodyPr/>
          <a:lstStyle/>
          <a:p>
            <a:endParaRPr/>
          </a:p>
        </p:txBody>
      </p:sp>
      <p:sp>
        <p:nvSpPr>
          <p:cNvPr id="337" name="Map337"/>
          <p:cNvSpPr/>
          <p:nvPr/>
        </p:nvSpPr>
        <p:spPr>
          <a:xfrm>
            <a:off x="4986020" y="2900045"/>
            <a:ext cx="1271270" cy="693420"/>
          </a:xfrm>
          <a:custGeom>
            <a:avLst/>
            <a:gdLst/>
            <a:ahLst/>
            <a:cxnLst/>
            <a:rect l="0" t="0" r="r" b="b"/>
            <a:pathLst>
              <a:path w="1271270" h="693420">
                <a:moveTo>
                  <a:pt x="99060" y="0"/>
                </a:moveTo>
                <a:lnTo>
                  <a:pt x="280670" y="16510"/>
                </a:lnTo>
                <a:lnTo>
                  <a:pt x="445770" y="66040"/>
                </a:lnTo>
                <a:lnTo>
                  <a:pt x="594360" y="132080"/>
                </a:lnTo>
                <a:lnTo>
                  <a:pt x="726440" y="297180"/>
                </a:lnTo>
                <a:lnTo>
                  <a:pt x="941070" y="264160"/>
                </a:lnTo>
                <a:lnTo>
                  <a:pt x="1007110" y="132080"/>
                </a:lnTo>
                <a:lnTo>
                  <a:pt x="1106170" y="247650"/>
                </a:lnTo>
                <a:lnTo>
                  <a:pt x="1155700" y="396240"/>
                </a:lnTo>
                <a:lnTo>
                  <a:pt x="1172210" y="561340"/>
                </a:lnTo>
                <a:lnTo>
                  <a:pt x="1271270" y="676910"/>
                </a:lnTo>
                <a:lnTo>
                  <a:pt x="1139190" y="693420"/>
                </a:lnTo>
                <a:lnTo>
                  <a:pt x="908050" y="676910"/>
                </a:lnTo>
                <a:lnTo>
                  <a:pt x="759460" y="660400"/>
                </a:lnTo>
                <a:lnTo>
                  <a:pt x="643890" y="627380"/>
                </a:lnTo>
                <a:lnTo>
                  <a:pt x="511810" y="511810"/>
                </a:lnTo>
                <a:lnTo>
                  <a:pt x="396240" y="495300"/>
                </a:lnTo>
                <a:lnTo>
                  <a:pt x="231140" y="462280"/>
                </a:lnTo>
                <a:lnTo>
                  <a:pt x="0" y="412750"/>
                </a:lnTo>
                <a:lnTo>
                  <a:pt x="33020" y="313690"/>
                </a:lnTo>
                <a:lnTo>
                  <a:pt x="115570" y="115570"/>
                </a:lnTo>
                <a:close/>
              </a:path>
            </a:pathLst>
          </a:custGeom>
          <a:solidFill>
            <a:srgbClr val="2A4C75"/>
          </a:solidFill>
          <a:ln w="9525">
            <a:solidFill>
              <a:srgbClr val="FFFFFF"/>
            </a:solidFill>
            <a:round/>
          </a:ln>
        </p:spPr>
        <p:txBody>
          <a:bodyPr/>
          <a:lstStyle/>
          <a:p>
            <a:endParaRPr/>
          </a:p>
        </p:txBody>
      </p:sp>
      <p:sp>
        <p:nvSpPr>
          <p:cNvPr id="338" name="Map338"/>
          <p:cNvSpPr/>
          <p:nvPr/>
        </p:nvSpPr>
        <p:spPr>
          <a:xfrm>
            <a:off x="4953000" y="3312795"/>
            <a:ext cx="544830" cy="462280"/>
          </a:xfrm>
          <a:custGeom>
            <a:avLst/>
            <a:gdLst/>
            <a:ahLst/>
            <a:cxnLst/>
            <a:rect l="0" t="0" r="r" b="b"/>
            <a:pathLst>
              <a:path w="544830" h="462280">
                <a:moveTo>
                  <a:pt x="0" y="346710"/>
                </a:moveTo>
                <a:lnTo>
                  <a:pt x="0" y="99060"/>
                </a:lnTo>
                <a:lnTo>
                  <a:pt x="33020" y="0"/>
                </a:lnTo>
                <a:lnTo>
                  <a:pt x="264160" y="49530"/>
                </a:lnTo>
                <a:lnTo>
                  <a:pt x="429260" y="82550"/>
                </a:lnTo>
                <a:lnTo>
                  <a:pt x="544830" y="99060"/>
                </a:lnTo>
                <a:lnTo>
                  <a:pt x="511810" y="214630"/>
                </a:lnTo>
                <a:lnTo>
                  <a:pt x="445770" y="330200"/>
                </a:lnTo>
                <a:lnTo>
                  <a:pt x="371475" y="462280"/>
                </a:lnTo>
                <a:lnTo>
                  <a:pt x="297180" y="379730"/>
                </a:lnTo>
                <a:lnTo>
                  <a:pt x="115570" y="346710"/>
                </a:lnTo>
                <a:close/>
              </a:path>
            </a:pathLst>
          </a:custGeom>
          <a:solidFill>
            <a:srgbClr val="246C67"/>
          </a:solidFill>
          <a:ln w="9525">
            <a:solidFill>
              <a:srgbClr val="FFFFFF"/>
            </a:solidFill>
            <a:round/>
          </a:ln>
        </p:spPr>
        <p:txBody>
          <a:bodyPr/>
          <a:lstStyle/>
          <a:p>
            <a:endParaRPr/>
          </a:p>
        </p:txBody>
      </p:sp>
      <p:sp>
        <p:nvSpPr>
          <p:cNvPr id="339" name="Map339"/>
          <p:cNvSpPr/>
          <p:nvPr/>
        </p:nvSpPr>
        <p:spPr>
          <a:xfrm>
            <a:off x="5629910" y="3527425"/>
            <a:ext cx="264160" cy="363220"/>
          </a:xfrm>
          <a:custGeom>
            <a:avLst/>
            <a:gdLst/>
            <a:ahLst/>
            <a:cxnLst/>
            <a:rect l="0" t="0" r="r" b="b"/>
            <a:pathLst>
              <a:path w="264160" h="363220">
                <a:moveTo>
                  <a:pt x="0" y="0"/>
                </a:moveTo>
                <a:lnTo>
                  <a:pt x="115570" y="33020"/>
                </a:lnTo>
                <a:lnTo>
                  <a:pt x="264160" y="49530"/>
                </a:lnTo>
                <a:lnTo>
                  <a:pt x="247650" y="165100"/>
                </a:lnTo>
                <a:lnTo>
                  <a:pt x="181610" y="297180"/>
                </a:lnTo>
                <a:lnTo>
                  <a:pt x="99060" y="363220"/>
                </a:lnTo>
                <a:lnTo>
                  <a:pt x="33020" y="313690"/>
                </a:lnTo>
                <a:lnTo>
                  <a:pt x="0" y="214630"/>
                </a:lnTo>
                <a:close/>
              </a:path>
            </a:pathLst>
          </a:custGeom>
          <a:solidFill>
            <a:srgbClr val="246C67"/>
          </a:solidFill>
          <a:ln w="9525">
            <a:solidFill>
              <a:srgbClr val="FFFFFF"/>
            </a:solidFill>
            <a:round/>
          </a:ln>
        </p:spPr>
        <p:txBody>
          <a:bodyPr/>
          <a:lstStyle/>
          <a:p>
            <a:endParaRPr/>
          </a:p>
        </p:txBody>
      </p:sp>
      <p:sp>
        <p:nvSpPr>
          <p:cNvPr id="340" name="Map340"/>
          <p:cNvSpPr/>
          <p:nvPr/>
        </p:nvSpPr>
        <p:spPr>
          <a:xfrm>
            <a:off x="5324475" y="3411855"/>
            <a:ext cx="800735" cy="594360"/>
          </a:xfrm>
          <a:custGeom>
            <a:avLst/>
            <a:gdLst/>
            <a:ahLst/>
            <a:cxnLst/>
            <a:rect l="0" t="0" r="r" b="b"/>
            <a:pathLst>
              <a:path w="800735" h="594360">
                <a:moveTo>
                  <a:pt x="0" y="363220"/>
                </a:moveTo>
                <a:lnTo>
                  <a:pt x="74295" y="445770"/>
                </a:lnTo>
                <a:lnTo>
                  <a:pt x="206375" y="594360"/>
                </a:lnTo>
                <a:lnTo>
                  <a:pt x="421005" y="577850"/>
                </a:lnTo>
                <a:lnTo>
                  <a:pt x="586105" y="528320"/>
                </a:lnTo>
                <a:lnTo>
                  <a:pt x="635635" y="412750"/>
                </a:lnTo>
                <a:lnTo>
                  <a:pt x="701675" y="264160"/>
                </a:lnTo>
                <a:lnTo>
                  <a:pt x="800735" y="181610"/>
                </a:lnTo>
                <a:lnTo>
                  <a:pt x="569595" y="165100"/>
                </a:lnTo>
                <a:lnTo>
                  <a:pt x="553085" y="280670"/>
                </a:lnTo>
                <a:lnTo>
                  <a:pt x="487045" y="412750"/>
                </a:lnTo>
                <a:lnTo>
                  <a:pt x="404495" y="478790"/>
                </a:lnTo>
                <a:lnTo>
                  <a:pt x="338455" y="429260"/>
                </a:lnTo>
                <a:lnTo>
                  <a:pt x="305435" y="330200"/>
                </a:lnTo>
                <a:lnTo>
                  <a:pt x="305435" y="115570"/>
                </a:lnTo>
                <a:lnTo>
                  <a:pt x="173355" y="0"/>
                </a:lnTo>
                <a:lnTo>
                  <a:pt x="140335" y="115570"/>
                </a:lnTo>
                <a:lnTo>
                  <a:pt x="74295" y="231140"/>
                </a:lnTo>
                <a:close/>
              </a:path>
            </a:pathLst>
          </a:custGeom>
          <a:solidFill>
            <a:srgbClr val="246C67"/>
          </a:solidFill>
          <a:ln w="9525">
            <a:solidFill>
              <a:srgbClr val="FFFFFF"/>
            </a:solidFill>
            <a:round/>
          </a:ln>
        </p:spPr>
        <p:txBody>
          <a:bodyPr/>
          <a:lstStyle/>
          <a:p>
            <a:endParaRPr/>
          </a:p>
        </p:txBody>
      </p:sp>
      <p:sp>
        <p:nvSpPr>
          <p:cNvPr id="341" name="D341"/>
          <p:cNvSpPr/>
          <p:nvPr/>
        </p:nvSpPr>
        <p:spPr>
          <a:xfrm>
            <a:off x="5302250" y="2506345"/>
            <a:ext cx="127000" cy="127000"/>
          </a:xfrm>
          <a:prstGeom prst="ellipse">
            <a:avLst/>
          </a:prstGeom>
          <a:solidFill>
            <a:srgbClr val="C8102E"/>
          </a:solidFill>
          <a:ln w="19050">
            <a:solidFill>
              <a:srgbClr val="FFFFFF"/>
            </a:solidFill>
          </a:ln>
        </p:spPr>
        <p:txBody>
          <a:bodyPr/>
          <a:lstStyle/>
          <a:p>
            <a:endParaRPr/>
          </a:p>
        </p:txBody>
      </p:sp>
      <p:sp>
        <p:nvSpPr>
          <p:cNvPr id="342" name="D342"/>
          <p:cNvSpPr/>
          <p:nvPr/>
        </p:nvSpPr>
        <p:spPr>
          <a:xfrm>
            <a:off x="6606540" y="2704465"/>
            <a:ext cx="127000" cy="127000"/>
          </a:xfrm>
          <a:prstGeom prst="ellipse">
            <a:avLst/>
          </a:prstGeom>
          <a:solidFill>
            <a:srgbClr val="C8102E"/>
          </a:solidFill>
          <a:ln w="19050">
            <a:solidFill>
              <a:srgbClr val="FFFFFF"/>
            </a:solidFill>
          </a:ln>
        </p:spPr>
        <p:txBody>
          <a:bodyPr/>
          <a:lstStyle/>
          <a:p>
            <a:endParaRPr/>
          </a:p>
        </p:txBody>
      </p:sp>
      <p:sp>
        <p:nvSpPr>
          <p:cNvPr id="343" name="D343"/>
          <p:cNvSpPr/>
          <p:nvPr/>
        </p:nvSpPr>
        <p:spPr>
          <a:xfrm>
            <a:off x="5863590" y="3397885"/>
            <a:ext cx="127000" cy="127000"/>
          </a:xfrm>
          <a:prstGeom prst="ellipse">
            <a:avLst/>
          </a:prstGeom>
          <a:solidFill>
            <a:srgbClr val="C8102E"/>
          </a:solidFill>
          <a:ln w="19050">
            <a:solidFill>
              <a:srgbClr val="FFFFFF"/>
            </a:solidFill>
          </a:ln>
        </p:spPr>
        <p:txBody>
          <a:bodyPr/>
          <a:lstStyle/>
          <a:p>
            <a:endParaRPr/>
          </a:p>
        </p:txBody>
      </p:sp>
      <p:sp>
        <p:nvSpPr>
          <p:cNvPr id="344" name="D344"/>
          <p:cNvSpPr/>
          <p:nvPr/>
        </p:nvSpPr>
        <p:spPr>
          <a:xfrm>
            <a:off x="5005070" y="3480435"/>
            <a:ext cx="127000" cy="127000"/>
          </a:xfrm>
          <a:prstGeom prst="ellipse">
            <a:avLst/>
          </a:prstGeom>
          <a:solidFill>
            <a:srgbClr val="FFFFFF"/>
          </a:solidFill>
          <a:ln w="19050">
            <a:solidFill>
              <a:srgbClr val="262626"/>
            </a:solidFill>
          </a:ln>
        </p:spPr>
        <p:txBody>
          <a:bodyPr/>
          <a:lstStyle/>
          <a:p>
            <a:endParaRPr/>
          </a:p>
        </p:txBody>
      </p:sp>
      <p:sp>
        <p:nvSpPr>
          <p:cNvPr id="345" name="D345"/>
          <p:cNvSpPr/>
          <p:nvPr/>
        </p:nvSpPr>
        <p:spPr>
          <a:xfrm>
            <a:off x="5681980" y="3579495"/>
            <a:ext cx="127000" cy="127000"/>
          </a:xfrm>
          <a:prstGeom prst="ellipse">
            <a:avLst/>
          </a:prstGeom>
          <a:solidFill>
            <a:srgbClr val="FFFFFF"/>
          </a:solidFill>
          <a:ln w="19050">
            <a:solidFill>
              <a:srgbClr val="262626"/>
            </a:solidFill>
          </a:ln>
        </p:spPr>
        <p:txBody>
          <a:bodyPr/>
          <a:lstStyle/>
          <a:p>
            <a:endParaRPr/>
          </a:p>
        </p:txBody>
      </p:sp>
      <p:sp>
        <p:nvSpPr>
          <p:cNvPr id="346" name="D346"/>
          <p:cNvSpPr/>
          <p:nvPr/>
        </p:nvSpPr>
        <p:spPr>
          <a:xfrm>
            <a:off x="5582920" y="3843655"/>
            <a:ext cx="127000" cy="127000"/>
          </a:xfrm>
          <a:prstGeom prst="ellipse">
            <a:avLst/>
          </a:prstGeom>
          <a:solidFill>
            <a:srgbClr val="FFFFFF"/>
          </a:solidFill>
          <a:ln w="19050">
            <a:solidFill>
              <a:srgbClr val="262626"/>
            </a:solidFill>
          </a:ln>
        </p:spPr>
        <p:txBody>
          <a:bodyPr/>
          <a:lstStyle/>
          <a:p>
            <a:endParaRPr/>
          </a:p>
        </p:txBody>
      </p:sp>
      <p:sp>
        <p:nvSpPr>
          <p:cNvPr id="347" name="Lbl347"/>
          <p:cNvSpPr/>
          <p:nvPr/>
        </p:nvSpPr>
        <p:spPr>
          <a:xfrm>
            <a:off x="5467350" y="2455545"/>
            <a:ext cx="655320" cy="215900"/>
          </a:xfrm>
          <a:prstGeom prst="roundRect">
            <a:avLst>
              <a:gd name="adj" fmla="val 30000"/>
            </a:avLst>
          </a:prstGeom>
          <a:solidFill>
            <a:srgbClr val="FFFFFF"/>
          </a:solidFill>
          <a:ln w="6350">
            <a:solidFill>
              <a:srgbClr val="BFBFBF"/>
            </a:solidFill>
          </a:ln>
        </p:spPr>
        <p:txBody>
          <a:bodyPr wrap="none" lIns="0" tIns="0" rIns="0" bIns="0" anchor="ctr"/>
          <a:lstStyle/>
          <a:p>
            <a:pPr algn="ctr">
              <a:buNone/>
            </a:pPr>
            <a:r>
              <a:rPr lang="en-US" sz="1200" dirty="0">
                <a:solidFill>
                  <a:srgbClr val="262626"/>
                </a:solidFill>
              </a:rPr>
              <a:t>Sokoto</a:t>
            </a:r>
          </a:p>
        </p:txBody>
      </p:sp>
      <p:sp>
        <p:nvSpPr>
          <p:cNvPr id="348" name="Lbl348"/>
          <p:cNvSpPr/>
          <p:nvPr/>
        </p:nvSpPr>
        <p:spPr>
          <a:xfrm>
            <a:off x="6035040" y="2844165"/>
            <a:ext cx="571500" cy="215900"/>
          </a:xfrm>
          <a:prstGeom prst="roundRect">
            <a:avLst>
              <a:gd name="adj" fmla="val 30000"/>
            </a:avLst>
          </a:prstGeom>
          <a:solidFill>
            <a:srgbClr val="FFFFFF"/>
          </a:solidFill>
          <a:ln w="6350">
            <a:solidFill>
              <a:srgbClr val="BFBFBF"/>
            </a:solidFill>
          </a:ln>
        </p:spPr>
        <p:txBody>
          <a:bodyPr wrap="none" lIns="0" tIns="0" rIns="0" bIns="0" anchor="ctr"/>
          <a:lstStyle/>
          <a:p>
            <a:pPr algn="ctr">
              <a:buNone/>
            </a:pPr>
            <a:r>
              <a:rPr lang="en-US" sz="1200" dirty="0">
                <a:solidFill>
                  <a:srgbClr val="262626"/>
                </a:solidFill>
              </a:rPr>
              <a:t>Borno</a:t>
            </a:r>
          </a:p>
        </p:txBody>
      </p:sp>
      <p:sp>
        <p:nvSpPr>
          <p:cNvPr id="349" name="Lbl349"/>
          <p:cNvSpPr/>
          <p:nvPr/>
        </p:nvSpPr>
        <p:spPr>
          <a:xfrm>
            <a:off x="6028690" y="3207385"/>
            <a:ext cx="571500" cy="215900"/>
          </a:xfrm>
          <a:prstGeom prst="roundRect">
            <a:avLst>
              <a:gd name="adj" fmla="val 30000"/>
            </a:avLst>
          </a:prstGeom>
          <a:solidFill>
            <a:srgbClr val="FFFFFF"/>
          </a:solidFill>
          <a:ln w="6350">
            <a:solidFill>
              <a:srgbClr val="BFBFBF"/>
            </a:solidFill>
          </a:ln>
        </p:spPr>
        <p:txBody>
          <a:bodyPr wrap="none" lIns="0" tIns="0" rIns="0" bIns="0" anchor="ctr"/>
          <a:lstStyle/>
          <a:p>
            <a:pPr algn="ctr">
              <a:buNone/>
            </a:pPr>
            <a:r>
              <a:rPr lang="en-US" sz="1200" dirty="0">
                <a:solidFill>
                  <a:srgbClr val="262626"/>
                </a:solidFill>
              </a:rPr>
              <a:t>Benue</a:t>
            </a:r>
          </a:p>
        </p:txBody>
      </p:sp>
      <p:sp>
        <p:nvSpPr>
          <p:cNvPr id="350" name="Lbl350"/>
          <p:cNvSpPr/>
          <p:nvPr/>
        </p:nvSpPr>
        <p:spPr>
          <a:xfrm>
            <a:off x="5017770" y="3632835"/>
            <a:ext cx="487680" cy="215900"/>
          </a:xfrm>
          <a:prstGeom prst="roundRect">
            <a:avLst>
              <a:gd name="adj" fmla="val 30000"/>
            </a:avLst>
          </a:prstGeom>
          <a:solidFill>
            <a:srgbClr val="FFFFFF"/>
          </a:solidFill>
          <a:ln w="6350">
            <a:solidFill>
              <a:srgbClr val="BFBFBF"/>
            </a:solidFill>
          </a:ln>
        </p:spPr>
        <p:txBody>
          <a:bodyPr wrap="none" lIns="0" tIns="0" rIns="0" bIns="0" anchor="ctr"/>
          <a:lstStyle/>
          <a:p>
            <a:pPr algn="ctr">
              <a:buNone/>
            </a:pPr>
            <a:r>
              <a:rPr lang="en-US" sz="1200" dirty="0">
                <a:solidFill>
                  <a:srgbClr val="262626"/>
                </a:solidFill>
              </a:rPr>
              <a:t>Ogun</a:t>
            </a:r>
          </a:p>
        </p:txBody>
      </p:sp>
      <p:sp>
        <p:nvSpPr>
          <p:cNvPr id="351" name="Lbl351"/>
          <p:cNvSpPr/>
          <p:nvPr/>
        </p:nvSpPr>
        <p:spPr>
          <a:xfrm>
            <a:off x="5859780" y="3566795"/>
            <a:ext cx="571500" cy="215900"/>
          </a:xfrm>
          <a:prstGeom prst="roundRect">
            <a:avLst>
              <a:gd name="adj" fmla="val 30000"/>
            </a:avLst>
          </a:prstGeom>
          <a:solidFill>
            <a:srgbClr val="FFFFFF"/>
          </a:solidFill>
          <a:ln w="6350">
            <a:solidFill>
              <a:srgbClr val="BFBFBF"/>
            </a:solidFill>
          </a:ln>
        </p:spPr>
        <p:txBody>
          <a:bodyPr wrap="none" lIns="0" tIns="0" rIns="0" bIns="0" anchor="ctr"/>
          <a:lstStyle/>
          <a:p>
            <a:pPr algn="ctr">
              <a:buNone/>
            </a:pPr>
            <a:r>
              <a:rPr lang="en-US" sz="1200" dirty="0">
                <a:solidFill>
                  <a:srgbClr val="262626"/>
                </a:solidFill>
              </a:rPr>
              <a:t>Enugu</a:t>
            </a:r>
          </a:p>
        </p:txBody>
      </p:sp>
      <p:sp>
        <p:nvSpPr>
          <p:cNvPr id="352" name="Lbl352"/>
          <p:cNvSpPr/>
          <p:nvPr/>
        </p:nvSpPr>
        <p:spPr>
          <a:xfrm>
            <a:off x="5748020" y="3856355"/>
            <a:ext cx="655320" cy="215900"/>
          </a:xfrm>
          <a:prstGeom prst="roundRect">
            <a:avLst>
              <a:gd name="adj" fmla="val 30000"/>
            </a:avLst>
          </a:prstGeom>
          <a:solidFill>
            <a:srgbClr val="FFFFFF"/>
          </a:solidFill>
          <a:ln w="6350">
            <a:solidFill>
              <a:srgbClr val="BFBFBF"/>
            </a:solidFill>
          </a:ln>
        </p:spPr>
        <p:txBody>
          <a:bodyPr wrap="none" lIns="0" tIns="0" rIns="0" bIns="0" anchor="ctr"/>
          <a:lstStyle/>
          <a:p>
            <a:pPr algn="ctr">
              <a:buNone/>
            </a:pPr>
            <a:r>
              <a:rPr lang="en-US" sz="1200" dirty="0">
                <a:solidFill>
                  <a:srgbClr val="262626"/>
                </a:solidFill>
              </a:rPr>
              <a:t>Rivers</a:t>
            </a:r>
          </a:p>
        </p:txBody>
      </p:sp>
      <p:sp>
        <p:nvSpPr>
          <p:cNvPr id="353" name="T353"/>
          <p:cNvSpPr txBox="1"/>
          <p:nvPr/>
        </p:nvSpPr>
        <p:spPr>
          <a:xfrm>
            <a:off x="4953000" y="4191000"/>
            <a:ext cx="1981200" cy="762000"/>
          </a:xfrm>
          <a:prstGeom prst="rect">
            <a:avLst/>
          </a:prstGeom>
          <a:noFill/>
        </p:spPr>
        <p:txBody>
          <a:bodyPr wrap="square" lIns="0" tIns="0" rIns="0" bIns="0" anchor="t"/>
          <a:lstStyle/>
          <a:p>
            <a:pPr algn="l">
              <a:lnSpc>
                <a:spcPct val="115000"/>
              </a:lnSpc>
              <a:buNone/>
            </a:pPr>
            <a:r>
              <a:rPr lang="en-US" sz="1400" dirty="0">
                <a:solidFill>
                  <a:srgbClr val="C8102E"/>
                </a:solidFill>
              </a:rPr>
              <a:t>● </a:t>
            </a:r>
            <a:r>
              <a:rPr lang="en-US" sz="1400" dirty="0">
                <a:solidFill>
                  <a:srgbClr val="262626"/>
                </a:solidFill>
              </a:rPr>
              <a:t>IDP camps also sampled</a:t>
            </a:r>
          </a:p>
          <a:p>
            <a:pPr algn="l">
              <a:lnSpc>
                <a:spcPct val="115000"/>
              </a:lnSpc>
              <a:spcAft>
                <a:spcPts val="0"/>
              </a:spcAft>
              <a:buNone/>
            </a:pPr>
            <a:r>
              <a:rPr lang="en-US" sz="1400" dirty="0">
                <a:solidFill>
                  <a:srgbClr val="595959"/>
                </a:solidFill>
              </a:rPr>
              <a:t>one state per zone</a:t>
            </a:r>
          </a:p>
        </p:txBody>
      </p:sp>
      <p:sp>
        <p:nvSpPr>
          <p:cNvPr id="354" name="Map354"/>
          <p:cNvSpPr/>
          <p:nvPr/>
        </p:nvSpPr>
        <p:spPr>
          <a:xfrm>
            <a:off x="7625080" y="2421255"/>
            <a:ext cx="1139190" cy="775970"/>
          </a:xfrm>
          <a:custGeom>
            <a:avLst/>
            <a:gdLst/>
            <a:ahLst/>
            <a:cxnLst/>
            <a:rect l="0" t="0" r="r" b="b"/>
            <a:pathLst>
              <a:path w="1139190" h="775970">
                <a:moveTo>
                  <a:pt x="0" y="478790"/>
                </a:moveTo>
                <a:lnTo>
                  <a:pt x="16510" y="231140"/>
                </a:lnTo>
                <a:lnTo>
                  <a:pt x="99060" y="66040"/>
                </a:lnTo>
                <a:lnTo>
                  <a:pt x="330200" y="0"/>
                </a:lnTo>
                <a:lnTo>
                  <a:pt x="561340" y="99060"/>
                </a:lnTo>
                <a:lnTo>
                  <a:pt x="759460" y="99060"/>
                </a:lnTo>
                <a:lnTo>
                  <a:pt x="1040130" y="181610"/>
                </a:lnTo>
                <a:lnTo>
                  <a:pt x="1122680" y="165100"/>
                </a:lnTo>
                <a:lnTo>
                  <a:pt x="1139190" y="346710"/>
                </a:lnTo>
                <a:lnTo>
                  <a:pt x="1056640" y="478790"/>
                </a:lnTo>
                <a:lnTo>
                  <a:pt x="908050" y="610870"/>
                </a:lnTo>
                <a:lnTo>
                  <a:pt x="842010" y="742950"/>
                </a:lnTo>
                <a:lnTo>
                  <a:pt x="627380" y="775970"/>
                </a:lnTo>
                <a:lnTo>
                  <a:pt x="495300" y="610870"/>
                </a:lnTo>
                <a:lnTo>
                  <a:pt x="346710" y="544830"/>
                </a:lnTo>
                <a:lnTo>
                  <a:pt x="181610" y="495300"/>
                </a:lnTo>
                <a:close/>
              </a:path>
            </a:pathLst>
          </a:custGeom>
          <a:solidFill>
            <a:srgbClr val="2A4C75"/>
          </a:solidFill>
          <a:ln w="9525">
            <a:solidFill>
              <a:srgbClr val="FFFFFF"/>
            </a:solidFill>
            <a:round/>
          </a:ln>
        </p:spPr>
        <p:txBody>
          <a:bodyPr/>
          <a:lstStyle/>
          <a:p>
            <a:endParaRPr/>
          </a:p>
        </p:txBody>
      </p:sp>
      <p:sp>
        <p:nvSpPr>
          <p:cNvPr id="355" name="Map355"/>
          <p:cNvSpPr/>
          <p:nvPr/>
        </p:nvSpPr>
        <p:spPr>
          <a:xfrm>
            <a:off x="8533130" y="2470785"/>
            <a:ext cx="924560" cy="1172210"/>
          </a:xfrm>
          <a:custGeom>
            <a:avLst/>
            <a:gdLst/>
            <a:ahLst/>
            <a:cxnLst/>
            <a:rect l="0" t="0" r="r" b="b"/>
            <a:pathLst>
              <a:path w="924560" h="1172210">
                <a:moveTo>
                  <a:pt x="214630" y="115570"/>
                </a:moveTo>
                <a:lnTo>
                  <a:pt x="330200" y="33020"/>
                </a:lnTo>
                <a:lnTo>
                  <a:pt x="528320" y="66040"/>
                </a:lnTo>
                <a:lnTo>
                  <a:pt x="676910" y="0"/>
                </a:lnTo>
                <a:lnTo>
                  <a:pt x="825500" y="82550"/>
                </a:lnTo>
                <a:lnTo>
                  <a:pt x="924560" y="231140"/>
                </a:lnTo>
                <a:lnTo>
                  <a:pt x="858520" y="396240"/>
                </a:lnTo>
                <a:lnTo>
                  <a:pt x="742950" y="561340"/>
                </a:lnTo>
                <a:lnTo>
                  <a:pt x="643890" y="693420"/>
                </a:lnTo>
                <a:lnTo>
                  <a:pt x="528320" y="858520"/>
                </a:lnTo>
                <a:lnTo>
                  <a:pt x="462280" y="1073150"/>
                </a:lnTo>
                <a:lnTo>
                  <a:pt x="346710" y="1172210"/>
                </a:lnTo>
                <a:lnTo>
                  <a:pt x="264160" y="1106170"/>
                </a:lnTo>
                <a:lnTo>
                  <a:pt x="165100" y="990600"/>
                </a:lnTo>
                <a:lnTo>
                  <a:pt x="148590" y="825500"/>
                </a:lnTo>
                <a:lnTo>
                  <a:pt x="99060" y="676910"/>
                </a:lnTo>
                <a:lnTo>
                  <a:pt x="0" y="561340"/>
                </a:lnTo>
                <a:lnTo>
                  <a:pt x="148590" y="429260"/>
                </a:lnTo>
                <a:lnTo>
                  <a:pt x="231140" y="297180"/>
                </a:lnTo>
                <a:close/>
              </a:path>
            </a:pathLst>
          </a:custGeom>
          <a:solidFill>
            <a:srgbClr val="2A4C75"/>
          </a:solidFill>
          <a:ln w="9525">
            <a:solidFill>
              <a:srgbClr val="FFFFFF"/>
            </a:solidFill>
            <a:round/>
          </a:ln>
        </p:spPr>
        <p:txBody>
          <a:bodyPr/>
          <a:lstStyle/>
          <a:p>
            <a:endParaRPr/>
          </a:p>
        </p:txBody>
      </p:sp>
      <p:sp>
        <p:nvSpPr>
          <p:cNvPr id="356" name="Map356"/>
          <p:cNvSpPr/>
          <p:nvPr/>
        </p:nvSpPr>
        <p:spPr>
          <a:xfrm>
            <a:off x="7526020" y="2900045"/>
            <a:ext cx="1271270" cy="693420"/>
          </a:xfrm>
          <a:custGeom>
            <a:avLst/>
            <a:gdLst/>
            <a:ahLst/>
            <a:cxnLst/>
            <a:rect l="0" t="0" r="r" b="b"/>
            <a:pathLst>
              <a:path w="1271270" h="693420">
                <a:moveTo>
                  <a:pt x="99060" y="0"/>
                </a:moveTo>
                <a:lnTo>
                  <a:pt x="280670" y="16510"/>
                </a:lnTo>
                <a:lnTo>
                  <a:pt x="445770" y="66040"/>
                </a:lnTo>
                <a:lnTo>
                  <a:pt x="594360" y="132080"/>
                </a:lnTo>
                <a:lnTo>
                  <a:pt x="726440" y="297180"/>
                </a:lnTo>
                <a:lnTo>
                  <a:pt x="941070" y="264160"/>
                </a:lnTo>
                <a:lnTo>
                  <a:pt x="1007110" y="132080"/>
                </a:lnTo>
                <a:lnTo>
                  <a:pt x="1106170" y="247650"/>
                </a:lnTo>
                <a:lnTo>
                  <a:pt x="1155700" y="396240"/>
                </a:lnTo>
                <a:lnTo>
                  <a:pt x="1172210" y="561340"/>
                </a:lnTo>
                <a:lnTo>
                  <a:pt x="1271270" y="676910"/>
                </a:lnTo>
                <a:lnTo>
                  <a:pt x="1139190" y="693420"/>
                </a:lnTo>
                <a:lnTo>
                  <a:pt x="908050" y="676910"/>
                </a:lnTo>
                <a:lnTo>
                  <a:pt x="759460" y="660400"/>
                </a:lnTo>
                <a:lnTo>
                  <a:pt x="643890" y="627380"/>
                </a:lnTo>
                <a:lnTo>
                  <a:pt x="511810" y="511810"/>
                </a:lnTo>
                <a:lnTo>
                  <a:pt x="396240" y="495300"/>
                </a:lnTo>
                <a:lnTo>
                  <a:pt x="231140" y="462280"/>
                </a:lnTo>
                <a:lnTo>
                  <a:pt x="0" y="412750"/>
                </a:lnTo>
                <a:lnTo>
                  <a:pt x="33020" y="313690"/>
                </a:lnTo>
                <a:lnTo>
                  <a:pt x="115570" y="115570"/>
                </a:lnTo>
                <a:close/>
              </a:path>
            </a:pathLst>
          </a:custGeom>
          <a:solidFill>
            <a:srgbClr val="2A4C75"/>
          </a:solidFill>
          <a:ln w="9525">
            <a:solidFill>
              <a:srgbClr val="FFFFFF"/>
            </a:solidFill>
            <a:round/>
          </a:ln>
        </p:spPr>
        <p:txBody>
          <a:bodyPr/>
          <a:lstStyle/>
          <a:p>
            <a:endParaRPr/>
          </a:p>
        </p:txBody>
      </p:sp>
      <p:sp>
        <p:nvSpPr>
          <p:cNvPr id="357" name="Map357"/>
          <p:cNvSpPr/>
          <p:nvPr/>
        </p:nvSpPr>
        <p:spPr>
          <a:xfrm>
            <a:off x="7493000" y="3312795"/>
            <a:ext cx="544830" cy="462280"/>
          </a:xfrm>
          <a:custGeom>
            <a:avLst/>
            <a:gdLst/>
            <a:ahLst/>
            <a:cxnLst/>
            <a:rect l="0" t="0" r="r" b="b"/>
            <a:pathLst>
              <a:path w="544830" h="462280">
                <a:moveTo>
                  <a:pt x="0" y="346710"/>
                </a:moveTo>
                <a:lnTo>
                  <a:pt x="0" y="99060"/>
                </a:lnTo>
                <a:lnTo>
                  <a:pt x="33020" y="0"/>
                </a:lnTo>
                <a:lnTo>
                  <a:pt x="264160" y="49530"/>
                </a:lnTo>
                <a:lnTo>
                  <a:pt x="429260" y="82550"/>
                </a:lnTo>
                <a:lnTo>
                  <a:pt x="544830" y="99060"/>
                </a:lnTo>
                <a:lnTo>
                  <a:pt x="511810" y="214630"/>
                </a:lnTo>
                <a:lnTo>
                  <a:pt x="445770" y="330200"/>
                </a:lnTo>
                <a:lnTo>
                  <a:pt x="371475" y="462280"/>
                </a:lnTo>
                <a:lnTo>
                  <a:pt x="297180" y="379730"/>
                </a:lnTo>
                <a:lnTo>
                  <a:pt x="115570" y="346710"/>
                </a:lnTo>
                <a:close/>
              </a:path>
            </a:pathLst>
          </a:custGeom>
          <a:solidFill>
            <a:srgbClr val="246C67"/>
          </a:solidFill>
          <a:ln w="9525">
            <a:solidFill>
              <a:srgbClr val="FFFFFF"/>
            </a:solidFill>
            <a:round/>
          </a:ln>
        </p:spPr>
        <p:txBody>
          <a:bodyPr/>
          <a:lstStyle/>
          <a:p>
            <a:endParaRPr/>
          </a:p>
        </p:txBody>
      </p:sp>
      <p:sp>
        <p:nvSpPr>
          <p:cNvPr id="358" name="Map358"/>
          <p:cNvSpPr/>
          <p:nvPr/>
        </p:nvSpPr>
        <p:spPr>
          <a:xfrm>
            <a:off x="8169910" y="3527425"/>
            <a:ext cx="264160" cy="363220"/>
          </a:xfrm>
          <a:custGeom>
            <a:avLst/>
            <a:gdLst/>
            <a:ahLst/>
            <a:cxnLst/>
            <a:rect l="0" t="0" r="r" b="b"/>
            <a:pathLst>
              <a:path w="264160" h="363220">
                <a:moveTo>
                  <a:pt x="0" y="0"/>
                </a:moveTo>
                <a:lnTo>
                  <a:pt x="115570" y="33020"/>
                </a:lnTo>
                <a:lnTo>
                  <a:pt x="264160" y="49530"/>
                </a:lnTo>
                <a:lnTo>
                  <a:pt x="247650" y="165100"/>
                </a:lnTo>
                <a:lnTo>
                  <a:pt x="181610" y="297180"/>
                </a:lnTo>
                <a:lnTo>
                  <a:pt x="99060" y="363220"/>
                </a:lnTo>
                <a:lnTo>
                  <a:pt x="33020" y="313690"/>
                </a:lnTo>
                <a:lnTo>
                  <a:pt x="0" y="214630"/>
                </a:lnTo>
                <a:close/>
              </a:path>
            </a:pathLst>
          </a:custGeom>
          <a:solidFill>
            <a:srgbClr val="246C67"/>
          </a:solidFill>
          <a:ln w="9525">
            <a:solidFill>
              <a:srgbClr val="FFFFFF"/>
            </a:solidFill>
            <a:round/>
          </a:ln>
        </p:spPr>
        <p:txBody>
          <a:bodyPr/>
          <a:lstStyle/>
          <a:p>
            <a:endParaRPr/>
          </a:p>
        </p:txBody>
      </p:sp>
      <p:sp>
        <p:nvSpPr>
          <p:cNvPr id="359" name="Map359"/>
          <p:cNvSpPr/>
          <p:nvPr/>
        </p:nvSpPr>
        <p:spPr>
          <a:xfrm>
            <a:off x="7864475" y="3411855"/>
            <a:ext cx="800735" cy="594360"/>
          </a:xfrm>
          <a:custGeom>
            <a:avLst/>
            <a:gdLst/>
            <a:ahLst/>
            <a:cxnLst/>
            <a:rect l="0" t="0" r="r" b="b"/>
            <a:pathLst>
              <a:path w="800735" h="594360">
                <a:moveTo>
                  <a:pt x="0" y="363220"/>
                </a:moveTo>
                <a:lnTo>
                  <a:pt x="74295" y="445770"/>
                </a:lnTo>
                <a:lnTo>
                  <a:pt x="206375" y="594360"/>
                </a:lnTo>
                <a:lnTo>
                  <a:pt x="421005" y="577850"/>
                </a:lnTo>
                <a:lnTo>
                  <a:pt x="586105" y="528320"/>
                </a:lnTo>
                <a:lnTo>
                  <a:pt x="635635" y="412750"/>
                </a:lnTo>
                <a:lnTo>
                  <a:pt x="701675" y="264160"/>
                </a:lnTo>
                <a:lnTo>
                  <a:pt x="800735" y="181610"/>
                </a:lnTo>
                <a:lnTo>
                  <a:pt x="569595" y="165100"/>
                </a:lnTo>
                <a:lnTo>
                  <a:pt x="553085" y="280670"/>
                </a:lnTo>
                <a:lnTo>
                  <a:pt x="487045" y="412750"/>
                </a:lnTo>
                <a:lnTo>
                  <a:pt x="404495" y="478790"/>
                </a:lnTo>
                <a:lnTo>
                  <a:pt x="338455" y="429260"/>
                </a:lnTo>
                <a:lnTo>
                  <a:pt x="305435" y="330200"/>
                </a:lnTo>
                <a:lnTo>
                  <a:pt x="305435" y="115570"/>
                </a:lnTo>
                <a:lnTo>
                  <a:pt x="173355" y="0"/>
                </a:lnTo>
                <a:lnTo>
                  <a:pt x="140335" y="115570"/>
                </a:lnTo>
                <a:lnTo>
                  <a:pt x="74295" y="231140"/>
                </a:lnTo>
                <a:close/>
              </a:path>
            </a:pathLst>
          </a:custGeom>
          <a:solidFill>
            <a:srgbClr val="246C67"/>
          </a:solidFill>
          <a:ln w="9525">
            <a:solidFill>
              <a:srgbClr val="FFFFFF"/>
            </a:solidFill>
            <a:round/>
          </a:ln>
        </p:spPr>
        <p:txBody>
          <a:bodyPr/>
          <a:lstStyle/>
          <a:p>
            <a:endParaRPr/>
          </a:p>
        </p:txBody>
      </p:sp>
      <p:sp>
        <p:nvSpPr>
          <p:cNvPr id="360" name="D360"/>
          <p:cNvSpPr/>
          <p:nvPr/>
        </p:nvSpPr>
        <p:spPr>
          <a:xfrm>
            <a:off x="8395335" y="3381375"/>
            <a:ext cx="127000" cy="127000"/>
          </a:xfrm>
          <a:prstGeom prst="ellipse">
            <a:avLst/>
          </a:prstGeom>
          <a:solidFill>
            <a:srgbClr val="FFFFFF"/>
          </a:solidFill>
          <a:ln w="12700">
            <a:solidFill>
              <a:srgbClr val="1E3A5C"/>
            </a:solidFill>
          </a:ln>
        </p:spPr>
        <p:txBody>
          <a:bodyPr/>
          <a:lstStyle/>
          <a:p>
            <a:endParaRPr/>
          </a:p>
        </p:txBody>
      </p:sp>
      <p:sp>
        <p:nvSpPr>
          <p:cNvPr id="361" name="D361"/>
          <p:cNvSpPr/>
          <p:nvPr/>
        </p:nvSpPr>
        <p:spPr>
          <a:xfrm>
            <a:off x="8304530" y="3307080"/>
            <a:ext cx="127000" cy="127000"/>
          </a:xfrm>
          <a:prstGeom prst="ellipse">
            <a:avLst/>
          </a:prstGeom>
          <a:solidFill>
            <a:srgbClr val="F5B942"/>
          </a:solidFill>
          <a:ln w="12700">
            <a:solidFill>
              <a:srgbClr val="1E3A5C"/>
            </a:solidFill>
          </a:ln>
        </p:spPr>
        <p:txBody>
          <a:bodyPr/>
          <a:lstStyle/>
          <a:p>
            <a:endParaRPr/>
          </a:p>
        </p:txBody>
      </p:sp>
      <p:sp>
        <p:nvSpPr>
          <p:cNvPr id="362" name="D362"/>
          <p:cNvSpPr/>
          <p:nvPr/>
        </p:nvSpPr>
        <p:spPr>
          <a:xfrm>
            <a:off x="9146540" y="2687955"/>
            <a:ext cx="127000" cy="127000"/>
          </a:xfrm>
          <a:prstGeom prst="ellipse">
            <a:avLst/>
          </a:prstGeom>
          <a:solidFill>
            <a:srgbClr val="FFFFFF"/>
          </a:solidFill>
          <a:ln w="12700">
            <a:solidFill>
              <a:srgbClr val="1E3A5C"/>
            </a:solidFill>
          </a:ln>
        </p:spPr>
        <p:txBody>
          <a:bodyPr/>
          <a:lstStyle/>
          <a:p>
            <a:endParaRPr/>
          </a:p>
        </p:txBody>
      </p:sp>
      <p:sp>
        <p:nvSpPr>
          <p:cNvPr id="363" name="D363"/>
          <p:cNvSpPr/>
          <p:nvPr/>
        </p:nvSpPr>
        <p:spPr>
          <a:xfrm>
            <a:off x="9229090" y="2778760"/>
            <a:ext cx="127000" cy="127000"/>
          </a:xfrm>
          <a:prstGeom prst="ellipse">
            <a:avLst/>
          </a:prstGeom>
          <a:solidFill>
            <a:srgbClr val="F5B942"/>
          </a:solidFill>
          <a:ln w="12700">
            <a:solidFill>
              <a:srgbClr val="1E3A5C"/>
            </a:solidFill>
          </a:ln>
        </p:spPr>
        <p:txBody>
          <a:bodyPr/>
          <a:lstStyle/>
          <a:p>
            <a:endParaRPr/>
          </a:p>
        </p:txBody>
      </p:sp>
      <p:sp>
        <p:nvSpPr>
          <p:cNvPr id="364" name="D364"/>
          <p:cNvSpPr/>
          <p:nvPr/>
        </p:nvSpPr>
        <p:spPr>
          <a:xfrm>
            <a:off x="7833995" y="2498090"/>
            <a:ext cx="127000" cy="127000"/>
          </a:xfrm>
          <a:prstGeom prst="ellipse">
            <a:avLst/>
          </a:prstGeom>
          <a:solidFill>
            <a:srgbClr val="FFFFFF"/>
          </a:solidFill>
          <a:ln w="12700">
            <a:solidFill>
              <a:srgbClr val="1E3A5C"/>
            </a:solidFill>
          </a:ln>
        </p:spPr>
        <p:txBody>
          <a:bodyPr/>
          <a:lstStyle/>
          <a:p>
            <a:endParaRPr/>
          </a:p>
        </p:txBody>
      </p:sp>
      <p:sp>
        <p:nvSpPr>
          <p:cNvPr id="365" name="D365"/>
          <p:cNvSpPr/>
          <p:nvPr/>
        </p:nvSpPr>
        <p:spPr>
          <a:xfrm>
            <a:off x="7949565" y="2522855"/>
            <a:ext cx="127000" cy="127000"/>
          </a:xfrm>
          <a:prstGeom prst="ellipse">
            <a:avLst/>
          </a:prstGeom>
          <a:solidFill>
            <a:srgbClr val="F5B942"/>
          </a:solidFill>
          <a:ln w="12700">
            <a:solidFill>
              <a:srgbClr val="1E3A5C"/>
            </a:solidFill>
          </a:ln>
        </p:spPr>
        <p:txBody>
          <a:bodyPr/>
          <a:lstStyle/>
          <a:p>
            <a:endParaRPr/>
          </a:p>
        </p:txBody>
      </p:sp>
      <p:sp>
        <p:nvSpPr>
          <p:cNvPr id="366" name="D366"/>
          <p:cNvSpPr/>
          <p:nvPr/>
        </p:nvSpPr>
        <p:spPr>
          <a:xfrm>
            <a:off x="8221980" y="3596005"/>
            <a:ext cx="127000" cy="127000"/>
          </a:xfrm>
          <a:prstGeom prst="ellipse">
            <a:avLst/>
          </a:prstGeom>
          <a:solidFill>
            <a:srgbClr val="FFFFFF"/>
          </a:solidFill>
          <a:ln w="12700">
            <a:solidFill>
              <a:srgbClr val="1E3A5C"/>
            </a:solidFill>
          </a:ln>
        </p:spPr>
        <p:txBody>
          <a:bodyPr/>
          <a:lstStyle/>
          <a:p>
            <a:endParaRPr/>
          </a:p>
        </p:txBody>
      </p:sp>
      <p:sp>
        <p:nvSpPr>
          <p:cNvPr id="367" name="D367"/>
          <p:cNvSpPr/>
          <p:nvPr/>
        </p:nvSpPr>
        <p:spPr>
          <a:xfrm>
            <a:off x="8197215" y="3505200"/>
            <a:ext cx="127000" cy="127000"/>
          </a:xfrm>
          <a:prstGeom prst="ellipse">
            <a:avLst/>
          </a:prstGeom>
          <a:solidFill>
            <a:srgbClr val="F5B942"/>
          </a:solidFill>
          <a:ln w="12700">
            <a:solidFill>
              <a:srgbClr val="1E3A5C"/>
            </a:solidFill>
          </a:ln>
        </p:spPr>
        <p:txBody>
          <a:bodyPr/>
          <a:lstStyle/>
          <a:p>
            <a:endParaRPr/>
          </a:p>
        </p:txBody>
      </p:sp>
      <p:sp>
        <p:nvSpPr>
          <p:cNvPr id="368" name="D368"/>
          <p:cNvSpPr/>
          <p:nvPr/>
        </p:nvSpPr>
        <p:spPr>
          <a:xfrm>
            <a:off x="8147685" y="3860165"/>
            <a:ext cx="127000" cy="127000"/>
          </a:xfrm>
          <a:prstGeom prst="ellipse">
            <a:avLst/>
          </a:prstGeom>
          <a:solidFill>
            <a:srgbClr val="FFFFFF"/>
          </a:solidFill>
          <a:ln w="12700">
            <a:solidFill>
              <a:srgbClr val="1E3A5C"/>
            </a:solidFill>
          </a:ln>
        </p:spPr>
        <p:txBody>
          <a:bodyPr/>
          <a:lstStyle/>
          <a:p>
            <a:endParaRPr/>
          </a:p>
        </p:txBody>
      </p:sp>
      <p:sp>
        <p:nvSpPr>
          <p:cNvPr id="369" name="D369"/>
          <p:cNvSpPr/>
          <p:nvPr/>
        </p:nvSpPr>
        <p:spPr>
          <a:xfrm>
            <a:off x="8048625" y="3802380"/>
            <a:ext cx="127000" cy="127000"/>
          </a:xfrm>
          <a:prstGeom prst="ellipse">
            <a:avLst/>
          </a:prstGeom>
          <a:solidFill>
            <a:srgbClr val="F5B942"/>
          </a:solidFill>
          <a:ln w="12700">
            <a:solidFill>
              <a:srgbClr val="1E3A5C"/>
            </a:solidFill>
          </a:ln>
        </p:spPr>
        <p:txBody>
          <a:bodyPr/>
          <a:lstStyle/>
          <a:p>
            <a:endParaRPr/>
          </a:p>
        </p:txBody>
      </p:sp>
      <p:sp>
        <p:nvSpPr>
          <p:cNvPr id="370" name="D370"/>
          <p:cNvSpPr/>
          <p:nvPr/>
        </p:nvSpPr>
        <p:spPr>
          <a:xfrm>
            <a:off x="7569835" y="3505200"/>
            <a:ext cx="127000" cy="127000"/>
          </a:xfrm>
          <a:prstGeom prst="ellipse">
            <a:avLst/>
          </a:prstGeom>
          <a:solidFill>
            <a:srgbClr val="FFFFFF"/>
          </a:solidFill>
          <a:ln w="12700">
            <a:solidFill>
              <a:srgbClr val="1E3A5C"/>
            </a:solidFill>
          </a:ln>
        </p:spPr>
        <p:txBody>
          <a:bodyPr/>
          <a:lstStyle/>
          <a:p>
            <a:endParaRPr/>
          </a:p>
        </p:txBody>
      </p:sp>
      <p:sp>
        <p:nvSpPr>
          <p:cNvPr id="371" name="D371"/>
          <p:cNvSpPr/>
          <p:nvPr/>
        </p:nvSpPr>
        <p:spPr>
          <a:xfrm>
            <a:off x="7470775" y="3414395"/>
            <a:ext cx="127000" cy="127000"/>
          </a:xfrm>
          <a:prstGeom prst="ellipse">
            <a:avLst/>
          </a:prstGeom>
          <a:solidFill>
            <a:srgbClr val="F5B942"/>
          </a:solidFill>
          <a:ln w="12700">
            <a:solidFill>
              <a:srgbClr val="1E3A5C"/>
            </a:solidFill>
          </a:ln>
        </p:spPr>
        <p:txBody>
          <a:bodyPr/>
          <a:lstStyle/>
          <a:p>
            <a:endParaRPr/>
          </a:p>
        </p:txBody>
      </p:sp>
      <p:sp>
        <p:nvSpPr>
          <p:cNvPr id="372" name="T372"/>
          <p:cNvSpPr txBox="1"/>
          <p:nvPr/>
        </p:nvSpPr>
        <p:spPr>
          <a:xfrm>
            <a:off x="7493000" y="4191000"/>
            <a:ext cx="1981200" cy="1016000"/>
          </a:xfrm>
          <a:prstGeom prst="rect">
            <a:avLst/>
          </a:prstGeom>
          <a:noFill/>
        </p:spPr>
        <p:txBody>
          <a:bodyPr wrap="square" lIns="0" tIns="0" rIns="0" bIns="0" anchor="t"/>
          <a:lstStyle/>
          <a:p>
            <a:pPr algn="l">
              <a:lnSpc>
                <a:spcPct val="115000"/>
              </a:lnSpc>
              <a:spcAft>
                <a:spcPts val="0"/>
              </a:spcAft>
              <a:buNone/>
            </a:pPr>
            <a:r>
              <a:rPr lang="en-US" sz="1400" dirty="0">
                <a:solidFill>
                  <a:srgbClr val="262626"/>
                </a:solidFill>
              </a:rPr>
              <a:t>12 LGAs, two per state</a:t>
            </a:r>
          </a:p>
          <a:p>
            <a:pPr algn="l">
              <a:lnSpc>
                <a:spcPct val="115000"/>
              </a:lnSpc>
              <a:buNone/>
            </a:pPr>
            <a:r>
              <a:rPr lang="en-US" sz="1400" dirty="0">
                <a:solidFill>
                  <a:srgbClr val="262626"/>
                </a:solidFill>
              </a:rPr>
              <a:t>      urban          rural</a:t>
            </a:r>
          </a:p>
        </p:txBody>
      </p:sp>
      <p:sp>
        <p:nvSpPr>
          <p:cNvPr id="373" name="T373"/>
          <p:cNvSpPr txBox="1"/>
          <p:nvPr/>
        </p:nvSpPr>
        <p:spPr>
          <a:xfrm>
            <a:off x="10033000" y="2540000"/>
            <a:ext cx="1193800" cy="1270000"/>
          </a:xfrm>
          <a:prstGeom prst="rect">
            <a:avLst/>
          </a:prstGeom>
          <a:noFill/>
        </p:spPr>
        <p:txBody>
          <a:bodyPr wrap="square" lIns="0" tIns="0" rIns="0" bIns="0" anchor="t"/>
          <a:lstStyle/>
          <a:p>
            <a:pPr algn="l">
              <a:lnSpc>
                <a:spcPct val="115000"/>
              </a:lnSpc>
              <a:spcAft>
                <a:spcPts val="0"/>
              </a:spcAft>
              <a:buNone/>
            </a:pPr>
            <a:r>
              <a:rPr lang="en-US" sz="4000" dirty="0">
                <a:solidFill>
                  <a:srgbClr val="1E3A5C"/>
                </a:solidFill>
              </a:rPr>
              <a:t>70</a:t>
            </a:r>
          </a:p>
          <a:p>
            <a:pPr algn="l">
              <a:lnSpc>
                <a:spcPct val="115000"/>
              </a:lnSpc>
              <a:spcAft>
                <a:spcPts val="0"/>
              </a:spcAft>
              <a:buNone/>
            </a:pPr>
            <a:r>
              <a:rPr lang="en-US" sz="1400" dirty="0">
                <a:solidFill>
                  <a:srgbClr val="262626"/>
                </a:solidFill>
              </a:rPr>
              <a:t>wards across the 12 LGAs</a:t>
            </a:r>
          </a:p>
        </p:txBody>
      </p:sp>
      <p:sp>
        <p:nvSpPr>
          <p:cNvPr id="374" name="R374"/>
          <p:cNvSpPr/>
          <p:nvPr/>
        </p:nvSpPr>
        <p:spPr>
          <a:xfrm>
            <a:off x="10033000" y="3937000"/>
            <a:ext cx="1193800" cy="12700"/>
          </a:xfrm>
          <a:prstGeom prst="rect">
            <a:avLst/>
          </a:prstGeom>
          <a:solidFill>
            <a:srgbClr val="D9D9D9"/>
          </a:solidFill>
          <a:ln>
            <a:noFill/>
          </a:ln>
        </p:spPr>
        <p:txBody>
          <a:bodyPr/>
          <a:lstStyle/>
          <a:p>
            <a:endParaRPr/>
          </a:p>
        </p:txBody>
      </p:sp>
      <p:sp>
        <p:nvSpPr>
          <p:cNvPr id="375" name="T375"/>
          <p:cNvSpPr txBox="1"/>
          <p:nvPr/>
        </p:nvSpPr>
        <p:spPr>
          <a:xfrm>
            <a:off x="10033000" y="4064000"/>
            <a:ext cx="1193800" cy="1270000"/>
          </a:xfrm>
          <a:prstGeom prst="rect">
            <a:avLst/>
          </a:prstGeom>
          <a:noFill/>
        </p:spPr>
        <p:txBody>
          <a:bodyPr wrap="square" lIns="0" tIns="0" rIns="0" bIns="0" anchor="t"/>
          <a:lstStyle/>
          <a:p>
            <a:pPr algn="l">
              <a:lnSpc>
                <a:spcPct val="115000"/>
              </a:lnSpc>
              <a:spcAft>
                <a:spcPts val="0"/>
              </a:spcAft>
              <a:buNone/>
            </a:pPr>
            <a:r>
              <a:rPr lang="en-US" sz="1400" dirty="0">
                <a:solidFill>
                  <a:srgbClr val="262626"/>
                </a:solidFill>
              </a:rPr>
              <a:t>Households by systematic sampling</a:t>
            </a:r>
          </a:p>
        </p:txBody>
      </p:sp>
      <p:sp>
        <p:nvSpPr>
          <p:cNvPr id="376" name="T376"/>
          <p:cNvSpPr txBox="1"/>
          <p:nvPr/>
        </p:nvSpPr>
        <p:spPr>
          <a:xfrm>
            <a:off x="838200" y="5892800"/>
            <a:ext cx="8890000" cy="254000"/>
          </a:xfrm>
          <a:prstGeom prst="rect">
            <a:avLst/>
          </a:prstGeom>
          <a:noFill/>
        </p:spPr>
        <p:txBody>
          <a:bodyPr wrap="square" lIns="0" tIns="0" rIns="0" bIns="0" anchor="t"/>
          <a:lstStyle/>
          <a:p>
            <a:pPr algn="l">
              <a:lnSpc>
                <a:spcPct val="115000"/>
              </a:lnSpc>
              <a:spcAft>
                <a:spcPts val="0"/>
              </a:spcAft>
              <a:buNone/>
            </a:pPr>
            <a:r>
              <a:rPr lang="en-US" sz="1200" dirty="0">
                <a:solidFill>
                  <a:srgbClr val="BFBFBF"/>
                </a:solidFill>
              </a:rPr>
              <a:t>Schematic map; boundaries and locations approximate</a:t>
            </a:r>
          </a:p>
        </p:txBody>
      </p:sp>
      <p:sp>
        <p:nvSpPr>
          <p:cNvPr id="950" name="KeyDot"/>
          <p:cNvSpPr/>
          <p:nvPr/>
        </p:nvSpPr>
        <p:spPr>
          <a:xfrm>
            <a:off x="7518400" y="4540250"/>
            <a:ext cx="127000" cy="127000"/>
          </a:xfrm>
          <a:prstGeom prst="ellipse">
            <a:avLst/>
          </a:prstGeom>
          <a:solidFill>
            <a:srgbClr val="FFFFFF"/>
          </a:solidFill>
          <a:ln w="12700">
            <a:solidFill>
              <a:srgbClr val="1E3A5C"/>
            </a:solidFill>
          </a:ln>
        </p:spPr>
        <p:txBody>
          <a:bodyPr/>
          <a:lstStyle/>
          <a:p>
            <a:endParaRPr/>
          </a:p>
        </p:txBody>
      </p:sp>
      <p:sp>
        <p:nvSpPr>
          <p:cNvPr id="951" name="KeyDot"/>
          <p:cNvSpPr/>
          <p:nvPr/>
        </p:nvSpPr>
        <p:spPr>
          <a:xfrm>
            <a:off x="8369300" y="4540250"/>
            <a:ext cx="127000" cy="127000"/>
          </a:xfrm>
          <a:prstGeom prst="ellipse">
            <a:avLst/>
          </a:prstGeom>
          <a:solidFill>
            <a:srgbClr val="F5B942"/>
          </a:solidFill>
          <a:ln w="12700">
            <a:solidFill>
              <a:srgbClr val="1E3A5C"/>
            </a:solidFill>
          </a:ln>
        </p:spPr>
        <p:txBody>
          <a:bodyPr/>
          <a:lstStyle/>
          <a:p>
            <a:endParaRPr/>
          </a:p>
        </p:txBody>
      </p:sp>
      <p:sp>
        <p:nvSpPr>
          <p:cNvPr id="333" name="T333"/>
          <p:cNvSpPr txBox="1"/>
          <p:nvPr/>
        </p:nvSpPr>
        <p:spPr>
          <a:xfrm>
            <a:off x="3192780" y="3659293"/>
            <a:ext cx="279400" cy="177800"/>
          </a:xfrm>
          <a:prstGeom prst="rect">
            <a:avLst/>
          </a:prstGeom>
          <a:noFill/>
        </p:spPr>
        <p:txBody>
          <a:bodyPr wrap="square" lIns="0" tIns="0" rIns="0" bIns="0" anchor="ctr"/>
          <a:lstStyle/>
          <a:p>
            <a:pPr algn="ctr">
              <a:lnSpc>
                <a:spcPct val="115000"/>
              </a:lnSpc>
              <a:spcAft>
                <a:spcPts val="0"/>
              </a:spcAft>
              <a:buNone/>
            </a:pPr>
            <a:r>
              <a:rPr lang="en-US" sz="1000" dirty="0">
                <a:solidFill>
                  <a:srgbClr val="FFFFFF"/>
                </a:solidFill>
              </a:rPr>
              <a:t>SS</a:t>
            </a:r>
          </a:p>
        </p:txBody>
      </p:sp>
      <p:sp>
        <p:nvSpPr>
          <p:cNvPr id="600" name="Dim out 2"/>
          <p:cNvSpPr/>
          <p:nvPr/>
        </p:nvSpPr>
        <p:spPr>
          <a:xfrm>
            <a:off x="2603500" y="1841500"/>
            <a:ext cx="1930400" cy="3835400"/>
          </a:xfrm>
          <a:prstGeom prst="roundRect">
            <a:avLst>
              <a:gd name="adj" fmla="val 4000"/>
            </a:avLst>
          </a:prstGeom>
          <a:solidFill>
            <a:srgbClr val="0B1630">
              <a:alpha val="72000"/>
            </a:srgbClr>
          </a:solidFill>
          <a:ln>
            <a:noFill/>
          </a:ln>
        </p:spPr>
        <p:txBody>
          <a:bodyPr/>
          <a:lstStyle/>
          <a:p>
            <a:endParaRPr/>
          </a:p>
        </p:txBody>
      </p:sp>
      <p:sp>
        <p:nvSpPr>
          <p:cNvPr id="601" name="Dim out 3"/>
          <p:cNvSpPr/>
          <p:nvPr/>
        </p:nvSpPr>
        <p:spPr>
          <a:xfrm>
            <a:off x="4813300" y="1841500"/>
            <a:ext cx="2260600" cy="3835400"/>
          </a:xfrm>
          <a:prstGeom prst="roundRect">
            <a:avLst>
              <a:gd name="adj" fmla="val 4000"/>
            </a:avLst>
          </a:prstGeom>
          <a:solidFill>
            <a:srgbClr val="0B1630">
              <a:alpha val="72000"/>
            </a:srgbClr>
          </a:solidFill>
          <a:ln>
            <a:noFill/>
          </a:ln>
        </p:spPr>
        <p:txBody>
          <a:bodyPr/>
          <a:lstStyle/>
          <a:p>
            <a:endParaRPr/>
          </a:p>
        </p:txBody>
      </p:sp>
      <p:sp>
        <p:nvSpPr>
          <p:cNvPr id="602" name="Dim out 4"/>
          <p:cNvSpPr/>
          <p:nvPr/>
        </p:nvSpPr>
        <p:spPr>
          <a:xfrm>
            <a:off x="7353300" y="1841500"/>
            <a:ext cx="2260600" cy="3835400"/>
          </a:xfrm>
          <a:prstGeom prst="roundRect">
            <a:avLst>
              <a:gd name="adj" fmla="val 4000"/>
            </a:avLst>
          </a:prstGeom>
          <a:solidFill>
            <a:srgbClr val="0B1630">
              <a:alpha val="72000"/>
            </a:srgbClr>
          </a:solidFill>
          <a:ln>
            <a:noFill/>
          </a:ln>
        </p:spPr>
        <p:txBody>
          <a:bodyPr/>
          <a:lstStyle/>
          <a:p>
            <a:endParaRPr/>
          </a:p>
        </p:txBody>
      </p:sp>
      <p:sp>
        <p:nvSpPr>
          <p:cNvPr id="603" name="Dim out 5"/>
          <p:cNvSpPr/>
          <p:nvPr/>
        </p:nvSpPr>
        <p:spPr>
          <a:xfrm>
            <a:off x="9893300" y="1841500"/>
            <a:ext cx="1473200" cy="3835400"/>
          </a:xfrm>
          <a:prstGeom prst="roundRect">
            <a:avLst>
              <a:gd name="adj" fmla="val 4000"/>
            </a:avLst>
          </a:prstGeom>
          <a:solidFill>
            <a:srgbClr val="0B1630">
              <a:alpha val="72000"/>
            </a:srgbClr>
          </a:solidFill>
          <a:ln>
            <a:noFill/>
          </a:ln>
        </p:spPr>
        <p:txBody>
          <a:bodyPr/>
          <a:lstStyle/>
          <a:p>
            <a:endParaRPr/>
          </a:p>
        </p:txBody>
      </p:sp>
      <p:sp>
        <p:nvSpPr>
          <p:cNvPr id="610" name="Dim in 1"/>
          <p:cNvSpPr/>
          <p:nvPr/>
        </p:nvSpPr>
        <p:spPr>
          <a:xfrm>
            <a:off x="825500" y="1841500"/>
            <a:ext cx="1498600" cy="3835400"/>
          </a:xfrm>
          <a:prstGeom prst="roundRect">
            <a:avLst>
              <a:gd name="adj" fmla="val 4000"/>
            </a:avLst>
          </a:prstGeom>
          <a:solidFill>
            <a:srgbClr val="0B1630">
              <a:alpha val="72000"/>
            </a:srgbClr>
          </a:solidFill>
          <a:ln>
            <a:noFill/>
          </a:ln>
        </p:spPr>
        <p:txBody>
          <a:bodyPr/>
          <a:lstStyle/>
          <a:p>
            <a:endParaRPr/>
          </a:p>
        </p:txBody>
      </p:sp>
      <p:sp>
        <p:nvSpPr>
          <p:cNvPr id="611" name="Dim in 2"/>
          <p:cNvSpPr/>
          <p:nvPr/>
        </p:nvSpPr>
        <p:spPr>
          <a:xfrm>
            <a:off x="2603500" y="1841500"/>
            <a:ext cx="1930400" cy="3835400"/>
          </a:xfrm>
          <a:prstGeom prst="roundRect">
            <a:avLst>
              <a:gd name="adj" fmla="val 4000"/>
            </a:avLst>
          </a:prstGeom>
          <a:solidFill>
            <a:srgbClr val="0B1630">
              <a:alpha val="72000"/>
            </a:srgbClr>
          </a:solidFill>
          <a:ln>
            <a:noFill/>
          </a:ln>
        </p:spPr>
        <p:txBody>
          <a:bodyPr/>
          <a:lstStyle/>
          <a:p>
            <a:endParaRPr/>
          </a:p>
        </p:txBody>
      </p:sp>
      <p:sp>
        <p:nvSpPr>
          <p:cNvPr id="612" name="Dim in 3"/>
          <p:cNvSpPr/>
          <p:nvPr/>
        </p:nvSpPr>
        <p:spPr>
          <a:xfrm>
            <a:off x="4813300" y="1841500"/>
            <a:ext cx="2260600" cy="3835400"/>
          </a:xfrm>
          <a:prstGeom prst="roundRect">
            <a:avLst>
              <a:gd name="adj" fmla="val 4000"/>
            </a:avLst>
          </a:prstGeom>
          <a:solidFill>
            <a:srgbClr val="0B1630">
              <a:alpha val="72000"/>
            </a:srgbClr>
          </a:solidFill>
          <a:ln>
            <a:noFill/>
          </a:ln>
        </p:spPr>
        <p:txBody>
          <a:bodyPr/>
          <a:lstStyle/>
          <a:p>
            <a:endParaRPr/>
          </a:p>
        </p:txBody>
      </p:sp>
      <p:sp>
        <p:nvSpPr>
          <p:cNvPr id="613" name="Dim in 4"/>
          <p:cNvSpPr/>
          <p:nvPr/>
        </p:nvSpPr>
        <p:spPr>
          <a:xfrm>
            <a:off x="7353300" y="1841500"/>
            <a:ext cx="2260600" cy="3835400"/>
          </a:xfrm>
          <a:prstGeom prst="roundRect">
            <a:avLst>
              <a:gd name="adj" fmla="val 4000"/>
            </a:avLst>
          </a:prstGeom>
          <a:solidFill>
            <a:srgbClr val="0B1630">
              <a:alpha val="72000"/>
            </a:srgbClr>
          </a:solidFill>
          <a:ln>
            <a:noFill/>
          </a:ln>
        </p:spPr>
        <p:txBody>
          <a:bodyPr/>
          <a:lstStyle/>
          <a:p>
            <a:endParaRPr/>
          </a:p>
        </p:txBody>
      </p:sp>
      <p:sp>
        <p:nvSpPr>
          <p:cNvPr id="952" name="Section label"/>
          <p:cNvSpPr txBox="1"/>
          <p:nvPr/>
        </p:nvSpPr>
        <p:spPr>
          <a:xfrm>
            <a:off x="841248" y="128016"/>
            <a:ext cx="5486400" cy="292608"/>
          </a:xfrm>
          <a:prstGeom prst="rect">
            <a:avLst/>
          </a:prstGeom>
          <a:noFill/>
        </p:spPr>
        <p:txBody>
          <a:bodyPr wrap="none" lIns="0" rIns="0" tIns="0" bIns="0">
            <a:spAutoFit/>
          </a:bodyPr>
          <a:lstStyle/>
          <a:p>
            <a:pPr algn="l"/>
            <a:r>
              <a:rPr sz="1200" b="1" spc="150">
                <a:solidFill>
                  <a:srgbClr val="E8963C"/>
                </a:solidFill>
              </a:rPr>
              <a:t>METHODS</a:t>
            </a:r>
          </a:p>
        </p:txBody>
      </p:sp>
    </p:spTree>
    <p:extLst>
      <p:ext uri="{BB962C8B-B14F-4D97-AF65-F5344CB8AC3E}">
        <p14:creationId xmlns:p14="http://schemas.microsoft.com/office/powerpoint/2010/main" val="453987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10"/>
                                        </p:tgtEl>
                                        <p:attrNameLst>
                                          <p:attrName>style.visibility</p:attrName>
                                        </p:attrNameLst>
                                      </p:cBhvr>
                                      <p:to>
                                        <p:strVal val="visible"/>
                                      </p:to>
                                    </p:set>
                                    <p:animEffect transition="in" filter="fade">
                                      <p:cBhvr>
                                        <p:cTn id="7" dur="500"/>
                                        <p:tgtEl>
                                          <p:spTgt spid="610"/>
                                        </p:tgtEl>
                                      </p:cBhvr>
                                    </p:animEffect>
                                  </p:childTnLst>
                                </p:cTn>
                              </p:par>
                              <p:par>
                                <p:cTn id="8" presetID="10" presetClass="exit" presetSubtype="0" fill="hold" grpId="0" nodeType="withEffect">
                                  <p:stCondLst>
                                    <p:cond delay="0"/>
                                  </p:stCondLst>
                                  <p:childTnLst>
                                    <p:animEffect transition="out" filter="fade">
                                      <p:cBhvr>
                                        <p:cTn id="9" dur="500"/>
                                        <p:tgtEl>
                                          <p:spTgt spid="600"/>
                                        </p:tgtEl>
                                      </p:cBhvr>
                                    </p:animEffect>
                                    <p:set>
                                      <p:cBhvr>
                                        <p:cTn id="10" dur="1" fill="hold">
                                          <p:stCondLst>
                                            <p:cond delay="499"/>
                                          </p:stCondLst>
                                        </p:cTn>
                                        <p:tgtEl>
                                          <p:spTgt spid="600"/>
                                        </p:tgtEl>
                                        <p:attrNameLst>
                                          <p:attrName>style.visibility</p:attrName>
                                        </p:attrNameLst>
                                      </p:cBhvr>
                                      <p:to>
                                        <p:strVal val="hidden"/>
                                      </p:to>
                                    </p:se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611"/>
                                        </p:tgtEl>
                                        <p:attrNameLst>
                                          <p:attrName>style.visibility</p:attrName>
                                        </p:attrNameLst>
                                      </p:cBhvr>
                                      <p:to>
                                        <p:strVal val="visible"/>
                                      </p:to>
                                    </p:set>
                                    <p:animEffect transition="in" filter="fade">
                                      <p:cBhvr>
                                        <p:cTn id="15" dur="500"/>
                                        <p:tgtEl>
                                          <p:spTgt spid="611"/>
                                        </p:tgtEl>
                                      </p:cBhvr>
                                    </p:animEffect>
                                  </p:childTnLst>
                                </p:cTn>
                              </p:par>
                              <p:par>
                                <p:cTn id="16" presetID="10" presetClass="exit" presetSubtype="0" fill="hold" grpId="0" nodeType="withEffect">
                                  <p:stCondLst>
                                    <p:cond delay="0"/>
                                  </p:stCondLst>
                                  <p:childTnLst>
                                    <p:animEffect transition="out" filter="fade">
                                      <p:cBhvr>
                                        <p:cTn id="17" dur="500"/>
                                        <p:tgtEl>
                                          <p:spTgt spid="601"/>
                                        </p:tgtEl>
                                      </p:cBhvr>
                                    </p:animEffect>
                                    <p:set>
                                      <p:cBhvr>
                                        <p:cTn id="18" dur="1" fill="hold">
                                          <p:stCondLst>
                                            <p:cond delay="499"/>
                                          </p:stCondLst>
                                        </p:cTn>
                                        <p:tgtEl>
                                          <p:spTgt spid="601"/>
                                        </p:tgtEl>
                                        <p:attrNameLst>
                                          <p:attrName>style.visibility</p:attrName>
                                        </p:attrNameLst>
                                      </p:cBhvr>
                                      <p:to>
                                        <p:strVal val="hidden"/>
                                      </p:to>
                                    </p:se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612"/>
                                        </p:tgtEl>
                                        <p:attrNameLst>
                                          <p:attrName>style.visibility</p:attrName>
                                        </p:attrNameLst>
                                      </p:cBhvr>
                                      <p:to>
                                        <p:strVal val="visible"/>
                                      </p:to>
                                    </p:set>
                                    <p:animEffect transition="in" filter="fade">
                                      <p:cBhvr>
                                        <p:cTn id="23" dur="500"/>
                                        <p:tgtEl>
                                          <p:spTgt spid="612"/>
                                        </p:tgtEl>
                                      </p:cBhvr>
                                    </p:animEffect>
                                  </p:childTnLst>
                                </p:cTn>
                              </p:par>
                              <p:par>
                                <p:cTn id="24" presetID="10" presetClass="exit" presetSubtype="0" fill="hold" grpId="0" nodeType="withEffect">
                                  <p:stCondLst>
                                    <p:cond delay="0"/>
                                  </p:stCondLst>
                                  <p:childTnLst>
                                    <p:animEffect transition="out" filter="fade">
                                      <p:cBhvr>
                                        <p:cTn id="25" dur="500"/>
                                        <p:tgtEl>
                                          <p:spTgt spid="602"/>
                                        </p:tgtEl>
                                      </p:cBhvr>
                                    </p:animEffect>
                                    <p:set>
                                      <p:cBhvr>
                                        <p:cTn id="26" dur="1" fill="hold">
                                          <p:stCondLst>
                                            <p:cond delay="499"/>
                                          </p:stCondLst>
                                        </p:cTn>
                                        <p:tgtEl>
                                          <p:spTgt spid="602"/>
                                        </p:tgtEl>
                                        <p:attrNameLst>
                                          <p:attrName>style.visibility</p:attrName>
                                        </p:attrNameLst>
                                      </p:cBhvr>
                                      <p:to>
                                        <p:strVal val="hidden"/>
                                      </p:to>
                                    </p:se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613"/>
                                        </p:tgtEl>
                                        <p:attrNameLst>
                                          <p:attrName>style.visibility</p:attrName>
                                        </p:attrNameLst>
                                      </p:cBhvr>
                                      <p:to>
                                        <p:strVal val="visible"/>
                                      </p:to>
                                    </p:set>
                                    <p:animEffect transition="in" filter="fade">
                                      <p:cBhvr>
                                        <p:cTn id="31" dur="500"/>
                                        <p:tgtEl>
                                          <p:spTgt spid="613"/>
                                        </p:tgtEl>
                                      </p:cBhvr>
                                    </p:animEffect>
                                  </p:childTnLst>
                                </p:cTn>
                              </p:par>
                              <p:par>
                                <p:cTn id="32" presetID="10" presetClass="exit" presetSubtype="0" fill="hold" grpId="0" nodeType="withEffect">
                                  <p:stCondLst>
                                    <p:cond delay="0"/>
                                  </p:stCondLst>
                                  <p:childTnLst>
                                    <p:animEffect transition="out" filter="fade">
                                      <p:cBhvr>
                                        <p:cTn id="33" dur="500"/>
                                        <p:tgtEl>
                                          <p:spTgt spid="603"/>
                                        </p:tgtEl>
                                      </p:cBhvr>
                                    </p:animEffect>
                                    <p:set>
                                      <p:cBhvr>
                                        <p:cTn id="34" dur="1" fill="hold">
                                          <p:stCondLst>
                                            <p:cond delay="499"/>
                                          </p:stCondLst>
                                        </p:cTn>
                                        <p:tgtEl>
                                          <p:spTgt spid="603"/>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0" grpId="0" animBg="1"/>
      <p:bldP spid="601" grpId="0" animBg="1"/>
      <p:bldP spid="602" grpId="0" animBg="1"/>
      <p:bldP spid="603" grpId="0" animBg="1"/>
      <p:bldP spid="610" grpId="0" animBg="1"/>
      <p:bldP spid="611" grpId="0" animBg="1"/>
      <p:bldP spid="612" grpId="0" animBg="1"/>
      <p:bldP spid="613"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9A6FBC-52CC-209A-18A3-896DEC09B5F1}"/>
              </a:ext>
            </a:extLst>
          </p:cNvPr>
          <p:cNvSpPr>
            <a:spLocks noGrp="1"/>
          </p:cNvSpPr>
          <p:nvPr>
            <p:ph type="title"/>
          </p:nvPr>
        </p:nvSpPr>
        <p:spPr/>
        <p:txBody>
          <a:bodyPr/>
          <a:lstStyle/>
          <a:p>
            <a:r>
              <a:rPr lang="en-US"/>
              <a:t>Participants and Study Size</a:t>
            </a:r>
          </a:p>
        </p:txBody>
      </p:sp>
      <p:pic>
        <p:nvPicPr>
          <p:cNvPr id="3" name="Graphic 3" descr="Adults surveyed"/>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14500" y="2082800"/>
            <a:ext cx="685800" cy="685800"/>
          </a:xfrm>
          <a:prstGeom prst="rect">
            <a:avLst/>
          </a:prstGeom>
        </p:spPr>
      </p:pic>
      <p:pic>
        <p:nvPicPr>
          <p:cNvPr id="4" name="Graphic 4" descr="States"/>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406900" y="2082800"/>
            <a:ext cx="685800" cy="685800"/>
          </a:xfrm>
          <a:prstGeom prst="rect">
            <a:avLst/>
          </a:prstGeom>
        </p:spPr>
      </p:pic>
      <p:pic>
        <p:nvPicPr>
          <p:cNvPr id="5" name="Graphic 5" descr="IDP camps"/>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099300" y="2082800"/>
            <a:ext cx="685800" cy="685800"/>
          </a:xfrm>
          <a:prstGeom prst="rect">
            <a:avLst/>
          </a:prstGeom>
        </p:spPr>
      </p:pic>
      <p:pic>
        <p:nvPicPr>
          <p:cNvPr id="6" name="Graphic 6" descr="Fieldwork period"/>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9791700" y="2082800"/>
            <a:ext cx="685800" cy="685800"/>
          </a:xfrm>
          <a:prstGeom prst="rect">
            <a:avLst/>
          </a:prstGeom>
        </p:spPr>
      </p:pic>
      <p:sp>
        <p:nvSpPr>
          <p:cNvPr id="301" name="T301"/>
          <p:cNvSpPr txBox="1"/>
          <p:nvPr/>
        </p:nvSpPr>
        <p:spPr>
          <a:xfrm>
            <a:off x="838200" y="2971800"/>
            <a:ext cx="2438400" cy="635000"/>
          </a:xfrm>
          <a:prstGeom prst="rect">
            <a:avLst/>
          </a:prstGeom>
          <a:noFill/>
        </p:spPr>
        <p:txBody>
          <a:bodyPr wrap="square" lIns="0" tIns="0" rIns="0" bIns="0"/>
          <a:lstStyle/>
          <a:p>
            <a:pPr algn="ctr">
              <a:lnSpc>
                <a:spcPct val="130000"/>
              </a:lnSpc>
              <a:buNone/>
            </a:pPr>
            <a:r>
              <a:rPr lang="en-US" sz="3600" dirty="0">
                <a:solidFill>
                  <a:srgbClr val="FFFFFF"/>
                </a:solidFill>
              </a:rPr>
              <a:t>1,774</a:t>
            </a:r>
          </a:p>
        </p:txBody>
      </p:sp>
      <p:sp>
        <p:nvSpPr>
          <p:cNvPr id="302" name="T302"/>
          <p:cNvSpPr txBox="1"/>
          <p:nvPr/>
        </p:nvSpPr>
        <p:spPr>
          <a:xfrm>
            <a:off x="914400" y="3759200"/>
            <a:ext cx="2286000" cy="1397000"/>
          </a:xfrm>
          <a:prstGeom prst="rect">
            <a:avLst/>
          </a:prstGeom>
          <a:noFill/>
        </p:spPr>
        <p:txBody>
          <a:bodyPr wrap="square" lIns="0" tIns="0" rIns="0" bIns="0"/>
          <a:lstStyle/>
          <a:p>
            <a:pPr algn="ctr">
              <a:lnSpc>
                <a:spcPct val="130000"/>
              </a:lnSpc>
              <a:buNone/>
            </a:pPr>
            <a:r>
              <a:rPr lang="en-US" sz="1600" dirty="0">
                <a:solidFill>
                  <a:srgbClr val="D9D9D9"/>
                </a:solidFill>
              </a:rPr>
              <a:t>adults aged 18+, resident 6+ months, interviewed face to face</a:t>
            </a:r>
          </a:p>
        </p:txBody>
      </p:sp>
      <p:sp>
        <p:nvSpPr>
          <p:cNvPr id="303" name="T303"/>
          <p:cNvSpPr txBox="1"/>
          <p:nvPr/>
        </p:nvSpPr>
        <p:spPr>
          <a:xfrm>
            <a:off x="3530600" y="2971800"/>
            <a:ext cx="2438400" cy="635000"/>
          </a:xfrm>
          <a:prstGeom prst="rect">
            <a:avLst/>
          </a:prstGeom>
          <a:noFill/>
        </p:spPr>
        <p:txBody>
          <a:bodyPr wrap="square" lIns="0" tIns="0" rIns="0" bIns="0"/>
          <a:lstStyle/>
          <a:p>
            <a:pPr algn="ctr">
              <a:lnSpc>
                <a:spcPct val="130000"/>
              </a:lnSpc>
              <a:buNone/>
            </a:pPr>
            <a:r>
              <a:rPr lang="en-US" sz="3600" dirty="0">
                <a:solidFill>
                  <a:srgbClr val="FFFFFF"/>
                </a:solidFill>
              </a:rPr>
              <a:t>6</a:t>
            </a:r>
          </a:p>
        </p:txBody>
      </p:sp>
      <p:sp>
        <p:nvSpPr>
          <p:cNvPr id="304" name="T304"/>
          <p:cNvSpPr txBox="1"/>
          <p:nvPr/>
        </p:nvSpPr>
        <p:spPr>
          <a:xfrm>
            <a:off x="3606800" y="3759200"/>
            <a:ext cx="2286000" cy="1397000"/>
          </a:xfrm>
          <a:prstGeom prst="rect">
            <a:avLst/>
          </a:prstGeom>
          <a:noFill/>
        </p:spPr>
        <p:txBody>
          <a:bodyPr wrap="square" lIns="0" tIns="0" rIns="0" bIns="0"/>
          <a:lstStyle/>
          <a:p>
            <a:pPr algn="ctr">
              <a:lnSpc>
                <a:spcPct val="130000"/>
              </a:lnSpc>
              <a:buNone/>
            </a:pPr>
            <a:r>
              <a:rPr lang="en-US" sz="1600" dirty="0">
                <a:solidFill>
                  <a:srgbClr val="D9D9D9"/>
                </a:solidFill>
              </a:rPr>
              <a:t>states, one per geopolitical zone</a:t>
            </a:r>
          </a:p>
        </p:txBody>
      </p:sp>
      <p:sp>
        <p:nvSpPr>
          <p:cNvPr id="305" name="T305"/>
          <p:cNvSpPr txBox="1"/>
          <p:nvPr/>
        </p:nvSpPr>
        <p:spPr>
          <a:xfrm>
            <a:off x="6223000" y="2971800"/>
            <a:ext cx="2438400" cy="635000"/>
          </a:xfrm>
          <a:prstGeom prst="rect">
            <a:avLst/>
          </a:prstGeom>
          <a:noFill/>
        </p:spPr>
        <p:txBody>
          <a:bodyPr wrap="square" lIns="0" tIns="0" rIns="0" bIns="0"/>
          <a:lstStyle/>
          <a:p>
            <a:pPr algn="ctr">
              <a:lnSpc>
                <a:spcPct val="130000"/>
              </a:lnSpc>
              <a:buNone/>
            </a:pPr>
            <a:r>
              <a:rPr lang="en-US" sz="3600" dirty="0">
                <a:solidFill>
                  <a:srgbClr val="FFFFFF"/>
                </a:solidFill>
              </a:rPr>
              <a:t>3</a:t>
            </a:r>
          </a:p>
        </p:txBody>
      </p:sp>
      <p:sp>
        <p:nvSpPr>
          <p:cNvPr id="306" name="T306"/>
          <p:cNvSpPr txBox="1"/>
          <p:nvPr/>
        </p:nvSpPr>
        <p:spPr>
          <a:xfrm>
            <a:off x="6299200" y="3759200"/>
            <a:ext cx="2286000" cy="1397000"/>
          </a:xfrm>
          <a:prstGeom prst="rect">
            <a:avLst/>
          </a:prstGeom>
          <a:noFill/>
        </p:spPr>
        <p:txBody>
          <a:bodyPr wrap="square" lIns="0" tIns="0" rIns="0" bIns="0"/>
          <a:lstStyle/>
          <a:p>
            <a:pPr algn="ctr">
              <a:lnSpc>
                <a:spcPct val="130000"/>
              </a:lnSpc>
              <a:buNone/>
            </a:pPr>
            <a:r>
              <a:rPr lang="en-US" sz="1600" dirty="0">
                <a:solidFill>
                  <a:srgbClr val="D9D9D9"/>
                </a:solidFill>
              </a:rPr>
              <a:t>states with IDP camps, sampled by the same procedures</a:t>
            </a:r>
          </a:p>
        </p:txBody>
      </p:sp>
      <p:sp>
        <p:nvSpPr>
          <p:cNvPr id="307" name="T307"/>
          <p:cNvSpPr txBox="1"/>
          <p:nvPr/>
        </p:nvSpPr>
        <p:spPr>
          <a:xfrm>
            <a:off x="8915400" y="2971800"/>
            <a:ext cx="2438400" cy="635000"/>
          </a:xfrm>
          <a:prstGeom prst="rect">
            <a:avLst/>
          </a:prstGeom>
          <a:noFill/>
        </p:spPr>
        <p:txBody>
          <a:bodyPr wrap="square" lIns="0" tIns="0" rIns="0" bIns="0"/>
          <a:lstStyle/>
          <a:p>
            <a:pPr algn="ctr">
              <a:lnSpc>
                <a:spcPct val="130000"/>
              </a:lnSpc>
              <a:buNone/>
            </a:pPr>
            <a:r>
              <a:rPr lang="en-US" sz="3600" dirty="0">
                <a:solidFill>
                  <a:srgbClr val="FFFFFF"/>
                </a:solidFill>
              </a:rPr>
              <a:t>2025</a:t>
            </a:r>
          </a:p>
        </p:txBody>
      </p:sp>
      <p:sp>
        <p:nvSpPr>
          <p:cNvPr id="308" name="T308"/>
          <p:cNvSpPr txBox="1"/>
          <p:nvPr/>
        </p:nvSpPr>
        <p:spPr>
          <a:xfrm>
            <a:off x="8991600" y="3759200"/>
            <a:ext cx="2286000" cy="1397000"/>
          </a:xfrm>
          <a:prstGeom prst="rect">
            <a:avLst/>
          </a:prstGeom>
          <a:noFill/>
        </p:spPr>
        <p:txBody>
          <a:bodyPr wrap="square" lIns="0" tIns="0" rIns="0" bIns="0"/>
          <a:lstStyle/>
          <a:p>
            <a:pPr algn="ctr">
              <a:lnSpc>
                <a:spcPct val="130000"/>
              </a:lnSpc>
              <a:buNone/>
            </a:pPr>
            <a:r>
              <a:rPr lang="en-US" sz="1600" dirty="0">
                <a:solidFill>
                  <a:srgbClr val="D9D9D9"/>
                </a:solidFill>
              </a:rPr>
              <a:t>fieldwork, August to December, with AFENET and FMoHSW</a:t>
            </a:r>
          </a:p>
        </p:txBody>
      </p:sp>
      <p:sp>
        <p:nvSpPr>
          <p:cNvPr id="309" name="T309"/>
          <p:cNvSpPr txBox="1"/>
          <p:nvPr/>
        </p:nvSpPr>
        <p:spPr>
          <a:xfrm>
            <a:off x="838200" y="5588000"/>
            <a:ext cx="10515600" cy="330200"/>
          </a:xfrm>
          <a:prstGeom prst="rect">
            <a:avLst/>
          </a:prstGeom>
          <a:noFill/>
        </p:spPr>
        <p:txBody>
          <a:bodyPr wrap="square" lIns="0" tIns="0" rIns="0" bIns="0"/>
          <a:lstStyle/>
          <a:p>
            <a:pPr algn="l">
              <a:lnSpc>
                <a:spcPct val="130000"/>
              </a:lnSpc>
              <a:buNone/>
            </a:pPr>
            <a:r>
              <a:rPr lang="en-US" sz="1400" dirty="0">
                <a:solidFill>
                  <a:srgbClr val="D9D9D9"/>
                </a:solidFill>
              </a:rPr>
              <a:t>12 LGAs (urban and rural per state) · 70 wards · systematic household sampling · STROBE-compliant</a:t>
            </a:r>
          </a:p>
        </p:txBody>
      </p:sp>
      <p:sp>
        <p:nvSpPr>
          <p:cNvPr id="310" name="Section label"/>
          <p:cNvSpPr txBox="1"/>
          <p:nvPr/>
        </p:nvSpPr>
        <p:spPr>
          <a:xfrm>
            <a:off x="841248" y="128016"/>
            <a:ext cx="5486400" cy="292608"/>
          </a:xfrm>
          <a:prstGeom prst="rect">
            <a:avLst/>
          </a:prstGeom>
          <a:noFill/>
        </p:spPr>
        <p:txBody>
          <a:bodyPr wrap="none" lIns="0" rIns="0" tIns="0" bIns="0">
            <a:spAutoFit/>
          </a:bodyPr>
          <a:lstStyle/>
          <a:p>
            <a:pPr algn="l"/>
            <a:r>
              <a:rPr sz="1200" b="1" spc="150">
                <a:solidFill>
                  <a:srgbClr val="E8963C"/>
                </a:solidFill>
              </a:rPr>
              <a:t>METHODS</a:t>
            </a:r>
          </a:p>
        </p:txBody>
      </p:sp>
    </p:spTree>
    <p:extLst>
      <p:ext uri="{BB962C8B-B14F-4D97-AF65-F5344CB8AC3E}">
        <p14:creationId xmlns:p14="http://schemas.microsoft.com/office/powerpoint/2010/main" val="245384320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EF3087-4595-A11A-39D6-7914633288A8}"/>
              </a:ext>
            </a:extLst>
          </p:cNvPr>
          <p:cNvSpPr>
            <a:spLocks noGrp="1"/>
          </p:cNvSpPr>
          <p:nvPr>
            <p:ph type="title"/>
          </p:nvPr>
        </p:nvSpPr>
        <p:spPr/>
        <p:txBody>
          <a:bodyPr/>
          <a:lstStyle/>
          <a:p>
            <a:r>
              <a:rPr lang="en-US"/>
              <a:t>Variables: Outcomes and Cut-Offs</a:t>
            </a:r>
          </a:p>
        </p:txBody>
      </p:sp>
      <p:sp>
        <p:nvSpPr>
          <p:cNvPr id="301" name="R301"/>
          <p:cNvSpPr/>
          <p:nvPr/>
        </p:nvSpPr>
        <p:spPr>
          <a:xfrm>
            <a:off x="838200" y="1905000"/>
            <a:ext cx="3352800" cy="3327400"/>
          </a:xfrm>
          <a:prstGeom prst="roundRect">
            <a:avLst>
              <a:gd name="adj" fmla="val 4000"/>
            </a:avLst>
          </a:prstGeom>
          <a:solidFill>
            <a:srgbClr val="FFFFFF"/>
          </a:solidFill>
          <a:ln>
            <a:noFill/>
          </a:ln>
        </p:spPr>
        <p:txBody>
          <a:bodyPr/>
          <a:lstStyle/>
          <a:p>
            <a:endParaRPr/>
          </a:p>
        </p:txBody>
      </p:sp>
      <p:sp>
        <p:nvSpPr>
          <p:cNvPr id="302" name="T302"/>
          <p:cNvSpPr txBox="1"/>
          <p:nvPr/>
        </p:nvSpPr>
        <p:spPr>
          <a:xfrm>
            <a:off x="1117600" y="2108200"/>
            <a:ext cx="2794000" cy="711200"/>
          </a:xfrm>
          <a:prstGeom prst="rect">
            <a:avLst/>
          </a:prstGeom>
          <a:noFill/>
        </p:spPr>
        <p:txBody>
          <a:bodyPr wrap="square" lIns="0" tIns="0" rIns="0" bIns="0"/>
          <a:lstStyle/>
          <a:p>
            <a:pPr>
              <a:lnSpc>
                <a:spcPct val="130000"/>
              </a:lnSpc>
              <a:spcAft>
                <a:spcPts val="0"/>
              </a:spcAft>
              <a:buNone/>
            </a:pPr>
            <a:r>
              <a:rPr lang="en-US" sz="2400" dirty="0">
                <a:solidFill>
                  <a:srgbClr val="262626"/>
                </a:solidFill>
              </a:rPr>
              <a:t>PCL-5</a:t>
            </a:r>
          </a:p>
          <a:p>
            <a:pPr>
              <a:lnSpc>
                <a:spcPct val="130000"/>
              </a:lnSpc>
              <a:spcAft>
                <a:spcPts val="0"/>
              </a:spcAft>
              <a:buNone/>
            </a:pPr>
            <a:r>
              <a:rPr lang="en-US" sz="1600" dirty="0">
                <a:solidFill>
                  <a:srgbClr val="595959"/>
                </a:solidFill>
              </a:rPr>
              <a:t>Probable PTSD</a:t>
            </a:r>
          </a:p>
        </p:txBody>
      </p:sp>
      <p:sp>
        <p:nvSpPr>
          <p:cNvPr id="303" name="T303"/>
          <p:cNvSpPr txBox="1"/>
          <p:nvPr/>
        </p:nvSpPr>
        <p:spPr>
          <a:xfrm>
            <a:off x="1117600" y="2946400"/>
            <a:ext cx="2794000" cy="889000"/>
          </a:xfrm>
          <a:prstGeom prst="rect">
            <a:avLst/>
          </a:prstGeom>
          <a:noFill/>
        </p:spPr>
        <p:txBody>
          <a:bodyPr wrap="square" lIns="0" tIns="0" rIns="0" bIns="0"/>
          <a:lstStyle/>
          <a:p>
            <a:pPr>
              <a:lnSpc>
                <a:spcPct val="130000"/>
              </a:lnSpc>
              <a:spcAft>
                <a:spcPts val="0"/>
              </a:spcAft>
              <a:buNone/>
            </a:pPr>
            <a:r>
              <a:rPr lang="en-US" sz="5400" dirty="0">
                <a:solidFill>
                  <a:srgbClr val="1E3A5C"/>
                </a:solidFill>
              </a:rPr>
              <a:t>≥ 38</a:t>
            </a:r>
          </a:p>
        </p:txBody>
      </p:sp>
      <p:sp>
        <p:nvSpPr>
          <p:cNvPr id="304" name="T304"/>
          <p:cNvSpPr txBox="1"/>
          <p:nvPr/>
        </p:nvSpPr>
        <p:spPr>
          <a:xfrm>
            <a:off x="1117600" y="3962400"/>
            <a:ext cx="2794000" cy="1168400"/>
          </a:xfrm>
          <a:prstGeom prst="rect">
            <a:avLst/>
          </a:prstGeom>
          <a:noFill/>
        </p:spPr>
        <p:txBody>
          <a:bodyPr wrap="square" lIns="0" tIns="0" rIns="0" bIns="0"/>
          <a:lstStyle/>
          <a:p>
            <a:pPr>
              <a:lnSpc>
                <a:spcPct val="130000"/>
              </a:lnSpc>
              <a:spcAft>
                <a:spcPts val="0"/>
              </a:spcAft>
              <a:buNone/>
            </a:pPr>
            <a:r>
              <a:rPr lang="en-US" sz="1600" dirty="0">
                <a:solidFill>
                  <a:srgbClr val="262626"/>
                </a:solidFill>
              </a:rPr>
              <a:t>20 items, past month</a:t>
            </a:r>
          </a:p>
          <a:p>
            <a:pPr>
              <a:lnSpc>
                <a:spcPct val="130000"/>
              </a:lnSpc>
              <a:spcAft>
                <a:spcPts val="0"/>
              </a:spcAft>
              <a:buNone/>
            </a:pPr>
            <a:r>
              <a:rPr lang="en-US" sz="1600" dirty="0">
                <a:solidFill>
                  <a:srgbClr val="262626"/>
                </a:solidFill>
              </a:rPr>
              <a:t>α 0.96</a:t>
            </a:r>
          </a:p>
        </p:txBody>
      </p:sp>
      <p:sp>
        <p:nvSpPr>
          <p:cNvPr id="305" name="R305"/>
          <p:cNvSpPr/>
          <p:nvPr/>
        </p:nvSpPr>
        <p:spPr>
          <a:xfrm>
            <a:off x="4419600" y="1905000"/>
            <a:ext cx="3352800" cy="3327400"/>
          </a:xfrm>
          <a:prstGeom prst="roundRect">
            <a:avLst>
              <a:gd name="adj" fmla="val 4000"/>
            </a:avLst>
          </a:prstGeom>
          <a:solidFill>
            <a:srgbClr val="FFFFFF"/>
          </a:solidFill>
          <a:ln>
            <a:noFill/>
          </a:ln>
        </p:spPr>
        <p:txBody>
          <a:bodyPr/>
          <a:lstStyle/>
          <a:p>
            <a:endParaRPr/>
          </a:p>
        </p:txBody>
      </p:sp>
      <p:sp>
        <p:nvSpPr>
          <p:cNvPr id="306" name="T306"/>
          <p:cNvSpPr txBox="1"/>
          <p:nvPr/>
        </p:nvSpPr>
        <p:spPr>
          <a:xfrm>
            <a:off x="4699000" y="2108200"/>
            <a:ext cx="2794000" cy="711200"/>
          </a:xfrm>
          <a:prstGeom prst="rect">
            <a:avLst/>
          </a:prstGeom>
          <a:noFill/>
        </p:spPr>
        <p:txBody>
          <a:bodyPr wrap="square" lIns="0" tIns="0" rIns="0" bIns="0"/>
          <a:lstStyle/>
          <a:p>
            <a:pPr>
              <a:lnSpc>
                <a:spcPct val="130000"/>
              </a:lnSpc>
              <a:spcAft>
                <a:spcPts val="0"/>
              </a:spcAft>
              <a:buNone/>
            </a:pPr>
            <a:r>
              <a:rPr lang="en-US" sz="2400" dirty="0">
                <a:solidFill>
                  <a:srgbClr val="262626"/>
                </a:solidFill>
              </a:rPr>
              <a:t>PHQ-9</a:t>
            </a:r>
          </a:p>
          <a:p>
            <a:pPr>
              <a:lnSpc>
                <a:spcPct val="130000"/>
              </a:lnSpc>
              <a:spcAft>
                <a:spcPts val="0"/>
              </a:spcAft>
              <a:buNone/>
            </a:pPr>
            <a:r>
              <a:rPr lang="en-US" sz="1600" dirty="0">
                <a:solidFill>
                  <a:srgbClr val="595959"/>
                </a:solidFill>
              </a:rPr>
              <a:t>Depression</a:t>
            </a:r>
          </a:p>
        </p:txBody>
      </p:sp>
      <p:sp>
        <p:nvSpPr>
          <p:cNvPr id="307" name="T307"/>
          <p:cNvSpPr txBox="1"/>
          <p:nvPr/>
        </p:nvSpPr>
        <p:spPr>
          <a:xfrm>
            <a:off x="4699000" y="2946400"/>
            <a:ext cx="2794000" cy="889000"/>
          </a:xfrm>
          <a:prstGeom prst="rect">
            <a:avLst/>
          </a:prstGeom>
          <a:noFill/>
        </p:spPr>
        <p:txBody>
          <a:bodyPr wrap="square" lIns="0" tIns="0" rIns="0" bIns="0"/>
          <a:lstStyle/>
          <a:p>
            <a:pPr>
              <a:lnSpc>
                <a:spcPct val="130000"/>
              </a:lnSpc>
              <a:spcAft>
                <a:spcPts val="0"/>
              </a:spcAft>
              <a:buNone/>
            </a:pPr>
            <a:r>
              <a:rPr lang="en-US" sz="5400" dirty="0">
                <a:solidFill>
                  <a:srgbClr val="1E3A5C"/>
                </a:solidFill>
              </a:rPr>
              <a:t>≥ 10</a:t>
            </a:r>
          </a:p>
        </p:txBody>
      </p:sp>
      <p:sp>
        <p:nvSpPr>
          <p:cNvPr id="308" name="T308"/>
          <p:cNvSpPr txBox="1"/>
          <p:nvPr/>
        </p:nvSpPr>
        <p:spPr>
          <a:xfrm>
            <a:off x="4699000" y="3962400"/>
            <a:ext cx="2794000" cy="1168400"/>
          </a:xfrm>
          <a:prstGeom prst="rect">
            <a:avLst/>
          </a:prstGeom>
          <a:noFill/>
        </p:spPr>
        <p:txBody>
          <a:bodyPr wrap="square" lIns="0" tIns="0" rIns="0" bIns="0"/>
          <a:lstStyle/>
          <a:p>
            <a:pPr>
              <a:lnSpc>
                <a:spcPct val="130000"/>
              </a:lnSpc>
              <a:spcAft>
                <a:spcPts val="0"/>
              </a:spcAft>
              <a:buNone/>
            </a:pPr>
            <a:r>
              <a:rPr lang="en-US" sz="1600" dirty="0">
                <a:solidFill>
                  <a:srgbClr val="262626"/>
                </a:solidFill>
              </a:rPr>
              <a:t>9 items</a:t>
            </a:r>
          </a:p>
          <a:p>
            <a:pPr>
              <a:lnSpc>
                <a:spcPct val="130000"/>
              </a:lnSpc>
              <a:spcAft>
                <a:spcPts val="0"/>
              </a:spcAft>
              <a:buNone/>
            </a:pPr>
            <a:r>
              <a:rPr lang="en-US" sz="1600" dirty="0">
                <a:solidFill>
                  <a:srgbClr val="262626"/>
                </a:solidFill>
              </a:rPr>
              <a:t>α 0.91</a:t>
            </a:r>
          </a:p>
        </p:txBody>
      </p:sp>
      <p:sp>
        <p:nvSpPr>
          <p:cNvPr id="309" name="R309"/>
          <p:cNvSpPr/>
          <p:nvPr/>
        </p:nvSpPr>
        <p:spPr>
          <a:xfrm>
            <a:off x="8001000" y="1905000"/>
            <a:ext cx="3352800" cy="3327400"/>
          </a:xfrm>
          <a:prstGeom prst="roundRect">
            <a:avLst>
              <a:gd name="adj" fmla="val 4000"/>
            </a:avLst>
          </a:prstGeom>
          <a:solidFill>
            <a:srgbClr val="FFFFFF"/>
          </a:solidFill>
          <a:ln>
            <a:noFill/>
          </a:ln>
        </p:spPr>
        <p:txBody>
          <a:bodyPr/>
          <a:lstStyle/>
          <a:p>
            <a:endParaRPr/>
          </a:p>
        </p:txBody>
      </p:sp>
      <p:sp>
        <p:nvSpPr>
          <p:cNvPr id="310" name="T310"/>
          <p:cNvSpPr txBox="1"/>
          <p:nvPr/>
        </p:nvSpPr>
        <p:spPr>
          <a:xfrm>
            <a:off x="8280400" y="2108200"/>
            <a:ext cx="2794000" cy="711200"/>
          </a:xfrm>
          <a:prstGeom prst="rect">
            <a:avLst/>
          </a:prstGeom>
          <a:noFill/>
        </p:spPr>
        <p:txBody>
          <a:bodyPr wrap="square" lIns="0" tIns="0" rIns="0" bIns="0"/>
          <a:lstStyle/>
          <a:p>
            <a:pPr>
              <a:lnSpc>
                <a:spcPct val="130000"/>
              </a:lnSpc>
              <a:spcAft>
                <a:spcPts val="0"/>
              </a:spcAft>
              <a:buNone/>
            </a:pPr>
            <a:r>
              <a:rPr lang="en-US" sz="2400" dirty="0">
                <a:solidFill>
                  <a:srgbClr val="262626"/>
                </a:solidFill>
              </a:rPr>
              <a:t>GAD-7</a:t>
            </a:r>
          </a:p>
          <a:p>
            <a:pPr>
              <a:lnSpc>
                <a:spcPct val="130000"/>
              </a:lnSpc>
              <a:spcAft>
                <a:spcPts val="0"/>
              </a:spcAft>
              <a:buNone/>
            </a:pPr>
            <a:r>
              <a:rPr lang="en-US" sz="1600" dirty="0">
                <a:solidFill>
                  <a:srgbClr val="595959"/>
                </a:solidFill>
              </a:rPr>
              <a:t>Anxiety</a:t>
            </a:r>
          </a:p>
        </p:txBody>
      </p:sp>
      <p:sp>
        <p:nvSpPr>
          <p:cNvPr id="311" name="T311"/>
          <p:cNvSpPr txBox="1"/>
          <p:nvPr/>
        </p:nvSpPr>
        <p:spPr>
          <a:xfrm>
            <a:off x="8280400" y="2946400"/>
            <a:ext cx="2794000" cy="889000"/>
          </a:xfrm>
          <a:prstGeom prst="rect">
            <a:avLst/>
          </a:prstGeom>
          <a:noFill/>
        </p:spPr>
        <p:txBody>
          <a:bodyPr wrap="square" lIns="0" tIns="0" rIns="0" bIns="0"/>
          <a:lstStyle/>
          <a:p>
            <a:pPr>
              <a:lnSpc>
                <a:spcPct val="130000"/>
              </a:lnSpc>
              <a:spcAft>
                <a:spcPts val="0"/>
              </a:spcAft>
              <a:buNone/>
            </a:pPr>
            <a:r>
              <a:rPr lang="en-US" sz="5400" dirty="0">
                <a:solidFill>
                  <a:srgbClr val="1E3A5C"/>
                </a:solidFill>
              </a:rPr>
              <a:t>≥ 10</a:t>
            </a:r>
          </a:p>
        </p:txBody>
      </p:sp>
      <p:sp>
        <p:nvSpPr>
          <p:cNvPr id="312" name="T312"/>
          <p:cNvSpPr txBox="1"/>
          <p:nvPr/>
        </p:nvSpPr>
        <p:spPr>
          <a:xfrm>
            <a:off x="8280400" y="3962400"/>
            <a:ext cx="2794000" cy="1168400"/>
          </a:xfrm>
          <a:prstGeom prst="rect">
            <a:avLst/>
          </a:prstGeom>
          <a:noFill/>
        </p:spPr>
        <p:txBody>
          <a:bodyPr wrap="square" lIns="0" tIns="0" rIns="0" bIns="0"/>
          <a:lstStyle/>
          <a:p>
            <a:pPr>
              <a:lnSpc>
                <a:spcPct val="130000"/>
              </a:lnSpc>
              <a:spcAft>
                <a:spcPts val="0"/>
              </a:spcAft>
              <a:buNone/>
            </a:pPr>
            <a:r>
              <a:rPr lang="en-US" sz="1600" dirty="0">
                <a:solidFill>
                  <a:srgbClr val="262626"/>
                </a:solidFill>
              </a:rPr>
              <a:t>7 items</a:t>
            </a:r>
          </a:p>
          <a:p>
            <a:pPr>
              <a:lnSpc>
                <a:spcPct val="130000"/>
              </a:lnSpc>
              <a:spcAft>
                <a:spcPts val="0"/>
              </a:spcAft>
              <a:buNone/>
            </a:pPr>
            <a:r>
              <a:rPr lang="en-US" sz="1600" dirty="0">
                <a:solidFill>
                  <a:srgbClr val="262626"/>
                </a:solidFill>
              </a:rPr>
              <a:t>α 0.90</a:t>
            </a:r>
          </a:p>
        </p:txBody>
      </p:sp>
      <p:sp>
        <p:nvSpPr>
          <p:cNvPr id="313" name="T313"/>
          <p:cNvSpPr txBox="1"/>
          <p:nvPr/>
        </p:nvSpPr>
        <p:spPr>
          <a:xfrm>
            <a:off x="838200" y="5461000"/>
            <a:ext cx="8890000" cy="330200"/>
          </a:xfrm>
          <a:prstGeom prst="rect">
            <a:avLst/>
          </a:prstGeom>
          <a:noFill/>
        </p:spPr>
        <p:txBody>
          <a:bodyPr wrap="square" lIns="0" tIns="0" rIns="0" bIns="0"/>
          <a:lstStyle/>
          <a:p>
            <a:pPr>
              <a:lnSpc>
                <a:spcPct val="130000"/>
              </a:lnSpc>
              <a:spcAft>
                <a:spcPts val="0"/>
              </a:spcAft>
              <a:buNone/>
            </a:pPr>
            <a:r>
              <a:rPr lang="en-US" sz="1400" dirty="0">
                <a:solidFill>
                  <a:srgbClr val="D9D9D9"/>
                </a:solidFill>
              </a:rPr>
              <a:t>PCL-5 and PHQ-9 cut-offs from the validation study (paper 1); GAD-7 at the international ≥10, interpreted cautiously</a:t>
            </a:r>
          </a:p>
        </p:txBody>
      </p:sp>
      <p:sp>
        <p:nvSpPr>
          <p:cNvPr id="314" name="Section label"/>
          <p:cNvSpPr txBox="1"/>
          <p:nvPr/>
        </p:nvSpPr>
        <p:spPr>
          <a:xfrm>
            <a:off x="841248" y="128016"/>
            <a:ext cx="5486400" cy="292608"/>
          </a:xfrm>
          <a:prstGeom prst="rect">
            <a:avLst/>
          </a:prstGeom>
          <a:noFill/>
        </p:spPr>
        <p:txBody>
          <a:bodyPr wrap="none" lIns="0" rIns="0" tIns="0" bIns="0">
            <a:spAutoFit/>
          </a:bodyPr>
          <a:lstStyle/>
          <a:p>
            <a:pPr algn="l"/>
            <a:r>
              <a:rPr sz="1200" b="1" spc="150">
                <a:solidFill>
                  <a:srgbClr val="E8963C"/>
                </a:solidFill>
              </a:rPr>
              <a:t>METHODS</a:t>
            </a:r>
          </a:p>
        </p:txBody>
      </p:sp>
    </p:spTree>
    <p:extLst>
      <p:ext uri="{BB962C8B-B14F-4D97-AF65-F5344CB8AC3E}">
        <p14:creationId xmlns:p14="http://schemas.microsoft.com/office/powerpoint/2010/main" val="134437226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Variables: Exposures and Covariates</a:t>
            </a:r>
          </a:p>
        </p:txBody>
      </p:sp>
      <p:sp>
        <p:nvSpPr>
          <p:cNvPr id="3" name="Content Placeholder 2"/>
          <p:cNvSpPr>
            <a:spLocks noGrp="1"/>
          </p:cNvSpPr>
          <p:nvPr>
            <p:ph idx="1"/>
          </p:nvPr>
        </p:nvSpPr>
        <p:spPr>
          <a:xfrm>
            <a:off x="838200" y="1825625"/>
            <a:ext cx="10515600" cy="2341641"/>
          </a:xfrm>
        </p:spPr>
        <p:txBody>
          <a:bodyPr wrap="square"/>
          <a:lstStyle/>
          <a:p>
            <a:pPr>
              <a:spcAft>
                <a:spcPts val="800"/>
              </a:spcAft>
            </a:pPr>
            <a:r>
              <a:rPr sz="1600"/>
              <a:t>Trauma exposure: adapted Life Events Checklist, count of lifetime event types</a:t>
            </a:r>
            <a:endParaRPr lang="en-US" sz="1800" dirty="0"/>
          </a:p>
          <a:p>
            <a:pPr>
              <a:spcAft>
                <a:spcPts val="800"/>
              </a:spcAft>
            </a:pPr>
            <a:r>
              <a:rPr sz="1600"/>
              <a:t>IDP camp residence: field-verified at sampling</a:t>
            </a:r>
          </a:p>
          <a:p>
            <a:pPr>
              <a:spcAft>
                <a:spcPts val="800"/>
              </a:spcAft>
            </a:pPr>
            <a:r>
              <a:rPr sz="1600"/>
              <a:t>Covariates: sex, age group, education, marital status, state, and urban or rural setting</a:t>
            </a:r>
          </a:p>
        </p:txBody>
      </p:sp>
      <p:sp>
        <p:nvSpPr>
          <p:cNvPr id="4" name="Section label"/>
          <p:cNvSpPr txBox="1"/>
          <p:nvPr/>
        </p:nvSpPr>
        <p:spPr>
          <a:xfrm>
            <a:off x="841248" y="128016"/>
            <a:ext cx="5486400" cy="292608"/>
          </a:xfrm>
          <a:prstGeom prst="rect">
            <a:avLst/>
          </a:prstGeom>
          <a:noFill/>
        </p:spPr>
        <p:txBody>
          <a:bodyPr wrap="none" lIns="0" rIns="0" tIns="0" bIns="0">
            <a:spAutoFit/>
          </a:bodyPr>
          <a:lstStyle/>
          <a:p>
            <a:pPr algn="l"/>
            <a:r>
              <a:rPr sz="1200" b="1" spc="150">
                <a:solidFill>
                  <a:srgbClr val="E8963C"/>
                </a:solidFill>
              </a:rPr>
              <a:t>METHODS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7DEF2E-9934-5BDE-2256-B80C3288174E}"/>
              </a:ext>
            </a:extLst>
          </p:cNvPr>
          <p:cNvSpPr>
            <a:spLocks noGrp="1"/>
          </p:cNvSpPr>
          <p:nvPr>
            <p:ph type="title"/>
          </p:nvPr>
        </p:nvSpPr>
        <p:spPr/>
        <p:txBody>
          <a:bodyPr/>
          <a:lstStyle/>
          <a:p>
            <a:r>
              <a:rPr lang="en-US"/>
              <a:t>Statistical Analysis</a:t>
            </a:r>
          </a:p>
        </p:txBody>
      </p:sp>
      <p:sp>
        <p:nvSpPr>
          <p:cNvPr id="301" name="R301"/>
          <p:cNvSpPr/>
          <p:nvPr/>
        </p:nvSpPr>
        <p:spPr>
          <a:xfrm>
            <a:off x="838200" y="1854200"/>
            <a:ext cx="5181600" cy="3327400"/>
          </a:xfrm>
          <a:prstGeom prst="roundRect">
            <a:avLst>
              <a:gd name="adj" fmla="val 6000"/>
            </a:avLst>
          </a:prstGeom>
          <a:solidFill>
            <a:srgbClr val="FFFFFF"/>
          </a:solidFill>
          <a:ln>
            <a:noFill/>
          </a:ln>
        </p:spPr>
        <p:txBody>
          <a:bodyPr/>
          <a:lstStyle/>
          <a:p>
            <a:endParaRPr/>
          </a:p>
        </p:txBody>
      </p:sp>
      <p:sp>
        <p:nvSpPr>
          <p:cNvPr id="302" name="T302"/>
          <p:cNvSpPr txBox="1"/>
          <p:nvPr/>
        </p:nvSpPr>
        <p:spPr>
          <a:xfrm>
            <a:off x="1092200" y="2006600"/>
            <a:ext cx="4673600" cy="355600"/>
          </a:xfrm>
          <a:prstGeom prst="rect">
            <a:avLst/>
          </a:prstGeom>
          <a:noFill/>
        </p:spPr>
        <p:txBody>
          <a:bodyPr wrap="square" lIns="0" tIns="0" rIns="0" bIns="0"/>
          <a:lstStyle/>
          <a:p>
            <a:pPr algn="l">
              <a:lnSpc>
                <a:spcPct val="130000"/>
              </a:lnSpc>
              <a:buNone/>
            </a:pPr>
            <a:r>
              <a:rPr lang="en-US" sz="2000" dirty="0">
                <a:solidFill>
                  <a:srgbClr val="262626"/>
                </a:solidFill>
              </a:rPr>
              <a:t>Model A</a:t>
            </a:r>
          </a:p>
        </p:txBody>
      </p:sp>
      <p:sp>
        <p:nvSpPr>
          <p:cNvPr id="303" name="B303"/>
          <p:cNvSpPr/>
          <p:nvPr/>
        </p:nvSpPr>
        <p:spPr>
          <a:xfrm>
            <a:off x="1092200" y="2641600"/>
            <a:ext cx="1905000" cy="812800"/>
          </a:xfrm>
          <a:prstGeom prst="roundRect">
            <a:avLst>
              <a:gd name="adj" fmla="val 12000"/>
            </a:avLst>
          </a:prstGeom>
          <a:solidFill>
            <a:srgbClr val="1E3A5C"/>
          </a:solidFill>
          <a:ln>
            <a:noFill/>
          </a:ln>
        </p:spPr>
        <p:txBody>
          <a:bodyPr wrap="square" lIns="76200" tIns="0" rIns="76200" bIns="0" anchor="ctr"/>
          <a:lstStyle/>
          <a:p>
            <a:pPr algn="ctr">
              <a:lnSpc>
                <a:spcPct val="110000"/>
              </a:lnSpc>
              <a:buNone/>
            </a:pPr>
            <a:r>
              <a:rPr lang="en-US" sz="1600" dirty="0">
                <a:solidFill>
                  <a:srgbClr val="FFFFFF"/>
                </a:solidFill>
              </a:rPr>
              <a:t>Trauma count</a:t>
            </a:r>
          </a:p>
        </p:txBody>
      </p:sp>
      <p:cxnSp>
        <p:nvCxnSpPr>
          <p:cNvPr id="304" name="A304"/>
          <p:cNvCxnSpPr/>
          <p:nvPr/>
        </p:nvCxnSpPr>
        <p:spPr>
          <a:xfrm>
            <a:off x="3073400" y="3048000"/>
            <a:ext cx="889000" cy="0"/>
          </a:xfrm>
          <a:prstGeom prst="straightConnector1">
            <a:avLst/>
          </a:prstGeom>
          <a:ln w="28575">
            <a:solidFill>
              <a:srgbClr val="262626"/>
            </a:solidFill>
            <a:tailEnd type="triangle" w="med" len="med"/>
          </a:ln>
        </p:spPr>
      </p:cxnSp>
      <p:sp>
        <p:nvSpPr>
          <p:cNvPr id="305" name="B305"/>
          <p:cNvSpPr/>
          <p:nvPr/>
        </p:nvSpPr>
        <p:spPr>
          <a:xfrm>
            <a:off x="4038600" y="2641600"/>
            <a:ext cx="1727200" cy="812800"/>
          </a:xfrm>
          <a:prstGeom prst="roundRect">
            <a:avLst>
              <a:gd name="adj" fmla="val 12000"/>
            </a:avLst>
          </a:prstGeom>
          <a:solidFill>
            <a:srgbClr val="F2F2F2"/>
          </a:solidFill>
          <a:ln>
            <a:noFill/>
          </a:ln>
        </p:spPr>
        <p:txBody>
          <a:bodyPr wrap="square" lIns="76200" tIns="0" rIns="76200" bIns="0" anchor="ctr"/>
          <a:lstStyle/>
          <a:p>
            <a:pPr algn="ctr">
              <a:lnSpc>
                <a:spcPct val="110000"/>
              </a:lnSpc>
              <a:buNone/>
            </a:pPr>
            <a:r>
              <a:rPr lang="en-US" sz="1400" dirty="0">
                <a:solidFill>
                  <a:srgbClr val="262626"/>
                </a:solidFill>
              </a:rPr>
              <a:t>PTSD · depression · anxiety</a:t>
            </a:r>
          </a:p>
        </p:txBody>
      </p:sp>
      <p:sp>
        <p:nvSpPr>
          <p:cNvPr id="306" name="T306"/>
          <p:cNvSpPr txBox="1"/>
          <p:nvPr/>
        </p:nvSpPr>
        <p:spPr>
          <a:xfrm>
            <a:off x="1092200" y="3657600"/>
            <a:ext cx="4673600" cy="279400"/>
          </a:xfrm>
          <a:prstGeom prst="rect">
            <a:avLst/>
          </a:prstGeom>
          <a:noFill/>
        </p:spPr>
        <p:txBody>
          <a:bodyPr wrap="square" lIns="0" tIns="0" rIns="0" bIns="0"/>
          <a:lstStyle/>
          <a:p>
            <a:pPr algn="l">
              <a:lnSpc>
                <a:spcPct val="130000"/>
              </a:lnSpc>
              <a:buNone/>
            </a:pPr>
            <a:r>
              <a:rPr lang="en-US" sz="1400" dirty="0">
                <a:solidFill>
                  <a:srgbClr val="595959"/>
                </a:solidFill>
              </a:rPr>
              <a:t>Adjusted for</a:t>
            </a:r>
          </a:p>
        </p:txBody>
      </p:sp>
      <p:sp>
        <p:nvSpPr>
          <p:cNvPr id="307" name="B307"/>
          <p:cNvSpPr/>
          <p:nvPr/>
        </p:nvSpPr>
        <p:spPr>
          <a:xfrm>
            <a:off x="1092200" y="4013200"/>
            <a:ext cx="1376680" cy="381000"/>
          </a:xfrm>
          <a:prstGeom prst="roundRect">
            <a:avLst>
              <a:gd name="adj" fmla="val 12000"/>
            </a:avLst>
          </a:prstGeom>
          <a:solidFill>
            <a:srgbClr val="FFFFFF"/>
          </a:solidFill>
          <a:ln w="15875">
            <a:solidFill>
              <a:srgbClr val="8C8C8C"/>
            </a:solidFill>
          </a:ln>
        </p:spPr>
        <p:txBody>
          <a:bodyPr wrap="square" lIns="76200" tIns="0" rIns="76200" bIns="0" anchor="ctr"/>
          <a:lstStyle/>
          <a:p>
            <a:pPr algn="ctr">
              <a:lnSpc>
                <a:spcPct val="110000"/>
              </a:lnSpc>
              <a:buNone/>
            </a:pPr>
            <a:r>
              <a:rPr lang="en-US" sz="1400" dirty="0">
                <a:solidFill>
                  <a:srgbClr val="262626"/>
                </a:solidFill>
              </a:rPr>
              <a:t>Demographics</a:t>
            </a:r>
          </a:p>
        </p:txBody>
      </p:sp>
      <p:sp>
        <p:nvSpPr>
          <p:cNvPr id="308" name="B308"/>
          <p:cNvSpPr/>
          <p:nvPr/>
        </p:nvSpPr>
        <p:spPr>
          <a:xfrm>
            <a:off x="2570480" y="4013200"/>
            <a:ext cx="1102360" cy="381000"/>
          </a:xfrm>
          <a:prstGeom prst="roundRect">
            <a:avLst>
              <a:gd name="adj" fmla="val 12000"/>
            </a:avLst>
          </a:prstGeom>
          <a:solidFill>
            <a:srgbClr val="FFFFFF"/>
          </a:solidFill>
          <a:ln w="15875">
            <a:solidFill>
              <a:srgbClr val="8C8C8C"/>
            </a:solidFill>
          </a:ln>
        </p:spPr>
        <p:txBody>
          <a:bodyPr wrap="square" lIns="76200" tIns="0" rIns="76200" bIns="0" anchor="ctr"/>
          <a:lstStyle/>
          <a:p>
            <a:pPr algn="ctr">
              <a:lnSpc>
                <a:spcPct val="110000"/>
              </a:lnSpc>
              <a:buNone/>
            </a:pPr>
            <a:r>
              <a:rPr lang="en-US" sz="1400" dirty="0">
                <a:solidFill>
                  <a:srgbClr val="262626"/>
                </a:solidFill>
              </a:rPr>
              <a:t>Geography</a:t>
            </a:r>
          </a:p>
        </p:txBody>
      </p:sp>
      <p:sp>
        <p:nvSpPr>
          <p:cNvPr id="309" name="T309"/>
          <p:cNvSpPr txBox="1"/>
          <p:nvPr/>
        </p:nvSpPr>
        <p:spPr>
          <a:xfrm>
            <a:off x="1092200" y="4572000"/>
            <a:ext cx="4673600" cy="508000"/>
          </a:xfrm>
          <a:prstGeom prst="rect">
            <a:avLst/>
          </a:prstGeom>
          <a:noFill/>
        </p:spPr>
        <p:txBody>
          <a:bodyPr wrap="square" lIns="0" tIns="0" rIns="0" bIns="0"/>
          <a:lstStyle/>
          <a:p>
            <a:pPr algn="l">
              <a:lnSpc>
                <a:spcPct val="130000"/>
              </a:lnSpc>
              <a:buNone/>
            </a:pPr>
            <a:r>
              <a:rPr lang="en-US" sz="1400" dirty="0">
                <a:solidFill>
                  <a:srgbClr val="595959"/>
                </a:solidFill>
              </a:rPr>
              <a:t>Prevalence ratios, design-based modified Poisson</a:t>
            </a:r>
          </a:p>
        </p:txBody>
      </p:sp>
      <p:sp>
        <p:nvSpPr>
          <p:cNvPr id="310" name="R310"/>
          <p:cNvSpPr/>
          <p:nvPr/>
        </p:nvSpPr>
        <p:spPr>
          <a:xfrm>
            <a:off x="6172200" y="1854200"/>
            <a:ext cx="5181600" cy="3327400"/>
          </a:xfrm>
          <a:prstGeom prst="roundRect">
            <a:avLst>
              <a:gd name="adj" fmla="val 6000"/>
            </a:avLst>
          </a:prstGeom>
          <a:solidFill>
            <a:srgbClr val="FFFFFF"/>
          </a:solidFill>
          <a:ln>
            <a:noFill/>
          </a:ln>
        </p:spPr>
        <p:txBody>
          <a:bodyPr/>
          <a:lstStyle/>
          <a:p>
            <a:endParaRPr/>
          </a:p>
        </p:txBody>
      </p:sp>
      <p:sp>
        <p:nvSpPr>
          <p:cNvPr id="311" name="T311"/>
          <p:cNvSpPr txBox="1"/>
          <p:nvPr/>
        </p:nvSpPr>
        <p:spPr>
          <a:xfrm>
            <a:off x="6426200" y="2006600"/>
            <a:ext cx="4673600" cy="355600"/>
          </a:xfrm>
          <a:prstGeom prst="rect">
            <a:avLst/>
          </a:prstGeom>
          <a:noFill/>
        </p:spPr>
        <p:txBody>
          <a:bodyPr wrap="square" lIns="0" tIns="0" rIns="0" bIns="0"/>
          <a:lstStyle/>
          <a:p>
            <a:pPr algn="l">
              <a:lnSpc>
                <a:spcPct val="130000"/>
              </a:lnSpc>
              <a:buNone/>
            </a:pPr>
            <a:r>
              <a:rPr lang="en-US" sz="2000" dirty="0">
                <a:solidFill>
                  <a:srgbClr val="262626"/>
                </a:solidFill>
              </a:rPr>
              <a:t>Model B</a:t>
            </a:r>
          </a:p>
        </p:txBody>
      </p:sp>
      <p:sp>
        <p:nvSpPr>
          <p:cNvPr id="312" name="B312"/>
          <p:cNvSpPr/>
          <p:nvPr/>
        </p:nvSpPr>
        <p:spPr>
          <a:xfrm>
            <a:off x="6426200" y="2641600"/>
            <a:ext cx="1905000" cy="812800"/>
          </a:xfrm>
          <a:prstGeom prst="roundRect">
            <a:avLst>
              <a:gd name="adj" fmla="val 12000"/>
            </a:avLst>
          </a:prstGeom>
          <a:solidFill>
            <a:srgbClr val="C8102E"/>
          </a:solidFill>
          <a:ln>
            <a:noFill/>
          </a:ln>
        </p:spPr>
        <p:txBody>
          <a:bodyPr wrap="square" lIns="76200" tIns="0" rIns="76200" bIns="0" anchor="ctr"/>
          <a:lstStyle/>
          <a:p>
            <a:pPr algn="ctr">
              <a:lnSpc>
                <a:spcPct val="110000"/>
              </a:lnSpc>
              <a:buNone/>
            </a:pPr>
            <a:r>
              <a:rPr lang="en-US" sz="1600" dirty="0">
                <a:solidFill>
                  <a:srgbClr val="FFFFFF"/>
                </a:solidFill>
              </a:rPr>
              <a:t>IDP camp residence</a:t>
            </a:r>
          </a:p>
        </p:txBody>
      </p:sp>
      <p:cxnSp>
        <p:nvCxnSpPr>
          <p:cNvPr id="313" name="A313"/>
          <p:cNvCxnSpPr/>
          <p:nvPr/>
        </p:nvCxnSpPr>
        <p:spPr>
          <a:xfrm>
            <a:off x="8407400" y="3048000"/>
            <a:ext cx="889000" cy="0"/>
          </a:xfrm>
          <a:prstGeom prst="straightConnector1">
            <a:avLst/>
          </a:prstGeom>
          <a:ln w="28575">
            <a:solidFill>
              <a:srgbClr val="262626"/>
            </a:solidFill>
            <a:tailEnd type="triangle" w="med" len="med"/>
          </a:ln>
        </p:spPr>
      </p:cxnSp>
      <p:sp>
        <p:nvSpPr>
          <p:cNvPr id="314" name="B314"/>
          <p:cNvSpPr/>
          <p:nvPr/>
        </p:nvSpPr>
        <p:spPr>
          <a:xfrm>
            <a:off x="9372600" y="2641600"/>
            <a:ext cx="1727200" cy="812800"/>
          </a:xfrm>
          <a:prstGeom prst="roundRect">
            <a:avLst>
              <a:gd name="adj" fmla="val 12000"/>
            </a:avLst>
          </a:prstGeom>
          <a:solidFill>
            <a:srgbClr val="F2F2F2"/>
          </a:solidFill>
          <a:ln>
            <a:noFill/>
          </a:ln>
        </p:spPr>
        <p:txBody>
          <a:bodyPr wrap="square" lIns="76200" tIns="0" rIns="76200" bIns="0" anchor="ctr"/>
          <a:lstStyle/>
          <a:p>
            <a:pPr algn="ctr">
              <a:lnSpc>
                <a:spcPct val="110000"/>
              </a:lnSpc>
              <a:buNone/>
            </a:pPr>
            <a:r>
              <a:rPr lang="en-US" sz="1400" dirty="0">
                <a:solidFill>
                  <a:srgbClr val="262626"/>
                </a:solidFill>
              </a:rPr>
              <a:t>PTSD · depression · anxiety</a:t>
            </a:r>
          </a:p>
        </p:txBody>
      </p:sp>
      <p:sp>
        <p:nvSpPr>
          <p:cNvPr id="315" name="T315"/>
          <p:cNvSpPr txBox="1"/>
          <p:nvPr/>
        </p:nvSpPr>
        <p:spPr>
          <a:xfrm>
            <a:off x="6426200" y="3657600"/>
            <a:ext cx="4673600" cy="279400"/>
          </a:xfrm>
          <a:prstGeom prst="rect">
            <a:avLst/>
          </a:prstGeom>
          <a:noFill/>
        </p:spPr>
        <p:txBody>
          <a:bodyPr wrap="square" lIns="0" tIns="0" rIns="0" bIns="0"/>
          <a:lstStyle/>
          <a:p>
            <a:pPr algn="l">
              <a:lnSpc>
                <a:spcPct val="130000"/>
              </a:lnSpc>
              <a:buNone/>
            </a:pPr>
            <a:r>
              <a:rPr lang="en-US" sz="1400" dirty="0">
                <a:solidFill>
                  <a:srgbClr val="595959"/>
                </a:solidFill>
              </a:rPr>
              <a:t>Adjusted for</a:t>
            </a:r>
          </a:p>
        </p:txBody>
      </p:sp>
      <p:sp>
        <p:nvSpPr>
          <p:cNvPr id="316" name="B316"/>
          <p:cNvSpPr/>
          <p:nvPr/>
        </p:nvSpPr>
        <p:spPr>
          <a:xfrm>
            <a:off x="6426200" y="4013200"/>
            <a:ext cx="1376680" cy="381000"/>
          </a:xfrm>
          <a:prstGeom prst="roundRect">
            <a:avLst>
              <a:gd name="adj" fmla="val 12000"/>
            </a:avLst>
          </a:prstGeom>
          <a:solidFill>
            <a:srgbClr val="FFFFFF"/>
          </a:solidFill>
          <a:ln w="15875">
            <a:solidFill>
              <a:srgbClr val="8C8C8C"/>
            </a:solidFill>
          </a:ln>
        </p:spPr>
        <p:txBody>
          <a:bodyPr wrap="square" lIns="76200" tIns="0" rIns="76200" bIns="0" anchor="ctr"/>
          <a:lstStyle/>
          <a:p>
            <a:pPr algn="ctr">
              <a:lnSpc>
                <a:spcPct val="110000"/>
              </a:lnSpc>
              <a:buNone/>
            </a:pPr>
            <a:r>
              <a:rPr lang="en-US" sz="1400" dirty="0">
                <a:solidFill>
                  <a:srgbClr val="262626"/>
                </a:solidFill>
              </a:rPr>
              <a:t>Demographics</a:t>
            </a:r>
          </a:p>
        </p:txBody>
      </p:sp>
      <p:sp>
        <p:nvSpPr>
          <p:cNvPr id="317" name="B317"/>
          <p:cNvSpPr/>
          <p:nvPr/>
        </p:nvSpPr>
        <p:spPr>
          <a:xfrm>
            <a:off x="7904480" y="4013200"/>
            <a:ext cx="1102360" cy="381000"/>
          </a:xfrm>
          <a:prstGeom prst="roundRect">
            <a:avLst>
              <a:gd name="adj" fmla="val 12000"/>
            </a:avLst>
          </a:prstGeom>
          <a:solidFill>
            <a:srgbClr val="FFFFFF"/>
          </a:solidFill>
          <a:ln w="15875">
            <a:solidFill>
              <a:srgbClr val="8C8C8C"/>
            </a:solidFill>
          </a:ln>
        </p:spPr>
        <p:txBody>
          <a:bodyPr wrap="square" lIns="76200" tIns="0" rIns="76200" bIns="0" anchor="ctr"/>
          <a:lstStyle/>
          <a:p>
            <a:pPr algn="ctr">
              <a:lnSpc>
                <a:spcPct val="110000"/>
              </a:lnSpc>
              <a:buNone/>
            </a:pPr>
            <a:r>
              <a:rPr lang="en-US" sz="1400" dirty="0">
                <a:solidFill>
                  <a:srgbClr val="262626"/>
                </a:solidFill>
              </a:rPr>
              <a:t>Geography</a:t>
            </a:r>
          </a:p>
        </p:txBody>
      </p:sp>
      <p:sp>
        <p:nvSpPr>
          <p:cNvPr id="318" name="B318"/>
          <p:cNvSpPr/>
          <p:nvPr/>
        </p:nvSpPr>
        <p:spPr>
          <a:xfrm>
            <a:off x="9108440" y="4013200"/>
            <a:ext cx="1376680" cy="381000"/>
          </a:xfrm>
          <a:prstGeom prst="roundRect">
            <a:avLst>
              <a:gd name="adj" fmla="val 12000"/>
            </a:avLst>
          </a:prstGeom>
          <a:solidFill>
            <a:srgbClr val="FFFFFF"/>
          </a:solidFill>
          <a:ln w="15875">
            <a:solidFill>
              <a:srgbClr val="8C8C8C"/>
            </a:solidFill>
          </a:ln>
        </p:spPr>
        <p:txBody>
          <a:bodyPr wrap="square" lIns="76200" tIns="0" rIns="76200" bIns="0" anchor="ctr"/>
          <a:lstStyle/>
          <a:p>
            <a:pPr algn="ctr">
              <a:lnSpc>
                <a:spcPct val="110000"/>
              </a:lnSpc>
              <a:buNone/>
            </a:pPr>
            <a:r>
              <a:rPr lang="en-US" sz="1400" dirty="0">
                <a:solidFill>
                  <a:srgbClr val="262626"/>
                </a:solidFill>
              </a:rPr>
              <a:t>Trauma count</a:t>
            </a:r>
          </a:p>
        </p:txBody>
      </p:sp>
      <p:sp>
        <p:nvSpPr>
          <p:cNvPr id="319" name="T319"/>
          <p:cNvSpPr txBox="1"/>
          <p:nvPr/>
        </p:nvSpPr>
        <p:spPr>
          <a:xfrm>
            <a:off x="6426200" y="4572000"/>
            <a:ext cx="4673600" cy="508000"/>
          </a:xfrm>
          <a:prstGeom prst="rect">
            <a:avLst/>
          </a:prstGeom>
          <a:noFill/>
        </p:spPr>
        <p:txBody>
          <a:bodyPr wrap="square" lIns="0" tIns="0" rIns="0" bIns="0"/>
          <a:lstStyle/>
          <a:p>
            <a:pPr algn="l">
              <a:lnSpc>
                <a:spcPct val="130000"/>
              </a:lnSpc>
              <a:buNone/>
            </a:pPr>
            <a:r>
              <a:rPr lang="en-US" sz="1400" dirty="0">
                <a:solidFill>
                  <a:srgbClr val="595959"/>
                </a:solidFill>
              </a:rPr>
              <a:t>Prevalence ratios, design-based modified Poisson</a:t>
            </a:r>
          </a:p>
        </p:txBody>
      </p:sp>
      <p:sp>
        <p:nvSpPr>
          <p:cNvPr id="321" name="T321"/>
          <p:cNvSpPr txBox="1"/>
          <p:nvPr/>
        </p:nvSpPr>
        <p:spPr>
          <a:xfrm>
            <a:off x="838200" y="5740400"/>
            <a:ext cx="10515600" cy="279400"/>
          </a:xfrm>
          <a:prstGeom prst="rect">
            <a:avLst/>
          </a:prstGeom>
          <a:noFill/>
        </p:spPr>
        <p:txBody>
          <a:bodyPr wrap="square" lIns="0" tIns="0" rIns="0" bIns="0"/>
          <a:lstStyle/>
          <a:p>
            <a:pPr algn="l">
              <a:lnSpc>
                <a:spcPct val="130000"/>
              </a:lnSpc>
              <a:buNone/>
            </a:pPr>
            <a:r>
              <a:rPr lang="en-US" sz="1400" dirty="0">
                <a:solidFill>
                  <a:srgbClr val="D9D9D9"/>
                </a:solidFill>
              </a:rPr>
              <a:t>Multilevel models estimate community clustering (ICCs) · Prevalence: crude proportions with design-based 95% CIs (Stata svy: proportion)</a:t>
            </a:r>
          </a:p>
        </p:txBody>
      </p:sp>
      <p:sp>
        <p:nvSpPr>
          <p:cNvPr id="322" name="Section label"/>
          <p:cNvSpPr txBox="1"/>
          <p:nvPr/>
        </p:nvSpPr>
        <p:spPr>
          <a:xfrm>
            <a:off x="841248" y="128016"/>
            <a:ext cx="5486400" cy="292608"/>
          </a:xfrm>
          <a:prstGeom prst="rect">
            <a:avLst/>
          </a:prstGeom>
          <a:noFill/>
        </p:spPr>
        <p:txBody>
          <a:bodyPr wrap="none" lIns="0" rIns="0" tIns="0" bIns="0">
            <a:spAutoFit/>
          </a:bodyPr>
          <a:lstStyle/>
          <a:p>
            <a:pPr algn="l"/>
            <a:r>
              <a:rPr sz="1200" b="1" spc="150">
                <a:solidFill>
                  <a:srgbClr val="E8963C"/>
                </a:solidFill>
              </a:rPr>
              <a:t>METHODS</a:t>
            </a:r>
          </a:p>
        </p:txBody>
      </p:sp>
    </p:spTree>
    <p:extLst>
      <p:ext uri="{BB962C8B-B14F-4D97-AF65-F5344CB8AC3E}">
        <p14:creationId xmlns:p14="http://schemas.microsoft.com/office/powerpoint/2010/main" val="138656751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Descriptive Data</a:t>
            </a:r>
          </a:p>
        </p:txBody>
      </p:sp>
      <p:sp>
        <p:nvSpPr>
          <p:cNvPr id="3" name="Content Placeholder 2"/>
          <p:cNvSpPr>
            <a:spLocks noGrp="1"/>
          </p:cNvSpPr>
          <p:nvPr>
            <p:ph idx="1"/>
          </p:nvPr>
        </p:nvSpPr>
        <p:spPr/>
        <p:txBody>
          <a:bodyPr wrap="square"/>
          <a:lstStyle/>
          <a:p>
            <a:pPr>
              <a:spcAft>
                <a:spcPts val="800"/>
              </a:spcAft>
            </a:pPr>
            <a:r>
              <a:rPr sz="1800"/>
              <a:t>Mean age 41.0 years (SD 14.4); 54.8% female; 65.8% currently married</a:t>
            </a:r>
          </a:p>
          <a:p>
            <a:pPr>
              <a:spcAft>
                <a:spcPts val="800"/>
              </a:spcAft>
            </a:pPr>
            <a:r>
              <a:rPr sz="1800"/>
              <a:t>Education reflects regional patterns: Quranic/Islamic 19.3% (Borno 39.9%, Sokoto 59.2%); tertiary 18.6% (Enugu 34.8%, Rivers 28.1%)</a:t>
            </a:r>
          </a:p>
          <a:p>
            <a:pPr>
              <a:spcAft>
                <a:spcPts val="800"/>
              </a:spcAft>
            </a:pPr>
            <a:r>
              <a:rPr sz="1800"/>
              <a:t>26.2% residing in IDP camps (present in Benue, Borno, Sokoto only)</a:t>
            </a:r>
          </a:p>
          <a:p>
            <a:pPr>
              <a:spcAft>
                <a:spcPts val="800"/>
              </a:spcAft>
            </a:pPr>
            <a:r>
              <a:rPr sz="1800"/>
              <a:t>Mean traumatic events 1.5 (SD 1.7); 18.0% reported three or more</a:t>
            </a:r>
          </a:p>
          <a:p>
            <a:pPr>
              <a:spcAft>
                <a:spcPts val="800"/>
              </a:spcAft>
            </a:pPr>
            <a:r>
              <a:rPr sz="1800"/>
              <a:t>Moderate or severe food insecurity: 64.8%</a:t>
            </a:r>
          </a:p>
        </p:txBody>
      </p:sp>
      <p:sp>
        <p:nvSpPr>
          <p:cNvPr id="4" name="Section label"/>
          <p:cNvSpPr txBox="1"/>
          <p:nvPr/>
        </p:nvSpPr>
        <p:spPr>
          <a:xfrm>
            <a:off x="841248" y="128016"/>
            <a:ext cx="5486400" cy="292608"/>
          </a:xfrm>
          <a:prstGeom prst="rect">
            <a:avLst/>
          </a:prstGeom>
          <a:noFill/>
        </p:spPr>
        <p:txBody>
          <a:bodyPr wrap="none" lIns="0" rIns="0" tIns="0" bIns="0">
            <a:spAutoFit/>
          </a:bodyPr>
          <a:lstStyle/>
          <a:p>
            <a:pPr algn="l"/>
            <a:r>
              <a:rPr sz="1200" b="1" spc="150">
                <a:solidFill>
                  <a:srgbClr val="E8963C"/>
                </a:solidFill>
              </a:rPr>
              <a:t>RESULTS</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C1DFE8-EF1D-4E9D-0E69-D141DC487B32}"/>
              </a:ext>
            </a:extLst>
          </p:cNvPr>
          <p:cNvSpPr>
            <a:spLocks noGrp="1"/>
          </p:cNvSpPr>
          <p:nvPr>
            <p:ph type="title"/>
          </p:nvPr>
        </p:nvSpPr>
        <p:spPr/>
        <p:txBody>
          <a:bodyPr/>
          <a:lstStyle/>
          <a:p>
            <a:r>
              <a:rPr lang="en-US"/>
              <a:t>Outcome Data: Prevalence</a:t>
            </a:r>
          </a:p>
        </p:txBody>
      </p:sp>
      <p:graphicFrame>
        <p:nvGraphicFramePr>
          <p:cNvPr id="3" name="Chart"/>
          <p:cNvGraphicFramePr/>
          <p:nvPr/>
        </p:nvGraphicFramePr>
        <p:xfrm>
          <a:off x="838200" y="1905000"/>
          <a:ext cx="7031636" cy="3937000"/>
        </p:xfrm>
        <a:graphic>
          <a:graphicData uri="http://schemas.openxmlformats.org/drawingml/2006/chart">
            <c:chart xmlns:c="http://schemas.openxmlformats.org/drawingml/2006/chart" xmlns:r="http://schemas.openxmlformats.org/officeDocument/2006/relationships" r:id="rId2"/>
          </a:graphicData>
        </a:graphic>
      </p:graphicFrame>
      <p:sp>
        <p:nvSpPr>
          <p:cNvPr id="501" name="T501"/>
          <p:cNvSpPr txBox="1"/>
          <p:nvPr/>
        </p:nvSpPr>
        <p:spPr>
          <a:xfrm>
            <a:off x="988102" y="1538288"/>
            <a:ext cx="10515600" cy="304800"/>
          </a:xfrm>
          <a:prstGeom prst="rect">
            <a:avLst/>
          </a:prstGeom>
          <a:noFill/>
        </p:spPr>
        <p:txBody>
          <a:bodyPr wrap="square" lIns="0" tIns="0" rIns="0" bIns="0"/>
          <a:lstStyle/>
          <a:p>
            <a:pPr>
              <a:lnSpc>
                <a:spcPct val="130000"/>
              </a:lnSpc>
              <a:spcAft>
                <a:spcPts val="0"/>
              </a:spcAft>
              <a:buNone/>
            </a:pPr>
            <a:r>
              <a:rPr lang="en-US" sz="1600" dirty="0">
                <a:solidFill>
                  <a:srgbClr val="D9D9D9"/>
                </a:solidFill>
              </a:rPr>
              <a:t>Prevalence, six states (bars: design-based 95% CI; Stata svy: proportion)</a:t>
            </a:r>
          </a:p>
        </p:txBody>
      </p:sp>
      <p:sp>
        <p:nvSpPr>
          <p:cNvPr id="502" name="TextBox 501"/>
          <p:cNvSpPr txBox="1"/>
          <p:nvPr/>
        </p:nvSpPr>
        <p:spPr>
          <a:xfrm>
            <a:off x="8183879" y="2011680"/>
            <a:ext cx="3429000" cy="3749039"/>
          </a:xfrm>
          <a:prstGeom prst="rect">
            <a:avLst/>
          </a:prstGeom>
          <a:noFill/>
        </p:spPr>
        <p:txBody>
          <a:bodyPr wrap="square">
            <a:spAutoFit/>
          </a:bodyPr>
          <a:lstStyle/>
          <a:p>
            <a:pPr>
              <a:spcAft>
                <a:spcPts val="900"/>
              </a:spcAft>
            </a:pPr>
            <a:r>
              <a:rPr sz="1500" b="0">
                <a:solidFill>
                  <a:srgbClr val="FFFFFF"/>
                </a:solidFill>
              </a:rPr>
              <a:t>PTSD 18.5% (95% CI 14.2–23.8)</a:t>
            </a:r>
          </a:p>
          <a:p>
            <a:pPr>
              <a:spcAft>
                <a:spcPts val="900"/>
              </a:spcAft>
            </a:pPr>
            <a:r>
              <a:rPr sz="1500" b="0">
                <a:solidFill>
                  <a:srgbClr val="FFFFFF"/>
                </a:solidFill>
              </a:rPr>
              <a:t>Depression 21.0% (16.4–26.3)</a:t>
            </a:r>
          </a:p>
          <a:p>
            <a:pPr>
              <a:spcAft>
                <a:spcPts val="900"/>
              </a:spcAft>
            </a:pPr>
            <a:r>
              <a:rPr sz="1500" b="0">
                <a:solidFill>
                  <a:srgbClr val="FFFFFF"/>
                </a:solidFill>
              </a:rPr>
              <a:t>Anxiety 20.7% (16.9–25.1)</a:t>
            </a:r>
          </a:p>
          <a:p>
            <a:pPr>
              <a:spcAft>
                <a:spcPts val="900"/>
              </a:spcAft>
            </a:pPr>
            <a:r>
              <a:rPr sz="1500" b="1">
                <a:solidFill>
                  <a:srgbClr val="E8963C"/>
                </a:solidFill>
              </a:rPr>
              <a:t>At least 1 in 5 adults met criteria for each condition; 30.4% for at least one</a:t>
            </a:r>
          </a:p>
          <a:p>
            <a:pPr>
              <a:spcAft>
                <a:spcPts val="900"/>
              </a:spcAft>
            </a:pPr>
            <a:r>
              <a:rPr sz="1300" b="0">
                <a:solidFill>
                  <a:srgbClr val="FFFFFF"/>
                </a:solidFill>
              </a:rPr>
              <a:t>36.2% of those with any condition met all three</a:t>
            </a:r>
          </a:p>
          <a:p>
            <a:pPr>
              <a:spcAft>
                <a:spcPts val="900"/>
              </a:spcAft>
            </a:pPr>
            <a:r>
              <a:rPr sz="1300" b="0">
                <a:solidFill>
                  <a:srgbClr val="FFFFFF"/>
                </a:solidFill>
              </a:rPr>
              <a:t>Design effects 4.7–6.9</a:t>
            </a:r>
          </a:p>
        </p:txBody>
      </p:sp>
      <p:sp>
        <p:nvSpPr>
          <p:cNvPr id="503" name="Section label"/>
          <p:cNvSpPr txBox="1"/>
          <p:nvPr/>
        </p:nvSpPr>
        <p:spPr>
          <a:xfrm>
            <a:off x="841248" y="128016"/>
            <a:ext cx="5486400" cy="292608"/>
          </a:xfrm>
          <a:prstGeom prst="rect">
            <a:avLst/>
          </a:prstGeom>
          <a:noFill/>
        </p:spPr>
        <p:txBody>
          <a:bodyPr wrap="none" lIns="0" rIns="0" tIns="0" bIns="0">
            <a:spAutoFit/>
          </a:bodyPr>
          <a:lstStyle/>
          <a:p>
            <a:pPr algn="l"/>
            <a:r>
              <a:rPr sz="1200" b="1" spc="150">
                <a:solidFill>
                  <a:srgbClr val="E8963C"/>
                </a:solidFill>
              </a:rPr>
              <a:t>RESULTS</a:t>
            </a:r>
          </a:p>
        </p:txBody>
      </p:sp>
    </p:spTree>
    <p:extLst>
      <p:ext uri="{BB962C8B-B14F-4D97-AF65-F5344CB8AC3E}">
        <p14:creationId xmlns:p14="http://schemas.microsoft.com/office/powerpoint/2010/main" val="212445329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6B39A2-1CB7-AFAE-4B23-4A25B2164906}"/>
              </a:ext>
            </a:extLst>
          </p:cNvPr>
          <p:cNvSpPr>
            <a:spLocks noGrp="1"/>
          </p:cNvSpPr>
          <p:nvPr>
            <p:ph type="title"/>
          </p:nvPr>
        </p:nvSpPr>
        <p:spPr/>
        <p:txBody>
          <a:bodyPr/>
          <a:lstStyle/>
          <a:p>
            <a:r>
              <a:rPr lang="en-US" dirty="0"/>
              <a:t>Outcome Data: Variation by State, Residence, and Trauma</a:t>
            </a:r>
          </a:p>
        </p:txBody>
      </p:sp>
      <p:sp>
        <p:nvSpPr>
          <p:cNvPr id="301" name="T301"/>
          <p:cNvSpPr txBox="1"/>
          <p:nvPr/>
        </p:nvSpPr>
        <p:spPr>
          <a:xfrm>
            <a:off x="838200" y="1727200"/>
            <a:ext cx="10515600" cy="304800"/>
          </a:xfrm>
          <a:prstGeom prst="rect">
            <a:avLst/>
          </a:prstGeom>
          <a:noFill/>
        </p:spPr>
        <p:txBody>
          <a:bodyPr wrap="square" lIns="0" tIns="0" rIns="0" bIns="0" anchor="t"/>
          <a:lstStyle/>
          <a:p>
            <a:pPr algn="l">
              <a:lnSpc>
                <a:spcPct val="100000"/>
              </a:lnSpc>
              <a:buNone/>
            </a:pPr>
            <a:r>
              <a:rPr lang="en-US" sz="1600" dirty="0">
                <a:solidFill>
                  <a:srgbClr val="D9D9D9"/>
                </a:solidFill>
              </a:rPr>
              <a:t>Unadjusted PTSD prevalence, three contrasts (depression and anxiety follow the same pattern)</a:t>
            </a:r>
          </a:p>
        </p:txBody>
      </p:sp>
      <p:sp>
        <p:nvSpPr>
          <p:cNvPr id="302" name="R302"/>
          <p:cNvSpPr/>
          <p:nvPr/>
        </p:nvSpPr>
        <p:spPr>
          <a:xfrm>
            <a:off x="838200" y="2108200"/>
            <a:ext cx="10515600" cy="3683000"/>
          </a:xfrm>
          <a:prstGeom prst="roundRect">
            <a:avLst>
              <a:gd name="adj" fmla="val 3000"/>
            </a:avLst>
          </a:prstGeom>
          <a:solidFill>
            <a:srgbClr val="FFFFFF"/>
          </a:solidFill>
          <a:ln>
            <a:noFill/>
          </a:ln>
        </p:spPr>
        <p:txBody>
          <a:bodyPr/>
          <a:lstStyle/>
          <a:p>
            <a:endParaRPr/>
          </a:p>
        </p:txBody>
      </p:sp>
      <p:sp>
        <p:nvSpPr>
          <p:cNvPr id="303" name="T303"/>
          <p:cNvSpPr txBox="1"/>
          <p:nvPr/>
        </p:nvSpPr>
        <p:spPr>
          <a:xfrm>
            <a:off x="1117600" y="2336800"/>
            <a:ext cx="2540000" cy="304800"/>
          </a:xfrm>
          <a:prstGeom prst="rect">
            <a:avLst/>
          </a:prstGeom>
          <a:noFill/>
        </p:spPr>
        <p:txBody>
          <a:bodyPr wrap="square" lIns="0" tIns="0" rIns="0" bIns="0" anchor="ctr"/>
          <a:lstStyle/>
          <a:p>
            <a:pPr algn="l">
              <a:lnSpc>
                <a:spcPct val="100000"/>
              </a:lnSpc>
              <a:buNone/>
            </a:pPr>
            <a:r>
              <a:rPr lang="en-US" sz="1800" dirty="0">
                <a:solidFill>
                  <a:srgbClr val="262626"/>
                </a:solidFill>
              </a:rPr>
              <a:t>Across states</a:t>
            </a:r>
          </a:p>
        </p:txBody>
      </p:sp>
      <p:sp>
        <p:nvSpPr>
          <p:cNvPr id="304" name="T304"/>
          <p:cNvSpPr txBox="1"/>
          <p:nvPr/>
        </p:nvSpPr>
        <p:spPr>
          <a:xfrm>
            <a:off x="1117600" y="2692400"/>
            <a:ext cx="2540000" cy="254000"/>
          </a:xfrm>
          <a:prstGeom prst="rect">
            <a:avLst/>
          </a:prstGeom>
          <a:noFill/>
        </p:spPr>
        <p:txBody>
          <a:bodyPr wrap="square" lIns="0" tIns="0" rIns="0" bIns="0" anchor="ctr"/>
          <a:lstStyle/>
          <a:p>
            <a:pPr algn="l">
              <a:lnSpc>
                <a:spcPct val="100000"/>
              </a:lnSpc>
              <a:buNone/>
            </a:pPr>
            <a:r>
              <a:rPr lang="en-US" sz="1400" dirty="0">
                <a:solidFill>
                  <a:srgbClr val="595959"/>
                </a:solidFill>
              </a:rPr>
              <a:t>28-fold</a:t>
            </a:r>
          </a:p>
        </p:txBody>
      </p:sp>
      <p:sp>
        <p:nvSpPr>
          <p:cNvPr id="305" name="T305"/>
          <p:cNvSpPr txBox="1"/>
          <p:nvPr/>
        </p:nvSpPr>
        <p:spPr>
          <a:xfrm>
            <a:off x="2413000" y="2362200"/>
            <a:ext cx="1676400" cy="355600"/>
          </a:xfrm>
          <a:prstGeom prst="rect">
            <a:avLst/>
          </a:prstGeom>
          <a:noFill/>
        </p:spPr>
        <p:txBody>
          <a:bodyPr wrap="square" lIns="0" tIns="0" rIns="0" bIns="0" anchor="ctr"/>
          <a:lstStyle/>
          <a:p>
            <a:pPr algn="r">
              <a:lnSpc>
                <a:spcPct val="100000"/>
              </a:lnSpc>
              <a:buNone/>
            </a:pPr>
            <a:r>
              <a:rPr lang="en-US" sz="1400" dirty="0">
                <a:solidFill>
                  <a:srgbClr val="262626"/>
                </a:solidFill>
              </a:rPr>
              <a:t>Ogun (lowest)</a:t>
            </a:r>
          </a:p>
        </p:txBody>
      </p:sp>
      <p:sp>
        <p:nvSpPr>
          <p:cNvPr id="306" name="R306"/>
          <p:cNvSpPr/>
          <p:nvPr/>
        </p:nvSpPr>
        <p:spPr>
          <a:xfrm>
            <a:off x="4191000" y="2387600"/>
            <a:ext cx="175260" cy="304800"/>
          </a:xfrm>
          <a:prstGeom prst="rect">
            <a:avLst/>
          </a:prstGeom>
          <a:solidFill>
            <a:srgbClr val="7FA8D9"/>
          </a:solidFill>
          <a:ln>
            <a:noFill/>
          </a:ln>
        </p:spPr>
        <p:txBody>
          <a:bodyPr/>
          <a:lstStyle/>
          <a:p>
            <a:endParaRPr/>
          </a:p>
        </p:txBody>
      </p:sp>
      <p:sp>
        <p:nvSpPr>
          <p:cNvPr id="307" name="T307"/>
          <p:cNvSpPr txBox="1"/>
          <p:nvPr/>
        </p:nvSpPr>
        <p:spPr>
          <a:xfrm>
            <a:off x="4467860" y="2362200"/>
            <a:ext cx="889000" cy="355600"/>
          </a:xfrm>
          <a:prstGeom prst="rect">
            <a:avLst/>
          </a:prstGeom>
          <a:noFill/>
        </p:spPr>
        <p:txBody>
          <a:bodyPr wrap="square" lIns="0" tIns="0" rIns="0" bIns="0" anchor="ctr"/>
          <a:lstStyle/>
          <a:p>
            <a:pPr algn="l">
              <a:lnSpc>
                <a:spcPct val="100000"/>
              </a:lnSpc>
              <a:buNone/>
            </a:pPr>
            <a:r>
              <a:rPr lang="en-US" sz="1600" dirty="0">
                <a:solidFill>
                  <a:srgbClr val="262626"/>
                </a:solidFill>
              </a:rPr>
              <a:t>1.5%</a:t>
            </a:r>
          </a:p>
        </p:txBody>
      </p:sp>
      <p:sp>
        <p:nvSpPr>
          <p:cNvPr id="308" name="T308"/>
          <p:cNvSpPr txBox="1"/>
          <p:nvPr/>
        </p:nvSpPr>
        <p:spPr>
          <a:xfrm>
            <a:off x="2413000" y="2819400"/>
            <a:ext cx="1676400" cy="355600"/>
          </a:xfrm>
          <a:prstGeom prst="rect">
            <a:avLst/>
          </a:prstGeom>
          <a:noFill/>
        </p:spPr>
        <p:txBody>
          <a:bodyPr wrap="square" lIns="0" tIns="0" rIns="0" bIns="0" anchor="ctr"/>
          <a:lstStyle/>
          <a:p>
            <a:pPr algn="r">
              <a:lnSpc>
                <a:spcPct val="100000"/>
              </a:lnSpc>
              <a:buNone/>
            </a:pPr>
            <a:r>
              <a:rPr lang="en-US" sz="1400" dirty="0">
                <a:solidFill>
                  <a:srgbClr val="262626"/>
                </a:solidFill>
              </a:rPr>
              <a:t>Benue (highest)</a:t>
            </a:r>
          </a:p>
        </p:txBody>
      </p:sp>
      <p:sp>
        <p:nvSpPr>
          <p:cNvPr id="309" name="R309"/>
          <p:cNvSpPr/>
          <p:nvPr/>
        </p:nvSpPr>
        <p:spPr>
          <a:xfrm>
            <a:off x="4191000" y="2844800"/>
            <a:ext cx="4918964" cy="304800"/>
          </a:xfrm>
          <a:prstGeom prst="rect">
            <a:avLst/>
          </a:prstGeom>
          <a:solidFill>
            <a:srgbClr val="1E3A5C"/>
          </a:solidFill>
          <a:ln>
            <a:noFill/>
          </a:ln>
        </p:spPr>
        <p:txBody>
          <a:bodyPr/>
          <a:lstStyle/>
          <a:p>
            <a:endParaRPr/>
          </a:p>
        </p:txBody>
      </p:sp>
      <p:sp>
        <p:nvSpPr>
          <p:cNvPr id="310" name="T310"/>
          <p:cNvSpPr txBox="1"/>
          <p:nvPr/>
        </p:nvSpPr>
        <p:spPr>
          <a:xfrm>
            <a:off x="9211564" y="2819400"/>
            <a:ext cx="889000" cy="355600"/>
          </a:xfrm>
          <a:prstGeom prst="rect">
            <a:avLst/>
          </a:prstGeom>
          <a:noFill/>
        </p:spPr>
        <p:txBody>
          <a:bodyPr wrap="square" lIns="0" tIns="0" rIns="0" bIns="0" anchor="ctr"/>
          <a:lstStyle/>
          <a:p>
            <a:pPr algn="l">
              <a:lnSpc>
                <a:spcPct val="100000"/>
              </a:lnSpc>
              <a:buNone/>
            </a:pPr>
            <a:r>
              <a:rPr lang="en-US" sz="1600" dirty="0">
                <a:solidFill>
                  <a:srgbClr val="1E3A5C"/>
                </a:solidFill>
              </a:rPr>
              <a:t>42.1%</a:t>
            </a:r>
          </a:p>
        </p:txBody>
      </p:sp>
      <p:sp>
        <p:nvSpPr>
          <p:cNvPr id="311" name="T311"/>
          <p:cNvSpPr txBox="1"/>
          <p:nvPr/>
        </p:nvSpPr>
        <p:spPr>
          <a:xfrm>
            <a:off x="1117600" y="3505200"/>
            <a:ext cx="2540000" cy="304800"/>
          </a:xfrm>
          <a:prstGeom prst="rect">
            <a:avLst/>
          </a:prstGeom>
          <a:noFill/>
        </p:spPr>
        <p:txBody>
          <a:bodyPr wrap="square" lIns="0" tIns="0" rIns="0" bIns="0" anchor="ctr"/>
          <a:lstStyle/>
          <a:p>
            <a:pPr algn="l">
              <a:lnSpc>
                <a:spcPct val="100000"/>
              </a:lnSpc>
              <a:buNone/>
            </a:pPr>
            <a:r>
              <a:rPr lang="en-US" sz="1800" dirty="0">
                <a:solidFill>
                  <a:srgbClr val="262626"/>
                </a:solidFill>
              </a:rPr>
              <a:t>By residence</a:t>
            </a:r>
          </a:p>
        </p:txBody>
      </p:sp>
      <p:sp>
        <p:nvSpPr>
          <p:cNvPr id="312" name="T312"/>
          <p:cNvSpPr txBox="1"/>
          <p:nvPr/>
        </p:nvSpPr>
        <p:spPr>
          <a:xfrm>
            <a:off x="1117600" y="3860800"/>
            <a:ext cx="2540000" cy="254000"/>
          </a:xfrm>
          <a:prstGeom prst="rect">
            <a:avLst/>
          </a:prstGeom>
          <a:noFill/>
        </p:spPr>
        <p:txBody>
          <a:bodyPr wrap="square" lIns="0" tIns="0" rIns="0" bIns="0" anchor="ctr"/>
          <a:lstStyle/>
          <a:p>
            <a:pPr algn="l">
              <a:lnSpc>
                <a:spcPct val="100000"/>
              </a:lnSpc>
              <a:buNone/>
            </a:pPr>
            <a:r>
              <a:rPr lang="en-US" sz="1400" dirty="0">
                <a:solidFill>
                  <a:srgbClr val="595959"/>
                </a:solidFill>
              </a:rPr>
              <a:t>~4-fold</a:t>
            </a:r>
          </a:p>
        </p:txBody>
      </p:sp>
      <p:sp>
        <p:nvSpPr>
          <p:cNvPr id="313" name="T313"/>
          <p:cNvSpPr txBox="1"/>
          <p:nvPr/>
        </p:nvSpPr>
        <p:spPr>
          <a:xfrm>
            <a:off x="2413000" y="3530600"/>
            <a:ext cx="1676400" cy="355600"/>
          </a:xfrm>
          <a:prstGeom prst="rect">
            <a:avLst/>
          </a:prstGeom>
          <a:noFill/>
        </p:spPr>
        <p:txBody>
          <a:bodyPr wrap="square" lIns="0" tIns="0" rIns="0" bIns="0" anchor="ctr"/>
          <a:lstStyle/>
          <a:p>
            <a:pPr algn="r">
              <a:lnSpc>
                <a:spcPct val="100000"/>
              </a:lnSpc>
              <a:buNone/>
            </a:pPr>
            <a:r>
              <a:rPr lang="en-US" sz="1400" dirty="0">
                <a:solidFill>
                  <a:srgbClr val="262626"/>
                </a:solidFill>
              </a:rPr>
              <a:t>Community</a:t>
            </a:r>
          </a:p>
        </p:txBody>
      </p:sp>
      <p:sp>
        <p:nvSpPr>
          <p:cNvPr id="314" name="R314"/>
          <p:cNvSpPr/>
          <p:nvPr/>
        </p:nvSpPr>
        <p:spPr>
          <a:xfrm>
            <a:off x="4191000" y="3556000"/>
            <a:ext cx="1250188" cy="304800"/>
          </a:xfrm>
          <a:prstGeom prst="rect">
            <a:avLst/>
          </a:prstGeom>
          <a:solidFill>
            <a:srgbClr val="7FA8D9"/>
          </a:solidFill>
          <a:ln>
            <a:noFill/>
          </a:ln>
        </p:spPr>
        <p:txBody>
          <a:bodyPr/>
          <a:lstStyle/>
          <a:p>
            <a:endParaRPr/>
          </a:p>
        </p:txBody>
      </p:sp>
      <p:sp>
        <p:nvSpPr>
          <p:cNvPr id="315" name="T315"/>
          <p:cNvSpPr txBox="1"/>
          <p:nvPr/>
        </p:nvSpPr>
        <p:spPr>
          <a:xfrm>
            <a:off x="5542788" y="3530600"/>
            <a:ext cx="889000" cy="355600"/>
          </a:xfrm>
          <a:prstGeom prst="rect">
            <a:avLst/>
          </a:prstGeom>
          <a:noFill/>
        </p:spPr>
        <p:txBody>
          <a:bodyPr wrap="square" lIns="0" tIns="0" rIns="0" bIns="0" anchor="ctr"/>
          <a:lstStyle/>
          <a:p>
            <a:pPr algn="l">
              <a:lnSpc>
                <a:spcPct val="100000"/>
              </a:lnSpc>
              <a:buNone/>
            </a:pPr>
            <a:r>
              <a:rPr lang="en-US" sz="1600" dirty="0">
                <a:solidFill>
                  <a:srgbClr val="262626"/>
                </a:solidFill>
              </a:rPr>
              <a:t>10.7%</a:t>
            </a:r>
          </a:p>
        </p:txBody>
      </p:sp>
      <p:sp>
        <p:nvSpPr>
          <p:cNvPr id="316" name="T316"/>
          <p:cNvSpPr txBox="1"/>
          <p:nvPr/>
        </p:nvSpPr>
        <p:spPr>
          <a:xfrm>
            <a:off x="2413000" y="3987800"/>
            <a:ext cx="1676400" cy="355600"/>
          </a:xfrm>
          <a:prstGeom prst="rect">
            <a:avLst/>
          </a:prstGeom>
          <a:noFill/>
        </p:spPr>
        <p:txBody>
          <a:bodyPr wrap="square" lIns="0" tIns="0" rIns="0" bIns="0" anchor="ctr"/>
          <a:lstStyle/>
          <a:p>
            <a:pPr algn="r">
              <a:lnSpc>
                <a:spcPct val="100000"/>
              </a:lnSpc>
              <a:buNone/>
            </a:pPr>
            <a:r>
              <a:rPr lang="en-US" sz="1400" dirty="0">
                <a:solidFill>
                  <a:srgbClr val="262626"/>
                </a:solidFill>
              </a:rPr>
              <a:t>IDP camp</a:t>
            </a:r>
          </a:p>
        </p:txBody>
      </p:sp>
      <p:sp>
        <p:nvSpPr>
          <p:cNvPr id="317" name="R317"/>
          <p:cNvSpPr/>
          <p:nvPr/>
        </p:nvSpPr>
        <p:spPr>
          <a:xfrm>
            <a:off x="4191000" y="4013200"/>
            <a:ext cx="4720336" cy="304800"/>
          </a:xfrm>
          <a:prstGeom prst="rect">
            <a:avLst/>
          </a:prstGeom>
          <a:solidFill>
            <a:srgbClr val="C8102E"/>
          </a:solidFill>
          <a:ln>
            <a:noFill/>
          </a:ln>
        </p:spPr>
        <p:txBody>
          <a:bodyPr/>
          <a:lstStyle/>
          <a:p>
            <a:endParaRPr/>
          </a:p>
        </p:txBody>
      </p:sp>
      <p:sp>
        <p:nvSpPr>
          <p:cNvPr id="318" name="T318"/>
          <p:cNvSpPr txBox="1"/>
          <p:nvPr/>
        </p:nvSpPr>
        <p:spPr>
          <a:xfrm>
            <a:off x="9012936" y="3987800"/>
            <a:ext cx="889000" cy="355600"/>
          </a:xfrm>
          <a:prstGeom prst="rect">
            <a:avLst/>
          </a:prstGeom>
          <a:noFill/>
        </p:spPr>
        <p:txBody>
          <a:bodyPr wrap="square" lIns="0" tIns="0" rIns="0" bIns="0" anchor="ctr"/>
          <a:lstStyle/>
          <a:p>
            <a:pPr algn="l">
              <a:lnSpc>
                <a:spcPct val="100000"/>
              </a:lnSpc>
              <a:buNone/>
            </a:pPr>
            <a:r>
              <a:rPr lang="en-US" sz="1600" dirty="0">
                <a:solidFill>
                  <a:srgbClr val="C8102E"/>
                </a:solidFill>
              </a:rPr>
              <a:t>40.4%</a:t>
            </a:r>
          </a:p>
        </p:txBody>
      </p:sp>
      <p:sp>
        <p:nvSpPr>
          <p:cNvPr id="319" name="T319"/>
          <p:cNvSpPr txBox="1"/>
          <p:nvPr/>
        </p:nvSpPr>
        <p:spPr>
          <a:xfrm>
            <a:off x="1117600" y="4673600"/>
            <a:ext cx="2540000" cy="304800"/>
          </a:xfrm>
          <a:prstGeom prst="rect">
            <a:avLst/>
          </a:prstGeom>
          <a:noFill/>
        </p:spPr>
        <p:txBody>
          <a:bodyPr wrap="square" lIns="0" tIns="0" rIns="0" bIns="0" anchor="ctr"/>
          <a:lstStyle/>
          <a:p>
            <a:pPr algn="l">
              <a:lnSpc>
                <a:spcPct val="100000"/>
              </a:lnSpc>
              <a:buNone/>
            </a:pPr>
            <a:r>
              <a:rPr lang="en-US" sz="1800" dirty="0">
                <a:solidFill>
                  <a:srgbClr val="262626"/>
                </a:solidFill>
              </a:rPr>
              <a:t>By trauma</a:t>
            </a:r>
          </a:p>
        </p:txBody>
      </p:sp>
      <p:sp>
        <p:nvSpPr>
          <p:cNvPr id="320" name="T320"/>
          <p:cNvSpPr txBox="1"/>
          <p:nvPr/>
        </p:nvSpPr>
        <p:spPr>
          <a:xfrm>
            <a:off x="1117600" y="5029200"/>
            <a:ext cx="2540000" cy="254000"/>
          </a:xfrm>
          <a:prstGeom prst="rect">
            <a:avLst/>
          </a:prstGeom>
          <a:noFill/>
        </p:spPr>
        <p:txBody>
          <a:bodyPr wrap="square" lIns="0" tIns="0" rIns="0" bIns="0" anchor="ctr"/>
          <a:lstStyle/>
          <a:p>
            <a:pPr algn="l">
              <a:lnSpc>
                <a:spcPct val="100000"/>
              </a:lnSpc>
              <a:buNone/>
            </a:pPr>
            <a:r>
              <a:rPr lang="en-US" sz="1400" dirty="0">
                <a:solidFill>
                  <a:srgbClr val="595959"/>
                </a:solidFill>
              </a:rPr>
              <a:t>~6-fold</a:t>
            </a:r>
          </a:p>
        </p:txBody>
      </p:sp>
      <p:sp>
        <p:nvSpPr>
          <p:cNvPr id="321" name="T321"/>
          <p:cNvSpPr txBox="1"/>
          <p:nvPr/>
        </p:nvSpPr>
        <p:spPr>
          <a:xfrm>
            <a:off x="2413000" y="4699000"/>
            <a:ext cx="1676400" cy="355600"/>
          </a:xfrm>
          <a:prstGeom prst="rect">
            <a:avLst/>
          </a:prstGeom>
          <a:noFill/>
        </p:spPr>
        <p:txBody>
          <a:bodyPr wrap="square" lIns="0" tIns="0" rIns="0" bIns="0" anchor="ctr"/>
          <a:lstStyle/>
          <a:p>
            <a:pPr algn="r">
              <a:lnSpc>
                <a:spcPct val="100000"/>
              </a:lnSpc>
              <a:buNone/>
            </a:pPr>
            <a:r>
              <a:rPr lang="en-US" sz="1400" dirty="0">
                <a:solidFill>
                  <a:srgbClr val="262626"/>
                </a:solidFill>
              </a:rPr>
              <a:t>Zero events</a:t>
            </a:r>
          </a:p>
        </p:txBody>
      </p:sp>
      <p:sp>
        <p:nvSpPr>
          <p:cNvPr id="322" name="R322"/>
          <p:cNvSpPr/>
          <p:nvPr/>
        </p:nvSpPr>
        <p:spPr>
          <a:xfrm>
            <a:off x="4191000" y="4724400"/>
            <a:ext cx="923036" cy="304800"/>
          </a:xfrm>
          <a:prstGeom prst="rect">
            <a:avLst/>
          </a:prstGeom>
          <a:solidFill>
            <a:srgbClr val="7FA8D9"/>
          </a:solidFill>
          <a:ln>
            <a:noFill/>
          </a:ln>
        </p:spPr>
        <p:txBody>
          <a:bodyPr/>
          <a:lstStyle/>
          <a:p>
            <a:endParaRPr/>
          </a:p>
        </p:txBody>
      </p:sp>
      <p:sp>
        <p:nvSpPr>
          <p:cNvPr id="323" name="T323"/>
          <p:cNvSpPr txBox="1"/>
          <p:nvPr/>
        </p:nvSpPr>
        <p:spPr>
          <a:xfrm>
            <a:off x="5215636" y="4699000"/>
            <a:ext cx="889000" cy="355600"/>
          </a:xfrm>
          <a:prstGeom prst="rect">
            <a:avLst/>
          </a:prstGeom>
          <a:noFill/>
        </p:spPr>
        <p:txBody>
          <a:bodyPr wrap="square" lIns="0" tIns="0" rIns="0" bIns="0" anchor="ctr"/>
          <a:lstStyle/>
          <a:p>
            <a:pPr algn="l">
              <a:lnSpc>
                <a:spcPct val="100000"/>
              </a:lnSpc>
              <a:buNone/>
            </a:pPr>
            <a:r>
              <a:rPr lang="en-US" sz="1600" dirty="0">
                <a:solidFill>
                  <a:srgbClr val="262626"/>
                </a:solidFill>
              </a:rPr>
              <a:t>7.9%</a:t>
            </a:r>
          </a:p>
        </p:txBody>
      </p:sp>
      <p:sp>
        <p:nvSpPr>
          <p:cNvPr id="324" name="T324"/>
          <p:cNvSpPr txBox="1"/>
          <p:nvPr/>
        </p:nvSpPr>
        <p:spPr>
          <a:xfrm>
            <a:off x="2413000" y="5156200"/>
            <a:ext cx="1676400" cy="355600"/>
          </a:xfrm>
          <a:prstGeom prst="rect">
            <a:avLst/>
          </a:prstGeom>
          <a:noFill/>
        </p:spPr>
        <p:txBody>
          <a:bodyPr wrap="square" lIns="0" tIns="0" rIns="0" bIns="0" anchor="ctr"/>
          <a:lstStyle/>
          <a:p>
            <a:pPr algn="r">
              <a:lnSpc>
                <a:spcPct val="100000"/>
              </a:lnSpc>
              <a:buNone/>
            </a:pPr>
            <a:r>
              <a:rPr lang="en-US" sz="1400" dirty="0">
                <a:solidFill>
                  <a:srgbClr val="262626"/>
                </a:solidFill>
              </a:rPr>
              <a:t>Five or more</a:t>
            </a:r>
          </a:p>
        </p:txBody>
      </p:sp>
      <p:sp>
        <p:nvSpPr>
          <p:cNvPr id="325" name="R325"/>
          <p:cNvSpPr/>
          <p:nvPr/>
        </p:nvSpPr>
        <p:spPr>
          <a:xfrm>
            <a:off x="4191000" y="5181600"/>
            <a:ext cx="5281168" cy="304800"/>
          </a:xfrm>
          <a:prstGeom prst="rect">
            <a:avLst/>
          </a:prstGeom>
          <a:solidFill>
            <a:srgbClr val="1E3A5C"/>
          </a:solidFill>
          <a:ln>
            <a:noFill/>
          </a:ln>
        </p:spPr>
        <p:txBody>
          <a:bodyPr/>
          <a:lstStyle/>
          <a:p>
            <a:endParaRPr/>
          </a:p>
        </p:txBody>
      </p:sp>
      <p:sp>
        <p:nvSpPr>
          <p:cNvPr id="326" name="T326"/>
          <p:cNvSpPr txBox="1"/>
          <p:nvPr/>
        </p:nvSpPr>
        <p:spPr>
          <a:xfrm>
            <a:off x="9573768" y="5156200"/>
            <a:ext cx="889000" cy="355600"/>
          </a:xfrm>
          <a:prstGeom prst="rect">
            <a:avLst/>
          </a:prstGeom>
          <a:noFill/>
        </p:spPr>
        <p:txBody>
          <a:bodyPr wrap="square" lIns="0" tIns="0" rIns="0" bIns="0" anchor="ctr"/>
          <a:lstStyle/>
          <a:p>
            <a:pPr algn="l">
              <a:lnSpc>
                <a:spcPct val="100000"/>
              </a:lnSpc>
              <a:buNone/>
            </a:pPr>
            <a:r>
              <a:rPr lang="en-US" sz="1600" dirty="0">
                <a:solidFill>
                  <a:srgbClr val="1E3A5C"/>
                </a:solidFill>
              </a:rPr>
              <a:t>45.2%</a:t>
            </a:r>
          </a:p>
        </p:txBody>
      </p:sp>
      <p:sp>
        <p:nvSpPr>
          <p:cNvPr id="327" name="L327"/>
          <p:cNvSpPr/>
          <p:nvPr/>
        </p:nvSpPr>
        <p:spPr>
          <a:xfrm>
            <a:off x="1117600" y="3378200"/>
            <a:ext cx="9956800" cy="6350"/>
          </a:xfrm>
          <a:prstGeom prst="line">
            <a:avLst/>
          </a:prstGeom>
          <a:ln w="12700">
            <a:solidFill>
              <a:srgbClr val="E6E6E6"/>
            </a:solidFill>
          </a:ln>
        </p:spPr>
        <p:txBody>
          <a:bodyPr/>
          <a:lstStyle/>
          <a:p>
            <a:endParaRPr/>
          </a:p>
        </p:txBody>
      </p:sp>
      <p:sp>
        <p:nvSpPr>
          <p:cNvPr id="328" name="L328"/>
          <p:cNvSpPr/>
          <p:nvPr/>
        </p:nvSpPr>
        <p:spPr>
          <a:xfrm>
            <a:off x="1117600" y="4546600"/>
            <a:ext cx="9956800" cy="6350"/>
          </a:xfrm>
          <a:prstGeom prst="line">
            <a:avLst/>
          </a:prstGeom>
          <a:ln w="12700">
            <a:solidFill>
              <a:srgbClr val="E6E6E6"/>
            </a:solidFill>
          </a:ln>
        </p:spPr>
        <p:txBody>
          <a:bodyPr/>
          <a:lstStyle/>
          <a:p>
            <a:endParaRPr/>
          </a:p>
        </p:txBody>
      </p:sp>
      <p:sp>
        <p:nvSpPr>
          <p:cNvPr id="329" name="Section label"/>
          <p:cNvSpPr txBox="1"/>
          <p:nvPr/>
        </p:nvSpPr>
        <p:spPr>
          <a:xfrm>
            <a:off x="841248" y="128016"/>
            <a:ext cx="5486400" cy="292608"/>
          </a:xfrm>
          <a:prstGeom prst="rect">
            <a:avLst/>
          </a:prstGeom>
          <a:noFill/>
        </p:spPr>
        <p:txBody>
          <a:bodyPr wrap="none" lIns="0" rIns="0" tIns="0" bIns="0">
            <a:spAutoFit/>
          </a:bodyPr>
          <a:lstStyle/>
          <a:p>
            <a:pPr algn="l"/>
            <a:r>
              <a:rPr sz="1200" b="1" spc="150">
                <a:solidFill>
                  <a:srgbClr val="E8963C"/>
                </a:solidFill>
              </a:rPr>
              <a:t>RESULTS</a:t>
            </a:r>
          </a:p>
        </p:txBody>
      </p:sp>
    </p:spTree>
    <p:extLst>
      <p:ext uri="{BB962C8B-B14F-4D97-AF65-F5344CB8AC3E}">
        <p14:creationId xmlns:p14="http://schemas.microsoft.com/office/powerpoint/2010/main" val="366399394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A86D94-03F0-6B83-C63C-3564CDED7C4A}"/>
              </a:ext>
            </a:extLst>
          </p:cNvPr>
          <p:cNvSpPr>
            <a:spLocks noGrp="1"/>
          </p:cNvSpPr>
          <p:nvPr>
            <p:ph type="title"/>
          </p:nvPr>
        </p:nvSpPr>
        <p:spPr/>
        <p:txBody>
          <a:bodyPr/>
          <a:lstStyle/>
          <a:p>
            <a:r>
              <a:rPr lang="en-US"/>
              <a:t>Main Results: Adjusted Prevalence Ratios</a:t>
            </a:r>
          </a:p>
        </p:txBody>
      </p:sp>
      <p:sp>
        <p:nvSpPr>
          <p:cNvPr id="301" name="T301"/>
          <p:cNvSpPr txBox="1"/>
          <p:nvPr/>
        </p:nvSpPr>
        <p:spPr>
          <a:xfrm>
            <a:off x="838200" y="1727200"/>
            <a:ext cx="10515600" cy="304800"/>
          </a:xfrm>
          <a:prstGeom prst="rect">
            <a:avLst/>
          </a:prstGeom>
          <a:noFill/>
        </p:spPr>
        <p:txBody>
          <a:bodyPr wrap="square" lIns="0" tIns="0" rIns="0" bIns="0" anchor="ctr"/>
          <a:lstStyle/>
          <a:p>
            <a:pPr algn="l">
              <a:lnSpc>
                <a:spcPct val="100000"/>
              </a:lnSpc>
              <a:buNone/>
            </a:pPr>
            <a:r>
              <a:rPr lang="en-US" sz="1600" dirty="0">
                <a:solidFill>
                  <a:srgbClr val="D9D9D9"/>
                </a:solidFill>
              </a:rPr>
              <a:t>Adjusted prevalence ratios (95% CI); dashed line marks no association</a:t>
            </a:r>
          </a:p>
        </p:txBody>
      </p:sp>
      <p:sp>
        <p:nvSpPr>
          <p:cNvPr id="302" name="R302"/>
          <p:cNvSpPr/>
          <p:nvPr/>
        </p:nvSpPr>
        <p:spPr>
          <a:xfrm>
            <a:off x="838200" y="2108200"/>
            <a:ext cx="5181600" cy="3708400"/>
          </a:xfrm>
          <a:prstGeom prst="roundRect">
            <a:avLst>
              <a:gd name="adj" fmla="val 3000"/>
            </a:avLst>
          </a:prstGeom>
          <a:solidFill>
            <a:srgbClr val="FFFFFF"/>
          </a:solidFill>
          <a:ln>
            <a:noFill/>
          </a:ln>
        </p:spPr>
        <p:txBody>
          <a:bodyPr/>
          <a:lstStyle/>
          <a:p>
            <a:endParaRPr/>
          </a:p>
        </p:txBody>
      </p:sp>
      <p:sp>
        <p:nvSpPr>
          <p:cNvPr id="303" name="T303"/>
          <p:cNvSpPr txBox="1"/>
          <p:nvPr/>
        </p:nvSpPr>
        <p:spPr>
          <a:xfrm>
            <a:off x="1005417" y="2260600"/>
            <a:ext cx="4673600" cy="355600"/>
          </a:xfrm>
          <a:prstGeom prst="rect">
            <a:avLst/>
          </a:prstGeom>
          <a:solidFill>
            <a:schemeClr val="tx2"/>
          </a:solidFill>
        </p:spPr>
        <p:txBody>
          <a:bodyPr wrap="square" lIns="0" tIns="0" rIns="0" bIns="0" anchor="ctr"/>
          <a:lstStyle/>
          <a:p>
            <a:pPr algn="ctr">
              <a:lnSpc>
                <a:spcPct val="100000"/>
              </a:lnSpc>
              <a:buNone/>
            </a:pPr>
            <a:r>
              <a:rPr lang="en-US" sz="1800" dirty="0">
                <a:solidFill>
                  <a:schemeClr val="bg1"/>
                </a:solidFill>
              </a:rPr>
              <a:t>Per traumatic event (Model A)</a:t>
            </a:r>
          </a:p>
        </p:txBody>
      </p:sp>
      <p:sp>
        <p:nvSpPr>
          <p:cNvPr id="304" name="L304"/>
          <p:cNvSpPr/>
          <p:nvPr/>
        </p:nvSpPr>
        <p:spPr>
          <a:xfrm>
            <a:off x="2489200" y="2819400"/>
            <a:ext cx="6350" cy="2260600"/>
          </a:xfrm>
          <a:prstGeom prst="line">
            <a:avLst/>
          </a:prstGeom>
          <a:ln w="12700" cap="rnd">
            <a:solidFill>
              <a:srgbClr val="8C8C8C"/>
            </a:solidFill>
            <a:prstDash val="dash"/>
          </a:ln>
        </p:spPr>
        <p:txBody>
          <a:bodyPr/>
          <a:lstStyle/>
          <a:p>
            <a:endParaRPr/>
          </a:p>
        </p:txBody>
      </p:sp>
      <p:sp>
        <p:nvSpPr>
          <p:cNvPr id="305" name="L305"/>
          <p:cNvSpPr/>
          <p:nvPr/>
        </p:nvSpPr>
        <p:spPr>
          <a:xfrm>
            <a:off x="2489200" y="5080000"/>
            <a:ext cx="3175000" cy="6350"/>
          </a:xfrm>
          <a:prstGeom prst="line">
            <a:avLst/>
          </a:prstGeom>
          <a:ln w="12700" cap="rnd">
            <a:solidFill>
              <a:srgbClr val="8C8C8C"/>
            </a:solidFill>
          </a:ln>
        </p:spPr>
        <p:txBody>
          <a:bodyPr/>
          <a:lstStyle/>
          <a:p>
            <a:endParaRPr/>
          </a:p>
        </p:txBody>
      </p:sp>
      <p:sp>
        <p:nvSpPr>
          <p:cNvPr id="306" name="L306"/>
          <p:cNvSpPr/>
          <p:nvPr/>
        </p:nvSpPr>
        <p:spPr>
          <a:xfrm>
            <a:off x="2489200" y="5080000"/>
            <a:ext cx="6350" cy="63500"/>
          </a:xfrm>
          <a:prstGeom prst="line">
            <a:avLst/>
          </a:prstGeom>
          <a:ln w="12700" cap="rnd">
            <a:solidFill>
              <a:srgbClr val="8C8C8C"/>
            </a:solidFill>
          </a:ln>
        </p:spPr>
        <p:txBody>
          <a:bodyPr/>
          <a:lstStyle/>
          <a:p>
            <a:endParaRPr/>
          </a:p>
        </p:txBody>
      </p:sp>
      <p:sp>
        <p:nvSpPr>
          <p:cNvPr id="307" name="T307"/>
          <p:cNvSpPr txBox="1"/>
          <p:nvPr/>
        </p:nvSpPr>
        <p:spPr>
          <a:xfrm>
            <a:off x="2209800" y="5181600"/>
            <a:ext cx="558800" cy="254000"/>
          </a:xfrm>
          <a:prstGeom prst="rect">
            <a:avLst/>
          </a:prstGeom>
          <a:noFill/>
        </p:spPr>
        <p:txBody>
          <a:bodyPr wrap="square" lIns="0" tIns="0" rIns="0" bIns="0" anchor="ctr"/>
          <a:lstStyle/>
          <a:p>
            <a:pPr algn="ctr">
              <a:lnSpc>
                <a:spcPct val="100000"/>
              </a:lnSpc>
              <a:buNone/>
            </a:pPr>
            <a:r>
              <a:rPr lang="en-US" sz="1400" dirty="0">
                <a:solidFill>
                  <a:srgbClr val="595959"/>
                </a:solidFill>
              </a:rPr>
              <a:t>1.0</a:t>
            </a:r>
          </a:p>
        </p:txBody>
      </p:sp>
      <p:sp>
        <p:nvSpPr>
          <p:cNvPr id="308" name="L308"/>
          <p:cNvSpPr/>
          <p:nvPr/>
        </p:nvSpPr>
        <p:spPr>
          <a:xfrm>
            <a:off x="3547533" y="5080000"/>
            <a:ext cx="6350" cy="63500"/>
          </a:xfrm>
          <a:prstGeom prst="line">
            <a:avLst/>
          </a:prstGeom>
          <a:ln w="12700" cap="rnd">
            <a:solidFill>
              <a:srgbClr val="8C8C8C"/>
            </a:solidFill>
          </a:ln>
        </p:spPr>
        <p:txBody>
          <a:bodyPr/>
          <a:lstStyle/>
          <a:p>
            <a:endParaRPr/>
          </a:p>
        </p:txBody>
      </p:sp>
      <p:sp>
        <p:nvSpPr>
          <p:cNvPr id="309" name="T309"/>
          <p:cNvSpPr txBox="1"/>
          <p:nvPr/>
        </p:nvSpPr>
        <p:spPr>
          <a:xfrm>
            <a:off x="3268133" y="5181600"/>
            <a:ext cx="558800" cy="254000"/>
          </a:xfrm>
          <a:prstGeom prst="rect">
            <a:avLst/>
          </a:prstGeom>
          <a:noFill/>
        </p:spPr>
        <p:txBody>
          <a:bodyPr wrap="square" lIns="0" tIns="0" rIns="0" bIns="0" anchor="ctr"/>
          <a:lstStyle/>
          <a:p>
            <a:pPr algn="ctr">
              <a:lnSpc>
                <a:spcPct val="100000"/>
              </a:lnSpc>
              <a:buNone/>
            </a:pPr>
            <a:r>
              <a:rPr lang="en-US" sz="1400" dirty="0">
                <a:solidFill>
                  <a:srgbClr val="595959"/>
                </a:solidFill>
              </a:rPr>
              <a:t>1.1</a:t>
            </a:r>
          </a:p>
        </p:txBody>
      </p:sp>
      <p:sp>
        <p:nvSpPr>
          <p:cNvPr id="310" name="L310"/>
          <p:cNvSpPr/>
          <p:nvPr/>
        </p:nvSpPr>
        <p:spPr>
          <a:xfrm>
            <a:off x="4605867" y="5080000"/>
            <a:ext cx="6350" cy="63500"/>
          </a:xfrm>
          <a:prstGeom prst="line">
            <a:avLst/>
          </a:prstGeom>
          <a:ln w="12700" cap="rnd">
            <a:solidFill>
              <a:srgbClr val="8C8C8C"/>
            </a:solidFill>
          </a:ln>
        </p:spPr>
        <p:txBody>
          <a:bodyPr/>
          <a:lstStyle/>
          <a:p>
            <a:endParaRPr/>
          </a:p>
        </p:txBody>
      </p:sp>
      <p:sp>
        <p:nvSpPr>
          <p:cNvPr id="311" name="T311"/>
          <p:cNvSpPr txBox="1"/>
          <p:nvPr/>
        </p:nvSpPr>
        <p:spPr>
          <a:xfrm>
            <a:off x="4326467" y="5181600"/>
            <a:ext cx="558800" cy="254000"/>
          </a:xfrm>
          <a:prstGeom prst="rect">
            <a:avLst/>
          </a:prstGeom>
          <a:noFill/>
        </p:spPr>
        <p:txBody>
          <a:bodyPr wrap="square" lIns="0" tIns="0" rIns="0" bIns="0" anchor="ctr"/>
          <a:lstStyle/>
          <a:p>
            <a:pPr algn="ctr">
              <a:lnSpc>
                <a:spcPct val="100000"/>
              </a:lnSpc>
              <a:buNone/>
            </a:pPr>
            <a:r>
              <a:rPr lang="en-US" sz="1400" dirty="0">
                <a:solidFill>
                  <a:srgbClr val="595959"/>
                </a:solidFill>
              </a:rPr>
              <a:t>1.2</a:t>
            </a:r>
          </a:p>
        </p:txBody>
      </p:sp>
      <p:sp>
        <p:nvSpPr>
          <p:cNvPr id="312" name="L312"/>
          <p:cNvSpPr/>
          <p:nvPr/>
        </p:nvSpPr>
        <p:spPr>
          <a:xfrm>
            <a:off x="5664200" y="5080000"/>
            <a:ext cx="6350" cy="63500"/>
          </a:xfrm>
          <a:prstGeom prst="line">
            <a:avLst/>
          </a:prstGeom>
          <a:ln w="12700" cap="rnd">
            <a:solidFill>
              <a:srgbClr val="8C8C8C"/>
            </a:solidFill>
          </a:ln>
        </p:spPr>
        <p:txBody>
          <a:bodyPr/>
          <a:lstStyle/>
          <a:p>
            <a:endParaRPr/>
          </a:p>
        </p:txBody>
      </p:sp>
      <p:sp>
        <p:nvSpPr>
          <p:cNvPr id="313" name="T313"/>
          <p:cNvSpPr txBox="1"/>
          <p:nvPr/>
        </p:nvSpPr>
        <p:spPr>
          <a:xfrm>
            <a:off x="5384800" y="5181600"/>
            <a:ext cx="558800" cy="254000"/>
          </a:xfrm>
          <a:prstGeom prst="rect">
            <a:avLst/>
          </a:prstGeom>
          <a:noFill/>
        </p:spPr>
        <p:txBody>
          <a:bodyPr wrap="square" lIns="0" tIns="0" rIns="0" bIns="0" anchor="ctr"/>
          <a:lstStyle/>
          <a:p>
            <a:pPr algn="ctr">
              <a:lnSpc>
                <a:spcPct val="100000"/>
              </a:lnSpc>
              <a:buNone/>
            </a:pPr>
            <a:r>
              <a:rPr lang="en-US" sz="1400" dirty="0">
                <a:solidFill>
                  <a:srgbClr val="595959"/>
                </a:solidFill>
              </a:rPr>
              <a:t>1.3</a:t>
            </a:r>
          </a:p>
        </p:txBody>
      </p:sp>
      <p:sp>
        <p:nvSpPr>
          <p:cNvPr id="314" name="T314"/>
          <p:cNvSpPr txBox="1"/>
          <p:nvPr/>
        </p:nvSpPr>
        <p:spPr>
          <a:xfrm>
            <a:off x="1092200" y="2971800"/>
            <a:ext cx="1320800" cy="355600"/>
          </a:xfrm>
          <a:prstGeom prst="rect">
            <a:avLst/>
          </a:prstGeom>
          <a:noFill/>
        </p:spPr>
        <p:txBody>
          <a:bodyPr wrap="square" lIns="0" tIns="0" rIns="0" bIns="0" anchor="ctr"/>
          <a:lstStyle/>
          <a:p>
            <a:pPr algn="l">
              <a:lnSpc>
                <a:spcPct val="100000"/>
              </a:lnSpc>
              <a:buNone/>
            </a:pPr>
            <a:r>
              <a:rPr lang="en-US" sz="1600" dirty="0">
                <a:solidFill>
                  <a:srgbClr val="262626"/>
                </a:solidFill>
              </a:rPr>
              <a:t>PTSD</a:t>
            </a:r>
          </a:p>
        </p:txBody>
      </p:sp>
      <p:sp>
        <p:nvSpPr>
          <p:cNvPr id="315" name="L315"/>
          <p:cNvSpPr/>
          <p:nvPr/>
        </p:nvSpPr>
        <p:spPr>
          <a:xfrm>
            <a:off x="3230033" y="3149600"/>
            <a:ext cx="1693333" cy="6350"/>
          </a:xfrm>
          <a:prstGeom prst="line">
            <a:avLst/>
          </a:prstGeom>
          <a:ln w="31750" cap="rnd">
            <a:solidFill>
              <a:srgbClr val="1E3A5C"/>
            </a:solidFill>
          </a:ln>
        </p:spPr>
        <p:txBody>
          <a:bodyPr/>
          <a:lstStyle/>
          <a:p>
            <a:endParaRPr/>
          </a:p>
        </p:txBody>
      </p:sp>
      <p:sp>
        <p:nvSpPr>
          <p:cNvPr id="316" name="L316"/>
          <p:cNvSpPr/>
          <p:nvPr/>
        </p:nvSpPr>
        <p:spPr>
          <a:xfrm>
            <a:off x="3230033" y="3073400"/>
            <a:ext cx="6350" cy="152400"/>
          </a:xfrm>
          <a:prstGeom prst="line">
            <a:avLst/>
          </a:prstGeom>
          <a:ln w="25400" cap="rnd">
            <a:solidFill>
              <a:srgbClr val="1E3A5C"/>
            </a:solidFill>
          </a:ln>
        </p:spPr>
        <p:txBody>
          <a:bodyPr/>
          <a:lstStyle/>
          <a:p>
            <a:endParaRPr/>
          </a:p>
        </p:txBody>
      </p:sp>
      <p:sp>
        <p:nvSpPr>
          <p:cNvPr id="317" name="L317"/>
          <p:cNvSpPr/>
          <p:nvPr/>
        </p:nvSpPr>
        <p:spPr>
          <a:xfrm>
            <a:off x="4923367" y="3073400"/>
            <a:ext cx="6350" cy="152400"/>
          </a:xfrm>
          <a:prstGeom prst="line">
            <a:avLst/>
          </a:prstGeom>
          <a:ln w="25400" cap="rnd">
            <a:solidFill>
              <a:srgbClr val="1E3A5C"/>
            </a:solidFill>
          </a:ln>
        </p:spPr>
        <p:txBody>
          <a:bodyPr/>
          <a:lstStyle/>
          <a:p>
            <a:endParaRPr/>
          </a:p>
        </p:txBody>
      </p:sp>
      <p:sp>
        <p:nvSpPr>
          <p:cNvPr id="318" name="D318"/>
          <p:cNvSpPr/>
          <p:nvPr/>
        </p:nvSpPr>
        <p:spPr>
          <a:xfrm>
            <a:off x="3987800" y="3060700"/>
            <a:ext cx="177800" cy="177800"/>
          </a:xfrm>
          <a:prstGeom prst="ellipse">
            <a:avLst/>
          </a:prstGeom>
          <a:solidFill>
            <a:srgbClr val="1E3A5C"/>
          </a:solidFill>
          <a:ln>
            <a:noFill/>
          </a:ln>
        </p:spPr>
        <p:txBody>
          <a:bodyPr/>
          <a:lstStyle/>
          <a:p>
            <a:endParaRPr/>
          </a:p>
        </p:txBody>
      </p:sp>
      <p:sp>
        <p:nvSpPr>
          <p:cNvPr id="319" name="T319"/>
          <p:cNvSpPr txBox="1"/>
          <p:nvPr/>
        </p:nvSpPr>
        <p:spPr>
          <a:xfrm>
            <a:off x="3568700" y="2743200"/>
            <a:ext cx="1016000" cy="228600"/>
          </a:xfrm>
          <a:prstGeom prst="rect">
            <a:avLst/>
          </a:prstGeom>
          <a:noFill/>
        </p:spPr>
        <p:txBody>
          <a:bodyPr wrap="square" lIns="0" tIns="0" rIns="0" bIns="0" anchor="ctr"/>
          <a:lstStyle/>
          <a:p>
            <a:pPr algn="ctr">
              <a:lnSpc>
                <a:spcPct val="100000"/>
              </a:lnSpc>
              <a:buNone/>
            </a:pPr>
            <a:r>
              <a:rPr lang="en-US" sz="1400" dirty="0">
                <a:solidFill>
                  <a:srgbClr val="1E3A5C"/>
                </a:solidFill>
              </a:rPr>
              <a:t>1.15</a:t>
            </a:r>
          </a:p>
        </p:txBody>
      </p:sp>
      <p:sp>
        <p:nvSpPr>
          <p:cNvPr id="320" name="T320"/>
          <p:cNvSpPr txBox="1"/>
          <p:nvPr/>
        </p:nvSpPr>
        <p:spPr>
          <a:xfrm>
            <a:off x="1092200" y="3632200"/>
            <a:ext cx="1320800" cy="355600"/>
          </a:xfrm>
          <a:prstGeom prst="rect">
            <a:avLst/>
          </a:prstGeom>
          <a:noFill/>
        </p:spPr>
        <p:txBody>
          <a:bodyPr wrap="square" lIns="0" tIns="0" rIns="0" bIns="0" anchor="ctr"/>
          <a:lstStyle/>
          <a:p>
            <a:pPr algn="l">
              <a:lnSpc>
                <a:spcPct val="100000"/>
              </a:lnSpc>
              <a:buNone/>
            </a:pPr>
            <a:r>
              <a:rPr lang="en-US" sz="1600" dirty="0">
                <a:solidFill>
                  <a:srgbClr val="262626"/>
                </a:solidFill>
              </a:rPr>
              <a:t>Depression</a:t>
            </a:r>
          </a:p>
        </p:txBody>
      </p:sp>
      <p:sp>
        <p:nvSpPr>
          <p:cNvPr id="321" name="L321"/>
          <p:cNvSpPr/>
          <p:nvPr/>
        </p:nvSpPr>
        <p:spPr>
          <a:xfrm>
            <a:off x="3441700" y="3810000"/>
            <a:ext cx="1375833" cy="6350"/>
          </a:xfrm>
          <a:prstGeom prst="line">
            <a:avLst/>
          </a:prstGeom>
          <a:ln w="31750" cap="rnd">
            <a:solidFill>
              <a:srgbClr val="1E3A5C"/>
            </a:solidFill>
          </a:ln>
        </p:spPr>
        <p:txBody>
          <a:bodyPr/>
          <a:lstStyle/>
          <a:p>
            <a:endParaRPr/>
          </a:p>
        </p:txBody>
      </p:sp>
      <p:sp>
        <p:nvSpPr>
          <p:cNvPr id="322" name="L322"/>
          <p:cNvSpPr/>
          <p:nvPr/>
        </p:nvSpPr>
        <p:spPr>
          <a:xfrm>
            <a:off x="3441700" y="3733800"/>
            <a:ext cx="6350" cy="152400"/>
          </a:xfrm>
          <a:prstGeom prst="line">
            <a:avLst/>
          </a:prstGeom>
          <a:ln w="25400" cap="rnd">
            <a:solidFill>
              <a:srgbClr val="1E3A5C"/>
            </a:solidFill>
          </a:ln>
        </p:spPr>
        <p:txBody>
          <a:bodyPr/>
          <a:lstStyle/>
          <a:p>
            <a:endParaRPr/>
          </a:p>
        </p:txBody>
      </p:sp>
      <p:sp>
        <p:nvSpPr>
          <p:cNvPr id="323" name="L323"/>
          <p:cNvSpPr/>
          <p:nvPr/>
        </p:nvSpPr>
        <p:spPr>
          <a:xfrm>
            <a:off x="4817533" y="3733800"/>
            <a:ext cx="6350" cy="152400"/>
          </a:xfrm>
          <a:prstGeom prst="line">
            <a:avLst/>
          </a:prstGeom>
          <a:ln w="25400" cap="rnd">
            <a:solidFill>
              <a:srgbClr val="1E3A5C"/>
            </a:solidFill>
          </a:ln>
        </p:spPr>
        <p:txBody>
          <a:bodyPr/>
          <a:lstStyle/>
          <a:p>
            <a:endParaRPr/>
          </a:p>
        </p:txBody>
      </p:sp>
      <p:sp>
        <p:nvSpPr>
          <p:cNvPr id="324" name="D324"/>
          <p:cNvSpPr/>
          <p:nvPr/>
        </p:nvSpPr>
        <p:spPr>
          <a:xfrm>
            <a:off x="3987800" y="3721100"/>
            <a:ext cx="177800" cy="177800"/>
          </a:xfrm>
          <a:prstGeom prst="ellipse">
            <a:avLst/>
          </a:prstGeom>
          <a:solidFill>
            <a:srgbClr val="1E3A5C"/>
          </a:solidFill>
          <a:ln>
            <a:noFill/>
          </a:ln>
        </p:spPr>
        <p:txBody>
          <a:bodyPr/>
          <a:lstStyle/>
          <a:p>
            <a:endParaRPr/>
          </a:p>
        </p:txBody>
      </p:sp>
      <p:sp>
        <p:nvSpPr>
          <p:cNvPr id="325" name="T325"/>
          <p:cNvSpPr txBox="1"/>
          <p:nvPr/>
        </p:nvSpPr>
        <p:spPr>
          <a:xfrm>
            <a:off x="3568700" y="3403600"/>
            <a:ext cx="1016000" cy="228600"/>
          </a:xfrm>
          <a:prstGeom prst="rect">
            <a:avLst/>
          </a:prstGeom>
          <a:noFill/>
        </p:spPr>
        <p:txBody>
          <a:bodyPr wrap="square" lIns="0" tIns="0" rIns="0" bIns="0" anchor="ctr"/>
          <a:lstStyle/>
          <a:p>
            <a:pPr algn="ctr">
              <a:lnSpc>
                <a:spcPct val="100000"/>
              </a:lnSpc>
              <a:buNone/>
            </a:pPr>
            <a:r>
              <a:rPr lang="en-US" sz="1400" dirty="0">
                <a:solidFill>
                  <a:srgbClr val="1E3A5C"/>
                </a:solidFill>
              </a:rPr>
              <a:t>1.15</a:t>
            </a:r>
          </a:p>
        </p:txBody>
      </p:sp>
      <p:sp>
        <p:nvSpPr>
          <p:cNvPr id="326" name="T326"/>
          <p:cNvSpPr txBox="1"/>
          <p:nvPr/>
        </p:nvSpPr>
        <p:spPr>
          <a:xfrm>
            <a:off x="1092200" y="4292600"/>
            <a:ext cx="1320800" cy="355600"/>
          </a:xfrm>
          <a:prstGeom prst="rect">
            <a:avLst/>
          </a:prstGeom>
          <a:noFill/>
        </p:spPr>
        <p:txBody>
          <a:bodyPr wrap="square" lIns="0" tIns="0" rIns="0" bIns="0" anchor="ctr"/>
          <a:lstStyle/>
          <a:p>
            <a:pPr algn="l">
              <a:lnSpc>
                <a:spcPct val="100000"/>
              </a:lnSpc>
              <a:buNone/>
            </a:pPr>
            <a:r>
              <a:rPr lang="en-US" sz="1600" dirty="0">
                <a:solidFill>
                  <a:srgbClr val="262626"/>
                </a:solidFill>
              </a:rPr>
              <a:t>Anxiety</a:t>
            </a:r>
          </a:p>
        </p:txBody>
      </p:sp>
      <p:sp>
        <p:nvSpPr>
          <p:cNvPr id="327" name="L327"/>
          <p:cNvSpPr/>
          <p:nvPr/>
        </p:nvSpPr>
        <p:spPr>
          <a:xfrm>
            <a:off x="3335867" y="4470400"/>
            <a:ext cx="1375833" cy="6350"/>
          </a:xfrm>
          <a:prstGeom prst="line">
            <a:avLst/>
          </a:prstGeom>
          <a:ln w="31750" cap="rnd">
            <a:solidFill>
              <a:srgbClr val="1E3A5C"/>
            </a:solidFill>
          </a:ln>
        </p:spPr>
        <p:txBody>
          <a:bodyPr/>
          <a:lstStyle/>
          <a:p>
            <a:endParaRPr/>
          </a:p>
        </p:txBody>
      </p:sp>
      <p:sp>
        <p:nvSpPr>
          <p:cNvPr id="328" name="L328"/>
          <p:cNvSpPr/>
          <p:nvPr/>
        </p:nvSpPr>
        <p:spPr>
          <a:xfrm>
            <a:off x="3335867" y="4394200"/>
            <a:ext cx="6350" cy="152400"/>
          </a:xfrm>
          <a:prstGeom prst="line">
            <a:avLst/>
          </a:prstGeom>
          <a:ln w="25400" cap="rnd">
            <a:solidFill>
              <a:srgbClr val="1E3A5C"/>
            </a:solidFill>
          </a:ln>
        </p:spPr>
        <p:txBody>
          <a:bodyPr/>
          <a:lstStyle/>
          <a:p>
            <a:endParaRPr/>
          </a:p>
        </p:txBody>
      </p:sp>
      <p:sp>
        <p:nvSpPr>
          <p:cNvPr id="329" name="L329"/>
          <p:cNvSpPr/>
          <p:nvPr/>
        </p:nvSpPr>
        <p:spPr>
          <a:xfrm>
            <a:off x="4711700" y="4394200"/>
            <a:ext cx="6350" cy="152400"/>
          </a:xfrm>
          <a:prstGeom prst="line">
            <a:avLst/>
          </a:prstGeom>
          <a:ln w="25400" cap="rnd">
            <a:solidFill>
              <a:srgbClr val="1E3A5C"/>
            </a:solidFill>
          </a:ln>
        </p:spPr>
        <p:txBody>
          <a:bodyPr/>
          <a:lstStyle/>
          <a:p>
            <a:endParaRPr/>
          </a:p>
        </p:txBody>
      </p:sp>
      <p:sp>
        <p:nvSpPr>
          <p:cNvPr id="330" name="D330"/>
          <p:cNvSpPr/>
          <p:nvPr/>
        </p:nvSpPr>
        <p:spPr>
          <a:xfrm>
            <a:off x="3881967" y="4381500"/>
            <a:ext cx="177800" cy="177800"/>
          </a:xfrm>
          <a:prstGeom prst="ellipse">
            <a:avLst/>
          </a:prstGeom>
          <a:solidFill>
            <a:srgbClr val="1E3A5C"/>
          </a:solidFill>
          <a:ln>
            <a:noFill/>
          </a:ln>
        </p:spPr>
        <p:txBody>
          <a:bodyPr/>
          <a:lstStyle/>
          <a:p>
            <a:endParaRPr/>
          </a:p>
        </p:txBody>
      </p:sp>
      <p:sp>
        <p:nvSpPr>
          <p:cNvPr id="331" name="T331"/>
          <p:cNvSpPr txBox="1"/>
          <p:nvPr/>
        </p:nvSpPr>
        <p:spPr>
          <a:xfrm>
            <a:off x="3462867" y="4064000"/>
            <a:ext cx="1016000" cy="228600"/>
          </a:xfrm>
          <a:prstGeom prst="rect">
            <a:avLst/>
          </a:prstGeom>
          <a:noFill/>
        </p:spPr>
        <p:txBody>
          <a:bodyPr wrap="square" lIns="0" tIns="0" rIns="0" bIns="0" anchor="ctr"/>
          <a:lstStyle/>
          <a:p>
            <a:pPr algn="ctr">
              <a:lnSpc>
                <a:spcPct val="100000"/>
              </a:lnSpc>
              <a:buNone/>
            </a:pPr>
            <a:r>
              <a:rPr lang="en-US" sz="1400" dirty="0">
                <a:solidFill>
                  <a:srgbClr val="1E3A5C"/>
                </a:solidFill>
              </a:rPr>
              <a:t>1.14</a:t>
            </a:r>
          </a:p>
        </p:txBody>
      </p:sp>
      <p:sp>
        <p:nvSpPr>
          <p:cNvPr id="332" name="T332"/>
          <p:cNvSpPr txBox="1"/>
          <p:nvPr/>
        </p:nvSpPr>
        <p:spPr>
          <a:xfrm>
            <a:off x="1092200" y="5486400"/>
            <a:ext cx="4673600" cy="254000"/>
          </a:xfrm>
          <a:prstGeom prst="rect">
            <a:avLst/>
          </a:prstGeom>
          <a:noFill/>
        </p:spPr>
        <p:txBody>
          <a:bodyPr wrap="square" lIns="0" tIns="0" rIns="0" bIns="0" anchor="ctr"/>
          <a:lstStyle/>
          <a:p>
            <a:pPr algn="l">
              <a:lnSpc>
                <a:spcPct val="100000"/>
              </a:lnSpc>
              <a:buNone/>
            </a:pPr>
            <a:r>
              <a:rPr lang="en-US" sz="1400" dirty="0">
                <a:solidFill>
                  <a:srgbClr val="595959"/>
                </a:solidFill>
              </a:rPr>
              <a:t>Each added event: about 15% higher prevalence</a:t>
            </a:r>
          </a:p>
        </p:txBody>
      </p:sp>
      <p:sp>
        <p:nvSpPr>
          <p:cNvPr id="333" name="R333"/>
          <p:cNvSpPr/>
          <p:nvPr/>
        </p:nvSpPr>
        <p:spPr>
          <a:xfrm>
            <a:off x="6172200" y="2108200"/>
            <a:ext cx="5181600" cy="3708400"/>
          </a:xfrm>
          <a:prstGeom prst="roundRect">
            <a:avLst>
              <a:gd name="adj" fmla="val 3000"/>
            </a:avLst>
          </a:prstGeom>
          <a:solidFill>
            <a:srgbClr val="FFFFFF"/>
          </a:solidFill>
          <a:ln>
            <a:noFill/>
          </a:ln>
        </p:spPr>
        <p:txBody>
          <a:bodyPr/>
          <a:lstStyle/>
          <a:p>
            <a:endParaRPr/>
          </a:p>
        </p:txBody>
      </p:sp>
      <p:sp>
        <p:nvSpPr>
          <p:cNvPr id="334" name="T334"/>
          <p:cNvSpPr txBox="1"/>
          <p:nvPr/>
        </p:nvSpPr>
        <p:spPr>
          <a:xfrm>
            <a:off x="6426200" y="2260600"/>
            <a:ext cx="4673600" cy="355600"/>
          </a:xfrm>
          <a:prstGeom prst="rect">
            <a:avLst/>
          </a:prstGeom>
          <a:solidFill>
            <a:srgbClr val="C00000"/>
          </a:solidFill>
        </p:spPr>
        <p:txBody>
          <a:bodyPr wrap="square" lIns="0" tIns="0" rIns="0" bIns="0" anchor="ctr"/>
          <a:lstStyle/>
          <a:p>
            <a:pPr algn="ctr">
              <a:lnSpc>
                <a:spcPct val="100000"/>
              </a:lnSpc>
              <a:buNone/>
            </a:pPr>
            <a:r>
              <a:rPr lang="en-US" sz="1800" dirty="0">
                <a:solidFill>
                  <a:schemeClr val="bg1"/>
                </a:solidFill>
              </a:rPr>
              <a:t>IDP camp residence (Model B)</a:t>
            </a:r>
          </a:p>
        </p:txBody>
      </p:sp>
      <p:sp>
        <p:nvSpPr>
          <p:cNvPr id="335" name="L335"/>
          <p:cNvSpPr/>
          <p:nvPr/>
        </p:nvSpPr>
        <p:spPr>
          <a:xfrm>
            <a:off x="7823200" y="2819400"/>
            <a:ext cx="6350" cy="2260600"/>
          </a:xfrm>
          <a:prstGeom prst="line">
            <a:avLst/>
          </a:prstGeom>
          <a:ln w="12700" cap="rnd">
            <a:solidFill>
              <a:srgbClr val="8C8C8C"/>
            </a:solidFill>
            <a:prstDash val="dash"/>
          </a:ln>
        </p:spPr>
        <p:txBody>
          <a:bodyPr/>
          <a:lstStyle/>
          <a:p>
            <a:endParaRPr/>
          </a:p>
        </p:txBody>
      </p:sp>
      <p:sp>
        <p:nvSpPr>
          <p:cNvPr id="336" name="L336"/>
          <p:cNvSpPr/>
          <p:nvPr/>
        </p:nvSpPr>
        <p:spPr>
          <a:xfrm>
            <a:off x="7823200" y="5080000"/>
            <a:ext cx="3175000" cy="6350"/>
          </a:xfrm>
          <a:prstGeom prst="line">
            <a:avLst/>
          </a:prstGeom>
          <a:ln w="12700" cap="rnd">
            <a:solidFill>
              <a:srgbClr val="8C8C8C"/>
            </a:solidFill>
          </a:ln>
        </p:spPr>
        <p:txBody>
          <a:bodyPr/>
          <a:lstStyle/>
          <a:p>
            <a:endParaRPr/>
          </a:p>
        </p:txBody>
      </p:sp>
      <p:sp>
        <p:nvSpPr>
          <p:cNvPr id="337" name="L337"/>
          <p:cNvSpPr/>
          <p:nvPr/>
        </p:nvSpPr>
        <p:spPr>
          <a:xfrm>
            <a:off x="7823200" y="5080000"/>
            <a:ext cx="6350" cy="63500"/>
          </a:xfrm>
          <a:prstGeom prst="line">
            <a:avLst/>
          </a:prstGeom>
          <a:ln w="12700" cap="rnd">
            <a:solidFill>
              <a:srgbClr val="8C8C8C"/>
            </a:solidFill>
          </a:ln>
        </p:spPr>
        <p:txBody>
          <a:bodyPr/>
          <a:lstStyle/>
          <a:p>
            <a:endParaRPr/>
          </a:p>
        </p:txBody>
      </p:sp>
      <p:sp>
        <p:nvSpPr>
          <p:cNvPr id="338" name="T338"/>
          <p:cNvSpPr txBox="1"/>
          <p:nvPr/>
        </p:nvSpPr>
        <p:spPr>
          <a:xfrm>
            <a:off x="7543800" y="5181600"/>
            <a:ext cx="558800" cy="254000"/>
          </a:xfrm>
          <a:prstGeom prst="rect">
            <a:avLst/>
          </a:prstGeom>
          <a:noFill/>
        </p:spPr>
        <p:txBody>
          <a:bodyPr wrap="square" lIns="0" tIns="0" rIns="0" bIns="0" anchor="ctr"/>
          <a:lstStyle/>
          <a:p>
            <a:pPr algn="ctr">
              <a:lnSpc>
                <a:spcPct val="100000"/>
              </a:lnSpc>
              <a:buNone/>
            </a:pPr>
            <a:r>
              <a:rPr lang="en-US" sz="1400" dirty="0">
                <a:solidFill>
                  <a:srgbClr val="595959"/>
                </a:solidFill>
              </a:rPr>
              <a:t>1</a:t>
            </a:r>
          </a:p>
        </p:txBody>
      </p:sp>
      <p:sp>
        <p:nvSpPr>
          <p:cNvPr id="339" name="L339"/>
          <p:cNvSpPr/>
          <p:nvPr/>
        </p:nvSpPr>
        <p:spPr>
          <a:xfrm>
            <a:off x="9190598" y="5080000"/>
            <a:ext cx="6350" cy="63500"/>
          </a:xfrm>
          <a:prstGeom prst="line">
            <a:avLst/>
          </a:prstGeom>
          <a:ln w="12700" cap="rnd">
            <a:solidFill>
              <a:srgbClr val="8C8C8C"/>
            </a:solidFill>
          </a:ln>
        </p:spPr>
        <p:txBody>
          <a:bodyPr/>
          <a:lstStyle/>
          <a:p>
            <a:endParaRPr/>
          </a:p>
        </p:txBody>
      </p:sp>
      <p:sp>
        <p:nvSpPr>
          <p:cNvPr id="340" name="T340"/>
          <p:cNvSpPr txBox="1"/>
          <p:nvPr/>
        </p:nvSpPr>
        <p:spPr>
          <a:xfrm>
            <a:off x="8911198" y="5181600"/>
            <a:ext cx="558800" cy="254000"/>
          </a:xfrm>
          <a:prstGeom prst="rect">
            <a:avLst/>
          </a:prstGeom>
          <a:noFill/>
        </p:spPr>
        <p:txBody>
          <a:bodyPr wrap="square" lIns="0" tIns="0" rIns="0" bIns="0" anchor="ctr"/>
          <a:lstStyle/>
          <a:p>
            <a:pPr algn="ctr">
              <a:lnSpc>
                <a:spcPct val="100000"/>
              </a:lnSpc>
              <a:buNone/>
            </a:pPr>
            <a:r>
              <a:rPr lang="en-US" sz="1400" dirty="0">
                <a:solidFill>
                  <a:srgbClr val="595959"/>
                </a:solidFill>
              </a:rPr>
              <a:t>2</a:t>
            </a:r>
          </a:p>
        </p:txBody>
      </p:sp>
      <p:sp>
        <p:nvSpPr>
          <p:cNvPr id="341" name="L341"/>
          <p:cNvSpPr/>
          <p:nvPr/>
        </p:nvSpPr>
        <p:spPr>
          <a:xfrm>
            <a:off x="9990475" y="5080000"/>
            <a:ext cx="6350" cy="63500"/>
          </a:xfrm>
          <a:prstGeom prst="line">
            <a:avLst/>
          </a:prstGeom>
          <a:ln w="12700" cap="rnd">
            <a:solidFill>
              <a:srgbClr val="8C8C8C"/>
            </a:solidFill>
          </a:ln>
        </p:spPr>
        <p:txBody>
          <a:bodyPr/>
          <a:lstStyle/>
          <a:p>
            <a:endParaRPr/>
          </a:p>
        </p:txBody>
      </p:sp>
      <p:sp>
        <p:nvSpPr>
          <p:cNvPr id="342" name="T342"/>
          <p:cNvSpPr txBox="1"/>
          <p:nvPr/>
        </p:nvSpPr>
        <p:spPr>
          <a:xfrm>
            <a:off x="9711075" y="5181600"/>
            <a:ext cx="558800" cy="254000"/>
          </a:xfrm>
          <a:prstGeom prst="rect">
            <a:avLst/>
          </a:prstGeom>
          <a:noFill/>
        </p:spPr>
        <p:txBody>
          <a:bodyPr wrap="square" lIns="0" tIns="0" rIns="0" bIns="0" anchor="ctr"/>
          <a:lstStyle/>
          <a:p>
            <a:pPr algn="ctr">
              <a:lnSpc>
                <a:spcPct val="100000"/>
              </a:lnSpc>
              <a:buNone/>
            </a:pPr>
            <a:r>
              <a:rPr lang="en-US" sz="1400" dirty="0">
                <a:solidFill>
                  <a:srgbClr val="595959"/>
                </a:solidFill>
              </a:rPr>
              <a:t>3</a:t>
            </a:r>
          </a:p>
        </p:txBody>
      </p:sp>
      <p:sp>
        <p:nvSpPr>
          <p:cNvPr id="343" name="L343"/>
          <p:cNvSpPr/>
          <p:nvPr/>
        </p:nvSpPr>
        <p:spPr>
          <a:xfrm>
            <a:off x="10557996" y="5080000"/>
            <a:ext cx="6350" cy="63500"/>
          </a:xfrm>
          <a:prstGeom prst="line">
            <a:avLst/>
          </a:prstGeom>
          <a:ln w="12700" cap="rnd">
            <a:solidFill>
              <a:srgbClr val="8C8C8C"/>
            </a:solidFill>
          </a:ln>
        </p:spPr>
        <p:txBody>
          <a:bodyPr/>
          <a:lstStyle/>
          <a:p>
            <a:endParaRPr/>
          </a:p>
        </p:txBody>
      </p:sp>
      <p:sp>
        <p:nvSpPr>
          <p:cNvPr id="344" name="T344"/>
          <p:cNvSpPr txBox="1"/>
          <p:nvPr/>
        </p:nvSpPr>
        <p:spPr>
          <a:xfrm>
            <a:off x="10278596" y="5181600"/>
            <a:ext cx="558800" cy="254000"/>
          </a:xfrm>
          <a:prstGeom prst="rect">
            <a:avLst/>
          </a:prstGeom>
          <a:noFill/>
        </p:spPr>
        <p:txBody>
          <a:bodyPr wrap="square" lIns="0" tIns="0" rIns="0" bIns="0" anchor="ctr"/>
          <a:lstStyle/>
          <a:p>
            <a:pPr algn="ctr">
              <a:lnSpc>
                <a:spcPct val="100000"/>
              </a:lnSpc>
              <a:buNone/>
            </a:pPr>
            <a:r>
              <a:rPr lang="en-US" sz="1400" dirty="0">
                <a:solidFill>
                  <a:srgbClr val="595959"/>
                </a:solidFill>
              </a:rPr>
              <a:t>4</a:t>
            </a:r>
          </a:p>
        </p:txBody>
      </p:sp>
      <p:sp>
        <p:nvSpPr>
          <p:cNvPr id="345" name="L345"/>
          <p:cNvSpPr/>
          <p:nvPr/>
        </p:nvSpPr>
        <p:spPr>
          <a:xfrm>
            <a:off x="10998200" y="5080000"/>
            <a:ext cx="6350" cy="63500"/>
          </a:xfrm>
          <a:prstGeom prst="line">
            <a:avLst/>
          </a:prstGeom>
          <a:ln w="12700" cap="rnd">
            <a:solidFill>
              <a:srgbClr val="8C8C8C"/>
            </a:solidFill>
          </a:ln>
        </p:spPr>
        <p:txBody>
          <a:bodyPr/>
          <a:lstStyle/>
          <a:p>
            <a:endParaRPr/>
          </a:p>
        </p:txBody>
      </p:sp>
      <p:sp>
        <p:nvSpPr>
          <p:cNvPr id="346" name="T346"/>
          <p:cNvSpPr txBox="1"/>
          <p:nvPr/>
        </p:nvSpPr>
        <p:spPr>
          <a:xfrm>
            <a:off x="10718800" y="5181600"/>
            <a:ext cx="558800" cy="254000"/>
          </a:xfrm>
          <a:prstGeom prst="rect">
            <a:avLst/>
          </a:prstGeom>
          <a:noFill/>
        </p:spPr>
        <p:txBody>
          <a:bodyPr wrap="square" lIns="0" tIns="0" rIns="0" bIns="0" anchor="ctr"/>
          <a:lstStyle/>
          <a:p>
            <a:pPr algn="ctr">
              <a:lnSpc>
                <a:spcPct val="100000"/>
              </a:lnSpc>
              <a:buNone/>
            </a:pPr>
            <a:r>
              <a:rPr lang="en-US" sz="1400" dirty="0">
                <a:solidFill>
                  <a:srgbClr val="595959"/>
                </a:solidFill>
              </a:rPr>
              <a:t>5</a:t>
            </a:r>
          </a:p>
        </p:txBody>
      </p:sp>
      <p:sp>
        <p:nvSpPr>
          <p:cNvPr id="347" name="T347"/>
          <p:cNvSpPr txBox="1"/>
          <p:nvPr/>
        </p:nvSpPr>
        <p:spPr>
          <a:xfrm>
            <a:off x="6426200" y="2971800"/>
            <a:ext cx="1320800" cy="355600"/>
          </a:xfrm>
          <a:prstGeom prst="rect">
            <a:avLst/>
          </a:prstGeom>
          <a:noFill/>
        </p:spPr>
        <p:txBody>
          <a:bodyPr wrap="square" lIns="0" tIns="0" rIns="0" bIns="0" anchor="ctr"/>
          <a:lstStyle/>
          <a:p>
            <a:pPr algn="l">
              <a:lnSpc>
                <a:spcPct val="100000"/>
              </a:lnSpc>
              <a:buNone/>
            </a:pPr>
            <a:r>
              <a:rPr lang="en-US" sz="1600" dirty="0">
                <a:solidFill>
                  <a:srgbClr val="262626"/>
                </a:solidFill>
              </a:rPr>
              <a:t>PTSD</a:t>
            </a:r>
          </a:p>
        </p:txBody>
      </p:sp>
      <p:sp>
        <p:nvSpPr>
          <p:cNvPr id="348" name="L348"/>
          <p:cNvSpPr/>
          <p:nvPr/>
        </p:nvSpPr>
        <p:spPr>
          <a:xfrm>
            <a:off x="8247558" y="3149600"/>
            <a:ext cx="2462262" cy="6350"/>
          </a:xfrm>
          <a:prstGeom prst="line">
            <a:avLst/>
          </a:prstGeom>
          <a:ln w="31750" cap="rnd">
            <a:solidFill>
              <a:srgbClr val="C8102E"/>
            </a:solidFill>
          </a:ln>
        </p:spPr>
        <p:txBody>
          <a:bodyPr/>
          <a:lstStyle/>
          <a:p>
            <a:endParaRPr/>
          </a:p>
        </p:txBody>
      </p:sp>
      <p:sp>
        <p:nvSpPr>
          <p:cNvPr id="349" name="L349"/>
          <p:cNvSpPr/>
          <p:nvPr/>
        </p:nvSpPr>
        <p:spPr>
          <a:xfrm>
            <a:off x="8247558" y="3073400"/>
            <a:ext cx="6350" cy="152400"/>
          </a:xfrm>
          <a:prstGeom prst="line">
            <a:avLst/>
          </a:prstGeom>
          <a:ln w="25400" cap="rnd">
            <a:solidFill>
              <a:srgbClr val="C8102E"/>
            </a:solidFill>
          </a:ln>
        </p:spPr>
        <p:txBody>
          <a:bodyPr/>
          <a:lstStyle/>
          <a:p>
            <a:endParaRPr/>
          </a:p>
        </p:txBody>
      </p:sp>
      <p:sp>
        <p:nvSpPr>
          <p:cNvPr id="350" name="L350"/>
          <p:cNvSpPr/>
          <p:nvPr/>
        </p:nvSpPr>
        <p:spPr>
          <a:xfrm>
            <a:off x="10709820" y="3073400"/>
            <a:ext cx="6350" cy="152400"/>
          </a:xfrm>
          <a:prstGeom prst="line">
            <a:avLst/>
          </a:prstGeom>
          <a:ln w="25400" cap="rnd">
            <a:solidFill>
              <a:srgbClr val="C8102E"/>
            </a:solidFill>
          </a:ln>
        </p:spPr>
        <p:txBody>
          <a:bodyPr/>
          <a:lstStyle/>
          <a:p>
            <a:endParaRPr/>
          </a:p>
        </p:txBody>
      </p:sp>
      <p:sp>
        <p:nvSpPr>
          <p:cNvPr id="351" name="D351"/>
          <p:cNvSpPr/>
          <p:nvPr/>
        </p:nvSpPr>
        <p:spPr>
          <a:xfrm>
            <a:off x="9394492" y="3060700"/>
            <a:ext cx="177800" cy="177800"/>
          </a:xfrm>
          <a:prstGeom prst="ellipse">
            <a:avLst/>
          </a:prstGeom>
          <a:solidFill>
            <a:srgbClr val="C8102E"/>
          </a:solidFill>
          <a:ln>
            <a:noFill/>
          </a:ln>
        </p:spPr>
        <p:txBody>
          <a:bodyPr/>
          <a:lstStyle/>
          <a:p>
            <a:endParaRPr/>
          </a:p>
        </p:txBody>
      </p:sp>
      <p:sp>
        <p:nvSpPr>
          <p:cNvPr id="352" name="T352"/>
          <p:cNvSpPr txBox="1"/>
          <p:nvPr/>
        </p:nvSpPr>
        <p:spPr>
          <a:xfrm>
            <a:off x="8975392" y="2743200"/>
            <a:ext cx="1016000" cy="228600"/>
          </a:xfrm>
          <a:prstGeom prst="rect">
            <a:avLst/>
          </a:prstGeom>
          <a:noFill/>
        </p:spPr>
        <p:txBody>
          <a:bodyPr wrap="square" lIns="0" tIns="0" rIns="0" bIns="0" anchor="ctr"/>
          <a:lstStyle/>
          <a:p>
            <a:pPr algn="ctr">
              <a:lnSpc>
                <a:spcPct val="100000"/>
              </a:lnSpc>
              <a:buNone/>
            </a:pPr>
            <a:r>
              <a:rPr lang="en-US" sz="1400" dirty="0">
                <a:solidFill>
                  <a:srgbClr val="C8102E"/>
                </a:solidFill>
              </a:rPr>
              <a:t>2.32</a:t>
            </a:r>
          </a:p>
        </p:txBody>
      </p:sp>
      <p:sp>
        <p:nvSpPr>
          <p:cNvPr id="353" name="T353"/>
          <p:cNvSpPr txBox="1"/>
          <p:nvPr/>
        </p:nvSpPr>
        <p:spPr>
          <a:xfrm>
            <a:off x="6426200" y="3632200"/>
            <a:ext cx="1320800" cy="355600"/>
          </a:xfrm>
          <a:prstGeom prst="rect">
            <a:avLst/>
          </a:prstGeom>
          <a:noFill/>
        </p:spPr>
        <p:txBody>
          <a:bodyPr wrap="square" lIns="0" tIns="0" rIns="0" bIns="0" anchor="ctr"/>
          <a:lstStyle/>
          <a:p>
            <a:pPr algn="l">
              <a:lnSpc>
                <a:spcPct val="100000"/>
              </a:lnSpc>
              <a:buNone/>
            </a:pPr>
            <a:r>
              <a:rPr lang="en-US" sz="1600" dirty="0">
                <a:solidFill>
                  <a:srgbClr val="262626"/>
                </a:solidFill>
              </a:rPr>
              <a:t>Depression</a:t>
            </a:r>
          </a:p>
        </p:txBody>
      </p:sp>
      <p:sp>
        <p:nvSpPr>
          <p:cNvPr id="354" name="L354"/>
          <p:cNvSpPr/>
          <p:nvPr/>
        </p:nvSpPr>
        <p:spPr>
          <a:xfrm>
            <a:off x="8199244" y="3810000"/>
            <a:ext cx="1855916" cy="6350"/>
          </a:xfrm>
          <a:prstGeom prst="line">
            <a:avLst/>
          </a:prstGeom>
          <a:ln w="31750" cap="rnd">
            <a:solidFill>
              <a:srgbClr val="C8102E"/>
            </a:solidFill>
          </a:ln>
        </p:spPr>
        <p:txBody>
          <a:bodyPr/>
          <a:lstStyle/>
          <a:p>
            <a:endParaRPr/>
          </a:p>
        </p:txBody>
      </p:sp>
      <p:sp>
        <p:nvSpPr>
          <p:cNvPr id="355" name="L355"/>
          <p:cNvSpPr/>
          <p:nvPr/>
        </p:nvSpPr>
        <p:spPr>
          <a:xfrm>
            <a:off x="8199244" y="3733800"/>
            <a:ext cx="6350" cy="152400"/>
          </a:xfrm>
          <a:prstGeom prst="line">
            <a:avLst/>
          </a:prstGeom>
          <a:ln w="25400" cap="rnd">
            <a:solidFill>
              <a:srgbClr val="C8102E"/>
            </a:solidFill>
          </a:ln>
        </p:spPr>
        <p:txBody>
          <a:bodyPr/>
          <a:lstStyle/>
          <a:p>
            <a:endParaRPr/>
          </a:p>
        </p:txBody>
      </p:sp>
      <p:sp>
        <p:nvSpPr>
          <p:cNvPr id="356" name="L356"/>
          <p:cNvSpPr/>
          <p:nvPr/>
        </p:nvSpPr>
        <p:spPr>
          <a:xfrm>
            <a:off x="10055160" y="3733800"/>
            <a:ext cx="6350" cy="152400"/>
          </a:xfrm>
          <a:prstGeom prst="line">
            <a:avLst/>
          </a:prstGeom>
          <a:ln w="25400" cap="rnd">
            <a:solidFill>
              <a:srgbClr val="C8102E"/>
            </a:solidFill>
          </a:ln>
        </p:spPr>
        <p:txBody>
          <a:bodyPr/>
          <a:lstStyle/>
          <a:p>
            <a:endParaRPr/>
          </a:p>
        </p:txBody>
      </p:sp>
      <p:sp>
        <p:nvSpPr>
          <p:cNvPr id="357" name="D357"/>
          <p:cNvSpPr/>
          <p:nvPr/>
        </p:nvSpPr>
        <p:spPr>
          <a:xfrm>
            <a:off x="9041610" y="3721100"/>
            <a:ext cx="177800" cy="177800"/>
          </a:xfrm>
          <a:prstGeom prst="ellipse">
            <a:avLst/>
          </a:prstGeom>
          <a:solidFill>
            <a:srgbClr val="C8102E"/>
          </a:solidFill>
          <a:ln>
            <a:noFill/>
          </a:ln>
        </p:spPr>
        <p:txBody>
          <a:bodyPr/>
          <a:lstStyle/>
          <a:p>
            <a:endParaRPr/>
          </a:p>
        </p:txBody>
      </p:sp>
      <p:sp>
        <p:nvSpPr>
          <p:cNvPr id="358" name="T358"/>
          <p:cNvSpPr txBox="1"/>
          <p:nvPr/>
        </p:nvSpPr>
        <p:spPr>
          <a:xfrm>
            <a:off x="8622510" y="3403600"/>
            <a:ext cx="1016000" cy="228600"/>
          </a:xfrm>
          <a:prstGeom prst="rect">
            <a:avLst/>
          </a:prstGeom>
          <a:noFill/>
        </p:spPr>
        <p:txBody>
          <a:bodyPr wrap="square" lIns="0" tIns="0" rIns="0" bIns="0" anchor="ctr"/>
          <a:lstStyle/>
          <a:p>
            <a:pPr algn="ctr">
              <a:lnSpc>
                <a:spcPct val="100000"/>
              </a:lnSpc>
              <a:buNone/>
            </a:pPr>
            <a:r>
              <a:rPr lang="en-US" sz="1400" dirty="0">
                <a:solidFill>
                  <a:srgbClr val="C8102E"/>
                </a:solidFill>
              </a:rPr>
              <a:t>1.94</a:t>
            </a:r>
          </a:p>
        </p:txBody>
      </p:sp>
      <p:sp>
        <p:nvSpPr>
          <p:cNvPr id="359" name="T359"/>
          <p:cNvSpPr txBox="1"/>
          <p:nvPr/>
        </p:nvSpPr>
        <p:spPr>
          <a:xfrm>
            <a:off x="6426200" y="4292600"/>
            <a:ext cx="1320800" cy="355600"/>
          </a:xfrm>
          <a:prstGeom prst="rect">
            <a:avLst/>
          </a:prstGeom>
          <a:noFill/>
        </p:spPr>
        <p:txBody>
          <a:bodyPr wrap="square" lIns="0" tIns="0" rIns="0" bIns="0" anchor="ctr"/>
          <a:lstStyle/>
          <a:p>
            <a:pPr algn="l">
              <a:lnSpc>
                <a:spcPct val="100000"/>
              </a:lnSpc>
              <a:buNone/>
            </a:pPr>
            <a:r>
              <a:rPr lang="en-US" sz="1600" dirty="0">
                <a:solidFill>
                  <a:srgbClr val="262626"/>
                </a:solidFill>
              </a:rPr>
              <a:t>Anxiety</a:t>
            </a:r>
          </a:p>
        </p:txBody>
      </p:sp>
      <p:sp>
        <p:nvSpPr>
          <p:cNvPr id="360" name="L360"/>
          <p:cNvSpPr/>
          <p:nvPr/>
        </p:nvSpPr>
        <p:spPr>
          <a:xfrm>
            <a:off x="8971759" y="4470400"/>
            <a:ext cx="1870509" cy="6350"/>
          </a:xfrm>
          <a:prstGeom prst="line">
            <a:avLst/>
          </a:prstGeom>
          <a:ln w="31750" cap="rnd">
            <a:solidFill>
              <a:srgbClr val="C8102E"/>
            </a:solidFill>
          </a:ln>
        </p:spPr>
        <p:txBody>
          <a:bodyPr/>
          <a:lstStyle/>
          <a:p>
            <a:endParaRPr/>
          </a:p>
        </p:txBody>
      </p:sp>
      <p:sp>
        <p:nvSpPr>
          <p:cNvPr id="361" name="L361"/>
          <p:cNvSpPr/>
          <p:nvPr/>
        </p:nvSpPr>
        <p:spPr>
          <a:xfrm>
            <a:off x="8971759" y="4394200"/>
            <a:ext cx="6350" cy="152400"/>
          </a:xfrm>
          <a:prstGeom prst="line">
            <a:avLst/>
          </a:prstGeom>
          <a:ln w="25400" cap="rnd">
            <a:solidFill>
              <a:srgbClr val="C8102E"/>
            </a:solidFill>
          </a:ln>
        </p:spPr>
        <p:txBody>
          <a:bodyPr/>
          <a:lstStyle/>
          <a:p>
            <a:endParaRPr/>
          </a:p>
        </p:txBody>
      </p:sp>
      <p:sp>
        <p:nvSpPr>
          <p:cNvPr id="362" name="L362"/>
          <p:cNvSpPr/>
          <p:nvPr/>
        </p:nvSpPr>
        <p:spPr>
          <a:xfrm>
            <a:off x="10842268" y="4394200"/>
            <a:ext cx="6350" cy="152400"/>
          </a:xfrm>
          <a:prstGeom prst="line">
            <a:avLst/>
          </a:prstGeom>
          <a:ln w="25400" cap="rnd">
            <a:solidFill>
              <a:srgbClr val="C8102E"/>
            </a:solidFill>
          </a:ln>
        </p:spPr>
        <p:txBody>
          <a:bodyPr/>
          <a:lstStyle/>
          <a:p>
            <a:endParaRPr/>
          </a:p>
        </p:txBody>
      </p:sp>
      <p:sp>
        <p:nvSpPr>
          <p:cNvPr id="363" name="D363"/>
          <p:cNvSpPr/>
          <p:nvPr/>
        </p:nvSpPr>
        <p:spPr>
          <a:xfrm>
            <a:off x="9814182" y="4381500"/>
            <a:ext cx="177800" cy="177800"/>
          </a:xfrm>
          <a:prstGeom prst="ellipse">
            <a:avLst/>
          </a:prstGeom>
          <a:solidFill>
            <a:srgbClr val="C8102E"/>
          </a:solidFill>
          <a:ln>
            <a:noFill/>
          </a:ln>
        </p:spPr>
        <p:txBody>
          <a:bodyPr/>
          <a:lstStyle/>
          <a:p>
            <a:endParaRPr/>
          </a:p>
        </p:txBody>
      </p:sp>
      <p:sp>
        <p:nvSpPr>
          <p:cNvPr id="364" name="T364"/>
          <p:cNvSpPr txBox="1"/>
          <p:nvPr/>
        </p:nvSpPr>
        <p:spPr>
          <a:xfrm>
            <a:off x="9395082" y="4064000"/>
            <a:ext cx="1016000" cy="228600"/>
          </a:xfrm>
          <a:prstGeom prst="rect">
            <a:avLst/>
          </a:prstGeom>
          <a:noFill/>
        </p:spPr>
        <p:txBody>
          <a:bodyPr wrap="square" lIns="0" tIns="0" rIns="0" bIns="0" anchor="ctr"/>
          <a:lstStyle/>
          <a:p>
            <a:pPr algn="ctr">
              <a:lnSpc>
                <a:spcPct val="100000"/>
              </a:lnSpc>
              <a:buNone/>
            </a:pPr>
            <a:r>
              <a:rPr lang="en-US" sz="1400" dirty="0">
                <a:solidFill>
                  <a:srgbClr val="C8102E"/>
                </a:solidFill>
              </a:rPr>
              <a:t>2.87</a:t>
            </a:r>
          </a:p>
        </p:txBody>
      </p:sp>
      <p:sp>
        <p:nvSpPr>
          <p:cNvPr id="365" name="T365"/>
          <p:cNvSpPr txBox="1"/>
          <p:nvPr/>
        </p:nvSpPr>
        <p:spPr>
          <a:xfrm>
            <a:off x="6426200" y="5486400"/>
            <a:ext cx="4673600" cy="254000"/>
          </a:xfrm>
          <a:prstGeom prst="rect">
            <a:avLst/>
          </a:prstGeom>
          <a:noFill/>
        </p:spPr>
        <p:txBody>
          <a:bodyPr wrap="square" lIns="0" tIns="0" rIns="0" bIns="0" anchor="ctr"/>
          <a:lstStyle/>
          <a:p>
            <a:pPr algn="l">
              <a:lnSpc>
                <a:spcPct val="100000"/>
              </a:lnSpc>
              <a:buNone/>
            </a:pPr>
            <a:r>
              <a:rPr lang="en-US" sz="1400" dirty="0">
                <a:solidFill>
                  <a:srgbClr val="595959"/>
                </a:solidFill>
              </a:rPr>
              <a:t>Log scale</a:t>
            </a:r>
          </a:p>
        </p:txBody>
      </p:sp>
      <p:sp>
        <p:nvSpPr>
          <p:cNvPr id="366" name="Section label"/>
          <p:cNvSpPr txBox="1"/>
          <p:nvPr/>
        </p:nvSpPr>
        <p:spPr>
          <a:xfrm>
            <a:off x="841248" y="128016"/>
            <a:ext cx="5486400" cy="292608"/>
          </a:xfrm>
          <a:prstGeom prst="rect">
            <a:avLst/>
          </a:prstGeom>
          <a:noFill/>
        </p:spPr>
        <p:txBody>
          <a:bodyPr wrap="none" lIns="0" rIns="0" tIns="0" bIns="0">
            <a:spAutoFit/>
          </a:bodyPr>
          <a:lstStyle/>
          <a:p>
            <a:pPr algn="l"/>
            <a:r>
              <a:rPr sz="1200" b="1" spc="150">
                <a:solidFill>
                  <a:srgbClr val="E8963C"/>
                </a:solidFill>
              </a:rPr>
              <a:t>RESULTS</a:t>
            </a:r>
          </a:p>
        </p:txBody>
      </p:sp>
    </p:spTree>
    <p:extLst>
      <p:ext uri="{BB962C8B-B14F-4D97-AF65-F5344CB8AC3E}">
        <p14:creationId xmlns:p14="http://schemas.microsoft.com/office/powerpoint/2010/main" val="427029691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Other Analyses: Interaction and Sensitivity</a:t>
            </a:r>
          </a:p>
        </p:txBody>
      </p:sp>
      <p:sp>
        <p:nvSpPr>
          <p:cNvPr id="3" name="Content Placeholder 2"/>
          <p:cNvSpPr>
            <a:spLocks noGrp="1"/>
          </p:cNvSpPr>
          <p:nvPr>
            <p:ph idx="1"/>
          </p:nvPr>
        </p:nvSpPr>
        <p:spPr/>
        <p:txBody>
          <a:bodyPr wrap="square"/>
          <a:lstStyle/>
          <a:p>
            <a:pPr>
              <a:spcAft>
                <a:spcPts val="800"/>
              </a:spcAft>
            </a:pPr>
            <a:r>
              <a:rPr sz="1800" dirty="0"/>
              <a:t>ICCs</a:t>
            </a:r>
            <a:r>
              <a:rPr lang="en-US" sz="1800" dirty="0"/>
              <a:t> 0.49–0.62 after full adjustment — most residual variation lies between communities, not between neighbors</a:t>
            </a:r>
          </a:p>
          <a:p>
            <a:pPr>
              <a:spcAft>
                <a:spcPts val="800"/>
              </a:spcAft>
            </a:pPr>
            <a:r>
              <a:rPr sz="1800" dirty="0"/>
              <a:t>State × trauma interaction significant (p&lt;0.001): the trauma association is steepest where baseline exposure is lowest (Enugu, Rivers) and flat in Borno, where exposure runs highest</a:t>
            </a:r>
          </a:p>
          <a:p>
            <a:pPr>
              <a:spcAft>
                <a:spcPts val="800"/>
              </a:spcAft>
            </a:pPr>
            <a:r>
              <a:rPr sz="1800" dirty="0"/>
              <a:t>Robust across: post-stratification weights, PCL-5 ≥ 33, LGA fixed effects, continuous scores, multilevel logistic models</a:t>
            </a:r>
          </a:p>
        </p:txBody>
      </p:sp>
      <p:sp>
        <p:nvSpPr>
          <p:cNvPr id="4" name="Section label"/>
          <p:cNvSpPr txBox="1"/>
          <p:nvPr/>
        </p:nvSpPr>
        <p:spPr>
          <a:xfrm>
            <a:off x="841248" y="128016"/>
            <a:ext cx="5486400" cy="292608"/>
          </a:xfrm>
          <a:prstGeom prst="rect">
            <a:avLst/>
          </a:prstGeom>
          <a:noFill/>
        </p:spPr>
        <p:txBody>
          <a:bodyPr wrap="none" lIns="0" rIns="0" tIns="0" bIns="0">
            <a:spAutoFit/>
          </a:bodyPr>
          <a:lstStyle/>
          <a:p>
            <a:pPr algn="l"/>
            <a:r>
              <a:rPr sz="1200" b="1" spc="150">
                <a:solidFill>
                  <a:srgbClr val="E8963C"/>
                </a:solidFill>
              </a:rPr>
              <a:t>RESULTS</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43EDE1-025C-ED2D-258D-E701377B5024}"/>
              </a:ext>
            </a:extLst>
          </p:cNvPr>
          <p:cNvSpPr>
            <a:spLocks noGrp="1"/>
          </p:cNvSpPr>
          <p:nvPr>
            <p:ph type="title"/>
          </p:nvPr>
        </p:nvSpPr>
        <p:spPr/>
        <p:txBody>
          <a:bodyPr/>
          <a:lstStyle/>
          <a:p>
            <a:r>
              <a:rPr lang="en-US" dirty="0"/>
              <a:t>Other Analyses: Clustering</a:t>
            </a:r>
          </a:p>
        </p:txBody>
      </p:sp>
      <p:sp>
        <p:nvSpPr>
          <p:cNvPr id="301" name="T301"/>
          <p:cNvSpPr txBox="1"/>
          <p:nvPr/>
        </p:nvSpPr>
        <p:spPr>
          <a:xfrm>
            <a:off x="838200" y="1727200"/>
            <a:ext cx="10515600" cy="304800"/>
          </a:xfrm>
          <a:prstGeom prst="rect">
            <a:avLst/>
          </a:prstGeom>
          <a:noFill/>
        </p:spPr>
        <p:txBody>
          <a:bodyPr wrap="square" lIns="0" tIns="0" rIns="0" bIns="0" anchor="t"/>
          <a:lstStyle/>
          <a:p>
            <a:pPr algn="l">
              <a:lnSpc>
                <a:spcPct val="115000"/>
              </a:lnSpc>
              <a:spcAft>
                <a:spcPts val="0"/>
              </a:spcAft>
              <a:buNone/>
            </a:pPr>
            <a:r>
              <a:rPr lang="en-US" sz="1600" dirty="0">
                <a:solidFill>
                  <a:srgbClr val="D9D9D9"/>
                </a:solidFill>
              </a:rPr>
              <a:t>Fully adjusted intraclass correlation, range across PTSD, depression and anxiety</a:t>
            </a:r>
          </a:p>
        </p:txBody>
      </p:sp>
      <p:sp>
        <p:nvSpPr>
          <p:cNvPr id="302" name="R302"/>
          <p:cNvSpPr/>
          <p:nvPr/>
        </p:nvSpPr>
        <p:spPr>
          <a:xfrm>
            <a:off x="838200" y="2108200"/>
            <a:ext cx="10515600" cy="3683000"/>
          </a:xfrm>
          <a:prstGeom prst="roundRect">
            <a:avLst>
              <a:gd name="adj" fmla="val 3000"/>
            </a:avLst>
          </a:prstGeom>
          <a:solidFill>
            <a:srgbClr val="FFFFFF"/>
          </a:solidFill>
          <a:ln>
            <a:noFill/>
          </a:ln>
        </p:spPr>
        <p:txBody>
          <a:bodyPr/>
          <a:lstStyle/>
          <a:p>
            <a:endParaRPr/>
          </a:p>
        </p:txBody>
      </p:sp>
      <p:sp>
        <p:nvSpPr>
          <p:cNvPr id="303" name="T303"/>
          <p:cNvSpPr txBox="1"/>
          <p:nvPr/>
        </p:nvSpPr>
        <p:spPr>
          <a:xfrm>
            <a:off x="1143000" y="2362200"/>
            <a:ext cx="3810000" cy="889000"/>
          </a:xfrm>
          <a:prstGeom prst="rect">
            <a:avLst/>
          </a:prstGeom>
          <a:noFill/>
        </p:spPr>
        <p:txBody>
          <a:bodyPr wrap="square" lIns="0" tIns="0" rIns="0" bIns="0" anchor="t"/>
          <a:lstStyle/>
          <a:p>
            <a:pPr algn="l">
              <a:lnSpc>
                <a:spcPct val="115000"/>
              </a:lnSpc>
              <a:spcAft>
                <a:spcPts val="0"/>
              </a:spcAft>
              <a:buNone/>
            </a:pPr>
            <a:r>
              <a:rPr lang="en-US" sz="5400" dirty="0">
                <a:solidFill>
                  <a:srgbClr val="C8102E"/>
                </a:solidFill>
              </a:rPr>
              <a:t>49–62%</a:t>
            </a:r>
          </a:p>
        </p:txBody>
      </p:sp>
      <p:sp>
        <p:nvSpPr>
          <p:cNvPr id="304" name="T304"/>
          <p:cNvSpPr txBox="1"/>
          <p:nvPr/>
        </p:nvSpPr>
        <p:spPr>
          <a:xfrm>
            <a:off x="1143000" y="3276600"/>
            <a:ext cx="8510666" cy="381000"/>
          </a:xfrm>
          <a:prstGeom prst="rect">
            <a:avLst/>
          </a:prstGeom>
          <a:noFill/>
        </p:spPr>
        <p:txBody>
          <a:bodyPr wrap="square" lIns="0" tIns="0" rIns="0" bIns="0" anchor="t"/>
          <a:lstStyle/>
          <a:p>
            <a:pPr algn="l">
              <a:lnSpc>
                <a:spcPct val="115000"/>
              </a:lnSpc>
              <a:spcAft>
                <a:spcPts val="0"/>
              </a:spcAft>
              <a:buNone/>
            </a:pPr>
            <a:r>
              <a:rPr lang="en-US" sz="1600" dirty="0">
                <a:solidFill>
                  <a:srgbClr val="262626"/>
                </a:solidFill>
              </a:rPr>
              <a:t>of the remaining variation lies between communities, not between neighbors</a:t>
            </a:r>
          </a:p>
        </p:txBody>
      </p:sp>
      <p:sp>
        <p:nvSpPr>
          <p:cNvPr id="305" name="R305"/>
          <p:cNvSpPr/>
          <p:nvPr/>
        </p:nvSpPr>
        <p:spPr>
          <a:xfrm>
            <a:off x="1143000" y="4267200"/>
            <a:ext cx="4853940" cy="508000"/>
          </a:xfrm>
          <a:prstGeom prst="rect">
            <a:avLst/>
          </a:prstGeom>
          <a:solidFill>
            <a:srgbClr val="1E3A5C"/>
          </a:solidFill>
          <a:ln>
            <a:noFill/>
          </a:ln>
        </p:spPr>
        <p:txBody>
          <a:bodyPr/>
          <a:lstStyle/>
          <a:p>
            <a:endParaRPr/>
          </a:p>
        </p:txBody>
      </p:sp>
      <p:sp>
        <p:nvSpPr>
          <p:cNvPr id="306" name="R306"/>
          <p:cNvSpPr/>
          <p:nvPr/>
        </p:nvSpPr>
        <p:spPr>
          <a:xfrm>
            <a:off x="5996940" y="4267200"/>
            <a:ext cx="1287780" cy="508000"/>
          </a:xfrm>
          <a:prstGeom prst="rect">
            <a:avLst/>
          </a:prstGeom>
          <a:solidFill>
            <a:srgbClr val="C8102E">
              <a:alpha val="55000"/>
            </a:srgbClr>
          </a:solidFill>
          <a:ln>
            <a:noFill/>
          </a:ln>
        </p:spPr>
        <p:txBody>
          <a:bodyPr/>
          <a:lstStyle/>
          <a:p>
            <a:endParaRPr/>
          </a:p>
        </p:txBody>
      </p:sp>
      <p:sp>
        <p:nvSpPr>
          <p:cNvPr id="307" name="R307"/>
          <p:cNvSpPr/>
          <p:nvPr/>
        </p:nvSpPr>
        <p:spPr>
          <a:xfrm>
            <a:off x="7284720" y="4267200"/>
            <a:ext cx="3764280" cy="508000"/>
          </a:xfrm>
          <a:prstGeom prst="rect">
            <a:avLst/>
          </a:prstGeom>
          <a:solidFill>
            <a:srgbClr val="C9D8EC"/>
          </a:solidFill>
          <a:ln>
            <a:noFill/>
          </a:ln>
        </p:spPr>
        <p:txBody>
          <a:bodyPr/>
          <a:lstStyle/>
          <a:p>
            <a:endParaRPr/>
          </a:p>
        </p:txBody>
      </p:sp>
      <p:sp>
        <p:nvSpPr>
          <p:cNvPr id="308" name="T308"/>
          <p:cNvSpPr txBox="1"/>
          <p:nvPr/>
        </p:nvSpPr>
        <p:spPr>
          <a:xfrm>
            <a:off x="1295400" y="4267200"/>
            <a:ext cx="3810000" cy="508000"/>
          </a:xfrm>
          <a:prstGeom prst="rect">
            <a:avLst/>
          </a:prstGeom>
          <a:noFill/>
        </p:spPr>
        <p:txBody>
          <a:bodyPr wrap="square" lIns="0" tIns="0" rIns="0" bIns="0" anchor="ctr"/>
          <a:lstStyle/>
          <a:p>
            <a:pPr algn="l">
              <a:lnSpc>
                <a:spcPct val="115000"/>
              </a:lnSpc>
              <a:spcAft>
                <a:spcPts val="0"/>
              </a:spcAft>
              <a:buNone/>
            </a:pPr>
            <a:r>
              <a:rPr lang="en-US" sz="1600" dirty="0">
                <a:solidFill>
                  <a:srgbClr val="FFFFFF"/>
                </a:solidFill>
              </a:rPr>
              <a:t>Between communities</a:t>
            </a:r>
          </a:p>
        </p:txBody>
      </p:sp>
      <p:sp>
        <p:nvSpPr>
          <p:cNvPr id="309" name="T309"/>
          <p:cNvSpPr txBox="1"/>
          <p:nvPr/>
        </p:nvSpPr>
        <p:spPr>
          <a:xfrm>
            <a:off x="7437120" y="4267200"/>
            <a:ext cx="3556000" cy="508000"/>
          </a:xfrm>
          <a:prstGeom prst="rect">
            <a:avLst/>
          </a:prstGeom>
          <a:noFill/>
        </p:spPr>
        <p:txBody>
          <a:bodyPr wrap="square" lIns="0" tIns="0" rIns="0" bIns="0" anchor="ctr"/>
          <a:lstStyle/>
          <a:p>
            <a:pPr algn="l">
              <a:lnSpc>
                <a:spcPct val="115000"/>
              </a:lnSpc>
              <a:spcAft>
                <a:spcPts val="0"/>
              </a:spcAft>
              <a:buNone/>
            </a:pPr>
            <a:r>
              <a:rPr lang="en-US" sz="1600" dirty="0">
                <a:solidFill>
                  <a:srgbClr val="262626"/>
                </a:solidFill>
              </a:rPr>
              <a:t>Between individuals</a:t>
            </a:r>
          </a:p>
        </p:txBody>
      </p:sp>
      <p:sp>
        <p:nvSpPr>
          <p:cNvPr id="310" name="L310"/>
          <p:cNvSpPr/>
          <p:nvPr/>
        </p:nvSpPr>
        <p:spPr>
          <a:xfrm>
            <a:off x="1143000" y="4775200"/>
            <a:ext cx="6350" cy="76200"/>
          </a:xfrm>
          <a:prstGeom prst="line">
            <a:avLst/>
          </a:prstGeom>
          <a:ln w="12700">
            <a:solidFill>
              <a:srgbClr val="8C8C8C"/>
            </a:solidFill>
          </a:ln>
        </p:spPr>
        <p:txBody>
          <a:bodyPr/>
          <a:lstStyle/>
          <a:p>
            <a:endParaRPr/>
          </a:p>
        </p:txBody>
      </p:sp>
      <p:sp>
        <p:nvSpPr>
          <p:cNvPr id="311" name="T311"/>
          <p:cNvSpPr txBox="1"/>
          <p:nvPr/>
        </p:nvSpPr>
        <p:spPr>
          <a:xfrm>
            <a:off x="825500" y="4876800"/>
            <a:ext cx="635000" cy="228600"/>
          </a:xfrm>
          <a:prstGeom prst="rect">
            <a:avLst/>
          </a:prstGeom>
          <a:noFill/>
        </p:spPr>
        <p:txBody>
          <a:bodyPr wrap="square" lIns="0" tIns="0" rIns="0" bIns="0" anchor="ctr"/>
          <a:lstStyle/>
          <a:p>
            <a:pPr algn="ctr">
              <a:lnSpc>
                <a:spcPct val="115000"/>
              </a:lnSpc>
              <a:spcAft>
                <a:spcPts val="0"/>
              </a:spcAft>
              <a:buNone/>
            </a:pPr>
            <a:r>
              <a:rPr lang="en-US" sz="1400" dirty="0">
                <a:solidFill>
                  <a:srgbClr val="595959"/>
                </a:solidFill>
              </a:rPr>
              <a:t>0%</a:t>
            </a:r>
          </a:p>
        </p:txBody>
      </p:sp>
      <p:sp>
        <p:nvSpPr>
          <p:cNvPr id="312" name="L312"/>
          <p:cNvSpPr/>
          <p:nvPr/>
        </p:nvSpPr>
        <p:spPr>
          <a:xfrm>
            <a:off x="5996940" y="4775200"/>
            <a:ext cx="6350" cy="76200"/>
          </a:xfrm>
          <a:prstGeom prst="line">
            <a:avLst/>
          </a:prstGeom>
          <a:ln w="12700">
            <a:solidFill>
              <a:srgbClr val="8C8C8C"/>
            </a:solidFill>
          </a:ln>
        </p:spPr>
        <p:txBody>
          <a:bodyPr/>
          <a:lstStyle/>
          <a:p>
            <a:endParaRPr/>
          </a:p>
        </p:txBody>
      </p:sp>
      <p:sp>
        <p:nvSpPr>
          <p:cNvPr id="313" name="T313"/>
          <p:cNvSpPr txBox="1"/>
          <p:nvPr/>
        </p:nvSpPr>
        <p:spPr>
          <a:xfrm>
            <a:off x="5679440" y="4876800"/>
            <a:ext cx="635000" cy="228600"/>
          </a:xfrm>
          <a:prstGeom prst="rect">
            <a:avLst/>
          </a:prstGeom>
          <a:noFill/>
        </p:spPr>
        <p:txBody>
          <a:bodyPr wrap="square" lIns="0" tIns="0" rIns="0" bIns="0" anchor="ctr"/>
          <a:lstStyle/>
          <a:p>
            <a:pPr algn="ctr">
              <a:lnSpc>
                <a:spcPct val="115000"/>
              </a:lnSpc>
              <a:spcAft>
                <a:spcPts val="0"/>
              </a:spcAft>
              <a:buNone/>
            </a:pPr>
            <a:r>
              <a:rPr lang="en-US" sz="1400" dirty="0">
                <a:solidFill>
                  <a:srgbClr val="C8102E"/>
                </a:solidFill>
              </a:rPr>
              <a:t>49%</a:t>
            </a:r>
          </a:p>
        </p:txBody>
      </p:sp>
      <p:sp>
        <p:nvSpPr>
          <p:cNvPr id="314" name="L314"/>
          <p:cNvSpPr/>
          <p:nvPr/>
        </p:nvSpPr>
        <p:spPr>
          <a:xfrm>
            <a:off x="7284720" y="4775200"/>
            <a:ext cx="6350" cy="76200"/>
          </a:xfrm>
          <a:prstGeom prst="line">
            <a:avLst/>
          </a:prstGeom>
          <a:ln w="12700">
            <a:solidFill>
              <a:srgbClr val="8C8C8C"/>
            </a:solidFill>
          </a:ln>
        </p:spPr>
        <p:txBody>
          <a:bodyPr/>
          <a:lstStyle/>
          <a:p>
            <a:endParaRPr/>
          </a:p>
        </p:txBody>
      </p:sp>
      <p:sp>
        <p:nvSpPr>
          <p:cNvPr id="315" name="T315"/>
          <p:cNvSpPr txBox="1"/>
          <p:nvPr/>
        </p:nvSpPr>
        <p:spPr>
          <a:xfrm>
            <a:off x="6967220" y="4876800"/>
            <a:ext cx="635000" cy="228600"/>
          </a:xfrm>
          <a:prstGeom prst="rect">
            <a:avLst/>
          </a:prstGeom>
          <a:noFill/>
        </p:spPr>
        <p:txBody>
          <a:bodyPr wrap="square" lIns="0" tIns="0" rIns="0" bIns="0" anchor="ctr"/>
          <a:lstStyle/>
          <a:p>
            <a:pPr algn="ctr">
              <a:lnSpc>
                <a:spcPct val="115000"/>
              </a:lnSpc>
              <a:spcAft>
                <a:spcPts val="0"/>
              </a:spcAft>
              <a:buNone/>
            </a:pPr>
            <a:r>
              <a:rPr lang="en-US" sz="1400" dirty="0">
                <a:solidFill>
                  <a:srgbClr val="C8102E"/>
                </a:solidFill>
              </a:rPr>
              <a:t>62%</a:t>
            </a:r>
          </a:p>
        </p:txBody>
      </p:sp>
      <p:sp>
        <p:nvSpPr>
          <p:cNvPr id="316" name="L316"/>
          <p:cNvSpPr/>
          <p:nvPr/>
        </p:nvSpPr>
        <p:spPr>
          <a:xfrm>
            <a:off x="11049000" y="4775200"/>
            <a:ext cx="6350" cy="76200"/>
          </a:xfrm>
          <a:prstGeom prst="line">
            <a:avLst/>
          </a:prstGeom>
          <a:ln w="12700">
            <a:solidFill>
              <a:srgbClr val="8C8C8C"/>
            </a:solidFill>
          </a:ln>
        </p:spPr>
        <p:txBody>
          <a:bodyPr/>
          <a:lstStyle/>
          <a:p>
            <a:endParaRPr/>
          </a:p>
        </p:txBody>
      </p:sp>
      <p:sp>
        <p:nvSpPr>
          <p:cNvPr id="317" name="T317"/>
          <p:cNvSpPr txBox="1"/>
          <p:nvPr/>
        </p:nvSpPr>
        <p:spPr>
          <a:xfrm>
            <a:off x="10731500" y="4876800"/>
            <a:ext cx="635000" cy="228600"/>
          </a:xfrm>
          <a:prstGeom prst="rect">
            <a:avLst/>
          </a:prstGeom>
          <a:noFill/>
        </p:spPr>
        <p:txBody>
          <a:bodyPr wrap="square" lIns="0" tIns="0" rIns="0" bIns="0" anchor="ctr"/>
          <a:lstStyle/>
          <a:p>
            <a:pPr algn="ctr">
              <a:lnSpc>
                <a:spcPct val="115000"/>
              </a:lnSpc>
              <a:spcAft>
                <a:spcPts val="0"/>
              </a:spcAft>
              <a:buNone/>
            </a:pPr>
            <a:r>
              <a:rPr lang="en-US" sz="1400" dirty="0">
                <a:solidFill>
                  <a:srgbClr val="595959"/>
                </a:solidFill>
              </a:rPr>
              <a:t>100%</a:t>
            </a:r>
          </a:p>
        </p:txBody>
      </p:sp>
      <p:sp>
        <p:nvSpPr>
          <p:cNvPr id="318" name="T318"/>
          <p:cNvSpPr txBox="1"/>
          <p:nvPr/>
        </p:nvSpPr>
        <p:spPr>
          <a:xfrm>
            <a:off x="1143000" y="5308600"/>
            <a:ext cx="9906000" cy="355600"/>
          </a:xfrm>
          <a:prstGeom prst="rect">
            <a:avLst/>
          </a:prstGeom>
          <a:noFill/>
        </p:spPr>
        <p:txBody>
          <a:bodyPr wrap="square" lIns="0" tIns="0" rIns="0" bIns="0" anchor="t"/>
          <a:lstStyle/>
          <a:p>
            <a:pPr algn="l">
              <a:lnSpc>
                <a:spcPct val="115000"/>
              </a:lnSpc>
              <a:spcAft>
                <a:spcPts val="0"/>
              </a:spcAft>
              <a:buNone/>
            </a:pPr>
            <a:r>
              <a:rPr lang="en-US" sz="1400" dirty="0">
                <a:solidFill>
                  <a:srgbClr val="595959"/>
                </a:solidFill>
              </a:rPr>
              <a:t>Adjusted for demographics, geography, trauma and camp residence</a:t>
            </a:r>
          </a:p>
        </p:txBody>
      </p:sp>
      <p:sp>
        <p:nvSpPr>
          <p:cNvPr id="319" name="Section label"/>
          <p:cNvSpPr txBox="1"/>
          <p:nvPr/>
        </p:nvSpPr>
        <p:spPr>
          <a:xfrm>
            <a:off x="841248" y="128016"/>
            <a:ext cx="5486400" cy="292608"/>
          </a:xfrm>
          <a:prstGeom prst="rect">
            <a:avLst/>
          </a:prstGeom>
          <a:noFill/>
        </p:spPr>
        <p:txBody>
          <a:bodyPr wrap="none" lIns="0" rIns="0" tIns="0" bIns="0">
            <a:spAutoFit/>
          </a:bodyPr>
          <a:lstStyle/>
          <a:p>
            <a:pPr algn="l"/>
            <a:r>
              <a:rPr sz="1200" b="1" spc="150">
                <a:solidFill>
                  <a:srgbClr val="E8963C"/>
                </a:solidFill>
              </a:rPr>
              <a:t>RESULTS</a:t>
            </a:r>
          </a:p>
        </p:txBody>
      </p:sp>
    </p:spTree>
    <p:extLst>
      <p:ext uri="{BB962C8B-B14F-4D97-AF65-F5344CB8AC3E}">
        <p14:creationId xmlns:p14="http://schemas.microsoft.com/office/powerpoint/2010/main" val="149696071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Interpretation and Generalisability</a:t>
            </a:r>
          </a:p>
        </p:txBody>
      </p:sp>
      <p:sp>
        <p:nvSpPr>
          <p:cNvPr id="3" name="Content Placeholder 2"/>
          <p:cNvSpPr>
            <a:spLocks noGrp="1"/>
          </p:cNvSpPr>
          <p:nvPr>
            <p:ph idx="1"/>
          </p:nvPr>
        </p:nvSpPr>
        <p:spPr/>
        <p:txBody>
          <a:bodyPr wrap="square"/>
          <a:lstStyle/>
          <a:p>
            <a:pPr>
              <a:spcAft>
                <a:spcPts val="800"/>
              </a:spcAft>
            </a:pPr>
            <a:r>
              <a:rPr sz="1500"/>
              <a:t>The post-displacement environment is an intervention target in its own right; trauma treatment alone leaves the camp pathway untouched</a:t>
            </a:r>
          </a:p>
          <a:p>
            <a:pPr>
              <a:spcAft>
                <a:spcPts val="800"/>
              </a:spcAft>
            </a:pPr>
            <a:r>
              <a:rPr sz="1500"/>
              <a:t>Shelter, safety, livelihoods, and services act as mental health interventions in camps</a:t>
            </a:r>
          </a:p>
          <a:p>
            <a:pPr>
              <a:spcAft>
                <a:spcPts val="800"/>
              </a:spcAft>
            </a:pPr>
            <a:r>
              <a:rPr sz="1500"/>
              <a:t>Extreme community clustering supports community-targeted delivery over individual-only approaches</a:t>
            </a:r>
          </a:p>
          <a:p>
            <a:pPr>
              <a:spcAft>
                <a:spcPts val="800"/>
              </a:spcAft>
            </a:pPr>
            <a:r>
              <a:rPr sz="1500"/>
              <a:t>Associations held across six zones differing in conflict type, religion, language, and economy, supporting transfer to other violence-affected settings with similar displacement conditions</a:t>
            </a:r>
          </a:p>
          <a:p>
            <a:pPr>
              <a:spcAft>
                <a:spcPts val="800"/>
              </a:spcAft>
            </a:pPr>
            <a:r>
              <a:rPr sz="1500"/>
              <a:t>Direct evidence base for implementing Nigeria's Mental Health Act</a:t>
            </a:r>
          </a:p>
        </p:txBody>
      </p:sp>
      <p:sp>
        <p:nvSpPr>
          <p:cNvPr id="4" name="Section label"/>
          <p:cNvSpPr txBox="1"/>
          <p:nvPr/>
        </p:nvSpPr>
        <p:spPr>
          <a:xfrm>
            <a:off x="841248" y="128016"/>
            <a:ext cx="5486400" cy="292608"/>
          </a:xfrm>
          <a:prstGeom prst="rect">
            <a:avLst/>
          </a:prstGeom>
          <a:noFill/>
        </p:spPr>
        <p:txBody>
          <a:bodyPr wrap="none" lIns="0" rIns="0" tIns="0" bIns="0">
            <a:spAutoFit/>
          </a:bodyPr>
          <a:lstStyle/>
          <a:p>
            <a:pPr algn="l"/>
            <a:r>
              <a:rPr sz="1200" b="1" spc="150">
                <a:solidFill>
                  <a:srgbClr val="E8963C"/>
                </a:solidFill>
              </a:rPr>
              <a:t>DISCUSSION</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Key Results</a:t>
            </a:r>
          </a:p>
        </p:txBody>
      </p:sp>
      <p:sp>
        <p:nvSpPr>
          <p:cNvPr id="3" name="Content Placeholder 2"/>
          <p:cNvSpPr>
            <a:spLocks noGrp="1"/>
          </p:cNvSpPr>
          <p:nvPr>
            <p:ph idx="1"/>
          </p:nvPr>
        </p:nvSpPr>
        <p:spPr/>
        <p:txBody>
          <a:bodyPr wrap="square"/>
          <a:lstStyle/>
          <a:p>
            <a:pPr>
              <a:lnSpc>
                <a:spcPct val="130000"/>
              </a:lnSpc>
              <a:spcAft>
                <a:spcPts val="800"/>
              </a:spcAft>
            </a:pPr>
            <a:r>
              <a:rPr sz="1600"/>
              <a:t>At least 1 in 5 adults across six states met criteria for each condition; 30.4% for at least one</a:t>
            </a:r>
          </a:p>
          <a:p>
            <a:pPr>
              <a:spcAft>
                <a:spcPts val="800"/>
              </a:spcAft>
            </a:pPr>
            <a:r>
              <a:rPr sz="1600"/>
              <a:t>IDP camp residents carry about four times the PTSD burden of community residents (40.4% vs 10.7%), and the camp association holds after adjustment for trauma</a:t>
            </a:r>
          </a:p>
          <a:p>
            <a:pPr>
              <a:spcAft>
                <a:spcPts val="800"/>
              </a:spcAft>
            </a:pPr>
            <a:r>
              <a:rPr sz="1600"/>
              <a:t>Most residual variation lies between communities (ICCs 0.49–0.62 after full adjustment)</a:t>
            </a:r>
          </a:p>
        </p:txBody>
      </p:sp>
      <p:sp>
        <p:nvSpPr>
          <p:cNvPr id="4" name="Section label"/>
          <p:cNvSpPr txBox="1"/>
          <p:nvPr/>
        </p:nvSpPr>
        <p:spPr>
          <a:xfrm>
            <a:off x="841248" y="128016"/>
            <a:ext cx="5486400" cy="292608"/>
          </a:xfrm>
          <a:prstGeom prst="rect">
            <a:avLst/>
          </a:prstGeom>
          <a:noFill/>
        </p:spPr>
        <p:txBody>
          <a:bodyPr wrap="none" lIns="0" rIns="0" tIns="0" bIns="0">
            <a:spAutoFit/>
          </a:bodyPr>
          <a:lstStyle/>
          <a:p>
            <a:pPr algn="l"/>
            <a:r>
              <a:rPr sz="1200" b="1" spc="150">
                <a:solidFill>
                  <a:srgbClr val="E8963C"/>
                </a:solidFill>
              </a:rPr>
              <a:t>DISCUSSION</a:t>
            </a:r>
          </a:p>
        </p:txBody>
      </p:sp>
    </p:spTree>
    <p:extLst>
      <p:ext uri="{BB962C8B-B14F-4D97-AF65-F5344CB8AC3E}">
        <p14:creationId xmlns:p14="http://schemas.microsoft.com/office/powerpoint/2010/main" val="3154216725"/>
      </p:ext>
    </p:extLst>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Bias</a:t>
            </a:r>
          </a:p>
        </p:txBody>
      </p:sp>
      <p:sp>
        <p:nvSpPr>
          <p:cNvPr id="3" name="Content Placeholder 2"/>
          <p:cNvSpPr>
            <a:spLocks noGrp="1"/>
          </p:cNvSpPr>
          <p:nvPr>
            <p:ph idx="1"/>
          </p:nvPr>
        </p:nvSpPr>
        <p:spPr/>
        <p:txBody>
          <a:bodyPr/>
          <a:lstStyle/>
          <a:p>
            <a:pPr>
              <a:spcAft>
                <a:spcPts val="800"/>
              </a:spcAft>
            </a:pPr>
            <a:r>
              <a:rPr sz="1600"/>
              <a:t>Outcome misclassification: case definitions at cut-offs validated against psychiatrist interview in this population</a:t>
            </a:r>
          </a:p>
          <a:p>
            <a:pPr>
              <a:spcAft>
                <a:spcPts val="800"/>
              </a:spcAft>
            </a:pPr>
            <a:r>
              <a:rPr sz="1600"/>
              <a:t>Measurement: standardized tablet-based interviews with built-in range and consistency checks</a:t>
            </a:r>
          </a:p>
          <a:p>
            <a:pPr>
              <a:spcAft>
                <a:spcPts val="800"/>
              </a:spcAft>
            </a:pPr>
            <a:r>
              <a:rPr sz="1600"/>
              <a:t>Over-adjustment: daily stressors and food insecurity excluded as likely mediators of the camp pathway</a:t>
            </a:r>
          </a:p>
          <a:p>
            <a:pPr>
              <a:spcAft>
                <a:spcPts val="800"/>
              </a:spcAft>
            </a:pPr>
            <a:r>
              <a:rPr sz="1600"/>
              <a:t>Selection into camps: Model B adjusts for trauma exposure; residual selection acknowledged</a:t>
            </a:r>
          </a:p>
        </p:txBody>
      </p:sp>
      <p:sp>
        <p:nvSpPr>
          <p:cNvPr id="4" name="Section label"/>
          <p:cNvSpPr txBox="1"/>
          <p:nvPr/>
        </p:nvSpPr>
        <p:spPr>
          <a:xfrm>
            <a:off x="841248" y="128016"/>
            <a:ext cx="5486400" cy="292608"/>
          </a:xfrm>
          <a:prstGeom prst="rect">
            <a:avLst/>
          </a:prstGeom>
          <a:noFill/>
        </p:spPr>
        <p:txBody>
          <a:bodyPr wrap="none" lIns="0" rIns="0" tIns="0" bIns="0">
            <a:spAutoFit/>
          </a:bodyPr>
          <a:lstStyle/>
          <a:p>
            <a:pPr algn="l"/>
            <a:r>
              <a:rPr sz="1200" b="1" spc="150">
                <a:solidFill>
                  <a:srgbClr val="E8963C"/>
                </a:solidFill>
              </a:rPr>
              <a:t>METHODS</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Participant Flow</a:t>
            </a:r>
          </a:p>
        </p:txBody>
      </p:sp>
      <p:sp>
        <p:nvSpPr>
          <p:cNvPr id="3" name="Rounded Rectangle 2"/>
          <p:cNvSpPr/>
          <p:nvPr/>
        </p:nvSpPr>
        <p:spPr>
          <a:xfrm>
            <a:off x="2103120" y="1783080"/>
            <a:ext cx="3840480" cy="182880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a:lstStyle/>
          <a:p>
            <a:pPr algn="ctr"/>
            <a:r>
              <a:rPr sz="3400" b="1">
                <a:solidFill>
                  <a:srgbClr val="1E3A5C"/>
                </a:solidFill>
              </a:rPr>
              <a:t>1,774</a:t>
            </a:r>
          </a:p>
          <a:p>
            <a:pPr algn="ctr"/>
            <a:r>
              <a:rPr sz="1600" b="0">
                <a:solidFill>
                  <a:srgbClr val="5A5F66"/>
                </a:solidFill>
              </a:rPr>
              <a:t>adults interviewed across six states</a:t>
            </a:r>
          </a:p>
        </p:txBody>
      </p:sp>
      <p:cxnSp>
        <p:nvCxnSpPr>
          <p:cNvPr id="4" name="Connector 3"/>
          <p:cNvCxnSpPr/>
          <p:nvPr/>
        </p:nvCxnSpPr>
        <p:spPr>
          <a:xfrm>
            <a:off x="4023360" y="3611880"/>
            <a:ext cx="0" cy="502920"/>
          </a:xfrm>
          <a:prstGeom prst="line">
            <a:avLst/>
          </a:prstGeom>
          <a:ln w="28575">
            <a:solidFill>
              <a:srgbClr val="E8963C"/>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4023360" y="3863340"/>
            <a:ext cx="2560320" cy="0"/>
          </a:xfrm>
          <a:prstGeom prst="line">
            <a:avLst/>
          </a:prstGeom>
          <a:ln w="19050">
            <a:solidFill>
              <a:srgbClr val="E8963C"/>
            </a:solidFill>
          </a:ln>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6583680" y="3314700"/>
            <a:ext cx="4389120" cy="1097280"/>
          </a:xfrm>
          <a:prstGeom prst="roundRect">
            <a:avLst>
              <a:gd name="adj" fmla="val 8000"/>
            </a:avLst>
          </a:prstGeom>
          <a:solidFill>
            <a:srgbClr val="1B2A4A"/>
          </a:solidFill>
          <a:ln w="19050">
            <a:solidFill>
              <a:srgbClr val="E8963C"/>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a:lstStyle/>
          <a:p>
            <a:pPr algn="ctr"/>
            <a:r>
              <a:rPr sz="1500" b="0">
                <a:solidFill>
                  <a:srgbClr val="FFFFFF"/>
                </a:solidFill>
              </a:rPr>
              <a:t>42 excluded: missing outcome or covariate data</a:t>
            </a:r>
          </a:p>
        </p:txBody>
      </p:sp>
      <p:sp>
        <p:nvSpPr>
          <p:cNvPr id="7" name="Rounded Rectangle 6"/>
          <p:cNvSpPr/>
          <p:nvPr/>
        </p:nvSpPr>
        <p:spPr>
          <a:xfrm>
            <a:off x="2103120" y="4114800"/>
            <a:ext cx="3840480" cy="182880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a:lstStyle/>
          <a:p>
            <a:pPr algn="ctr"/>
            <a:r>
              <a:rPr sz="3400" b="1">
                <a:solidFill>
                  <a:srgbClr val="C8102E"/>
                </a:solidFill>
              </a:rPr>
              <a:t>1,732</a:t>
            </a:r>
          </a:p>
          <a:p>
            <a:pPr algn="ctr"/>
            <a:r>
              <a:rPr sz="1600" b="0">
                <a:solidFill>
                  <a:srgbClr val="5A5F66"/>
                </a:solidFill>
              </a:rPr>
              <a:t>included in adjusted models (complete-case analysis)</a:t>
            </a:r>
          </a:p>
        </p:txBody>
      </p:sp>
      <p:sp>
        <p:nvSpPr>
          <p:cNvPr id="8" name="Section label"/>
          <p:cNvSpPr txBox="1"/>
          <p:nvPr/>
        </p:nvSpPr>
        <p:spPr>
          <a:xfrm>
            <a:off x="841248" y="128016"/>
            <a:ext cx="5486400" cy="292608"/>
          </a:xfrm>
          <a:prstGeom prst="rect">
            <a:avLst/>
          </a:prstGeom>
          <a:noFill/>
        </p:spPr>
        <p:txBody>
          <a:bodyPr wrap="none" lIns="0" rIns="0" tIns="0" bIns="0">
            <a:spAutoFit/>
          </a:bodyPr>
          <a:lstStyle/>
          <a:p>
            <a:pPr algn="l"/>
            <a:r>
              <a:rPr sz="1200" b="1" spc="150">
                <a:solidFill>
                  <a:srgbClr val="E8963C"/>
                </a:solidFill>
              </a:rPr>
              <a:t>RESULTS</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Limitations</a:t>
            </a:r>
          </a:p>
        </p:txBody>
      </p:sp>
      <p:sp>
        <p:nvSpPr>
          <p:cNvPr id="3" name="Content Placeholder 2"/>
          <p:cNvSpPr>
            <a:spLocks noGrp="1"/>
          </p:cNvSpPr>
          <p:nvPr>
            <p:ph idx="1"/>
          </p:nvPr>
        </p:nvSpPr>
        <p:spPr/>
        <p:txBody>
          <a:bodyPr/>
          <a:lstStyle/>
          <a:p>
            <a:pPr>
              <a:spcAft>
                <a:spcPts val="800"/>
              </a:spcAft>
            </a:pPr>
            <a:r>
              <a:rPr sz="1600"/>
              <a:t>Cross-sectional design: associations, not causal effects</a:t>
            </a:r>
          </a:p>
          <a:p>
            <a:pPr>
              <a:spcAft>
                <a:spcPts val="800"/>
              </a:spcAft>
            </a:pPr>
            <a:r>
              <a:rPr sz="1600"/>
              <a:t>Purposively selected states: estimates are not nationally representative</a:t>
            </a:r>
          </a:p>
          <a:p>
            <a:pPr>
              <a:spcAft>
                <a:spcPts val="800"/>
              </a:spcAft>
            </a:pPr>
            <a:r>
              <a:rPr sz="1600"/>
              <a:t>IDP camps present in three states only</a:t>
            </a:r>
          </a:p>
          <a:p>
            <a:pPr>
              <a:spcAft>
                <a:spcPts val="800"/>
              </a:spcAft>
            </a:pPr>
            <a:r>
              <a:rPr sz="1600"/>
              <a:t>Selection into camps possible; trauma adjustment addresses its most obvious form</a:t>
            </a:r>
          </a:p>
        </p:txBody>
      </p:sp>
      <p:sp>
        <p:nvSpPr>
          <p:cNvPr id="4" name="Section label"/>
          <p:cNvSpPr txBox="1"/>
          <p:nvPr/>
        </p:nvSpPr>
        <p:spPr>
          <a:xfrm>
            <a:off x="841248" y="128016"/>
            <a:ext cx="5486400" cy="292608"/>
          </a:xfrm>
          <a:prstGeom prst="rect">
            <a:avLst/>
          </a:prstGeom>
          <a:noFill/>
        </p:spPr>
        <p:txBody>
          <a:bodyPr wrap="none" lIns="0" rIns="0" tIns="0" bIns="0">
            <a:spAutoFit/>
          </a:bodyPr>
          <a:lstStyle/>
          <a:p>
            <a:pPr algn="l"/>
            <a:r>
              <a:rPr sz="1200" b="1" spc="150">
                <a:solidFill>
                  <a:srgbClr val="E8963C"/>
                </a:solidFill>
              </a:rPr>
              <a:t>DISCUSSION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DC694791-DCBF-054B-AC14-8D52D0CBB6D9}">
  <we:reference id="WA200010001" version="1.0.0.1" store="Omex" storeType="OMEX"/>
  <we:alternateReferences>
    <we:reference id="WA200010001" version="1.0.0.1" store="WA200010001" storeType="OMEX"/>
  </we:alternateReferences>
  <we:properties>
    <we:property name="claude.fileId" value="&quot;09e0ebe4-da4c-497a-81e3-66e570256384&quot;"/>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16f9e34a-f673-4991-bd36-81c9500deaa7">
      <Terms xmlns="http://schemas.microsoft.com/office/infopath/2007/PartnerControls"/>
    </lcf76f155ced4ddcb4097134ff3c332f>
    <TaxCatchAll xmlns="0d455e71-3517-45a9-a939-bdf8808606ae"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E4876336B1FEC34C9AF13CFD0682E5C4" ma:contentTypeVersion="15" ma:contentTypeDescription="Create a new document." ma:contentTypeScope="" ma:versionID="f930fe4fb9fc0775590c4daff8c16b97">
  <xsd:schema xmlns:xsd="http://www.w3.org/2001/XMLSchema" xmlns:xs="http://www.w3.org/2001/XMLSchema" xmlns:p="http://schemas.microsoft.com/office/2006/metadata/properties" xmlns:ns2="16f9e34a-f673-4991-bd36-81c9500deaa7" xmlns:ns3="0d455e71-3517-45a9-a939-bdf8808606ae" targetNamespace="http://schemas.microsoft.com/office/2006/metadata/properties" ma:root="true" ma:fieldsID="cde4bf3402db8cf643ee45ef11b54067" ns2:_="" ns3:_="">
    <xsd:import namespace="16f9e34a-f673-4991-bd36-81c9500deaa7"/>
    <xsd:import namespace="0d455e71-3517-45a9-a939-bdf8808606ae"/>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3:SharedWithUsers" minOccurs="0"/>
                <xsd:element ref="ns3:SharedWithDetails" minOccurs="0"/>
                <xsd:element ref="ns2:lcf76f155ced4ddcb4097134ff3c332f" minOccurs="0"/>
                <xsd:element ref="ns3:TaxCatchAll" minOccurs="0"/>
                <xsd:element ref="ns2:MediaServiceDateTaken" minOccurs="0"/>
                <xsd:element ref="ns2:MediaServiceOCR" minOccurs="0"/>
                <xsd:element ref="ns2:MediaServiceGenerationTime" minOccurs="0"/>
                <xsd:element ref="ns2:MediaServiceEventHashCode" minOccurs="0"/>
                <xsd:element ref="ns2:MediaServiceLocation"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6f9e34a-f673-4991-bd36-81c9500deaa7"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lcf76f155ced4ddcb4097134ff3c332f" ma:index="15" nillable="true" ma:taxonomy="true" ma:internalName="lcf76f155ced4ddcb4097134ff3c332f" ma:taxonomyFieldName="MediaServiceImageTags" ma:displayName="Image Tags" ma:readOnly="false" ma:fieldId="{5cf76f15-5ced-4ddc-b409-7134ff3c332f}" ma:taxonomyMulti="true" ma:sspId="c22d6aeb-2130-4a19-b464-59cdf858f26b" ma:termSetId="09814cd3-568e-fe90-9814-8d621ff8fb84" ma:anchorId="fba54fb3-c3e1-fe81-a776-ca4b69148c4d" ma:open="true" ma:isKeyword="false">
      <xsd:complexType>
        <xsd:sequence>
          <xsd:element ref="pc:Terms" minOccurs="0" maxOccurs="1"/>
        </xsd:sequence>
      </xsd:complexType>
    </xsd:element>
    <xsd:element name="MediaServiceDateTaken" ma:index="17" nillable="true" ma:displayName="MediaServiceDateTaken" ma:hidden="true" ma:indexed="true" ma:internalName="MediaServiceDateTaken" ma:readOnly="true">
      <xsd:simpleType>
        <xsd:restriction base="dms:Text"/>
      </xsd:simpleType>
    </xsd:element>
    <xsd:element name="MediaServiceOCR" ma:index="18" nillable="true" ma:displayName="Extracted Text" ma:internalName="MediaServiceOCR" ma:readOnly="true">
      <xsd:simpleType>
        <xsd:restriction base="dms:Note">
          <xsd:maxLength value="255"/>
        </xsd:restriction>
      </xsd:simpleType>
    </xsd:element>
    <xsd:element name="MediaServiceGenerationTime" ma:index="19" nillable="true" ma:displayName="MediaServiceGenerationTime" ma:hidden="true" ma:internalName="MediaServiceGenerationTime" ma:readOnly="true">
      <xsd:simpleType>
        <xsd:restriction base="dms:Text"/>
      </xsd:simpleType>
    </xsd:element>
    <xsd:element name="MediaServiceEventHashCode" ma:index="20" nillable="true" ma:displayName="MediaServiceEventHashCode" ma:hidden="true" ma:internalName="MediaServiceEventHashCode" ma:readOnly="true">
      <xsd:simpleType>
        <xsd:restriction base="dms:Text"/>
      </xsd:simpleType>
    </xsd:element>
    <xsd:element name="MediaServiceLocation" ma:index="21" nillable="true" ma:displayName="Location" ma:indexed="true" ma:internalName="MediaServiceLocation" ma:readOnly="true">
      <xsd:simpleType>
        <xsd:restriction base="dms:Text"/>
      </xsd:simpleType>
    </xsd:element>
    <xsd:element name="MediaLengthInSeconds" ma:index="22"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0d455e71-3517-45a9-a939-bdf8808606ae"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16" nillable="true" ma:displayName="Taxonomy Catch All Column" ma:hidden="true" ma:list="{4e837d8e-31af-40a5-9b44-e3432619d9a9}" ma:internalName="TaxCatchAll" ma:showField="CatchAllData" ma:web="0d455e71-3517-45a9-a939-bdf8808606ae">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5514700D-B035-4BA6-828A-0AE1243E6859}">
  <ds:schemaRefs>
    <ds:schemaRef ds:uri="http://schemas.microsoft.com/office/2006/metadata/properties"/>
    <ds:schemaRef ds:uri="http://schemas.microsoft.com/office/infopath/2007/PartnerControls"/>
    <ds:schemaRef ds:uri="16f9e34a-f673-4991-bd36-81c9500deaa7"/>
    <ds:schemaRef ds:uri="0d455e71-3517-45a9-a939-bdf8808606ae"/>
  </ds:schemaRefs>
</ds:datastoreItem>
</file>

<file path=customXml/itemProps2.xml><?xml version="1.0" encoding="utf-8"?>
<ds:datastoreItem xmlns:ds="http://schemas.openxmlformats.org/officeDocument/2006/customXml" ds:itemID="{1C096B2B-A652-4499-9E2B-71FAFA95564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16f9e34a-f673-4991-bd36-81c9500deaa7"/>
    <ds:schemaRef ds:uri="0d455e71-3517-45a9-a939-bdf8808606a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C7461CDA-AB55-4D84-9CEF-669BCD74C02F}">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691</TotalTime>
  <Words>2489</Words>
  <Application>Microsoft Macintosh PowerPoint</Application>
  <PresentationFormat>Widescreen</PresentationFormat>
  <Paragraphs>257</Paragraphs>
  <Slides>26</Slides>
  <Notes>21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26</vt:i4>
      </vt:variant>
    </vt:vector>
  </HeadingPairs>
  <TitlesOfParts>
    <vt:vector size="30" baseType="lpstr">
      <vt:lpstr>Aptos</vt:lpstr>
      <vt:lpstr>Aptos Display</vt:lpstr>
      <vt:lpstr>Arial</vt:lpstr>
      <vt:lpstr>Office Theme</vt:lpstr>
      <vt:lpstr>Prevalence and Predictors of PTSD, Depression, and Anxiety Among Persons Exposed to Diverse Forms of Armed Violence Across Six Nigerian States</vt:lpstr>
      <vt:lpstr>Continuing Medical Education Financial Disclosure </vt:lpstr>
      <vt:lpstr>Background</vt:lpstr>
      <vt:lpstr>Nigeria's Crisis Landscape</vt:lpstr>
      <vt:lpstr>Violence Layered on Economic Hardship</vt:lpstr>
      <vt:lpstr>Needs Far Exceed Mental Health Capacity</vt:lpstr>
      <vt:lpstr>The Nigerian Evidence Gap</vt:lpstr>
      <vt:lpstr>Study Aim</vt:lpstr>
      <vt:lpstr>Methods</vt:lpstr>
      <vt:lpstr>From Country to Ward</vt:lpstr>
      <vt:lpstr>The Sample at a Glance</vt:lpstr>
      <vt:lpstr>Outcome Measures: Validated Cut-Offs</vt:lpstr>
      <vt:lpstr>Measures and Analytic Strategy</vt:lpstr>
      <vt:lpstr>Two Models, Two Focal Exposures</vt:lpstr>
      <vt:lpstr>Results</vt:lpstr>
      <vt:lpstr>Who Was in the Sample</vt:lpstr>
      <vt:lpstr>A Substantial, Overlapping Burden</vt:lpstr>
      <vt:lpstr>Nearly One in Three Adults Met Criteria</vt:lpstr>
      <vt:lpstr>Camps and Trauma Mark the Highest Burden</vt:lpstr>
      <vt:lpstr>Both Exposures Survive Adjustment</vt:lpstr>
      <vt:lpstr>The Burden Clusters by Community</vt:lpstr>
      <vt:lpstr>After Adjustment, Half the Variation Is Between Communities</vt:lpstr>
      <vt:lpstr>Discussion</vt:lpstr>
      <vt:lpstr>What This Means</vt:lpstr>
      <vt:lpstr>Conclusion</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Amanda Brahlek</dc:creator>
  <cp:lastModifiedBy>Abba-Aji, Mohammed</cp:lastModifiedBy>
  <cp:revision>22</cp:revision>
  <dcterms:created xsi:type="dcterms:W3CDTF">2026-04-30T16:25:28Z</dcterms:created>
  <dcterms:modified xsi:type="dcterms:W3CDTF">2026-09-24T04:34:43Z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0x010100E4876336B1FEC34C9AF13CFD0682E5C4</vt:lpwstr>
  </property>
  <property fmtid="{D5CDD505-2E9C-101B-9397-08002B2CF9AE}" pid="3" name="MediaServiceImageTags">
    <vt:lpwstr/>
  </property>
</Properties>
</file>