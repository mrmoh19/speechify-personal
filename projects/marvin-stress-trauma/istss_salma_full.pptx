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ngesInfos/changesInfo1.xml" ContentType="application/vnd.ms-powerpoint.changesinfo+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sldIdLst>
    <p:sldId id="256" r:id="rId5"/>
    <p:sldId id="257" r:id="rId6"/>
    <p:sldId id="258" r:id="rId9"/>
    <p:sldId id="259" r:id="rId8"/>
    <p:sldId id="260" r:id="rId7"/>
    <p:sldId id="261" r:id="rId17"/>
    <p:sldId id="262" r:id="rId18"/>
    <p:sldId id="263" r:id="rId19"/>
    <p:sldId id="264" r:id="rId20"/>
    <p:sldId id="265" r:id="rId21"/>
    <p:sldId id="266" r:id="rId22"/>
    <p:sldId id="267" r:id="rId23"/>
    <p:sldId id="268" r:id="rId24"/>
    <p:sldId id="269" r:id="rId2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0A919D0-9672-3B54-444D-474231CC376B}" v="27" dt="2026-05-05T17:49:24.76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993" autoAdjust="0"/>
    <p:restoredTop sz="94660"/>
  </p:normalViewPr>
  <p:slideViewPr>
    <p:cSldViewPr snapToGrid="0">
      <p:cViewPr varScale="1">
        <p:scale>
          <a:sx n="89" d="100"/>
          <a:sy n="89" d="100"/>
        </p:scale>
        <p:origin x="331" y="8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5.xml"/><Relationship Id="rId8" Type="http://schemas.openxmlformats.org/officeDocument/2006/relationships/slide" Target="slides/slide4.xml"/><Relationship Id="rId9" Type="http://schemas.openxmlformats.org/officeDocument/2006/relationships/slide" Target="slides/slide3.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 Id="rId14" Type="http://schemas.microsoft.com/office/2016/11/relationships/changesInfo" Target="changesInfos/changesInfo1.xml"/><Relationship Id="rId15" Type="http://schemas.microsoft.com/office/2015/10/relationships/revisionInfo" Target="revisionInfo.xml"/><Relationship Id="rId16" Type="http://schemas.openxmlformats.org/officeDocument/2006/relationships/notesMaster" Target="notesMasters/notesMaster1.xml"/><Relationship Id="rId17" Type="http://schemas.openxmlformats.org/officeDocument/2006/relationships/slide" Target="slides/slide6.xml"/><Relationship Id="rId18" Type="http://schemas.openxmlformats.org/officeDocument/2006/relationships/slide" Target="slides/slide7.xml"/><Relationship Id="rId19" Type="http://schemas.openxmlformats.org/officeDocument/2006/relationships/slide" Target="slides/slide8.xml"/><Relationship Id="rId20" Type="http://schemas.openxmlformats.org/officeDocument/2006/relationships/slide" Target="slides/slide9.xml"/><Relationship Id="rId21" Type="http://schemas.openxmlformats.org/officeDocument/2006/relationships/slide" Target="slides/slide10.xml"/><Relationship Id="rId22" Type="http://schemas.openxmlformats.org/officeDocument/2006/relationships/slide" Target="slides/slide11.xml"/><Relationship Id="rId23" Type="http://schemas.openxmlformats.org/officeDocument/2006/relationships/slide" Target="slides/slide12.xml"/><Relationship Id="rId24" Type="http://schemas.openxmlformats.org/officeDocument/2006/relationships/slide" Target="slides/slide13.xml"/><Relationship Id="rId25" Type="http://schemas.openxmlformats.org/officeDocument/2006/relationships/slide" Target="slides/slide1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aura Evans" userId="S::levans@parthenonmgmt.com::502e5b7e-0522-4e8f-98b1-099491360ecc" providerId="AD" clId="Web-{10A919D0-9672-3B54-444D-474231CC376B}"/>
    <pc:docChg chg="modSld">
      <pc:chgData name="Laura Evans" userId="S::levans@parthenonmgmt.com::502e5b7e-0522-4e8f-98b1-099491360ecc" providerId="AD" clId="Web-{10A919D0-9672-3B54-444D-474231CC376B}" dt="2026-05-05T17:49:24.769" v="29" actId="1076"/>
      <pc:docMkLst>
        <pc:docMk/>
      </pc:docMkLst>
      <pc:sldChg chg="modSp">
        <pc:chgData name="Laura Evans" userId="S::levans@parthenonmgmt.com::502e5b7e-0522-4e8f-98b1-099491360ecc" providerId="AD" clId="Web-{10A919D0-9672-3B54-444D-474231CC376B}" dt="2026-05-05T17:47:32.081" v="6" actId="20577"/>
        <pc:sldMkLst>
          <pc:docMk/>
          <pc:sldMk cId="1804320558" sldId="256"/>
        </pc:sldMkLst>
        <pc:spChg chg="mod">
          <ac:chgData name="Laura Evans" userId="S::levans@parthenonmgmt.com::502e5b7e-0522-4e8f-98b1-099491360ecc" providerId="AD" clId="Web-{10A919D0-9672-3B54-444D-474231CC376B}" dt="2026-05-05T17:47:32.081" v="6" actId="20577"/>
          <ac:spMkLst>
            <pc:docMk/>
            <pc:sldMk cId="1804320558" sldId="256"/>
            <ac:spMk id="2" creationId="{125018A9-85F0-3BCF-08E3-53242BED322C}"/>
          </ac:spMkLst>
        </pc:spChg>
      </pc:sldChg>
      <pc:sldChg chg="modSp">
        <pc:chgData name="Laura Evans" userId="S::levans@parthenonmgmt.com::502e5b7e-0522-4e8f-98b1-099491360ecc" providerId="AD" clId="Web-{10A919D0-9672-3B54-444D-474231CC376B}" dt="2026-05-05T17:49:24.769" v="29" actId="1076"/>
        <pc:sldMkLst>
          <pc:docMk/>
          <pc:sldMk cId="1217370416" sldId="257"/>
        </pc:sldMkLst>
        <pc:spChg chg="mod">
          <ac:chgData name="Laura Evans" userId="S::levans@parthenonmgmt.com::502e5b7e-0522-4e8f-98b1-099491360ecc" providerId="AD" clId="Web-{10A919D0-9672-3B54-444D-474231CC376B}" dt="2026-05-05T17:49:20.847" v="28" actId="1076"/>
          <ac:spMkLst>
            <pc:docMk/>
            <pc:sldMk cId="1217370416" sldId="257"/>
            <ac:spMk id="2" creationId="{8541808E-CCF4-3463-2FDA-3BA4D8F6B1F1}"/>
          </ac:spMkLst>
        </pc:spChg>
        <pc:spChg chg="mod">
          <ac:chgData name="Laura Evans" userId="S::levans@parthenonmgmt.com::502e5b7e-0522-4e8f-98b1-099491360ecc" providerId="AD" clId="Web-{10A919D0-9672-3B54-444D-474231CC376B}" dt="2026-05-05T17:49:24.769" v="29" actId="1076"/>
          <ac:spMkLst>
            <pc:docMk/>
            <pc:sldMk cId="1217370416" sldId="257"/>
            <ac:spMk id="3" creationId="{D81E43C8-B81F-911F-DFA1-9067AA2E8A2B}"/>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Thank the chair. Jaimie showed the instruments hold; this paper deploys them at scale and asks what, besides trauma itself, drives the burden.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financial relationships to disclose.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Nigeria carries multiple overlapping crises: insurgency in the northeast, banditry in the northwest, farmer-herder conflict in the Middle Belt, separatist violence in the southeast, cult violence in the Delta. All three forms of organized violence at once, producing one of the world's largest internally displaced populations.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violence sits on a punishing economy — income per person down two-thirds in a decade, 133 million multidimensionally poor, food inflation at 40 percent — and a health system with almost no mental health capacity. Two pathways could drive the psychiatric burden: the traumatic events themselves, and the post-displacement environment. Distinguishing them is this paper's job.</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Despite the scale of the problem, the evidence was thin: single sites, convenience samples, unvalidated instruments, estimates ranging from 42 to 67 percent for PTSD. No multi-state population-based study existed. The Ministry needs these numbers to implement the Mental Health Act — which is why it co-owns this study.</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objectives: population prevalence across the six zones; the factors associated with each condition; and the separation of the trauma pathway from the displacement-environment pathway.</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Six states, one per zone. Two LGAs per state, urban and rural; 573 communities; households by systematic sampling; camps through the same procedures. 1,774 adults, face-to-face, May to October 2025.</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multivariable models, one focal exposure each. Model A: the trauma count. Model B: camp residence, adjusted for trauma — so the camp estimate is the environment's association net of measured events. Daily stressors and food insecurity stay out deliberately: they are plausible mediators of the camp pathway, and adjusting for mediators biases the estimate toward null. Multilevel models give us the clustering.</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sample looks like the six zones: Quranic education concentrated in the north, tertiary in the southeast and south-south. A quarter live in camps. Two-thirds are food insecure. Mean trauma exposure of one and a half event types, with an 18 percent tail at three or more.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Prevalence: 18.5, 21, and 20.7 percent. Nearly one in three with at least one condition, and among those, over a third meet all three — correlations above 0.8. Note the design effects near seven: the burden clusters intensely by community, which becomes its own finding.</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Unadjusted, everything varies enormously: 28-fold across states, four-fold between camp and community, a steep trauma dose-response. The question is what survives when the exposures compete in adjusted models.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Model A: each additional traumatic event carries 14 to 15 percent higher prevalence of every condition, adjusted for demographics and geography. Model B is the headline, in red: current camp residence carries two- to three-fold higher prevalence after additionally adjusting for trauma — and the trauma coefficients barely move when camp enters. Two separable pathways. Camp residence also absorbs much of the Benue–Borno difference in state effects.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intraclass correlations are exceptional — 0.86 for PTSD unadjusted, still above 0.6 adjusted. The burden is a property of communities as much as individuals. One more result sets up the next talk: the trauma gradient is steepest where exposure is lowest and flat where it is highest. Mohammed's paper takes exactly that thread. Every sensitivity analysis holds.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camp association, robust to trauma adjustment, identifies the post-displacement environment as its own target. The clustering says deliver by community. And this is the evidence the Ministry asked for — Dr. Ojo takes it from here. Limitations in one breath: cross-sectional, purposive state selection, camps in only three states, and camp selection effects that the trauma adjustment only partly addresses.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8D2F07-ACD0-46D7-5BFB-BAA0E7043F9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08DD8877-66BE-034D-D927-46D0CFC5CE7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Tree>
    <p:extLst>
      <p:ext uri="{BB962C8B-B14F-4D97-AF65-F5344CB8AC3E}">
        <p14:creationId xmlns:p14="http://schemas.microsoft.com/office/powerpoint/2010/main" val="160559819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DA7AD1-73C4-45F4-685A-791D9BA00D0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8B016B9-DA0F-8DBB-30CF-93F515B64E5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21006154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1A9D04-BFB6-D2BC-915D-4141F304F3DC}"/>
              </a:ext>
            </a:extLst>
          </p:cNvPr>
          <p:cNvSpPr>
            <a:spLocks noGrp="1"/>
          </p:cNvSpPr>
          <p:nvPr>
            <p:ph type="title"/>
          </p:nvPr>
        </p:nvSpPr>
        <p:spPr>
          <a:xfrm>
            <a:off x="838200" y="1389064"/>
            <a:ext cx="10515600" cy="2852737"/>
          </a:xfrm>
        </p:spPr>
        <p:txBody>
          <a:bodyPr anchor="b"/>
          <a:lstStyle>
            <a:lvl1pPr>
              <a:defRPr sz="6000"/>
            </a:lvl1pPr>
          </a:lstStyle>
          <a:p>
            <a:r>
              <a:rPr lang="en-US" dirty="0"/>
              <a:t>Click to edit Master title style</a:t>
            </a:r>
          </a:p>
        </p:txBody>
      </p:sp>
      <p:sp>
        <p:nvSpPr>
          <p:cNvPr id="3" name="Text Placeholder 2">
            <a:extLst>
              <a:ext uri="{FF2B5EF4-FFF2-40B4-BE49-F238E27FC236}">
                <a16:creationId xmlns:a16="http://schemas.microsoft.com/office/drawing/2014/main" id="{F2FBB4D8-C7D6-5799-D878-9127D945061D}"/>
              </a:ext>
            </a:extLst>
          </p:cNvPr>
          <p:cNvSpPr>
            <a:spLocks noGrp="1"/>
          </p:cNvSpPr>
          <p:nvPr>
            <p:ph type="body" idx="1"/>
          </p:nvPr>
        </p:nvSpPr>
        <p:spPr>
          <a:xfrm>
            <a:off x="831850" y="4239419"/>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 Master text styles</a:t>
            </a:r>
          </a:p>
        </p:txBody>
      </p:sp>
    </p:spTree>
    <p:extLst>
      <p:ext uri="{BB962C8B-B14F-4D97-AF65-F5344CB8AC3E}">
        <p14:creationId xmlns:p14="http://schemas.microsoft.com/office/powerpoint/2010/main" val="141844070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3C3695-D63C-614A-592E-C7C8FACCA88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F8F1E00-535F-7798-D7B7-5A0785FC9EF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FF184D3-E0CB-B543-4600-1FE46236B57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97729390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D98F22-5587-8C51-9F26-1E85693E018B}"/>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F094F101-494F-5244-4B75-4BC8C06B7DC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DFA9443-1733-8D80-2317-10C962795CC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CAEE2E3-1BBA-B796-F81E-702496D229C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63D05EE-EFD6-E52C-CC7B-97E1B68F784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47394000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7F998D-6DCB-8761-7948-816D8008FC41}"/>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52705028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41295939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0F78FD-4F04-A735-7227-DD9D0C8771A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05CBADDE-A346-86EE-C54B-288C8AFFEDD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9A7005A3-29D6-AA06-6647-2698D53E25D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Tree>
    <p:extLst>
      <p:ext uri="{BB962C8B-B14F-4D97-AF65-F5344CB8AC3E}">
        <p14:creationId xmlns:p14="http://schemas.microsoft.com/office/powerpoint/2010/main" val="29189925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A21318-1CBF-6DBA-89C5-EB895780A5F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2082C6D3-53AB-5EF9-3972-451B4205945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4F8AF908-CEBB-39F5-AB46-A54554EF418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Tree>
    <p:extLst>
      <p:ext uri="{BB962C8B-B14F-4D97-AF65-F5344CB8AC3E}">
        <p14:creationId xmlns:p14="http://schemas.microsoft.com/office/powerpoint/2010/main" val="93971295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A26688-A6E8-DA47-A8C6-286905CD890E}"/>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2B3F5354-8E45-2730-2ADA-A0763238929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64887705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A12CACC-1178-676F-DA41-87E1A8685BCD}"/>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59D34D08-8B2B-9DEF-6A0A-537FAE2CEDA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577060871"/>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 Id="rId13" Type="http://schemas.openxmlformats.org/officeDocument/2006/relationships/image" Target="../media/image1.jp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0E5FE3E-9707-5232-D1A7-10EE269B70E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83727243-EF1D-5BAF-7E5C-54B7AE28949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29649358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bg1">
              <a:lumMod val="95000"/>
            </a:schemeClr>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1">
              <a:lumMod val="9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1">
              <a:lumMod val="95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1">
              <a:lumMod val="9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lumMod val="9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lumMod val="9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5018A9-85F0-3BCF-08E3-53242BED322C}"/>
              </a:ext>
            </a:extLst>
          </p:cNvPr>
          <p:cNvSpPr>
            <a:spLocks noGrp="1"/>
          </p:cNvSpPr>
          <p:nvPr>
            <p:ph type="ctrTitle"/>
          </p:nvPr>
        </p:nvSpPr>
        <p:spPr/>
        <p:txBody>
          <a:bodyPr/>
          <a:lstStyle/>
          <a:p>
            <a:r>
              <a:rPr sz="2600"/>
              <a:t>Prevalence and Predictors of PTSD, Depression, and Anxiety Among Persons Exposed to Diverse Forms of Armed Violence Across Six Nigerian States</a:t>
            </a:r>
          </a:p>
        </p:txBody>
      </p:sp>
      <p:sp>
        <p:nvSpPr>
          <p:cNvPr id="3" name="Subtitle 2">
            <a:extLst>
              <a:ext uri="{FF2B5EF4-FFF2-40B4-BE49-F238E27FC236}">
                <a16:creationId xmlns:a16="http://schemas.microsoft.com/office/drawing/2014/main" id="{27C44F12-169B-E2E1-BF80-C326C1BF9763}"/>
              </a:ext>
            </a:extLst>
          </p:cNvPr>
          <p:cNvSpPr>
            <a:spLocks noGrp="1"/>
          </p:cNvSpPr>
          <p:nvPr>
            <p:ph type="subTitle" idx="1"/>
          </p:nvPr>
        </p:nvSpPr>
        <p:spPr/>
        <p:txBody>
          <a:bodyPr/>
          <a:lstStyle/>
          <a:p>
            <a:r>
              <a:t>Salma M. Abdalla, MBBS, MPH, DrPH · Washington University in St. Louis</a:t>
            </a:r>
          </a:p>
          <a:p>
            <a:r>
              <a:rPr sz="1400">
                <a:solidFill>
                  <a:srgbClr val="898989"/>
                </a:solidFill>
              </a:rPr>
              <a:t>The MaRVIN study — Abba-Aji, Abdalla, Gradus, Ojo, Magaji, Galea</a:t>
            </a:r>
          </a:p>
          <a:p>
            <a:r>
              <a:rPr sz="1300">
                <a:solidFill>
                  <a:srgbClr val="898989"/>
                </a:solidFill>
              </a:rPr>
              <a:t>ISTSS 42nd Annual Meeting · San Antonio, TX · September 24, 2026</a:t>
            </a:r>
          </a:p>
        </p:txBody>
      </p:sp>
    </p:spTree>
    <p:extLst>
      <p:ext uri="{BB962C8B-B14F-4D97-AF65-F5344CB8AC3E}">
        <p14:creationId xmlns:p14="http://schemas.microsoft.com/office/powerpoint/2010/main" val="180432055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41808E-CCF4-3463-2FDA-3BA4D8F6B1F1}"/>
              </a:ext>
            </a:extLst>
          </p:cNvPr>
          <p:cNvSpPr>
            <a:spLocks noGrp="1"/>
          </p:cNvSpPr>
          <p:nvPr>
            <p:ph type="title"/>
          </p:nvPr>
        </p:nvSpPr>
        <p:spPr>
          <a:xfrm>
            <a:off x="838200" y="389316"/>
            <a:ext cx="10515600" cy="1325563"/>
          </a:xfrm>
        </p:spPr>
        <p:txBody>
          <a:bodyPr>
            <a:normAutofit fontScale="90000"/>
          </a:bodyPr>
          <a:lstStyle/>
          <a:p>
            <a:pPr algn="ctr"/>
            <a:r>
              <a:rPr lang="en-US" sz="5600">
                <a:solidFill>
                  <a:schemeClr val="bg1"/>
                </a:solidFill>
                <a:ea typeface="+mj-lt"/>
                <a:cs typeface="+mj-lt"/>
              </a:rPr>
              <a:t>Continuing Medical Education Financial Disclosure </a:t>
            </a:r>
            <a:endParaRPr lang="en-US">
              <a:solidFill>
                <a:schemeClr val="bg1"/>
              </a:solidFill>
            </a:endParaRPr>
          </a:p>
        </p:txBody>
      </p:sp>
      <p:sp>
        <p:nvSpPr>
          <p:cNvPr id="3" name="Content Placeholder 2">
            <a:extLst>
              <a:ext uri="{FF2B5EF4-FFF2-40B4-BE49-F238E27FC236}">
                <a16:creationId xmlns:a16="http://schemas.microsoft.com/office/drawing/2014/main" id="{D81E43C8-B81F-911F-DFA1-9067AA2E8A2B}"/>
              </a:ext>
            </a:extLst>
          </p:cNvPr>
          <p:cNvSpPr>
            <a:spLocks noGrp="1"/>
          </p:cNvSpPr>
          <p:nvPr>
            <p:ph idx="1"/>
          </p:nvPr>
        </p:nvSpPr>
        <p:spPr>
          <a:xfrm>
            <a:off x="838200" y="1958673"/>
            <a:ext cx="10515600" cy="4145719"/>
          </a:xfrm>
        </p:spPr>
        <p:txBody>
          <a:bodyPr vert="horz" lIns="91440" tIns="45720" rIns="91440" bIns="45720" rtlCol="0" anchor="t">
            <a:normAutofit fontScale="85000" lnSpcReduction="20000"/>
          </a:bodyPr>
          <a:lstStyle/>
          <a:p>
            <a:pPr marL="0" indent="0">
              <a:lnSpc>
                <a:spcPct val="100000"/>
              </a:lnSpc>
              <a:spcBef>
                <a:spcPts val="0"/>
              </a:spcBef>
              <a:buNone/>
            </a:pPr>
            <a:r>
              <a:rPr lang="en-US" sz="2400" dirty="0" err="1">
                <a:solidFill>
                  <a:schemeClr val="bg1"/>
                </a:solidFill>
                <a:latin typeface="Aptos"/>
              </a:rPr>
              <a:t>Amedco</a:t>
            </a:r>
            <a:r>
              <a:rPr lang="en-US" sz="2400" dirty="0">
                <a:solidFill>
                  <a:schemeClr val="bg1"/>
                </a:solidFill>
                <a:latin typeface="Aptos"/>
              </a:rPr>
              <a:t>, our CME provider, asks that all individuals who have the ability to influence and/or control the content of this accredited activity disclose any/all relationships with ‎Ineligible Companies. </a:t>
            </a:r>
          </a:p>
          <a:p>
            <a:pPr marL="0" indent="0">
              <a:lnSpc>
                <a:spcPct val="100000"/>
              </a:lnSpc>
              <a:spcBef>
                <a:spcPts val="0"/>
              </a:spcBef>
              <a:buNone/>
            </a:pPr>
            <a:r>
              <a:rPr lang="en-US" sz="2400" dirty="0">
                <a:solidFill>
                  <a:schemeClr val="bg1"/>
                </a:solidFill>
                <a:latin typeface="Aptos"/>
              </a:rPr>
              <a:t>This information is disclosed to CME activity participants, and </a:t>
            </a:r>
            <a:r>
              <a:rPr lang="en-US" sz="2400" dirty="0" err="1">
                <a:solidFill>
                  <a:schemeClr val="bg1"/>
                </a:solidFill>
                <a:latin typeface="Aptos"/>
              </a:rPr>
              <a:t>Amedco</a:t>
            </a:r>
            <a:r>
              <a:rPr lang="en-US" sz="2400" dirty="0">
                <a:solidFill>
                  <a:schemeClr val="bg1"/>
                </a:solidFill>
                <a:latin typeface="Aptos"/>
              </a:rPr>
              <a:t> has procedures in place to resolve any apparent conflicts. In addition, presenters are asked to disclose when any discussion of unapproved use of pharmaceuticals and devices are being discussed. </a:t>
            </a:r>
          </a:p>
          <a:p>
            <a:pPr marL="0" indent="0">
              <a:lnSpc>
                <a:spcPct val="100000"/>
              </a:lnSpc>
              <a:spcBef>
                <a:spcPts val="0"/>
              </a:spcBef>
              <a:buNone/>
            </a:pPr>
            <a:endParaRPr lang="en-US" sz="2400" dirty="0">
              <a:solidFill>
                <a:schemeClr val="bg1"/>
              </a:solidFill>
              <a:latin typeface="Aptos"/>
              <a:ea typeface="Calibri"/>
              <a:cs typeface="Calibri"/>
            </a:endParaRPr>
          </a:p>
          <a:p>
            <a:pPr marL="0" indent="0">
              <a:lnSpc>
                <a:spcPct val="100000"/>
              </a:lnSpc>
              <a:spcBef>
                <a:spcPts val="0"/>
              </a:spcBef>
              <a:buNone/>
            </a:pPr>
            <a:r>
              <a:rPr lang="en-US" sz="2400">
                <a:solidFill>
                  <a:schemeClr val="bg1"/>
                </a:solidFill>
                <a:latin typeface="Aptos"/>
              </a:rPr>
              <a:t>In the past 24 months, I Salma M. Abdalla, have not had financial relationships with any ineligible companies. </a:t>
            </a:r>
          </a:p>
          <a:p>
            <a:pPr marL="0" indent="0">
              <a:lnSpc>
                <a:spcPct val="100000"/>
              </a:lnSpc>
              <a:spcBef>
                <a:spcPts val="0"/>
              </a:spcBef>
              <a:buNone/>
            </a:pPr>
            <a:endParaRPr lang="en-US" sz="2400" dirty="0">
              <a:solidFill>
                <a:schemeClr val="bg1"/>
              </a:solidFill>
              <a:latin typeface="Aptos"/>
              <a:ea typeface="Calibri"/>
              <a:cs typeface="Calibri"/>
            </a:endParaRPr>
          </a:p>
        </p:txBody>
      </p:sp>
    </p:spTree>
    <p:extLst>
      <p:ext uri="{BB962C8B-B14F-4D97-AF65-F5344CB8AC3E}">
        <p14:creationId xmlns:p14="http://schemas.microsoft.com/office/powerpoint/2010/main" val="1217370416"/>
      </p:ext>
    </p:extLst>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Nigeria's Crisis Landscape</a:t>
            </a:r>
          </a:p>
        </p:txBody>
      </p:sp>
      <p:sp>
        <p:nvSpPr>
          <p:cNvPr id="3" name="Content Placeholder 2"/>
          <p:cNvSpPr>
            <a:spLocks noGrp="1"/>
          </p:cNvSpPr>
          <p:nvPr>
            <p:ph idx="1"/>
          </p:nvPr>
        </p:nvSpPr>
        <p:spPr/>
        <p:txBody>
          <a:bodyPr wrap="square"/>
          <a:lstStyle/>
          <a:p>
            <a:pPr>
              <a:spcAft>
                <a:spcPts val="800"/>
              </a:spcAft>
            </a:pPr>
            <a:r>
              <a:rPr sz="1800"/>
              <a:t>Overlapping insecurity across all six geopolitical zones — not one war but many</a:t>
            </a:r>
          </a:p>
          <a:p>
            <a:pPr lvl="1">
              <a:spcAft>
                <a:spcPts val="400"/>
              </a:spcAft>
            </a:pPr>
            <a:r>
              <a:rPr sz="1500"/>
              <a:t>Northeast: Boko Haram / ISWAP insurgency · Northwest: banditry and mass kidnappings</a:t>
            </a:r>
          </a:p>
          <a:p>
            <a:pPr lvl="1">
              <a:spcAft>
                <a:spcPts val="400"/>
              </a:spcAft>
            </a:pPr>
            <a:r>
              <a:rPr sz="1500"/>
              <a:t>Middle Belt: farmer–herder conflict · Southeast: separatist violence · Niger Delta: cultist violence</a:t>
            </a:r>
          </a:p>
          <a:p>
            <a:pPr>
              <a:spcAft>
                <a:spcPts val="800"/>
              </a:spcAft>
            </a:pPr>
            <a:r>
              <a:rPr sz="1800"/>
              <a:t>All three forms of organized violence co-occur: state-based conflict, non-state violence, one-sided violence against civilians</a:t>
            </a:r>
          </a:p>
          <a:p>
            <a:pPr>
              <a:spcAft>
                <a:spcPts val="800"/>
              </a:spcAft>
            </a:pPr>
            <a:r>
              <a:rPr sz="1800"/>
              <a:t>Over 3 million internally displaced — among the largest such populations globally; 75+ million displaced by conflict worldwide by end-2023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Violence Layered on Economic Hardship</a:t>
            </a:r>
          </a:p>
        </p:txBody>
      </p:sp>
      <p:sp>
        <p:nvSpPr>
          <p:cNvPr id="3" name="Content Placeholder 2"/>
          <p:cNvSpPr>
            <a:spLocks noGrp="1"/>
          </p:cNvSpPr>
          <p:nvPr>
            <p:ph idx="1"/>
          </p:nvPr>
        </p:nvSpPr>
        <p:spPr/>
        <p:txBody>
          <a:bodyPr wrap="square"/>
          <a:lstStyle/>
          <a:p>
            <a:pPr>
              <a:spcAft>
                <a:spcPts val="800"/>
              </a:spcAft>
            </a:pPr>
            <a:r>
              <a:rPr sz="1800"/>
              <a:t>GDP per capita ~US$800 in 2024, down from ~$3,100 in 2014</a:t>
            </a:r>
          </a:p>
          <a:p>
            <a:pPr>
              <a:spcAft>
                <a:spcPts val="800"/>
              </a:spcAft>
            </a:pPr>
            <a:r>
              <a:rPr sz="1800"/>
              <a:t>&gt;46% below the national poverty line; ~63% (≈133 million people) multidimensionally poor</a:t>
            </a:r>
          </a:p>
          <a:p>
            <a:pPr>
              <a:spcAft>
                <a:spcPts val="800"/>
              </a:spcAft>
            </a:pPr>
            <a:r>
              <a:rPr sz="1800"/>
              <a:t>Headline inflation ~34% in 2024; food inflation ~41%</a:t>
            </a:r>
          </a:p>
          <a:p>
            <a:pPr>
              <a:spcAft>
                <a:spcPts val="800"/>
              </a:spcAft>
            </a:pPr>
            <a:r>
              <a:rPr sz="1800"/>
              <a:t>Mental health system capacity: ~0.6 workers per 100,000 (WHO recommends 5.0); ~250 psychiatrists for 200+ million; &lt;10% of those affected receive care</a:t>
            </a:r>
          </a:p>
          <a:p>
            <a:pPr>
              <a:spcAft>
                <a:spcPts val="800"/>
              </a:spcAft>
            </a:pPr>
            <a:r>
              <a:rPr sz="1800"/>
              <a:t>Two candidate drivers of mental health burden: the traumatic events, and the conditions displacement creates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The Nigerian Evidence Gap</a:t>
            </a:r>
          </a:p>
        </p:txBody>
      </p:sp>
      <p:sp>
        <p:nvSpPr>
          <p:cNvPr id="3" name="Content Placeholder 2"/>
          <p:cNvSpPr>
            <a:spLocks noGrp="1"/>
          </p:cNvSpPr>
          <p:nvPr>
            <p:ph idx="1"/>
          </p:nvPr>
        </p:nvSpPr>
        <p:spPr/>
        <p:txBody>
          <a:bodyPr wrap="square"/>
          <a:lstStyle/>
          <a:p>
            <a:pPr>
              <a:spcAft>
                <a:spcPts val="800"/>
              </a:spcAft>
            </a:pPr>
            <a:r>
              <a:rPr sz="1800"/>
              <a:t>Existing studies: fragmented, mostly hospital-based or single-site convenience samples</a:t>
            </a:r>
          </a:p>
          <a:p>
            <a:pPr lvl="1">
              <a:spcAft>
                <a:spcPts val="400"/>
              </a:spcAft>
            </a:pPr>
            <a:r>
              <a:rPr sz="1500"/>
              <a:t>Reported PTSD prevalence 42–67%, depression 35–55% — wide variation, mostly IDP-camp samples, instruments unvalidated locally</a:t>
            </a:r>
          </a:p>
          <a:p>
            <a:pPr>
              <a:spcAft>
                <a:spcPts val="800"/>
              </a:spcAft>
            </a:pPr>
            <a:r>
              <a:rPr sz="1800"/>
              <a:t>No multi-state population-based prevalence estimates existed</a:t>
            </a:r>
          </a:p>
          <a:p>
            <a:pPr>
              <a:spcAft>
                <a:spcPts val="800"/>
              </a:spcAft>
            </a:pPr>
            <a:r>
              <a:rPr sz="1800"/>
              <a:t>Predictors, comorbidity patterns, and the trauma-vs-displacement question largely unexamined</a:t>
            </a:r>
          </a:p>
          <a:p>
            <a:pPr>
              <a:spcAft>
                <a:spcPts val="800"/>
              </a:spcAft>
            </a:pPr>
            <a:r>
              <a:rPr sz="1800"/>
              <a:t>Data needed to implement Nigeria's National Mental Health Policy and Mental Health Act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Study Aim</a:t>
            </a:r>
          </a:p>
        </p:txBody>
      </p:sp>
      <p:sp>
        <p:nvSpPr>
          <p:cNvPr id="3" name="Content Placeholder 2"/>
          <p:cNvSpPr>
            <a:spLocks noGrp="1"/>
          </p:cNvSpPr>
          <p:nvPr>
            <p:ph idx="1"/>
          </p:nvPr>
        </p:nvSpPr>
        <p:spPr/>
        <p:txBody>
          <a:bodyPr wrap="square"/>
          <a:lstStyle/>
          <a:p>
            <a:pPr>
              <a:spcAft>
                <a:spcPts val="800"/>
              </a:spcAft>
            </a:pPr>
            <a:r>
              <a:rPr sz="1800"/>
              <a:t>Estimate the prevalence of PTSD, depression, and generalized anxiety across violence-exposed populations in all six geopolitical zones</a:t>
            </a:r>
          </a:p>
          <a:p>
            <a:pPr>
              <a:spcAft>
                <a:spcPts val="800"/>
              </a:spcAft>
            </a:pPr>
            <a:r>
              <a:rPr sz="1800"/>
              <a:t>Identify demographic, geographic, and contextual factors associated with each condition</a:t>
            </a:r>
          </a:p>
          <a:p>
            <a:pPr>
              <a:spcAft>
                <a:spcPts val="800"/>
              </a:spcAft>
            </a:pPr>
            <a:r>
              <a:rPr sz="1800"/>
              <a:t>Distinguish the contribution of cumulative trauma exposure from that of the post-displacement environment (IDP camp residence)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Design and Sample</a:t>
            </a:r>
          </a:p>
        </p:txBody>
      </p:sp>
      <p:sp>
        <p:nvSpPr>
          <p:cNvPr id="3" name="Content Placeholder 2"/>
          <p:cNvSpPr>
            <a:spLocks noGrp="1"/>
          </p:cNvSpPr>
          <p:nvPr>
            <p:ph idx="1"/>
          </p:nvPr>
        </p:nvSpPr>
        <p:spPr/>
        <p:txBody>
          <a:bodyPr wrap="square"/>
          <a:lstStyle/>
          <a:p>
            <a:pPr>
              <a:spcAft>
                <a:spcPts val="800"/>
              </a:spcAft>
            </a:pPr>
            <a:r>
              <a:rPr sz="1800"/>
              <a:t>MaRVIN population-based cross-sectional survey, May–October 2025, with AFENET and the Federal Ministry of Health and Social Welfare; STROBE-compliant</a:t>
            </a:r>
          </a:p>
          <a:p>
            <a:pPr>
              <a:spcAft>
                <a:spcPts val="800"/>
              </a:spcAft>
            </a:pPr>
            <a:r>
              <a:rPr sz="1800"/>
              <a:t>Six states, one per geopolitical zone: Benue, Borno, Enugu, Ogun, Rivers, Sokoto</a:t>
            </a:r>
          </a:p>
          <a:p>
            <a:pPr>
              <a:spcAft>
                <a:spcPts val="800"/>
              </a:spcAft>
            </a:pPr>
            <a:r>
              <a:rPr sz="1800"/>
              <a:t>12 LGAs (one urban, one rural per state); 573 communities; systematic household sampling from a random start</a:t>
            </a:r>
          </a:p>
          <a:p>
            <a:pPr>
              <a:spcAft>
                <a:spcPts val="800"/>
              </a:spcAft>
            </a:pPr>
            <a:r>
              <a:rPr sz="1800"/>
              <a:t>IDP camps sampled through the same procedures in the three states hosting them</a:t>
            </a:r>
          </a:p>
          <a:p>
            <a:pPr>
              <a:spcAft>
                <a:spcPts val="800"/>
              </a:spcAft>
            </a:pPr>
            <a:r>
              <a:rPr sz="1800"/>
              <a:t>N=1,774 adults ≥ 18, resident ≥ 6 months; face-to-face interviews on ODK tablets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Measures and Analytic Strategy</a:t>
            </a:r>
          </a:p>
        </p:txBody>
      </p:sp>
      <p:sp>
        <p:nvSpPr>
          <p:cNvPr id="3" name="Content Placeholder 2"/>
          <p:cNvSpPr>
            <a:spLocks noGrp="1"/>
          </p:cNvSpPr>
          <p:nvPr>
            <p:ph idx="1"/>
          </p:nvPr>
        </p:nvSpPr>
        <p:spPr/>
        <p:txBody>
          <a:bodyPr wrap="square"/>
          <a:lstStyle/>
          <a:p>
            <a:pPr>
              <a:spcAft>
                <a:spcPts val="800"/>
              </a:spcAft>
            </a:pPr>
            <a:r>
              <a:rPr sz="1800"/>
              <a:t>Outcomes at population-validated cut-points (paper 1): PCL-5 ≥ 38, PHQ-9 ≥ 10, GAD-7 ≥ 10</a:t>
            </a:r>
          </a:p>
          <a:p>
            <a:pPr>
              <a:spcAft>
                <a:spcPts val="800"/>
              </a:spcAft>
            </a:pPr>
            <a:r>
              <a:rPr sz="1800"/>
              <a:t>Trauma: Life Events Checklist count · IDP camp residence: field-verified at sampling</a:t>
            </a:r>
          </a:p>
          <a:p>
            <a:pPr>
              <a:spcAft>
                <a:spcPts val="800"/>
              </a:spcAft>
            </a:pPr>
            <a:r>
              <a:rPr sz="1800"/>
              <a:t>Design-based modified Poisson → prevalence ratios; community PSUs, state strata, robust variances</a:t>
            </a:r>
          </a:p>
          <a:p>
            <a:pPr>
              <a:spcAft>
                <a:spcPts val="800"/>
              </a:spcAft>
            </a:pPr>
            <a:r>
              <a:rPr sz="1800"/>
              <a:t>Model A — focal exposure: trauma count, adjusted for demographics and geography</a:t>
            </a:r>
          </a:p>
          <a:p>
            <a:pPr>
              <a:spcAft>
                <a:spcPts val="800"/>
              </a:spcAft>
            </a:pPr>
            <a:r>
              <a:rPr sz="1800"/>
              <a:t>Model B — focal exposure: camp residence, additionally adjusted for trauma</a:t>
            </a:r>
          </a:p>
          <a:p>
            <a:pPr>
              <a:spcAft>
                <a:spcPts val="800"/>
              </a:spcAft>
            </a:pPr>
            <a:r>
              <a:rPr sz="1800"/>
              <a:t>Stressors and food insecurity deliberately excluded as plausible mediators of the camp pathway</a:t>
            </a:r>
          </a:p>
          <a:p>
            <a:pPr>
              <a:spcAft>
                <a:spcPts val="800"/>
              </a:spcAft>
            </a:pPr>
            <a:r>
              <a:rPr sz="1800"/>
              <a:t>Multilevel models estimate community-level clustering (ICCs)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Who Was in the Sample</a:t>
            </a:r>
          </a:p>
        </p:txBody>
      </p:sp>
      <p:sp>
        <p:nvSpPr>
          <p:cNvPr id="3" name="Content Placeholder 2"/>
          <p:cNvSpPr>
            <a:spLocks noGrp="1"/>
          </p:cNvSpPr>
          <p:nvPr>
            <p:ph idx="1"/>
          </p:nvPr>
        </p:nvSpPr>
        <p:spPr/>
        <p:txBody>
          <a:bodyPr wrap="square"/>
          <a:lstStyle/>
          <a:p>
            <a:pPr>
              <a:spcAft>
                <a:spcPts val="800"/>
              </a:spcAft>
            </a:pPr>
            <a:r>
              <a:rPr sz="1800"/>
              <a:t>Mean age 41.0 years (SD 14.4); 54.8% female; 65.8% currently married</a:t>
            </a:r>
          </a:p>
          <a:p>
            <a:pPr>
              <a:spcAft>
                <a:spcPts val="800"/>
              </a:spcAft>
            </a:pPr>
            <a:r>
              <a:rPr sz="1800"/>
              <a:t>Education reflects regional patterns: Quranic/Islamic 19.3% (Borno 39.9%, Sokoto 59.2%); tertiary 18.6% (Enugu 34.8%, Rivers 28.1%)</a:t>
            </a:r>
          </a:p>
          <a:p>
            <a:pPr>
              <a:spcAft>
                <a:spcPts val="800"/>
              </a:spcAft>
            </a:pPr>
            <a:r>
              <a:rPr sz="1800"/>
              <a:t>26.2% residing in IDP camps (present in Benue, Borno, Sokoto only)</a:t>
            </a:r>
          </a:p>
          <a:p>
            <a:pPr>
              <a:spcAft>
                <a:spcPts val="800"/>
              </a:spcAft>
            </a:pPr>
            <a:r>
              <a:rPr sz="1800"/>
              <a:t>Mean traumatic events 1.5 (SD 1.7); 18.0% reported three or more</a:t>
            </a:r>
          </a:p>
          <a:p>
            <a:pPr>
              <a:spcAft>
                <a:spcPts val="800"/>
              </a:spcAft>
            </a:pPr>
            <a:r>
              <a:rPr sz="1800"/>
              <a:t>Moderate or severe food insecurity: 64.8%</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 Substantial, Overlapping Burden</a:t>
            </a:r>
          </a:p>
        </p:txBody>
      </p:sp>
      <p:sp>
        <p:nvSpPr>
          <p:cNvPr id="3" name="Content Placeholder 2"/>
          <p:cNvSpPr>
            <a:spLocks noGrp="1"/>
          </p:cNvSpPr>
          <p:nvPr>
            <p:ph idx="1"/>
          </p:nvPr>
        </p:nvSpPr>
        <p:spPr/>
        <p:txBody>
          <a:bodyPr wrap="square"/>
          <a:lstStyle/>
          <a:p>
            <a:pPr>
              <a:spcAft>
                <a:spcPts val="800"/>
              </a:spcAft>
            </a:pPr>
            <a:r>
              <a:rPr sz="1800"/>
              <a:t>Survey-adjusted prevalence: PTSD 18.5% (95% CI 14.2–23.8); depression 21.0% (16.4–26.3); anxiety 20.7% (16.9–25.1)</a:t>
            </a:r>
          </a:p>
          <a:p>
            <a:pPr lvl="1">
              <a:spcAft>
                <a:spcPts val="400"/>
              </a:spcAft>
            </a:pPr>
            <a:r>
              <a:rPr sz="1500">
                <a:solidFill>
                  <a:srgbClr val="C8102E"/>
                </a:solidFill>
              </a:rPr>
              <a:t>Nearly one in three (30.4%) met criteria for at least one condition</a:t>
            </a:r>
          </a:p>
          <a:p>
            <a:pPr>
              <a:spcAft>
                <a:spcPts val="800"/>
              </a:spcAft>
            </a:pPr>
            <a:r>
              <a:rPr sz="1800"/>
              <a:t>The conditions travel together: 36.2% of those with any condition met all three; tetrachoric correlations 0.83–0.87</a:t>
            </a:r>
          </a:p>
          <a:p>
            <a:pPr>
              <a:spcAft>
                <a:spcPts val="800"/>
              </a:spcAft>
            </a:pPr>
            <a:r>
              <a:rPr sz="1800"/>
              <a:t>Design effects 4.7–6.9 — the first signal of pronounced community-level clustering</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The Burden Is Not Evenly Spread</a:t>
            </a:r>
          </a:p>
        </p:txBody>
      </p:sp>
      <p:sp>
        <p:nvSpPr>
          <p:cNvPr id="3" name="Content Placeholder 2"/>
          <p:cNvSpPr>
            <a:spLocks noGrp="1"/>
          </p:cNvSpPr>
          <p:nvPr>
            <p:ph idx="1"/>
          </p:nvPr>
        </p:nvSpPr>
        <p:spPr/>
        <p:txBody>
          <a:bodyPr wrap="square"/>
          <a:lstStyle/>
          <a:p>
            <a:pPr>
              <a:spcAft>
                <a:spcPts val="800"/>
              </a:spcAft>
            </a:pPr>
            <a:r>
              <a:rPr sz="1800"/>
              <a:t>28-fold variation across states: PTSD 1.5% in Ogun to 42.1% in Benue (depression 3.0–44.1%; anxiety 2.7–38.3%)</a:t>
            </a:r>
          </a:p>
          <a:p>
            <a:pPr>
              <a:spcAft>
                <a:spcPts val="800"/>
              </a:spcAft>
            </a:pPr>
            <a:r>
              <a:rPr sz="1800"/>
              <a:t>IDP camp residents: ~4-fold the prevalence of community residents (PTSD 40.4% vs 10.7%)</a:t>
            </a:r>
          </a:p>
          <a:p>
            <a:pPr>
              <a:spcAft>
                <a:spcPts val="800"/>
              </a:spcAft>
            </a:pPr>
            <a:r>
              <a:rPr sz="1800"/>
              <a:t>Clear trauma dose-response: PTSD 7.9% at zero events → 45.2% at five or more</a:t>
            </a:r>
          </a:p>
          <a:p>
            <a:pPr>
              <a:spcAft>
                <a:spcPts val="800"/>
              </a:spcAft>
            </a:pPr>
            <a:r>
              <a:rPr sz="1800"/>
              <a:t>The multivariable question: what survives adjustment?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Model A: Trauma Shows a Consistent Dose-Response</a:t>
            </a:r>
          </a:p>
        </p:txBody>
      </p:sp>
      <p:graphicFrame>
        <p:nvGraphicFramePr>
          <p:cNvPr id="3" name="Table 2"/>
          <p:cNvGraphicFramePr>
            <a:graphicFrameLocks noGrp="1"/>
          </p:cNvGraphicFramePr>
          <p:nvPr/>
        </p:nvGraphicFramePr>
        <p:xfrm>
          <a:off x="822960" y="1828800"/>
          <a:ext cx="10607040" cy="1371600"/>
        </p:xfrm>
        <a:graphic>
          <a:graphicData uri="http://schemas.openxmlformats.org/drawingml/2006/table">
            <a:tbl>
              <a:tblPr firstRow="1" bandRow="1">
                <a:tableStyleId>{5C22544A-7EE6-4342-B048-85BDC9FD1C3A}</a:tableStyleId>
              </a:tblPr>
              <a:tblGrid>
                <a:gridCol w="2651760"/>
                <a:gridCol w="2651760"/>
                <a:gridCol w="2651760"/>
                <a:gridCol w="2651760"/>
              </a:tblGrid>
              <a:tr h="457200">
                <a:tc>
                  <a:txBody>
                    <a:bodyPr/>
                    <a:lstStyle/>
                    <a:p>
                      <a:r>
                        <a:rPr sz="1500"/>
                        <a:t>Focal exposure</a:t>
                      </a:r>
                    </a:p>
                  </a:txBody>
                  <a:tcPr/>
                </a:tc>
                <a:tc>
                  <a:txBody>
                    <a:bodyPr/>
                    <a:lstStyle/>
                    <a:p>
                      <a:r>
                        <a:rPr sz="1500"/>
                        <a:t>PTSD</a:t>
                      </a:r>
                    </a:p>
                  </a:txBody>
                  <a:tcPr/>
                </a:tc>
                <a:tc>
                  <a:txBody>
                    <a:bodyPr/>
                    <a:lstStyle/>
                    <a:p>
                      <a:r>
                        <a:rPr sz="1500"/>
                        <a:t>Depression</a:t>
                      </a:r>
                    </a:p>
                  </a:txBody>
                  <a:tcPr/>
                </a:tc>
                <a:tc>
                  <a:txBody>
                    <a:bodyPr/>
                    <a:lstStyle/>
                    <a:p>
                      <a:r>
                        <a:rPr sz="1500"/>
                        <a:t>Anxiety</a:t>
                      </a:r>
                    </a:p>
                  </a:txBody>
                  <a:tcPr/>
                </a:tc>
              </a:tr>
              <a:tr h="457200">
                <a:tc>
                  <a:txBody>
                    <a:bodyPr/>
                    <a:lstStyle/>
                    <a:p>
                      <a:r>
                        <a:rPr sz="1500"/>
                        <a:t>Per traumatic event (Model A)</a:t>
                      </a:r>
                    </a:p>
                  </a:txBody>
                  <a:tcPr/>
                </a:tc>
                <a:tc>
                  <a:txBody>
                    <a:bodyPr/>
                    <a:lstStyle/>
                    <a:p>
                      <a:r>
                        <a:rPr sz="1500"/>
                        <a:t>1.15 (1.07–1.23)</a:t>
                      </a:r>
                    </a:p>
                  </a:txBody>
                  <a:tcPr/>
                </a:tc>
                <a:tc>
                  <a:txBody>
                    <a:bodyPr/>
                    <a:lstStyle/>
                    <a:p>
                      <a:r>
                        <a:rPr sz="1500"/>
                        <a:t>1.15 (1.09–1.22)</a:t>
                      </a:r>
                    </a:p>
                  </a:txBody>
                  <a:tcPr/>
                </a:tc>
                <a:tc>
                  <a:txBody>
                    <a:bodyPr/>
                    <a:lstStyle/>
                    <a:p>
                      <a:r>
                        <a:rPr sz="1500"/>
                        <a:t>1.14 (1.08–1.21)</a:t>
                      </a:r>
                    </a:p>
                  </a:txBody>
                  <a:tcPr/>
                </a:tc>
              </a:tr>
              <a:tr h="457200">
                <a:tc>
                  <a:txBody>
                    <a:bodyPr/>
                    <a:lstStyle/>
                    <a:p>
                      <a:r>
                        <a:rPr sz="1500"/>
                        <a:t>IDP camp residence (Model B)</a:t>
                      </a:r>
                    </a:p>
                  </a:txBody>
                  <a:tcPr/>
                </a:tc>
                <a:tc>
                  <a:txBody>
                    <a:bodyPr/>
                    <a:lstStyle/>
                    <a:p>
                      <a:r>
                        <a:rPr sz="1500">
                          <a:solidFill>
                            <a:srgbClr val="C8102E"/>
                          </a:solidFill>
                        </a:rPr>
                        <a:t>2.32 (1.24–4.32)</a:t>
                      </a:r>
                    </a:p>
                  </a:txBody>
                  <a:tcPr/>
                </a:tc>
                <a:tc>
                  <a:txBody>
                    <a:bodyPr/>
                    <a:lstStyle/>
                    <a:p>
                      <a:r>
                        <a:rPr sz="1500">
                          <a:solidFill>
                            <a:srgbClr val="C8102E"/>
                          </a:solidFill>
                        </a:rPr>
                        <a:t>1.94 (1.21–3.10)</a:t>
                      </a:r>
                    </a:p>
                  </a:txBody>
                  <a:tcPr/>
                </a:tc>
                <a:tc>
                  <a:txBody>
                    <a:bodyPr/>
                    <a:lstStyle/>
                    <a:p>
                      <a:r>
                        <a:rPr sz="1500">
                          <a:solidFill>
                            <a:srgbClr val="C8102E"/>
                          </a:solidFill>
                        </a:rPr>
                        <a:t>2.87 (1.79–4.62)</a:t>
                      </a:r>
                    </a:p>
                  </a:txBody>
                  <a:tcPr/>
                </a:tc>
              </a:tr>
            </a:tbl>
          </a:graphicData>
        </a:graphic>
      </p:graphicFrame>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The Burden Clusters by Community</a:t>
            </a:r>
          </a:p>
        </p:txBody>
      </p:sp>
      <p:sp>
        <p:nvSpPr>
          <p:cNvPr id="3" name="Content Placeholder 2"/>
          <p:cNvSpPr>
            <a:spLocks noGrp="1"/>
          </p:cNvSpPr>
          <p:nvPr>
            <p:ph idx="1"/>
          </p:nvPr>
        </p:nvSpPr>
        <p:spPr/>
        <p:txBody>
          <a:bodyPr wrap="square"/>
          <a:lstStyle/>
          <a:p>
            <a:pPr>
              <a:spcAft>
                <a:spcPts val="800"/>
              </a:spcAft>
            </a:pPr>
            <a:r>
              <a:rPr sz="1800"/>
              <a:t>Null-model ICCs: 0.86 (PTSD), 0.72 (depression), 0.72 (anxiety)</a:t>
            </a:r>
          </a:p>
          <a:p>
            <a:pPr>
              <a:spcAft>
                <a:spcPts val="800"/>
              </a:spcAft>
            </a:pPr>
            <a:r>
              <a:rPr sz="1800"/>
              <a:t>Still 0.49–0.62 after full adjustment — most residual variation lies between communities, not between neighbors</a:t>
            </a:r>
          </a:p>
          <a:p>
            <a:pPr>
              <a:spcAft>
                <a:spcPts val="800"/>
              </a:spcAft>
            </a:pPr>
            <a:r>
              <a:rPr sz="1800"/>
              <a:t>State × trauma interaction significant (p&lt;0.001): the trauma association is steepest where baseline exposure is lowest (Enugu, Rivers) and flat in Borno, where exposure runs highest</a:t>
            </a:r>
          </a:p>
          <a:p>
            <a:pPr>
              <a:spcAft>
                <a:spcPts val="800"/>
              </a:spcAft>
            </a:pPr>
            <a:r>
              <a:rPr sz="1800"/>
              <a:t>Robust across: post-stratification weights, PCL-5 ≥ 33, LGA fixed effects, continuous scores, multilevel logistic models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What This Means</a:t>
            </a:r>
          </a:p>
        </p:txBody>
      </p:sp>
      <p:sp>
        <p:nvSpPr>
          <p:cNvPr id="3" name="Content Placeholder 2"/>
          <p:cNvSpPr>
            <a:spLocks noGrp="1"/>
          </p:cNvSpPr>
          <p:nvPr>
            <p:ph idx="1"/>
          </p:nvPr>
        </p:nvSpPr>
        <p:spPr/>
        <p:txBody>
          <a:bodyPr wrap="square"/>
          <a:lstStyle/>
          <a:p>
            <a:pPr>
              <a:spcAft>
                <a:spcPts val="800"/>
              </a:spcAft>
            </a:pPr>
            <a:r>
              <a:rPr sz="1800"/>
              <a:t>The post-displacement environment is an intervention target in its own right — camp conditions carry risk the trauma count does not explain</a:t>
            </a:r>
          </a:p>
          <a:p>
            <a:pPr>
              <a:spcAft>
                <a:spcPts val="800"/>
              </a:spcAft>
            </a:pPr>
            <a:r>
              <a:rPr sz="1800"/>
              <a:t>Trauma treatment alone leaves the camp pathway untouched: shelter, safety, livelihoods, services</a:t>
            </a:r>
          </a:p>
          <a:p>
            <a:pPr>
              <a:spcAft>
                <a:spcPts val="800"/>
              </a:spcAft>
            </a:pPr>
            <a:r>
              <a:rPr sz="1800"/>
              <a:t>Extreme community clustering supports community-targeted delivery over individual-only approaches</a:t>
            </a:r>
          </a:p>
          <a:p>
            <a:pPr>
              <a:spcAft>
                <a:spcPts val="800"/>
              </a:spcAft>
            </a:pPr>
            <a:r>
              <a:rPr sz="1800"/>
              <a:t>Direct evidence base for implementing Nigeria's Mental Health Act — the subject of the next presentation</a:t>
            </a:r>
          </a:p>
          <a:p>
            <a:pPr>
              <a:spcAft>
                <a:spcPts val="800"/>
              </a:spcAft>
            </a:pPr>
            <a:r>
              <a:rPr sz="1800"/>
              <a:t>Limitations: cross-sectional; purposively selected states (no national weights); camps in three states only; selection into camps possible, though trauma adjustment addresses its most obvious form</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E4876336B1FEC34C9AF13CFD0682E5C4" ma:contentTypeVersion="15" ma:contentTypeDescription="Create a new document." ma:contentTypeScope="" ma:versionID="f930fe4fb9fc0775590c4daff8c16b97">
  <xsd:schema xmlns:xsd="http://www.w3.org/2001/XMLSchema" xmlns:xs="http://www.w3.org/2001/XMLSchema" xmlns:p="http://schemas.microsoft.com/office/2006/metadata/properties" xmlns:ns2="16f9e34a-f673-4991-bd36-81c9500deaa7" xmlns:ns3="0d455e71-3517-45a9-a939-bdf8808606ae" targetNamespace="http://schemas.microsoft.com/office/2006/metadata/properties" ma:root="true" ma:fieldsID="cde4bf3402db8cf643ee45ef11b54067" ns2:_="" ns3:_="">
    <xsd:import namespace="16f9e34a-f673-4991-bd36-81c9500deaa7"/>
    <xsd:import namespace="0d455e71-3517-45a9-a939-bdf8808606ae"/>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3:SharedWithUsers" minOccurs="0"/>
                <xsd:element ref="ns3:SharedWithDetails" minOccurs="0"/>
                <xsd:element ref="ns2:lcf76f155ced4ddcb4097134ff3c332f" minOccurs="0"/>
                <xsd:element ref="ns3:TaxCatchAll" minOccurs="0"/>
                <xsd:element ref="ns2:MediaServiceDateTaken" minOccurs="0"/>
                <xsd:element ref="ns2:MediaServiceOCR" minOccurs="0"/>
                <xsd:element ref="ns2:MediaServiceGenerationTime" minOccurs="0"/>
                <xsd:element ref="ns2:MediaServiceEventHashCode" minOccurs="0"/>
                <xsd:element ref="ns2:MediaServiceLocation"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6f9e34a-f673-4991-bd36-81c9500deaa7"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lcf76f155ced4ddcb4097134ff3c332f" ma:index="15" nillable="true" ma:taxonomy="true" ma:internalName="lcf76f155ced4ddcb4097134ff3c332f" ma:taxonomyFieldName="MediaServiceImageTags" ma:displayName="Image Tags" ma:readOnly="false" ma:fieldId="{5cf76f15-5ced-4ddc-b409-7134ff3c332f}" ma:taxonomyMulti="true" ma:sspId="c22d6aeb-2130-4a19-b464-59cdf858f26b" ma:termSetId="09814cd3-568e-fe90-9814-8d621ff8fb84" ma:anchorId="fba54fb3-c3e1-fe81-a776-ca4b69148c4d" ma:open="true" ma:isKeyword="false">
      <xsd:complexType>
        <xsd:sequence>
          <xsd:element ref="pc:Terms" minOccurs="0" maxOccurs="1"/>
        </xsd:sequence>
      </xsd:complexType>
    </xsd:element>
    <xsd:element name="MediaServiceDateTaken" ma:index="17" nillable="true" ma:displayName="MediaServiceDateTaken" ma:hidden="true" ma:indexed="true" ma:internalName="MediaServiceDateTaken" ma:readOnly="true">
      <xsd:simpleType>
        <xsd:restriction base="dms:Text"/>
      </xsd:simpleType>
    </xsd:element>
    <xsd:element name="MediaServiceOCR" ma:index="18" nillable="true" ma:displayName="Extracted Text" ma:internalName="MediaServiceOCR" ma:readOnly="true">
      <xsd:simpleType>
        <xsd:restriction base="dms:Note">
          <xsd:maxLength value="255"/>
        </xsd:restriction>
      </xsd:simpleType>
    </xsd:element>
    <xsd:element name="MediaServiceGenerationTime" ma:index="19" nillable="true" ma:displayName="MediaServiceGenerationTime" ma:hidden="true" ma:internalName="MediaServiceGenerationTime" ma:readOnly="true">
      <xsd:simpleType>
        <xsd:restriction base="dms:Text"/>
      </xsd:simpleType>
    </xsd:element>
    <xsd:element name="MediaServiceEventHashCode" ma:index="20" nillable="true" ma:displayName="MediaServiceEventHashCode" ma:hidden="true" ma:internalName="MediaServiceEventHashCode" ma:readOnly="true">
      <xsd:simpleType>
        <xsd:restriction base="dms:Text"/>
      </xsd:simpleType>
    </xsd:element>
    <xsd:element name="MediaServiceLocation" ma:index="21" nillable="true" ma:displayName="Location" ma:indexed="true" ma:internalName="MediaServiceLocation" ma:readOnly="true">
      <xsd:simpleType>
        <xsd:restriction base="dms:Text"/>
      </xsd:simpleType>
    </xsd:element>
    <xsd:element name="MediaLengthInSeconds" ma:index="22"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0d455e71-3517-45a9-a939-bdf8808606ae"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16" nillable="true" ma:displayName="Taxonomy Catch All Column" ma:hidden="true" ma:list="{4e837d8e-31af-40a5-9b44-e3432619d9a9}" ma:internalName="TaxCatchAll" ma:showField="CatchAllData" ma:web="0d455e71-3517-45a9-a939-bdf8808606ae">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16f9e34a-f673-4991-bd36-81c9500deaa7">
      <Terms xmlns="http://schemas.microsoft.com/office/infopath/2007/PartnerControls"/>
    </lcf76f155ced4ddcb4097134ff3c332f>
    <TaxCatchAll xmlns="0d455e71-3517-45a9-a939-bdf8808606ae"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1C096B2B-A652-4499-9E2B-71FAFA95564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16f9e34a-f673-4991-bd36-81c9500deaa7"/>
    <ds:schemaRef ds:uri="0d455e71-3517-45a9-a939-bdf8808606a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5514700D-B035-4BA6-828A-0AE1243E6859}">
  <ds:schemaRefs>
    <ds:schemaRef ds:uri="http://schemas.microsoft.com/office/2006/metadata/properties"/>
    <ds:schemaRef ds:uri="http://schemas.microsoft.com/office/infopath/2007/PartnerControls"/>
    <ds:schemaRef ds:uri="16f9e34a-f673-4991-bd36-81c9500deaa7"/>
    <ds:schemaRef ds:uri="0d455e71-3517-45a9-a939-bdf8808606ae"/>
  </ds:schemaRefs>
</ds:datastoreItem>
</file>

<file path=customXml/itemProps3.xml><?xml version="1.0" encoding="utf-8"?>
<ds:datastoreItem xmlns:ds="http://schemas.openxmlformats.org/officeDocument/2006/customXml" ds:itemID="{C7461CDA-AB55-4D84-9CEF-669BCD74C02F}">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7</TotalTime>
  <Words>176</Words>
  <Application>Microsoft Office PowerPoint</Application>
  <PresentationFormat>Widescreen</PresentationFormat>
  <Paragraphs>9</Paragraphs>
  <Slides>5</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5</vt:i4>
      </vt:variant>
    </vt:vector>
  </HeadingPairs>
  <TitlesOfParts>
    <vt:vector size="9" baseType="lpstr">
      <vt:lpstr>Aptos</vt:lpstr>
      <vt:lpstr>Aptos Display</vt:lpstr>
      <vt:lpstr>Arial</vt:lpstr>
      <vt:lpstr>Office Theme</vt:lpstr>
      <vt:lpstr>PowerPoint Presentation</vt:lpstr>
      <vt:lpstr>Continuing Medical Education Financial Disclosure </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Amanda Brahlek</dc:creator>
  <cp:lastModifiedBy>TUNDE MASSEYFERGUSON OJO</cp:lastModifiedBy>
  <cp:revision>18</cp:revision>
  <dcterms:created xsi:type="dcterms:W3CDTF">2026-04-30T16:25:28Z</dcterms:created>
  <dcterms:modified xsi:type="dcterms:W3CDTF">2026-08-25T02:19:46Z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0x010100E4876336B1FEC34C9AF13CFD0682E5C4</vt:lpwstr>
  </property>
  <property fmtid="{D5CDD505-2E9C-101B-9397-08002B2CF9AE}" pid="3" name="MediaServiceImageTags">
    <vt:lpwstr/>
  </property>
</Properties>
</file>