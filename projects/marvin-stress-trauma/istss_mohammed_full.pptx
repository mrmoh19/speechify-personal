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9"/>
    <p:sldId id="259" r:id="rId8"/>
    <p:sldId id="260" r:id="rId7"/>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A919D0-9672-3B54-444D-474231CC376B}" v="27" dt="2026-05-05T17:49:24.7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89" d="100"/>
          <a:sy n="89" d="100"/>
        </p:scale>
        <p:origin x="331"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 Id="rId16" Type="http://schemas.openxmlformats.org/officeDocument/2006/relationships/notesMaster" Target="notesMasters/notesMaster1.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a Evans" userId="S::levans@parthenonmgmt.com::502e5b7e-0522-4e8f-98b1-099491360ecc" providerId="AD" clId="Web-{10A919D0-9672-3B54-444D-474231CC376B}"/>
    <pc:docChg chg="modSld">
      <pc:chgData name="Laura Evans" userId="S::levans@parthenonmgmt.com::502e5b7e-0522-4e8f-98b1-099491360ecc" providerId="AD" clId="Web-{10A919D0-9672-3B54-444D-474231CC376B}" dt="2026-05-05T17:49:24.769" v="29" actId="1076"/>
      <pc:docMkLst>
        <pc:docMk/>
      </pc:docMkLst>
      <pc:sldChg chg="modSp">
        <pc:chgData name="Laura Evans" userId="S::levans@parthenonmgmt.com::502e5b7e-0522-4e8f-98b1-099491360ecc" providerId="AD" clId="Web-{10A919D0-9672-3B54-444D-474231CC376B}" dt="2026-05-05T17:47:32.081" v="6" actId="20577"/>
        <pc:sldMkLst>
          <pc:docMk/>
          <pc:sldMk cId="1804320558" sldId="256"/>
        </pc:sldMkLst>
        <pc:spChg chg="mod">
          <ac:chgData name="Laura Evans" userId="S::levans@parthenonmgmt.com::502e5b7e-0522-4e8f-98b1-099491360ecc" providerId="AD" clId="Web-{10A919D0-9672-3B54-444D-474231CC376B}" dt="2026-05-05T17:47:32.081" v="6" actId="20577"/>
          <ac:spMkLst>
            <pc:docMk/>
            <pc:sldMk cId="1804320558" sldId="256"/>
            <ac:spMk id="2" creationId="{125018A9-85F0-3BCF-08E3-53242BED322C}"/>
          </ac:spMkLst>
        </pc:spChg>
      </pc:sldChg>
      <pc:sldChg chg="modSp">
        <pc:chgData name="Laura Evans" userId="S::levans@parthenonmgmt.com::502e5b7e-0522-4e8f-98b1-099491360ecc" providerId="AD" clId="Web-{10A919D0-9672-3B54-444D-474231CC376B}" dt="2026-05-05T17:49:24.769" v="29" actId="1076"/>
        <pc:sldMkLst>
          <pc:docMk/>
          <pc:sldMk cId="1217370416" sldId="257"/>
        </pc:sldMkLst>
        <pc:spChg chg="mod">
          <ac:chgData name="Laura Evans" userId="S::levans@parthenonmgmt.com::502e5b7e-0522-4e8f-98b1-099491360ecc" providerId="AD" clId="Web-{10A919D0-9672-3B54-444D-474231CC376B}" dt="2026-05-05T17:49:20.847" v="28" actId="1076"/>
          <ac:spMkLst>
            <pc:docMk/>
            <pc:sldMk cId="1217370416" sldId="257"/>
            <ac:spMk id="2" creationId="{8541808E-CCF4-3463-2FDA-3BA4D8F6B1F1}"/>
          </ac:spMkLst>
        </pc:spChg>
        <pc:spChg chg="mod">
          <ac:chgData name="Laura Evans" userId="S::levans@parthenonmgmt.com::502e5b7e-0522-4e8f-98b1-099491360ecc" providerId="AD" clId="Web-{10A919D0-9672-3B54-444D-474231CC376B}" dt="2026-05-05T17:49:24.769" v="29" actId="1076"/>
          <ac:spMkLst>
            <pc:docMk/>
            <pc:sldMk cId="1217370416" sldId="257"/>
            <ac:spMk id="3" creationId="{D81E43C8-B81F-911F-DFA1-9067AA2E8A2B}"/>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No trauma</c:v>
                </c:pt>
              </c:strCache>
            </c:strRef>
          </c:tx>
          <c:spPr>
            <a:ln w="31750">
              <a:solidFill>
                <a:srgbClr val="C8102E"/>
              </a:solidFill>
            </a:ln>
          </c:spPr>
          <c:marker>
            <c:symbol val="none"/>
          </c:marker>
          <c:cat>
            <c:strRef>
              <c:f>Sheet1!$A$2:$A$5</c:f>
              <c:strCache>
                <c:ptCount val="4"/>
                <c:pt idx="0">
                  <c:v>0</c:v>
                </c:pt>
                <c:pt idx="1">
                  <c:v>2</c:v>
                </c:pt>
                <c:pt idx="2">
                  <c:v>4</c:v>
                </c:pt>
                <c:pt idx="3">
                  <c:v>6</c:v>
                </c:pt>
              </c:strCache>
            </c:strRef>
          </c:cat>
          <c:val>
            <c:numRef>
              <c:f>Sheet1!$B$2:$B$5</c:f>
              <c:numCache>
                <c:formatCode>General</c:formatCode>
                <c:ptCount val="4"/>
                <c:pt idx="0">
                  <c:v>6.5</c:v>
                </c:pt>
                <c:pt idx="1">
                  <c:v>13.6</c:v>
                </c:pt>
                <c:pt idx="2">
                  <c:v>28.4</c:v>
                </c:pt>
                <c:pt idx="3">
                  <c:v>59.1</c:v>
                </c:pt>
              </c:numCache>
            </c:numRef>
          </c:val>
          <c:smooth val="0"/>
        </c:ser>
        <c:ser>
          <c:idx val="1"/>
          <c:order val="1"/>
          <c:tx>
            <c:strRef>
              <c:f>Sheet1!$C$1</c:f>
              <c:strCache>
                <c:ptCount val="1"/>
                <c:pt idx="0">
                  <c:v>1 event</c:v>
                </c:pt>
              </c:strCache>
            </c:strRef>
          </c:tx>
          <c:spPr>
            <a:ln w="31750">
              <a:solidFill>
                <a:srgbClr val="7FA8D9"/>
              </a:solidFill>
            </a:ln>
          </c:spPr>
          <c:marker>
            <c:symbol val="none"/>
          </c:marker>
          <c:cat>
            <c:strRef>
              <c:f>Sheet1!$A$2:$A$5</c:f>
              <c:strCache>
                <c:ptCount val="4"/>
                <c:pt idx="0">
                  <c:v>0</c:v>
                </c:pt>
                <c:pt idx="1">
                  <c:v>2</c:v>
                </c:pt>
                <c:pt idx="2">
                  <c:v>4</c:v>
                </c:pt>
                <c:pt idx="3">
                  <c:v>6</c:v>
                </c:pt>
              </c:strCache>
            </c:strRef>
          </c:cat>
          <c:val>
            <c:numRef>
              <c:f>Sheet1!$C$2:$C$5</c:f>
              <c:numCache>
                <c:formatCode>General</c:formatCode>
                <c:ptCount val="4"/>
                <c:pt idx="0">
                  <c:v>9.4</c:v>
                </c:pt>
                <c:pt idx="1">
                  <c:v>15.2</c:v>
                </c:pt>
                <c:pt idx="2">
                  <c:v>24.4</c:v>
                </c:pt>
                <c:pt idx="3">
                  <c:v>39.4</c:v>
                </c:pt>
              </c:numCache>
            </c:numRef>
          </c:val>
          <c:smooth val="0"/>
        </c:ser>
        <c:ser>
          <c:idx val="2"/>
          <c:order val="2"/>
          <c:tx>
            <c:strRef>
              <c:f>Sheet1!$D$1</c:f>
              <c:strCache>
                <c:ptCount val="1"/>
                <c:pt idx="0">
                  <c:v>3 events</c:v>
                </c:pt>
              </c:strCache>
            </c:strRef>
          </c:tx>
          <c:spPr>
            <a:ln w="31750">
              <a:solidFill>
                <a:srgbClr val="3E6FA5"/>
              </a:solidFill>
            </a:ln>
          </c:spPr>
          <c:marker>
            <c:symbol val="none"/>
          </c:marker>
          <c:cat>
            <c:strRef>
              <c:f>Sheet1!$A$2:$A$5</c:f>
              <c:strCache>
                <c:ptCount val="4"/>
                <c:pt idx="0">
                  <c:v>0</c:v>
                </c:pt>
                <c:pt idx="1">
                  <c:v>2</c:v>
                </c:pt>
                <c:pt idx="2">
                  <c:v>4</c:v>
                </c:pt>
                <c:pt idx="3">
                  <c:v>6</c:v>
                </c:pt>
              </c:strCache>
            </c:strRef>
          </c:cat>
          <c:val>
            <c:numRef>
              <c:f>Sheet1!$D$2:$D$5</c:f>
              <c:numCache>
                <c:formatCode>General</c:formatCode>
                <c:ptCount val="4"/>
                <c:pt idx="0">
                  <c:v>19.6</c:v>
                </c:pt>
                <c:pt idx="1">
                  <c:v>21.5</c:v>
                </c:pt>
                <c:pt idx="2">
                  <c:v>23.7</c:v>
                </c:pt>
                <c:pt idx="3">
                  <c:v>26.0</c:v>
                </c:pt>
              </c:numCache>
            </c:numRef>
          </c:val>
          <c:smooth val="0"/>
        </c:ser>
        <c:ser>
          <c:idx val="3"/>
          <c:order val="3"/>
          <c:tx>
            <c:strRef>
              <c:f>Sheet1!$E$1</c:f>
              <c:strCache>
                <c:ptCount val="1"/>
                <c:pt idx="0">
                  <c:v>5 events</c:v>
                </c:pt>
              </c:strCache>
            </c:strRef>
          </c:tx>
          <c:spPr>
            <a:ln w="31750">
              <a:solidFill>
                <a:srgbClr val="1E3A5C"/>
              </a:solidFill>
            </a:ln>
          </c:spPr>
          <c:marker>
            <c:symbol val="none"/>
          </c:marker>
          <c:cat>
            <c:strRef>
              <c:f>Sheet1!$A$2:$A$5</c:f>
              <c:strCache>
                <c:ptCount val="4"/>
                <c:pt idx="0">
                  <c:v>0</c:v>
                </c:pt>
                <c:pt idx="1">
                  <c:v>2</c:v>
                </c:pt>
                <c:pt idx="2">
                  <c:v>4</c:v>
                </c:pt>
                <c:pt idx="3">
                  <c:v>6</c:v>
                </c:pt>
              </c:strCache>
            </c:strRef>
          </c:cat>
          <c:val>
            <c:numRef>
              <c:f>Sheet1!$E$2:$E$5</c:f>
              <c:numCache>
                <c:formatCode>General</c:formatCode>
                <c:ptCount val="4"/>
                <c:pt idx="0">
                  <c:v>40.9</c:v>
                </c:pt>
                <c:pt idx="1">
                  <c:v>39.6</c:v>
                </c:pt>
                <c:pt idx="2">
                  <c:v>38.4</c:v>
                </c:pt>
                <c:pt idx="3">
                  <c:v>37.2</c:v>
                </c:pt>
              </c:numCache>
            </c:numRef>
          </c:val>
          <c:smooth val="0"/>
        </c:ser>
        <c:marker val="1"/>
        <c:smooth val="0"/>
        <c:axId val="2118791784"/>
        <c:axId val="2140495176"/>
      </c:lineChart>
      <c:catAx>
        <c:axId val="2118791784"/>
        <c:scaling>
          <c:orientation val="minMax"/>
        </c:scaling>
        <c:delete val="0"/>
        <c:axPos val="b"/>
        <c:title>
          <c:tx>
            <c:rich>
              <a:bodyPr/>
              <a:lstStyle/>
              <a:p>
                <a:r>
                  <a:t>Socioeconomic stressors (count)</a:t>
                </a:r>
              </a:p>
            </c:rich>
          </c:tx>
          <c:layout/>
          <c:overlay val="0"/>
        </c:title>
        <c:majorTickMark val="out"/>
        <c:minorTickMark val="none"/>
        <c:tickLblPos val="nextTo"/>
        <c:crossAx val="2140495176"/>
        <c:crosses val="autoZero"/>
        <c:auto val="1"/>
        <c:lblAlgn val="ctr"/>
        <c:lblOffset val="100"/>
        <c:noMultiLvlLbl val="0"/>
      </c:catAx>
      <c:valAx>
        <c:axId val="2140495176"/>
        <c:scaling>
          <c:max val="60.0"/>
          <c:min val="0.0"/>
        </c:scaling>
        <c:delete val="0"/>
        <c:axPos val="l"/>
        <c:majorGridlines/>
        <c:title>
          <c:tx>
            <c:rich>
              <a:bodyPr/>
              <a:lstStyle/>
              <a:p>
                <a:r>
                  <a:t>Prevalence (%)</a:t>
                </a:r>
              </a:p>
            </c:rich>
          </c:tx>
          <c:layout/>
          <c:overlay val="0"/>
        </c:title>
        <c:majorTickMark val="out"/>
        <c:minorTickMark val="none"/>
        <c:tickLblPos val="nextTo"/>
        <c:crossAx val="2118791784"/>
        <c:crosses val="autoZero"/>
      </c:valAx>
    </c:plotArea>
    <c:legend>
      <c:legendPos/>
      <c:layout/>
      <c:overlay val="0"/>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chair. This talk asks whether trauma changes what everyday stress does to mental health, in the population Salma just described.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financial relationships to disclose.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talk about conflict-affected Nigeria, we are not talking about one war but multiple, overlapping forms of insecurity. In the northeast, Boko Haram and ISWAP. In the northwest, banditry and mass kidnappings. In the Middle Belt, farmer-herder conflict. In the southeast, separatist violence; in the Delta, cult groups. These events sit on top of a very difficult economy: income per person has fallen by two-thirds in a decade, roughly 133 million people are multidimensionally poor, and food inflation touched 40 percent. The population we study is exposed to violence and chronic economic stress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exposures run together here: the traumatic events, and the daily stressors of poverty and displacement. Salma showed the burden: nearly one in three adults with at least one condition. Against that, capacity: 0.6 mental health workers per hundred thousand people, one psychiatrist per 800,000 Nigerians, fewer than one in ten receiving care. Rationing is unavoidable, so the question of whether trauma and stress add or interact is not academic — it decides targeting.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literature gives three incompatible answers. The building-block model says effects add, so every stressor removed helps everyone. Sensitization says trauma lowers the threshold at which stress triggers symptoms — gradients should be steepest among the most exposed. And a third pattern is emerging from refugee studies: diminishing sensitivity at high exposure. Nobody had formally tested the shape of this interaction, across outcomes, in an African conflict setting. That is this paper.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hypotheses. Both exposures predict outcomes; the interaction exists; and its direction is saturation, not sensitization. The design principle mattered as much as the hypotheses: the model had to be free to reject saturation, which drives the analytic choices you will see.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sample Salma presented: six states, one per zone, with Ogun anchoring the low end of the trauma gradient. Of 1,774 interviewed, 1,729 completed the trauma inventory. The 37 who declined it are missing, not zeros — we verified the count against the item-level responses. Interviews were face-to-face, 45 to 60 minutes, tablet-based with range checks, private settings, referral information in hand.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Outcomes use the cut-points Jaimie validated, including the population-specific PCL-5 threshold of 38. Trauma is a count of twelve event types from an adapted Life Events Checklist. Stressors are a ten-item Nigerian-specific count — the everyday socioeconomic grind. Note the exposure distribution: over a quarter report nothing, a small tail reports five or more.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analytic choices matter. First, trauma enters as a restricted cubic spline — smooth cubic segments joined at knots — so any flattening is estimated from the data rather than imposed by bins. The model was free to show sensitization, additivity, or saturation. Second, we read the interaction on both scales, because ratios can fade arithmetically when baseline risk is high; percentage points cannot. Everything prespecified, with sensitivity analyses on thresholds and continuous scores.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main effect: trauma dominates the risk landscape, a six-fold prevalence gradient. That is not the news — it confirms hypothesis one and sets the stage. The news is what happens to the stressor effect as you move up this curve.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interaction. Read the red row: among adults with no trauma exposure, each additional stressor nearly doubles PTSD prevalence — ratio 1.97 — and depression and anxiety behave the same. Walk down any column and the effect fades monotonically to null at five or more events. All three interactions below 0.0001. This is the opposite of sensitization: the gradient is steepest where exposure is lowest. The adjusted spline models confirm it — p of 0.0027, 0.0001, 0.0027 — with the curve free to reject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result as a picture. Each line is a trauma level. The red line — no trauma exposure — climbs from about 7 percent to 28 and keeps rising. Each step up the trauma curve rotates the line flatter. At five events the line is high, around 40 percent, and horizontal. The gradient belongs to the unexposed; the burden belongs to the exposed. Depression and anxiety fan out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matters for programming: the absolute scale. Four additional stressors add 22 points of PTSD prevalence among the unexposed, 24 of depression, 18 of anxiety. The same contrast among the heavily exposed adds nothing, against a baseline near 40 percent. A fading ratio can be arithmetic when baseline risk is high; a fading risk difference cannot.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route to an artifact is closed. Alternative cutoffs reproduce it. The continuous scores reproduce it with no threshold at all. The high-exposure group is far from any ceiling and its null is precise, not sparse. And the spline, free to reject the shape, chose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read this as trauma saturation — stated carefully. The population pattern: sensitivity concentrated among the least exposed, burden saturated among the most. Both classic theories may hold at different exposure levels: sensitivity is retained at one to two events and gone by five. Mechanistic candidates — allostatic exhaustion, hypocortisolism, numbing — are discussion, not demonstration; the data are cross-sectional.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programming implication is stratification. For the four in five with limited exposure, stress-focused and livelihood interventions address something their symptoms demonstrably track. For the heavily exposed minority, the burden does not move with stressors — trauma-focused therapies are the treatments with evidence. A brief trauma-history screen at entry is cheap and routes specialist capacity where it is irreplaceable. Dr. Ojo will speak to how this enters Mental Health Act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Stated plainly. Cross-sectional, so no within-person claim. Recall of lifetime events against current stress. A thin extreme tail. Screens rather than diagnoses, though validated ones. The longitudinal test — does a new stressor move symptoms differently by trauma history — is the next study.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trauma changes what stress does. The gradient lives among the least exposed; the burden among the most. Programming should follow that structure. Thank you — and the field teams across six states, AFENET, the Federal Ministry, and my co-authors. I hand over to Dr. Ojo, who takes these findings to policy.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the artifact question. Two points in one figure. First, stressor burden rises with trauma — mean count quadruples from 1.2 to 5.2 across categories — which is exactly why the interaction needed formal, adjusted testing rather than eyeballing. Second, the gray bars are the full observed range and the colored whiskers are one SD: the five-plus group has the WIDEST stressor spread in the sample (SD 2.35, range 0 to 10). Its null stressor effect is estimated over more variation than any other group's — not a compressed range. Add the continuous-score results and the fading interaction survives every route to an artifact.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spline, shown as what it estimates: the prevalence ratio per additional stressor, as a continuous function of the trauma count. The dark curve comes from the adjusted model with trauma as a restricted cubic spline, knots at 0, 2, and 5 — free to rise (sensitization), stay flat (additivity), or fall. It falls, smoothly and monotonically, crossing the null just past four events. The red dots are the secondary categorical specification with confidence intervals — the two approaches agree on the shape; the gap at zero reflects adjustment (the categorical estimates are unadjusted). No bins imposed this: the curve chose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D2F07-ACD0-46D7-5BFB-BAA0E7043F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DD8877-66BE-034D-D927-46D0CFC5CE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605598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A7AD1-73C4-45F4-685A-791D9BA00D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B016B9-DA0F-8DBB-30CF-93F515B64E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10061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A9D04-BFB6-D2BC-915D-4141F304F3DC}"/>
              </a:ext>
            </a:extLst>
          </p:cNvPr>
          <p:cNvSpPr>
            <a:spLocks noGrp="1"/>
          </p:cNvSpPr>
          <p:nvPr>
            <p:ph type="title"/>
          </p:nvPr>
        </p:nvSpPr>
        <p:spPr>
          <a:xfrm>
            <a:off x="838200" y="1389064"/>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F2FBB4D8-C7D6-5799-D878-9127D945061D}"/>
              </a:ext>
            </a:extLst>
          </p:cNvPr>
          <p:cNvSpPr>
            <a:spLocks noGrp="1"/>
          </p:cNvSpPr>
          <p:nvPr>
            <p:ph type="body" idx="1"/>
          </p:nvPr>
        </p:nvSpPr>
        <p:spPr>
          <a:xfrm>
            <a:off x="831850" y="4239419"/>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Tree>
    <p:extLst>
      <p:ext uri="{BB962C8B-B14F-4D97-AF65-F5344CB8AC3E}">
        <p14:creationId xmlns:p14="http://schemas.microsoft.com/office/powerpoint/2010/main" val="1418440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C3695-D63C-614A-592E-C7C8FACCA8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8F1E00-535F-7798-D7B7-5A0785FC9E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F184D3-E0CB-B543-4600-1FE46236B5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7293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98F22-5587-8C51-9F26-1E85693E01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94F101-494F-5244-4B75-4BC8C06B7D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FA9443-1733-8D80-2317-10C962795C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EE2E3-1BBA-B796-F81E-702496D229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3D05EE-EFD6-E52C-CC7B-97E1B68F78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3940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F998D-6DCB-8761-7948-816D8008FC4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27050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2959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F78FD-4F04-A735-7227-DD9D0C8771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CBADDE-A346-86EE-C54B-288C8AFFED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7005A3-29D6-AA06-6647-2698D53E25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1899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21318-1CBF-6DBA-89C5-EB895780A5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82C6D3-53AB-5EF9-3972-451B420594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8AF908-CEBB-39F5-AB46-A54554EF41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939712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26688-A6E8-DA47-A8C6-286905CD89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3F5354-8E45-2730-2ADA-A076323892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8877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12CACC-1178-676F-DA41-87E1A8685B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D34D08-8B2B-9DEF-6A0A-537FAE2CED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70608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E5FE3E-9707-5232-D1A7-10EE269B70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727243-EF1D-5BAF-7E5C-54B7AE289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6493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018A9-85F0-3BCF-08E3-53242BED322C}"/>
              </a:ext>
            </a:extLst>
          </p:cNvPr>
          <p:cNvSpPr>
            <a:spLocks noGrp="1"/>
          </p:cNvSpPr>
          <p:nvPr>
            <p:ph type="ctrTitle"/>
          </p:nvPr>
        </p:nvSpPr>
        <p:spPr/>
        <p:txBody>
          <a:bodyPr/>
          <a:lstStyle/>
          <a:p>
            <a:r>
              <a:rPr sz="2600"/>
              <a:t>When More Trauma Means Less Stress Sensitivity</a:t>
            </a:r>
          </a:p>
        </p:txBody>
      </p:sp>
      <p:sp>
        <p:nvSpPr>
          <p:cNvPr id="3" name="Subtitle 2">
            <a:extLst>
              <a:ext uri="{FF2B5EF4-FFF2-40B4-BE49-F238E27FC236}">
                <a16:creationId xmlns:a16="http://schemas.microsoft.com/office/drawing/2014/main" id="{27C44F12-169B-E2E1-BF80-C326C1BF9763}"/>
              </a:ext>
            </a:extLst>
          </p:cNvPr>
          <p:cNvSpPr>
            <a:spLocks noGrp="1"/>
          </p:cNvSpPr>
          <p:nvPr>
            <p:ph type="subTitle" idx="1"/>
          </p:nvPr>
        </p:nvSpPr>
        <p:spPr/>
        <p:txBody>
          <a:bodyPr/>
          <a:lstStyle/>
          <a:p>
            <a:r>
              <a:t>Evidence for a Trauma Saturation Effect Among Violence-Exposed Populations in Nigeria</a:t>
            </a:r>
          </a:p>
          <a:p>
            <a:r>
              <a:rPr sz="1400">
                <a:solidFill>
                  <a:srgbClr val="898989"/>
                </a:solidFill>
              </a:rPr>
              <a:t>Mohammed Abba-Aji, MBBS, MPH, DrPH · Washington University in St. Louis</a:t>
            </a:r>
          </a:p>
          <a:p>
            <a:r>
              <a:rPr sz="1300">
                <a:solidFill>
                  <a:srgbClr val="898989"/>
                </a:solidFill>
              </a:rPr>
              <a:t>ISTSS 42nd Annual Meeting · San Antonio, TX · September 24, 2026</a:t>
            </a:r>
          </a:p>
        </p:txBody>
      </p:sp>
    </p:spTree>
    <p:extLst>
      <p:ext uri="{BB962C8B-B14F-4D97-AF65-F5344CB8AC3E}">
        <p14:creationId xmlns:p14="http://schemas.microsoft.com/office/powerpoint/2010/main" val="1804320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1808E-CCF4-3463-2FDA-3BA4D8F6B1F1}"/>
              </a:ext>
            </a:extLst>
          </p:cNvPr>
          <p:cNvSpPr>
            <a:spLocks noGrp="1"/>
          </p:cNvSpPr>
          <p:nvPr>
            <p:ph type="title"/>
          </p:nvPr>
        </p:nvSpPr>
        <p:spPr>
          <a:xfrm>
            <a:off x="838200" y="389316"/>
            <a:ext cx="10515600" cy="1325563"/>
          </a:xfrm>
        </p:spPr>
        <p:txBody>
          <a:bodyPr>
            <a:normAutofit fontScale="90000"/>
          </a:bodyPr>
          <a:lstStyle/>
          <a:p>
            <a:pPr algn="ctr"/>
            <a:r>
              <a:rPr lang="en-US" sz="5600">
                <a:solidFill>
                  <a:schemeClr val="bg1"/>
                </a:solidFill>
                <a:ea typeface="+mj-lt"/>
                <a:cs typeface="+mj-lt"/>
              </a:rPr>
              <a:t>Continuing Medical Education Financial Disclosure </a:t>
            </a:r>
            <a:endParaRPr lang="en-US">
              <a:solidFill>
                <a:schemeClr val="bg1"/>
              </a:solidFill>
            </a:endParaRPr>
          </a:p>
        </p:txBody>
      </p:sp>
      <p:sp>
        <p:nvSpPr>
          <p:cNvPr id="3" name="Content Placeholder 2">
            <a:extLst>
              <a:ext uri="{FF2B5EF4-FFF2-40B4-BE49-F238E27FC236}">
                <a16:creationId xmlns:a16="http://schemas.microsoft.com/office/drawing/2014/main" id="{D81E43C8-B81F-911F-DFA1-9067AA2E8A2B}"/>
              </a:ext>
            </a:extLst>
          </p:cNvPr>
          <p:cNvSpPr>
            <a:spLocks noGrp="1"/>
          </p:cNvSpPr>
          <p:nvPr>
            <p:ph idx="1"/>
          </p:nvPr>
        </p:nvSpPr>
        <p:spPr>
          <a:xfrm>
            <a:off x="838200" y="1958673"/>
            <a:ext cx="10515600" cy="4145719"/>
          </a:xfrm>
        </p:spPr>
        <p:txBody>
          <a:bodyPr vert="horz" lIns="91440" tIns="45720" rIns="91440" bIns="45720" rtlCol="0" anchor="t">
            <a:normAutofit fontScale="85000" lnSpcReduction="20000"/>
          </a:bodyPr>
          <a:lstStyle/>
          <a:p>
            <a:pPr marL="0" indent="0">
              <a:lnSpc>
                <a:spcPct val="100000"/>
              </a:lnSpc>
              <a:spcBef>
                <a:spcPts val="0"/>
              </a:spcBef>
              <a:buNone/>
            </a:pPr>
            <a:r>
              <a:rPr lang="en-US" sz="2400" dirty="0" err="1">
                <a:solidFill>
                  <a:schemeClr val="bg1"/>
                </a:solidFill>
                <a:latin typeface="Aptos"/>
              </a:rPr>
              <a:t>Amedco</a:t>
            </a:r>
            <a:r>
              <a:rPr lang="en-US" sz="2400" dirty="0">
                <a:solidFill>
                  <a:schemeClr val="bg1"/>
                </a:solidFill>
                <a:latin typeface="Aptos"/>
              </a:rPr>
              <a:t>, our CME provider, asks that all individuals who have the ability to influence and/or control the content of this accredited activity disclose any/all relationships with ‎Ineligible Companies. </a:t>
            </a:r>
          </a:p>
          <a:p>
            <a:pPr marL="0" indent="0">
              <a:lnSpc>
                <a:spcPct val="100000"/>
              </a:lnSpc>
              <a:spcBef>
                <a:spcPts val="0"/>
              </a:spcBef>
              <a:buNone/>
            </a:pPr>
            <a:r>
              <a:rPr lang="en-US" sz="2400" dirty="0">
                <a:solidFill>
                  <a:schemeClr val="bg1"/>
                </a:solidFill>
                <a:latin typeface="Aptos"/>
              </a:rPr>
              <a:t>This information is disclosed to CME activity participants, and </a:t>
            </a:r>
            <a:r>
              <a:rPr lang="en-US" sz="2400" dirty="0" err="1">
                <a:solidFill>
                  <a:schemeClr val="bg1"/>
                </a:solidFill>
                <a:latin typeface="Aptos"/>
              </a:rPr>
              <a:t>Amedco</a:t>
            </a:r>
            <a:r>
              <a:rPr lang="en-US" sz="2400" dirty="0">
                <a:solidFill>
                  <a:schemeClr val="bg1"/>
                </a:solidFill>
                <a:latin typeface="Aptos"/>
              </a:rPr>
              <a:t> has procedures in place to resolve any apparent conflicts. In addition, presenters are asked to disclose when any discussion of unapproved use of pharmaceuticals and devices are being discussed. </a:t>
            </a:r>
          </a:p>
          <a:p>
            <a:pPr marL="0" indent="0">
              <a:lnSpc>
                <a:spcPct val="100000"/>
              </a:lnSpc>
              <a:spcBef>
                <a:spcPts val="0"/>
              </a:spcBef>
              <a:buNone/>
            </a:pPr>
            <a:endParaRPr lang="en-US" sz="2400" dirty="0">
              <a:solidFill>
                <a:schemeClr val="bg1"/>
              </a:solidFill>
              <a:latin typeface="Aptos"/>
              <a:ea typeface="Calibri"/>
              <a:cs typeface="Calibri"/>
            </a:endParaRPr>
          </a:p>
          <a:p>
            <a:pPr marL="0" indent="0">
              <a:lnSpc>
                <a:spcPct val="100000"/>
              </a:lnSpc>
              <a:spcBef>
                <a:spcPts val="0"/>
              </a:spcBef>
              <a:buNone/>
            </a:pPr>
            <a:r>
              <a:rPr lang="en-US" sz="2400">
                <a:solidFill>
                  <a:schemeClr val="bg1"/>
                </a:solidFill>
                <a:latin typeface="Aptos"/>
              </a:rPr>
              <a:t>In the past 24 months, I Mohammed Abba-Aji, have not had financial relationships with any ineligible companies. </a:t>
            </a:r>
          </a:p>
          <a:p>
            <a:pPr marL="0" indent="0">
              <a:lnSpc>
                <a:spcPct val="100000"/>
              </a:lnSpc>
              <a:spcBef>
                <a:spcPts val="0"/>
              </a:spcBef>
              <a:buNone/>
            </a:pPr>
            <a:endParaRPr lang="en-US" sz="2400" dirty="0">
              <a:solidFill>
                <a:schemeClr val="bg1"/>
              </a:solidFill>
              <a:latin typeface="Aptos"/>
              <a:ea typeface="Calibri"/>
              <a:cs typeface="Calibri"/>
            </a:endParaRPr>
          </a:p>
        </p:txBody>
      </p:sp>
    </p:spTree>
    <p:extLst>
      <p:ext uri="{BB962C8B-B14F-4D97-AF65-F5344CB8AC3E}">
        <p14:creationId xmlns:p14="http://schemas.microsoft.com/office/powerpoint/2010/main" val="1217370416"/>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Nigeria's Crisis Landscape</a:t>
            </a:r>
          </a:p>
        </p:txBody>
      </p:sp>
      <p:sp>
        <p:nvSpPr>
          <p:cNvPr id="3" name="Content Placeholder 2"/>
          <p:cNvSpPr>
            <a:spLocks noGrp="1"/>
          </p:cNvSpPr>
          <p:nvPr>
            <p:ph idx="1"/>
          </p:nvPr>
        </p:nvSpPr>
        <p:spPr/>
        <p:txBody>
          <a:bodyPr wrap="square"/>
          <a:lstStyle/>
          <a:p>
            <a:pPr>
              <a:spcAft>
                <a:spcPts val="800"/>
              </a:spcAft>
            </a:pPr>
            <a:r>
              <a:rPr sz="1800"/>
              <a:t>Overlapping insecurity across all six geopolitical zones — not one war but many</a:t>
            </a:r>
          </a:p>
          <a:p>
            <a:pPr lvl="1">
              <a:spcAft>
                <a:spcPts val="400"/>
              </a:spcAft>
            </a:pPr>
            <a:r>
              <a:rPr sz="1500"/>
              <a:t>Northeast: Boko Haram / ISWAP insurgency — 350,000+ deaths, 2.2 million displaced in Borno</a:t>
            </a:r>
          </a:p>
          <a:p>
            <a:pPr lvl="1">
              <a:spcAft>
                <a:spcPts val="400"/>
              </a:spcAft>
            </a:pPr>
            <a:r>
              <a:rPr sz="1500"/>
              <a:t>Northwest: armed banditry and mass kidnappings (Sokoto)</a:t>
            </a:r>
          </a:p>
          <a:p>
            <a:pPr lvl="1">
              <a:spcAft>
                <a:spcPts val="400"/>
              </a:spcAft>
            </a:pPr>
            <a:r>
              <a:rPr sz="1500"/>
              <a:t>Middle Belt: farmer–herder conflict — ~60,000 lives (Benue)</a:t>
            </a:r>
          </a:p>
          <a:p>
            <a:pPr lvl="1">
              <a:spcAft>
                <a:spcPts val="400"/>
              </a:spcAft>
            </a:pPr>
            <a:r>
              <a:rPr sz="1500"/>
              <a:t>Southeast: separatist and political violence (Enugu); Niger Delta: cultist violence (Rivers)</a:t>
            </a:r>
          </a:p>
          <a:p>
            <a:pPr>
              <a:spcAft>
                <a:spcPts val="800"/>
              </a:spcAft>
            </a:pPr>
            <a:r>
              <a:rPr sz="1800"/>
              <a:t>Violence is layered on economic crisis: GDP per capita ~US$800 (from ~$3,100 in 2014); ~63% multidimensionally poor; food inflation reached ~41%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Exposures, Two Intervention Logics</a:t>
            </a:r>
          </a:p>
        </p:txBody>
      </p:sp>
      <p:sp>
        <p:nvSpPr>
          <p:cNvPr id="3" name="Content Placeholder 2"/>
          <p:cNvSpPr>
            <a:spLocks noGrp="1"/>
          </p:cNvSpPr>
          <p:nvPr>
            <p:ph idx="1"/>
          </p:nvPr>
        </p:nvSpPr>
        <p:spPr/>
        <p:txBody>
          <a:bodyPr wrap="square"/>
          <a:lstStyle/>
          <a:p>
            <a:pPr>
              <a:spcAft>
                <a:spcPts val="800"/>
              </a:spcAft>
            </a:pPr>
            <a:r>
              <a:rPr sz="1800"/>
              <a:t>This population carries both traumatic events and grinding daily stressors — job loss, rent difficulty, food insecurity, family disruption</a:t>
            </a:r>
          </a:p>
          <a:p>
            <a:pPr>
              <a:spcAft>
                <a:spcPts val="800"/>
              </a:spcAft>
            </a:pPr>
            <a:r>
              <a:rPr sz="1800"/>
              <a:t>MaRVIN survey (previous talk): PTSD 18.5%, depression 21.0%, anxiety 20.7%; nearly 1 in 3 with at least one condition</a:t>
            </a:r>
          </a:p>
          <a:p>
            <a:pPr>
              <a:spcAft>
                <a:spcPts val="800"/>
              </a:spcAft>
            </a:pPr>
            <a:r>
              <a:rPr sz="1800"/>
              <a:t>System capacity cannot treat everyone: ~0.6 mental health workers per 100,000 (WHO recommends 5.0); ~250 psychiatrists for 200+ million; &lt;10% receive care</a:t>
            </a:r>
          </a:p>
          <a:p>
            <a:pPr>
              <a:spcAft>
                <a:spcPts val="800"/>
              </a:spcAft>
            </a:pPr>
            <a:r>
              <a:rPr sz="1800"/>
              <a:t>Whether trauma and stressors simply add — or interact — decides who benefits from which intervention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Competing Accounts of Trauma and Daily Stress</a:t>
            </a:r>
          </a:p>
        </p:txBody>
      </p:sp>
      <p:sp>
        <p:nvSpPr>
          <p:cNvPr id="3" name="Content Placeholder 2"/>
          <p:cNvSpPr>
            <a:spLocks noGrp="1"/>
          </p:cNvSpPr>
          <p:nvPr>
            <p:ph idx="1"/>
          </p:nvPr>
        </p:nvSpPr>
        <p:spPr/>
        <p:txBody>
          <a:bodyPr wrap="square"/>
          <a:lstStyle/>
          <a:p>
            <a:pPr>
              <a:spcAft>
                <a:spcPts val="800"/>
              </a:spcAft>
            </a:pPr>
            <a:r>
              <a:rPr sz="1800"/>
              <a:t>Building-block model: trauma and stressors add independently (Miller &amp; Rasmussen, 2010)</a:t>
            </a:r>
          </a:p>
          <a:p>
            <a:pPr lvl="1">
              <a:spcAft>
                <a:spcPts val="400"/>
              </a:spcAft>
            </a:pPr>
            <a:r>
              <a:rPr sz="1500"/>
              <a:t>Underlies most humanitarian programming — stress reduction assumed to help everyone equally</a:t>
            </a:r>
          </a:p>
          <a:p>
            <a:pPr>
              <a:spcAft>
                <a:spcPts val="800"/>
              </a:spcAft>
            </a:pPr>
            <a:r>
              <a:rPr sz="1800"/>
              <a:t>Stress sensitization: trauma amplifies reactivity to later stress (Hammen, 2005; McLaughlin et al., 2010)</a:t>
            </a:r>
          </a:p>
          <a:p>
            <a:pPr lvl="1">
              <a:spcAft>
                <a:spcPts val="400"/>
              </a:spcAft>
            </a:pPr>
            <a:r>
              <a:rPr sz="1500"/>
              <a:t>Predicts steepest stress–symptom gradients among the most trauma-exposed</a:t>
            </a:r>
          </a:p>
          <a:p>
            <a:pPr>
              <a:spcAft>
                <a:spcPts val="800"/>
              </a:spcAft>
            </a:pPr>
            <a:r>
              <a:rPr sz="1800"/>
              <a:t>Emerging third pattern — saturation: stress sensitivity diminishing at high exposure (Syrian and Burundian refugees: Hou et al., 2020; Scharpf et al., 2021)</a:t>
            </a:r>
          </a:p>
          <a:p>
            <a:pPr lvl="1">
              <a:spcAft>
                <a:spcPts val="400"/>
              </a:spcAft>
            </a:pPr>
            <a:r>
              <a:rPr sz="1500"/>
              <a:t>Never formally tested: shape of the interaction, multiple outcomes, African conflict setting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Study Aim and Hypotheses</a:t>
            </a:r>
          </a:p>
        </p:txBody>
      </p:sp>
      <p:sp>
        <p:nvSpPr>
          <p:cNvPr id="3" name="Content Placeholder 2"/>
          <p:cNvSpPr>
            <a:spLocks noGrp="1"/>
          </p:cNvSpPr>
          <p:nvPr>
            <p:ph idx="1"/>
          </p:nvPr>
        </p:nvSpPr>
        <p:spPr/>
        <p:txBody>
          <a:bodyPr wrap="square"/>
          <a:lstStyle/>
          <a:p>
            <a:pPr>
              <a:spcAft>
                <a:spcPts val="800"/>
              </a:spcAft>
            </a:pPr>
            <a:r>
              <a:rPr sz="1800"/>
              <a:t>Aim: test whether trauma exposure modifies the association between socioeconomic stressors and PTSD, depression, and anxiety</a:t>
            </a:r>
          </a:p>
          <a:p>
            <a:pPr>
              <a:spcAft>
                <a:spcPts val="800"/>
              </a:spcAft>
            </a:pPr>
            <a:r>
              <a:rPr sz="1800"/>
              <a:t>H1: trauma and stressors each predict all three outcomes</a:t>
            </a:r>
          </a:p>
          <a:p>
            <a:pPr>
              <a:spcAft>
                <a:spcPts val="800"/>
              </a:spcAft>
            </a:pPr>
            <a:r>
              <a:rPr sz="1800"/>
              <a:t>H2: significant trauma × stressor interactions emerge</a:t>
            </a:r>
          </a:p>
          <a:p>
            <a:pPr>
              <a:spcAft>
                <a:spcPts val="800"/>
              </a:spcAft>
            </a:pPr>
            <a:r>
              <a:rPr sz="1800"/>
              <a:t>H3: adults with extensive trauma show diminished stress sensitivity — saturation, not sensitization</a:t>
            </a:r>
          </a:p>
          <a:p>
            <a:pPr>
              <a:spcAft>
                <a:spcPts val="800"/>
              </a:spcAft>
            </a:pPr>
            <a:r>
              <a:rPr sz="1800"/>
              <a:t>Design principle: let the data reject saturation — model trauma continuously, test on both relative and absolute scales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Design and Sample</a:t>
            </a:r>
          </a:p>
        </p:txBody>
      </p:sp>
      <p:sp>
        <p:nvSpPr>
          <p:cNvPr id="3" name="Content Placeholder 2"/>
          <p:cNvSpPr>
            <a:spLocks noGrp="1"/>
          </p:cNvSpPr>
          <p:nvPr>
            <p:ph idx="1"/>
          </p:nvPr>
        </p:nvSpPr>
        <p:spPr/>
        <p:txBody>
          <a:bodyPr wrap="square"/>
          <a:lstStyle/>
          <a:p>
            <a:pPr>
              <a:spcAft>
                <a:spcPts val="800"/>
              </a:spcAft>
            </a:pPr>
            <a:r>
              <a:rPr sz="1800"/>
              <a:t>MaRVIN population-based cross-sectional survey, May–October 2025, with AFENET and the Federal Ministry of Health and Social Welfare</a:t>
            </a:r>
          </a:p>
          <a:p>
            <a:pPr>
              <a:spcAft>
                <a:spcPts val="800"/>
              </a:spcAft>
            </a:pPr>
            <a:r>
              <a:rPr sz="1800"/>
              <a:t>Six states, one per geopolitical zone: five conflict-affected (Benue, Borno, Enugu, Rivers, Sokoto) + Ogun as non-conflict comparison</a:t>
            </a:r>
          </a:p>
          <a:p>
            <a:pPr>
              <a:spcAft>
                <a:spcPts val="800"/>
              </a:spcAft>
            </a:pPr>
            <a:r>
              <a:rPr sz="1800"/>
              <a:t>12 LGAs (urban + rural per state); 573 communities; households by systematic sampling; IDP camps included through the same procedures</a:t>
            </a:r>
          </a:p>
          <a:p>
            <a:pPr>
              <a:spcAft>
                <a:spcPts val="800"/>
              </a:spcAft>
            </a:pPr>
            <a:r>
              <a:rPr sz="1800"/>
              <a:t>1,729 adults completed the trauma inventory (of 1,774 interviewed); 37 who declined the trauma items treated as missing, not unexposed</a:t>
            </a:r>
          </a:p>
          <a:p>
            <a:pPr>
              <a:spcAft>
                <a:spcPts val="800"/>
              </a:spcAft>
            </a:pPr>
            <a:r>
              <a:rPr sz="1800"/>
              <a:t>Adjusted models: N=1,706 across 558 community clusters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Measures</a:t>
            </a:r>
          </a:p>
        </p:txBody>
      </p:sp>
      <p:sp>
        <p:nvSpPr>
          <p:cNvPr id="3" name="Content Placeholder 2"/>
          <p:cNvSpPr>
            <a:spLocks noGrp="1"/>
          </p:cNvSpPr>
          <p:nvPr>
            <p:ph idx="1"/>
          </p:nvPr>
        </p:nvSpPr>
        <p:spPr/>
        <p:txBody>
          <a:bodyPr wrap="square"/>
          <a:lstStyle/>
          <a:p>
            <a:pPr>
              <a:spcAft>
                <a:spcPts val="800"/>
              </a:spcAft>
            </a:pPr>
            <a:r>
              <a:rPr sz="1800"/>
              <a:t>Outcomes — instruments validated against SCID-5 psychiatrist interview in this population (paper 1):</a:t>
            </a:r>
          </a:p>
          <a:p>
            <a:pPr lvl="1">
              <a:spcAft>
                <a:spcPts val="400"/>
              </a:spcAft>
            </a:pPr>
            <a:r>
              <a:rPr sz="1500"/>
              <a:t>PCL-5, 20 items, past month; probable PTSD ≥ 38 (population-specific; AUC 0.71; α 0.92)</a:t>
            </a:r>
          </a:p>
          <a:p>
            <a:pPr lvl="1">
              <a:spcAft>
                <a:spcPts val="400"/>
              </a:spcAft>
            </a:pPr>
            <a:r>
              <a:rPr sz="1500"/>
              <a:t>PHQ-9, 9 items; depression ≥ 10 (AUC 0.70; α 0.88) · GAD-7, 7 items; anxiety ≥ 10 (α 0.86)</a:t>
            </a:r>
          </a:p>
          <a:p>
            <a:pPr>
              <a:spcAft>
                <a:spcPts val="800"/>
              </a:spcAft>
            </a:pPr>
            <a:r>
              <a:rPr sz="1800"/>
              <a:t>Trauma exposure: adapted Life Events Checklist, 12 event types, lifetime; summed 0–12</a:t>
            </a:r>
          </a:p>
          <a:p>
            <a:pPr lvl="1">
              <a:spcAft>
                <a:spcPts val="400"/>
              </a:spcAft>
            </a:pPr>
            <a:r>
              <a:rPr sz="1500"/>
              <a:t>Distribution: 28% none, 54% 1–2, 13% 3–4, 5.5% five or more</a:t>
            </a:r>
          </a:p>
          <a:p>
            <a:pPr>
              <a:spcAft>
                <a:spcPts val="800"/>
              </a:spcAft>
            </a:pPr>
            <a:r>
              <a:rPr sz="1800"/>
              <a:t>Daily stressors: 10-item Nigerian-specific count (0–10) — job loss, rent, eviction, family disruption, isolation; mean 2.05 (SD 1.65)</a:t>
            </a:r>
          </a:p>
          <a:p>
            <a:pPr>
              <a:spcAft>
                <a:spcPts val="800"/>
              </a:spcAft>
            </a:pPr>
            <a:r>
              <a:rPr sz="1800"/>
              <a:t>Covariates: age, gender, education, state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Analysis: Letting the Data Draw the Curve</a:t>
            </a:r>
          </a:p>
        </p:txBody>
      </p:sp>
      <p:sp>
        <p:nvSpPr>
          <p:cNvPr id="3" name="Content Placeholder 2"/>
          <p:cNvSpPr>
            <a:spLocks noGrp="1"/>
          </p:cNvSpPr>
          <p:nvPr>
            <p:ph idx="1"/>
          </p:nvPr>
        </p:nvSpPr>
        <p:spPr/>
        <p:txBody>
          <a:bodyPr wrap="square"/>
          <a:lstStyle/>
          <a:p>
            <a:pPr>
              <a:spcAft>
                <a:spcPts val="800"/>
              </a:spcAft>
            </a:pPr>
            <a:r>
              <a:rPr sz="1800"/>
              <a:t>Poisson regression → prevalence ratios; design-based variances (state strata, community PSUs, Taylor linearization)</a:t>
            </a:r>
          </a:p>
          <a:p>
            <a:pPr>
              <a:spcAft>
                <a:spcPts val="800"/>
              </a:spcAft>
            </a:pPr>
            <a:r>
              <a:rPr sz="1800"/>
              <a:t>Trauma entered continuously as a restricted cubic spline (knots 0, 2, 5)</a:t>
            </a:r>
          </a:p>
          <a:p>
            <a:pPr lvl="1">
              <a:spcAft>
                <a:spcPts val="400"/>
              </a:spcAft>
            </a:pPr>
            <a:r>
              <a:rPr sz="1500"/>
              <a:t>Smooth curve segments joined at knots — the data chooses the shape; categories would impose it</a:t>
            </a:r>
          </a:p>
          <a:p>
            <a:pPr>
              <a:spcAft>
                <a:spcPts val="800"/>
              </a:spcAft>
            </a:pPr>
            <a:r>
              <a:rPr sz="1800"/>
              <a:t>Focal test: trauma × stressor interaction (adjusted Wald test)</a:t>
            </a:r>
          </a:p>
          <a:p>
            <a:pPr>
              <a:spcAft>
                <a:spcPts val="800"/>
              </a:spcAft>
            </a:pPr>
            <a:r>
              <a:rPr sz="1800"/>
              <a:t>Both scales: per-stressor prevalence ratios AND absolute prevalence differences (margins), because targeting claims rest on absolute risk</a:t>
            </a:r>
          </a:p>
          <a:p>
            <a:pPr>
              <a:spcAft>
                <a:spcPts val="800"/>
              </a:spcAft>
            </a:pPr>
            <a:r>
              <a:rPr sz="1800"/>
              <a:t>Prespecified sensitivity: PCL-5≥33, PHQ-9≥15, GAD-7≥7; continuous scores; categorical specification; Stata 19.5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Burden Gradient Comes First</a:t>
            </a:r>
          </a:p>
        </p:txBody>
      </p:sp>
      <p:sp>
        <p:nvSpPr>
          <p:cNvPr id="3" name="Content Placeholder 2"/>
          <p:cNvSpPr>
            <a:spLocks noGrp="1"/>
          </p:cNvSpPr>
          <p:nvPr>
            <p:ph idx="1"/>
          </p:nvPr>
        </p:nvSpPr>
        <p:spPr/>
        <p:txBody>
          <a:bodyPr wrap="square"/>
          <a:lstStyle/>
          <a:p>
            <a:pPr>
              <a:spcAft>
                <a:spcPts val="800"/>
              </a:spcAft>
            </a:pPr>
            <a:r>
              <a:rPr sz="1800"/>
              <a:t>Trauma shows the expected dose-response with every outcome</a:t>
            </a:r>
          </a:p>
          <a:p>
            <a:pPr lvl="1">
              <a:spcAft>
                <a:spcPts val="400"/>
              </a:spcAft>
            </a:pPr>
            <a:r>
              <a:rPr sz="1500"/>
              <a:t>Adjusted PTSD prevalence at zero stressors: 6.5% (no trauma) → 19.6% (three events) → 40.9% (five events)</a:t>
            </a:r>
          </a:p>
          <a:p>
            <a:pPr>
              <a:spcAft>
                <a:spcPts val="800"/>
              </a:spcAft>
            </a:pPr>
            <a:r>
              <a:rPr sz="1800"/>
              <a:t>Both exposures predict all three outcomes (H1 confirmed)</a:t>
            </a:r>
          </a:p>
          <a:p>
            <a:pPr>
              <a:spcAft>
                <a:spcPts val="800"/>
              </a:spcAft>
            </a:pPr>
            <a:r>
              <a:rPr sz="1800"/>
              <a:t>Stressor burden also rises with trauma exposure — which is exactly why the interaction needs adjusted, formal testing</a:t>
            </a:r>
          </a:p>
          <a:p>
            <a:pPr>
              <a:spcAft>
                <a:spcPts val="800"/>
              </a:spcAft>
            </a:pPr>
            <a:r>
              <a:rPr sz="1800"/>
              <a:t>The question is what happens to the stress gradient along this curve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Per-Stressor Prevalence Ratio, by Trauma Exposure</a:t>
            </a:r>
          </a:p>
        </p:txBody>
      </p:sp>
      <p:graphicFrame>
        <p:nvGraphicFramePr>
          <p:cNvPr id="3" name="Table 2"/>
          <p:cNvGraphicFramePr>
            <a:graphicFrameLocks noGrp="1"/>
          </p:cNvGraphicFramePr>
          <p:nvPr/>
        </p:nvGraphicFramePr>
        <p:xfrm>
          <a:off x="822960" y="1828800"/>
          <a:ext cx="10607040" cy="2743200"/>
        </p:xfrm>
        <a:graphic>
          <a:graphicData uri="http://schemas.openxmlformats.org/drawingml/2006/table">
            <a:tbl>
              <a:tblPr firstRow="1" bandRow="1">
                <a:tableStyleId>{5C22544A-7EE6-4342-B048-85BDC9FD1C3A}</a:tableStyleId>
              </a:tblPr>
              <a:tblGrid>
                <a:gridCol w="2651760"/>
                <a:gridCol w="2651760"/>
                <a:gridCol w="2651760"/>
                <a:gridCol w="2651760"/>
              </a:tblGrid>
              <a:tr h="457200">
                <a:tc>
                  <a:txBody>
                    <a:bodyPr/>
                    <a:lstStyle/>
                    <a:p>
                      <a:r>
                        <a:rPr sz="1500"/>
                        <a:t>Trauma</a:t>
                      </a:r>
                    </a:p>
                  </a:txBody>
                  <a:tcPr/>
                </a:tc>
                <a:tc>
                  <a:txBody>
                    <a:bodyPr/>
                    <a:lstStyle/>
                    <a:p>
                      <a:r>
                        <a:rPr sz="1500"/>
                        <a:t>PTSD</a:t>
                      </a:r>
                    </a:p>
                  </a:txBody>
                  <a:tcPr/>
                </a:tc>
                <a:tc>
                  <a:txBody>
                    <a:bodyPr/>
                    <a:lstStyle/>
                    <a:p>
                      <a:r>
                        <a:rPr sz="1500"/>
                        <a:t>Depression</a:t>
                      </a:r>
                    </a:p>
                  </a:txBody>
                  <a:tcPr/>
                </a:tc>
                <a:tc>
                  <a:txBody>
                    <a:bodyPr/>
                    <a:lstStyle/>
                    <a:p>
                      <a:r>
                        <a:rPr sz="1500"/>
                        <a:t>Anxiety</a:t>
                      </a:r>
                    </a:p>
                  </a:txBody>
                  <a:tcPr/>
                </a:tc>
              </a:tr>
              <a:tr h="457200">
                <a:tc>
                  <a:txBody>
                    <a:bodyPr/>
                    <a:lstStyle/>
                    <a:p>
                      <a:r>
                        <a:rPr sz="1500"/>
                        <a:t>0 events</a:t>
                      </a:r>
                    </a:p>
                  </a:txBody>
                  <a:tcPr/>
                </a:tc>
                <a:tc>
                  <a:txBody>
                    <a:bodyPr/>
                    <a:lstStyle/>
                    <a:p>
                      <a:r>
                        <a:rPr sz="1500">
                          <a:solidFill>
                            <a:srgbClr val="C8102E"/>
                          </a:solidFill>
                        </a:rPr>
                        <a:t>1.97 (1.53–2.54)</a:t>
                      </a:r>
                    </a:p>
                  </a:txBody>
                  <a:tcPr/>
                </a:tc>
                <a:tc>
                  <a:txBody>
                    <a:bodyPr/>
                    <a:lstStyle/>
                    <a:p>
                      <a:r>
                        <a:rPr sz="1500">
                          <a:solidFill>
                            <a:srgbClr val="C8102E"/>
                          </a:solidFill>
                        </a:rPr>
                        <a:t>1.83 (1.46–2.30)</a:t>
                      </a:r>
                    </a:p>
                  </a:txBody>
                  <a:tcPr/>
                </a:tc>
                <a:tc>
                  <a:txBody>
                    <a:bodyPr/>
                    <a:lstStyle/>
                    <a:p>
                      <a:r>
                        <a:rPr sz="1500">
                          <a:solidFill>
                            <a:srgbClr val="C8102E"/>
                          </a:solidFill>
                        </a:rPr>
                        <a:t>1.71 (1.35–2.17)</a:t>
                      </a:r>
                    </a:p>
                  </a:txBody>
                  <a:tcPr/>
                </a:tc>
              </a:tr>
              <a:tr h="457200">
                <a:tc>
                  <a:txBody>
                    <a:bodyPr/>
                    <a:lstStyle/>
                    <a:p>
                      <a:r>
                        <a:rPr sz="1500"/>
                        <a:t>1–2 events</a:t>
                      </a:r>
                    </a:p>
                  </a:txBody>
                  <a:tcPr/>
                </a:tc>
                <a:tc>
                  <a:txBody>
                    <a:bodyPr/>
                    <a:lstStyle/>
                    <a:p>
                      <a:r>
                        <a:rPr sz="1500"/>
                        <a:t>1.26 (1.06–1.50)</a:t>
                      </a:r>
                    </a:p>
                  </a:txBody>
                  <a:tcPr/>
                </a:tc>
                <a:tc>
                  <a:txBody>
                    <a:bodyPr/>
                    <a:lstStyle/>
                    <a:p>
                      <a:r>
                        <a:rPr sz="1500"/>
                        <a:t>1.27 (1.11–1.45)</a:t>
                      </a:r>
                    </a:p>
                  </a:txBody>
                  <a:tcPr/>
                </a:tc>
                <a:tc>
                  <a:txBody>
                    <a:bodyPr/>
                    <a:lstStyle/>
                    <a:p>
                      <a:r>
                        <a:rPr sz="1500"/>
                        <a:t>1.15 (1.01–1.31)</a:t>
                      </a:r>
                    </a:p>
                  </a:txBody>
                  <a:tcPr/>
                </a:tc>
              </a:tr>
              <a:tr h="457200">
                <a:tc>
                  <a:txBody>
                    <a:bodyPr/>
                    <a:lstStyle/>
                    <a:p>
                      <a:r>
                        <a:rPr sz="1500"/>
                        <a:t>3–4 events</a:t>
                      </a:r>
                    </a:p>
                  </a:txBody>
                  <a:tcPr/>
                </a:tc>
                <a:tc>
                  <a:txBody>
                    <a:bodyPr/>
                    <a:lstStyle/>
                    <a:p>
                      <a:r>
                        <a:rPr sz="1500"/>
                        <a:t>1.03 (0.87–1.21)</a:t>
                      </a:r>
                    </a:p>
                  </a:txBody>
                  <a:tcPr/>
                </a:tc>
                <a:tc>
                  <a:txBody>
                    <a:bodyPr/>
                    <a:lstStyle/>
                    <a:p>
                      <a:r>
                        <a:rPr sz="1500"/>
                        <a:t>0.95 (0.81–1.12)</a:t>
                      </a:r>
                    </a:p>
                  </a:txBody>
                  <a:tcPr/>
                </a:tc>
                <a:tc>
                  <a:txBody>
                    <a:bodyPr/>
                    <a:lstStyle/>
                    <a:p>
                      <a:r>
                        <a:rPr sz="1500"/>
                        <a:t>0.86 (0.75–0.99)</a:t>
                      </a:r>
                    </a:p>
                  </a:txBody>
                  <a:tcPr/>
                </a:tc>
              </a:tr>
              <a:tr h="457200">
                <a:tc>
                  <a:txBody>
                    <a:bodyPr/>
                    <a:lstStyle/>
                    <a:p>
                      <a:r>
                        <a:rPr sz="1500"/>
                        <a:t>5+ events</a:t>
                      </a:r>
                    </a:p>
                  </a:txBody>
                  <a:tcPr/>
                </a:tc>
                <a:tc>
                  <a:txBody>
                    <a:bodyPr/>
                    <a:lstStyle/>
                    <a:p>
                      <a:r>
                        <a:rPr sz="1500"/>
                        <a:t>0.92 (0.83–1.03)</a:t>
                      </a:r>
                    </a:p>
                  </a:txBody>
                  <a:tcPr/>
                </a:tc>
                <a:tc>
                  <a:txBody>
                    <a:bodyPr/>
                    <a:lstStyle/>
                    <a:p>
                      <a:r>
                        <a:rPr sz="1500"/>
                        <a:t>0.99 (0.90–1.09)</a:t>
                      </a:r>
                    </a:p>
                  </a:txBody>
                  <a:tcPr/>
                </a:tc>
                <a:tc>
                  <a:txBody>
                    <a:bodyPr/>
                    <a:lstStyle/>
                    <a:p>
                      <a:r>
                        <a:rPr sz="1500"/>
                        <a:t>1.03 (0.95–1.13)</a:t>
                      </a:r>
                    </a:p>
                  </a:txBody>
                  <a:tcPr/>
                </a:tc>
              </a:tr>
              <a:tr h="457200">
                <a:tc>
                  <a:txBody>
                    <a:bodyPr/>
                    <a:lstStyle/>
                    <a:p>
                      <a:r>
                        <a:rPr sz="1500"/>
                        <a:t>Interaction p</a:t>
                      </a:r>
                    </a:p>
                  </a:txBody>
                  <a:tcPr/>
                </a:tc>
                <a:tc>
                  <a:txBody>
                    <a:bodyPr/>
                    <a:lstStyle/>
                    <a:p>
                      <a:r>
                        <a:rPr sz="1500"/>
                        <a:t>&lt;0.0001</a:t>
                      </a:r>
                    </a:p>
                  </a:txBody>
                  <a:tcPr/>
                </a:tc>
                <a:tc>
                  <a:txBody>
                    <a:bodyPr/>
                    <a:lstStyle/>
                    <a:p>
                      <a:r>
                        <a:rPr sz="1500"/>
                        <a:t>&lt;0.0001</a:t>
                      </a:r>
                    </a:p>
                  </a:txBody>
                  <a:tcPr/>
                </a:tc>
                <a:tc>
                  <a:txBody>
                    <a:bodyPr/>
                    <a:lstStyle/>
                    <a:p>
                      <a:r>
                        <a:rPr sz="1500"/>
                        <a:t>&lt;0.0001</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Adjusted PTSD Prevalence Across the Stressor Range</a:t>
            </a:r>
          </a:p>
        </p:txBody>
      </p:sp>
      <p:graphicFrame>
        <p:nvGraphicFramePr>
          <p:cNvPr id="3" name="Chart 2"/>
          <p:cNvGraphicFramePr>
            <a:graphicFrameLocks noGrp="1"/>
          </p:cNvGraphicFramePr>
          <p:nvPr/>
        </p:nvGraphicFramePr>
        <p:xfrm>
          <a:off x="1097280" y="1737360"/>
          <a:ext cx="100584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Absolute Scale Carries the Programming Point</a:t>
            </a:r>
          </a:p>
        </p:txBody>
      </p:sp>
      <p:sp>
        <p:nvSpPr>
          <p:cNvPr id="3" name="Content Placeholder 2"/>
          <p:cNvSpPr>
            <a:spLocks noGrp="1"/>
          </p:cNvSpPr>
          <p:nvPr>
            <p:ph idx="1"/>
          </p:nvPr>
        </p:nvSpPr>
        <p:spPr/>
        <p:txBody>
          <a:bodyPr wrap="square"/>
          <a:lstStyle/>
          <a:p>
            <a:pPr>
              <a:spcAft>
                <a:spcPts val="800"/>
              </a:spcAft>
            </a:pPr>
            <a:r>
              <a:rPr sz="1800"/>
              <a:t>Four additional stressors (0 → 4), change in adjusted prevalence:</a:t>
            </a:r>
          </a:p>
          <a:p>
            <a:pPr lvl="1">
              <a:spcAft>
                <a:spcPts val="400"/>
              </a:spcAft>
            </a:pPr>
            <a:r>
              <a:rPr sz="1500">
                <a:solidFill>
                  <a:srgbClr val="C8102E"/>
                </a:solidFill>
              </a:rPr>
              <a:t>No trauma exposure — PTSD +21.8 points (95% CI 7.2–36.5); depression +24.1 (10.5–37.6); anxiety +17.8 (3.9–31.6)</a:t>
            </a:r>
          </a:p>
          <a:p>
            <a:pPr lvl="1">
              <a:spcAft>
                <a:spcPts val="400"/>
              </a:spcAft>
            </a:pPr>
            <a:r>
              <a:rPr sz="1500"/>
              <a:t>Five or more events — PTSD −2.5 (−18.3 to +13.4); depression +3.5 (−7.7 to +14.6); anxiety −4.0 (−15.1 to +7.1) — null in all three</a:t>
            </a:r>
          </a:p>
          <a:p>
            <a:pPr>
              <a:spcAft>
                <a:spcPts val="800"/>
              </a:spcAft>
            </a:pPr>
            <a:r>
              <a:rPr sz="1800"/>
              <a:t>At five events, prevalence sits near 40% at every stressor level — high and flat</a:t>
            </a:r>
          </a:p>
          <a:p>
            <a:pPr>
              <a:spcAft>
                <a:spcPts val="800"/>
              </a:spcAft>
            </a:pPr>
            <a:r>
              <a:rPr sz="1800"/>
              <a:t>The fading is not ratio arithmetic: it appears in percentage points too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Robustness</a:t>
            </a:r>
          </a:p>
        </p:txBody>
      </p:sp>
      <p:sp>
        <p:nvSpPr>
          <p:cNvPr id="3" name="Content Placeholder 2"/>
          <p:cNvSpPr>
            <a:spLocks noGrp="1"/>
          </p:cNvSpPr>
          <p:nvPr>
            <p:ph idx="1"/>
          </p:nvPr>
        </p:nvSpPr>
        <p:spPr/>
        <p:txBody>
          <a:bodyPr wrap="square"/>
          <a:lstStyle/>
          <a:p>
            <a:pPr>
              <a:spcAft>
                <a:spcPts val="800"/>
              </a:spcAft>
            </a:pPr>
            <a:r>
              <a:rPr sz="1800"/>
              <a:t>Adjusted spline interaction: PTSD p=0.0027; depression p=0.0001; anxiety p=0.0027</a:t>
            </a:r>
          </a:p>
          <a:p>
            <a:pPr>
              <a:spcAft>
                <a:spcPts val="800"/>
              </a:spcAft>
            </a:pPr>
            <a:r>
              <a:rPr sz="1800"/>
              <a:t>Alternative thresholds: PCL-5≥33 (p=0.0002), PHQ-9≥15 (p=0.0001), GAD-7≥7 (p&lt;0.0001)</a:t>
            </a:r>
          </a:p>
          <a:p>
            <a:pPr>
              <a:spcAft>
                <a:spcPts val="800"/>
              </a:spcAft>
            </a:pPr>
            <a:r>
              <a:rPr sz="1800"/>
              <a:t>Continuous symptom scores — no cutoff at all: all p≤0.0001</a:t>
            </a:r>
          </a:p>
          <a:p>
            <a:pPr>
              <a:spcAft>
                <a:spcPts val="800"/>
              </a:spcAft>
            </a:pPr>
            <a:r>
              <a:rPr sz="1800"/>
              <a:t>Not a ceiling: the 5+ group sits at ~40% prevalence with a tight confidence interval, estimated over real stressor variation</a:t>
            </a:r>
          </a:p>
          <a:p>
            <a:pPr>
              <a:spcAft>
                <a:spcPts val="800"/>
              </a:spcAft>
            </a:pPr>
            <a:r>
              <a:rPr sz="1800"/>
              <a:t>Categorical and continuous specifications agree; adjusted and unadjusted agree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Interpretation: Differential Stress Sensitivity</a:t>
            </a:r>
          </a:p>
        </p:txBody>
      </p:sp>
      <p:sp>
        <p:nvSpPr>
          <p:cNvPr id="3" name="Content Placeholder 2"/>
          <p:cNvSpPr>
            <a:spLocks noGrp="1"/>
          </p:cNvSpPr>
          <p:nvPr>
            <p:ph idx="1"/>
          </p:nvPr>
        </p:nvSpPr>
        <p:spPr/>
        <p:txBody>
          <a:bodyPr wrap="square"/>
          <a:lstStyle/>
          <a:p>
            <a:pPr>
              <a:spcAft>
                <a:spcPts val="800"/>
              </a:spcAft>
            </a:pPr>
            <a:r>
              <a:rPr sz="1800"/>
              <a:t>The stress–symptom gradient is concentrated among adults with limited trauma exposure; among the heavily exposed, prevalence is high at every stressor level</a:t>
            </a:r>
          </a:p>
          <a:p>
            <a:pPr>
              <a:spcAft>
                <a:spcPts val="800"/>
              </a:spcAft>
            </a:pPr>
            <a:r>
              <a:rPr sz="1800"/>
              <a:t>Consistent with sensitization AND saturation operating at different exposure levels: sensitivity retained at 1–2 events, flattening at 3–4, complete by 5+</a:t>
            </a:r>
          </a:p>
          <a:p>
            <a:pPr>
              <a:spcAft>
                <a:spcPts val="800"/>
              </a:spcAft>
            </a:pPr>
            <a:r>
              <a:rPr sz="1800"/>
              <a:t>Candidate mechanisms: allostatic exhaustion (McEwen), hypocortisolism and blunted amygdala reactivity (Yehuda), emotional numbing, altered world assumptions</a:t>
            </a:r>
          </a:p>
          <a:p>
            <a:pPr>
              <a:spcAft>
                <a:spcPts val="800"/>
              </a:spcAft>
            </a:pPr>
            <a:r>
              <a:rPr sz="1800"/>
              <a:t>Cross-sectional data: this is a population pattern, not a demonstrated within-person mechanism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Implications for Humanitarian Programming</a:t>
            </a:r>
          </a:p>
        </p:txBody>
      </p:sp>
      <p:sp>
        <p:nvSpPr>
          <p:cNvPr id="3" name="Content Placeholder 2"/>
          <p:cNvSpPr>
            <a:spLocks noGrp="1"/>
          </p:cNvSpPr>
          <p:nvPr>
            <p:ph idx="1"/>
          </p:nvPr>
        </p:nvSpPr>
        <p:spPr/>
        <p:txBody>
          <a:bodyPr wrap="square"/>
          <a:lstStyle/>
          <a:p>
            <a:pPr>
              <a:spcAft>
                <a:spcPts val="800"/>
              </a:spcAft>
            </a:pPr>
            <a:r>
              <a:rPr sz="1800"/>
              <a:t>One program for everyone serves neither group well</a:t>
            </a:r>
          </a:p>
          <a:p>
            <a:pPr>
              <a:spcAft>
                <a:spcPts val="800"/>
              </a:spcAft>
            </a:pPr>
            <a:r>
              <a:rPr sz="1800"/>
              <a:t>~4 in 5 adults have fewer than three event types and retain stress sensitivity:</a:t>
            </a:r>
          </a:p>
          <a:p>
            <a:pPr lvl="1">
              <a:spcAft>
                <a:spcPts val="400"/>
              </a:spcAft>
            </a:pPr>
            <a:r>
              <a:rPr sz="1500"/>
              <a:t>Stress management, livelihood support, Problem Management Plus, community psychosocial support (Rahman 2016; Jordans 2010)</a:t>
            </a:r>
          </a:p>
          <a:p>
            <a:pPr>
              <a:spcAft>
                <a:spcPts val="800"/>
              </a:spcAft>
            </a:pPr>
            <a:r>
              <a:rPr sz="1800"/>
              <a:t>The heavily exposed minority carries ~40% prevalence regardless of stressors:</a:t>
            </a:r>
          </a:p>
          <a:p>
            <a:pPr lvl="1">
              <a:spcAft>
                <a:spcPts val="400"/>
              </a:spcAft>
            </a:pPr>
            <a:r>
              <a:rPr sz="1500"/>
              <a:t>Trauma-focused therapies — Narrative Exposure Therapy (Robjant &amp; Fazel 2010), culturally adapted CPT (Bass 2013)</a:t>
            </a:r>
          </a:p>
          <a:p>
            <a:pPr>
              <a:spcAft>
                <a:spcPts val="800"/>
              </a:spcAft>
            </a:pPr>
            <a:r>
              <a:rPr sz="1800"/>
              <a:t>Brief trauma-history screening at program entry could route scarce specialist capacity to where stress reduction cannot substitute for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Limitations</a:t>
            </a:r>
          </a:p>
        </p:txBody>
      </p:sp>
      <p:sp>
        <p:nvSpPr>
          <p:cNvPr id="3" name="Content Placeholder 2"/>
          <p:cNvSpPr>
            <a:spLocks noGrp="1"/>
          </p:cNvSpPr>
          <p:nvPr>
            <p:ph idx="1"/>
          </p:nvPr>
        </p:nvSpPr>
        <p:spPr/>
        <p:txBody>
          <a:bodyPr wrap="square"/>
          <a:lstStyle/>
          <a:p>
            <a:pPr>
              <a:spcAft>
                <a:spcPts val="800"/>
              </a:spcAft>
            </a:pPr>
            <a:r>
              <a:rPr sz="1800"/>
              <a:t>Cross-sectional: saturation names an association pattern, not a mechanism; selection and reverse causation cannot be excluded</a:t>
            </a:r>
          </a:p>
          <a:p>
            <a:pPr>
              <a:spcAft>
                <a:spcPts val="800"/>
              </a:spcAft>
            </a:pPr>
            <a:r>
              <a:rPr sz="1800"/>
              <a:t>Lifetime event recall set against current stressors</a:t>
            </a:r>
          </a:p>
          <a:p>
            <a:pPr>
              <a:spcAft>
                <a:spcPts val="800"/>
              </a:spcAft>
            </a:pPr>
            <a:r>
              <a:rPr sz="1800"/>
              <a:t>Sparse data above six events (~60 respondents): extreme-tail predictions unstable, reported only to five events</a:t>
            </a:r>
          </a:p>
          <a:p>
            <a:pPr>
              <a:spcAft>
                <a:spcPts val="800"/>
              </a:spcAft>
            </a:pPr>
            <a:r>
              <a:rPr sz="1800"/>
              <a:t>Screens, not diagnoses — though locally validated, and the pattern holds in continuous scores</a:t>
            </a:r>
          </a:p>
          <a:p>
            <a:pPr>
              <a:spcAft>
                <a:spcPts val="800"/>
              </a:spcAft>
            </a:pPr>
            <a:r>
              <a:rPr sz="1800"/>
              <a:t>Equal sampling weights; design-based clustering (state strata, community PSUs)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Conclusions</a:t>
            </a:r>
          </a:p>
        </p:txBody>
      </p:sp>
      <p:sp>
        <p:nvSpPr>
          <p:cNvPr id="3" name="Content Placeholder 2"/>
          <p:cNvSpPr>
            <a:spLocks noGrp="1"/>
          </p:cNvSpPr>
          <p:nvPr>
            <p:ph idx="1"/>
          </p:nvPr>
        </p:nvSpPr>
        <p:spPr/>
        <p:txBody>
          <a:bodyPr wrap="square"/>
          <a:lstStyle/>
          <a:p>
            <a:pPr>
              <a:spcAft>
                <a:spcPts val="800"/>
              </a:spcAft>
            </a:pPr>
            <a:r>
              <a:rPr sz="1800"/>
              <a:t>Trauma exposure modifies what everyday stress does: per-stressor PTSD risk falls from ×1.97 among the unexposed to null at five or more events, across all three outcomes, on both scales, in every sensitivity analysis</a:t>
            </a:r>
          </a:p>
          <a:p>
            <a:pPr>
              <a:spcAft>
                <a:spcPts val="800"/>
              </a:spcAft>
            </a:pPr>
            <a:r>
              <a:rPr sz="1800"/>
              <a:t>Simple dose-response assumptions — and universal psychosocial programming built on them — do not fit these data</a:t>
            </a:r>
          </a:p>
          <a:p>
            <a:pPr>
              <a:spcAft>
                <a:spcPts val="800"/>
              </a:spcAft>
            </a:pPr>
            <a:r>
              <a:rPr sz="1800"/>
              <a:t>Match the intervention to trauma history: stress-focused support where sensitivity is retained; trauma-focused therapy where exposure is extensive</a:t>
            </a:r>
          </a:p>
          <a:p>
            <a:pPr>
              <a:spcAft>
                <a:spcPts val="800"/>
              </a:spcAft>
            </a:pPr>
            <a:r>
              <a:rPr sz="1800"/>
              <a:t>Next: longitudinal designs to establish when saturation develops and whether it reverses with treatment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The Two Exposures Are Correlated — and the Null Is Not Range Restriction</a:t>
            </a:r>
          </a:p>
        </p:txBody>
      </p:sp>
      <p:pic>
        <p:nvPicPr>
          <p:cNvPr id="3" name="Picture 2" descr="stressor_by_trauma.png"/>
          <p:cNvPicPr>
            <a:picLocks noChangeAspect="1"/>
          </p:cNvPicPr>
          <p:nvPr/>
        </p:nvPicPr>
        <p:blipFill>
          <a:blip r:embed="rId2"/>
          <a:stretch>
            <a:fillRect/>
          </a:stretch>
        </p:blipFill>
        <p:spPr>
          <a:xfrm>
            <a:off x="1371600" y="1554480"/>
            <a:ext cx="9418320" cy="5185367"/>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Spline Itself: A Smoothly Declining Stressor Effect</a:t>
            </a:r>
          </a:p>
        </p:txBody>
      </p:sp>
      <p:pic>
        <p:nvPicPr>
          <p:cNvPr id="3" name="Picture 2" descr="spline_effect.png"/>
          <p:cNvPicPr>
            <a:picLocks noChangeAspect="1"/>
          </p:cNvPicPr>
          <p:nvPr/>
        </p:nvPicPr>
        <p:blipFill>
          <a:blip r:embed="rId2"/>
          <a:stretch>
            <a:fillRect/>
          </a:stretch>
        </p:blipFill>
        <p:spPr>
          <a:xfrm>
            <a:off x="1280160" y="1508760"/>
            <a:ext cx="9601200" cy="5781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876336B1FEC34C9AF13CFD0682E5C4" ma:contentTypeVersion="15" ma:contentTypeDescription="Create a new document." ma:contentTypeScope="" ma:versionID="f930fe4fb9fc0775590c4daff8c16b97">
  <xsd:schema xmlns:xsd="http://www.w3.org/2001/XMLSchema" xmlns:xs="http://www.w3.org/2001/XMLSchema" xmlns:p="http://schemas.microsoft.com/office/2006/metadata/properties" xmlns:ns2="16f9e34a-f673-4991-bd36-81c9500deaa7" xmlns:ns3="0d455e71-3517-45a9-a939-bdf8808606ae" targetNamespace="http://schemas.microsoft.com/office/2006/metadata/properties" ma:root="true" ma:fieldsID="cde4bf3402db8cf643ee45ef11b54067" ns2:_="" ns3:_="">
    <xsd:import namespace="16f9e34a-f673-4991-bd36-81c9500deaa7"/>
    <xsd:import namespace="0d455e71-3517-45a9-a939-bdf8808606a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f9e34a-f673-4991-bd36-81c9500dea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22d6aeb-2130-4a19-b464-59cdf858f26b"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455e71-3517-45a9-a939-bdf8808606a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4e837d8e-31af-40a5-9b44-e3432619d9a9}" ma:internalName="TaxCatchAll" ma:showField="CatchAllData" ma:web="0d455e71-3517-45a9-a939-bdf8808606a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6f9e34a-f673-4991-bd36-81c9500deaa7">
      <Terms xmlns="http://schemas.microsoft.com/office/infopath/2007/PartnerControls"/>
    </lcf76f155ced4ddcb4097134ff3c332f>
    <TaxCatchAll xmlns="0d455e71-3517-45a9-a939-bdf8808606a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096B2B-A652-4499-9E2B-71FAFA9556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f9e34a-f673-4991-bd36-81c9500deaa7"/>
    <ds:schemaRef ds:uri="0d455e71-3517-45a9-a939-bdf8808606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514700D-B035-4BA6-828A-0AE1243E6859}">
  <ds:schemaRefs>
    <ds:schemaRef ds:uri="http://schemas.microsoft.com/office/2006/metadata/properties"/>
    <ds:schemaRef ds:uri="http://schemas.microsoft.com/office/infopath/2007/PartnerControls"/>
    <ds:schemaRef ds:uri="16f9e34a-f673-4991-bd36-81c9500deaa7"/>
    <ds:schemaRef ds:uri="0d455e71-3517-45a9-a939-bdf8808606ae"/>
  </ds:schemaRefs>
</ds:datastoreItem>
</file>

<file path=customXml/itemProps3.xml><?xml version="1.0" encoding="utf-8"?>
<ds:datastoreItem xmlns:ds="http://schemas.openxmlformats.org/officeDocument/2006/customXml" ds:itemID="{C7461CDA-AB55-4D84-9CEF-669BCD74C02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TotalTime>
  <Words>176</Words>
  <Application>Microsoft Office PowerPoint</Application>
  <PresentationFormat>Widescreen</PresentationFormat>
  <Paragraphs>9</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Continuing Medical Education Financial Disclosure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Brahlek</dc:creator>
  <cp:lastModifiedBy>TUNDE MASSEYFERGUSON OJO</cp:lastModifiedBy>
  <cp:revision>18</cp:revision>
  <dcterms:created xsi:type="dcterms:W3CDTF">2026-04-30T16:25:28Z</dcterms:created>
  <dcterms:modified xsi:type="dcterms:W3CDTF">2026-08-25T02:19:46Z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0x010100E4876336B1FEC34C9AF13CFD0682E5C4</vt:lpwstr>
  </property>
  <property fmtid="{D5CDD505-2E9C-101B-9397-08002B2CF9AE}" pid="3" name="MediaServiceImageTags">
    <vt:lpwstr/>
  </property>
</Properties>
</file>