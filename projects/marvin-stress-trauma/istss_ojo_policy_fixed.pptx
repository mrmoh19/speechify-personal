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media/image10.svg" ContentType="image/svg+xml"/>
  <Override PartName="/ppt/media/image11.svg" ContentType="image/svg+xml"/>
  <Override PartName="/ppt/media/image12.svg" ContentType="image/svg+xml"/>
  <Override PartName="/ppt/media/image1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90" r:id="rId5"/>
    <p:sldId id="289" r:id="rId6"/>
    <p:sldId id="266" r:id="rId7"/>
    <p:sldId id="300" r:id="rId8"/>
    <p:sldId id="291" r:id="rId9"/>
    <p:sldId id="292" r:id="rId10"/>
    <p:sldId id="282" r:id="rId11"/>
    <p:sldId id="283" r:id="rId12"/>
    <p:sldId id="286" r:id="rId13"/>
    <p:sldId id="294" r:id="rId14"/>
    <p:sldId id="298" r:id="rId15"/>
    <p:sldId id="28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919D0-9672-3B54-444D-474231CC376B}" v="27" dt="2026-05-05T17:49:24.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5" autoAdjust="0"/>
    <p:restoredTop sz="88202"/>
  </p:normalViewPr>
  <p:slideViewPr>
    <p:cSldViewPr snapToGrid="0">
      <p:cViewPr varScale="1">
        <p:scale>
          <a:sx n="90" d="100"/>
          <a:sy n="90" d="100"/>
        </p:scale>
        <p:origin x="23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Evans" userId="S::levans@parthenonmgmt.com::502e5b7e-0522-4e8f-98b1-099491360ecc" providerId="AD" clId="Web-{10A919D0-9672-3B54-444D-474231CC376B}"/>
    <pc:docChg chg="modSld">
      <pc:chgData name="Laura Evans" userId="S::levans@parthenonmgmt.com::502e5b7e-0522-4e8f-98b1-099491360ecc" providerId="AD" clId="Web-{10A919D0-9672-3B54-444D-474231CC376B}" dt="2026-05-05T17:49:24.769" v="29" actId="1076"/>
      <pc:docMkLst>
        <pc:docMk/>
      </pc:docMkLst>
      <pc:sldChg chg="modSp">
        <pc:chgData name="Laura Evans" userId="S::levans@parthenonmgmt.com::502e5b7e-0522-4e8f-98b1-099491360ecc" providerId="AD" clId="Web-{10A919D0-9672-3B54-444D-474231CC376B}" dt="2026-05-05T17:47:32.081" v="6" actId="20577"/>
        <pc:sldMkLst>
          <pc:docMk/>
          <pc:sldMk cId="1804320558" sldId="256"/>
        </pc:sldMkLst>
        <pc:spChg chg="mod">
          <ac:chgData name="Laura Evans" userId="S::levans@parthenonmgmt.com::502e5b7e-0522-4e8f-98b1-099491360ecc" providerId="AD" clId="Web-{10A919D0-9672-3B54-444D-474231CC376B}" dt="2026-05-05T17:47:32.081" v="6" actId="20577"/>
          <ac:spMkLst>
            <pc:docMk/>
            <pc:sldMk cId="1804320558" sldId="256"/>
            <ac:spMk id="2" creationId="{125018A9-85F0-3BCF-08E3-53242BED322C}"/>
          </ac:spMkLst>
        </pc:spChg>
      </pc:sldChg>
      <pc:sldChg chg="modSp">
        <pc:chgData name="Laura Evans" userId="S::levans@parthenonmgmt.com::502e5b7e-0522-4e8f-98b1-099491360ecc" providerId="AD" clId="Web-{10A919D0-9672-3B54-444D-474231CC376B}" dt="2026-05-05T17:49:24.769" v="29" actId="1076"/>
        <pc:sldMkLst>
          <pc:docMk/>
          <pc:sldMk cId="1217370416" sldId="257"/>
        </pc:sldMkLst>
        <pc:spChg chg="mod">
          <ac:chgData name="Laura Evans" userId="S::levans@parthenonmgmt.com::502e5b7e-0522-4e8f-98b1-099491360ecc" providerId="AD" clId="Web-{10A919D0-9672-3B54-444D-474231CC376B}" dt="2026-05-05T17:49:20.847" v="28" actId="1076"/>
          <ac:spMkLst>
            <pc:docMk/>
            <pc:sldMk cId="1217370416" sldId="257"/>
            <ac:spMk id="2" creationId="{8541808E-CCF4-3463-2FDA-3BA4D8F6B1F1}"/>
          </ac:spMkLst>
        </pc:spChg>
        <pc:spChg chg="mod">
          <ac:chgData name="Laura Evans" userId="S::levans@parthenonmgmt.com::502e5b7e-0522-4e8f-98b1-099491360ecc" providerId="AD" clId="Web-{10A919D0-9672-3B54-444D-474231CC376B}" dt="2026-05-05T17:49:24.769" v="29" actId="1076"/>
          <ac:spMkLst>
            <pc:docMk/>
            <pc:sldMk cId="1217370416" sldId="257"/>
            <ac:spMk id="3" creationId="{D81E43C8-B81F-911F-DFA1-9067AA2E8A2B}"/>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7D8AA3"/>
            </a:solidFill>
            <a:ln>
              <a:noFill/>
            </a:ln>
          </c:spPr>
          <c:invertIfNegative val="1"/>
          <c:dPt>
            <c:idx val="0"/>
            <c:invertIfNegative val="1"/>
            <c:bubble3D val="0"/>
            <c:spPr>
              <a:solidFill>
                <a:srgbClr val="E97132"/>
              </a:solidFill>
              <a:ln>
                <a:noFill/>
              </a:ln>
            </c:spPr>
            <c:extLst>
              <c:ext xmlns:c16="http://schemas.microsoft.com/office/drawing/2014/chart" uri="{C3380CC4-5D6E-409C-BE32-E72D297353CC}">
                <c16:uniqueId val="{00000001-10EB-104C-A409-D044F45A824B}"/>
              </c:ext>
            </c:extLst>
          </c:dPt>
          <c:dLbls>
            <c:numFmt formatCode="0.0" sourceLinked="0"/>
            <c:spPr>
              <a:noFill/>
              <a:ln>
                <a:noFill/>
              </a:ln>
              <a:effectLst/>
            </c:spPr>
            <c:txPr>
              <a:bodyPr wrap="none"/>
              <a:lstStyle/>
              <a:p>
                <a:pPr>
                  <a:defRPr sz="1400" b="0">
                    <a:solidFill>
                      <a:srgbClr val="F2F2F2"/>
                    </a:solidFill>
                    <a:latin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2"/>
              <c:pt idx="0">
                <c:v>Nigeria</c:v>
              </c:pt>
              <c:pt idx="1">
                <c:v>WHO benchmark</c:v>
              </c:pt>
            </c:strLit>
          </c:cat>
          <c:val>
            <c:numLit>
              <c:formatCode>General</c:formatCode>
              <c:ptCount val="2"/>
              <c:pt idx="0">
                <c:v>0.6</c:v>
              </c:pt>
              <c:pt idx="1">
                <c:v>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0EB-104C-A409-D044F45A824B}"/>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454C61"/>
            </a:solidFill>
          </a:ln>
        </c:spPr>
        <c:txPr>
          <a:bodyPr rot="0" vert="horz"/>
          <a:lstStyle/>
          <a:p>
            <a:pPr>
              <a:defRPr sz="1400" b="0">
                <a:solidFill>
                  <a:srgbClr val="F2F2F2"/>
                </a:solidFill>
                <a:latin typeface="Aptos"/>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452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chair. I speak for the Federal Ministry of Health and Social Welfare: what happens to this evidence after the conference.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financial relationships to disclose.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sixty-three years Nigeria's mental health law was the Lunacy Act of 1958 — custodial, colonial, silent on community care. The 2021 Act replaced it with a rights-based framework: primary care integration, community services, [the Department of Mental Health and the fund]. An Act is authority, not information. It cannot tell us how much need exists, where it sits, or which service belongs where. The ministry joined MaRVIN to answer exactly that.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usual pipeline — researchers publish, ministries eventually read — takes years we do not have. We co-designed MaRVIN from the first protocol: the ministry's implementation questions shaped the instruments, the sampling, and the analysis. Four missing pieces blocked planning: validated tools, burden estimates, drivers, and a basis for matching services to need with a workforce of 250 psychiatrists.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findings, in the order you heard them today. The instruments work, but only with local calibration — the wrong cut-point would misplan the entire response. The burden is enormous and concentrated — by state and, more sharply, by community. The camp environment drives risk beyond the trauma count. And the saturation finding: services must be matched to trauma history, not delivered uniformly.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finding maps to a lever. The validation gives us a defensible national screening standard. The burden maps give us an allocation formula — need varies 28-fold, so budgets should not be uniform. The camp finding takes mental health policy beyond the health sector, into how camps are run. And saturation gives the service model: a broad scalable tier in primary care, and a specialist trauma-focused tier with clear referral pathways.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Dr. Ojo's to fill with the ministry's actual vehicles and dates — the draft names the plausible set: screening standards into PHC protocols, task-sharing curricula, state desks, financing through the budget line or NHIA package, and MaRVIN as the baseline wave of a recurring national surveillance instrument.]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With one psychiatrist per 800,000 people, the only honest plan is task-sharing — and the saturation evidence tells us it is also the right plan. Most of the affected population retains stress sensitivity and can be served by scalable, task-shared support in primary care.</a:t>
            </a:r>
            <a:r>
              <a:rPr lang="en-US" sz="1200" b="0" dirty="0">
                <a:solidFill>
                  <a:srgbClr val="F2F2F2"/>
                </a:solidFill>
              </a:rPr>
              <a:t> Validated instruments make lay-worker triage feasible</a:t>
            </a:r>
          </a:p>
          <a:p>
            <a:r>
              <a:rPr dirty="0"/>
              <a:t> The smaller heavily-exposed group needs trauma-focused care, which is where scarce specialist capacity belongs. A brief trauma-history screen — feasible for lay workers with these validated tools — is the triage.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on three notes. First, the model: a ministry inside the research from day one turns a four-paper symposium into an implementation plan — other conflict-affected countries can copy the structure. Second, the commitments you saw two slides ago — [Dr. Ojo restates the two or three he owns]. Third, the ask: partners for the longitudinal and intervention trials the saturation finding demands, technical support to institutionalize surveillance, and financing for the two-tier scale-up. The evidence exists. The law exists. The remaining work is implementation, and that is the ministry's job — with your partnership.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on three notes. First, the model: a ministry inside the research from day one turns a four-paper symposium into an implementation plan — other conflict-affected countries can copy the structure. Second, the commitments you saw two slides ago — [Dr. Ojo restates the two or three he owns]. Third, the ask: partners for the longitudinal and intervention trials the saturation finding demands, technical support to institutionalize surveillance, and financing for the two-tier scale-up. The evidence exists. The law exists. The remaining work is implementation, and that is the ministry's job — with your partnership.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Act gave us the mandate; MaRVIN gave us the map. Screening standards, needs-based allocation, action on the camp environment, and a two-tier service model — that is the implementation agenda. Thank you, and thank you to the study communities, AFENET, and the research team.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2F07-ACD0-46D7-5BFB-BAA0E7043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DD8877-66BE-034D-D927-46D0CFC5C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0559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7AD1-73C4-45F4-685A-791D9BA00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16B9-DA0F-8DBB-30CF-93F515B64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0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D04-BFB6-D2BC-915D-4141F304F3DC}"/>
              </a:ext>
            </a:extLst>
          </p:cNvPr>
          <p:cNvSpPr>
            <a:spLocks noGrp="1"/>
          </p:cNvSpPr>
          <p:nvPr>
            <p:ph type="title"/>
          </p:nvPr>
        </p:nvSpPr>
        <p:spPr>
          <a:xfrm>
            <a:off x="838200" y="1389064"/>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F2FBB4D8-C7D6-5799-D878-9127D945061D}"/>
              </a:ext>
            </a:extLst>
          </p:cNvPr>
          <p:cNvSpPr>
            <a:spLocks noGrp="1"/>
          </p:cNvSpPr>
          <p:nvPr>
            <p:ph type="body" idx="1"/>
          </p:nvPr>
        </p:nvSpPr>
        <p:spPr>
          <a:xfrm>
            <a:off x="831850" y="4239419"/>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141844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3695-D63C-614A-592E-C7C8FACCA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F1E00-535F-7798-D7B7-5A0785FC9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F184D3-E0CB-B543-4600-1FE46236B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72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8F22-5587-8C51-9F26-1E85693E0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4F101-494F-5244-4B75-4BC8C06B7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FA9443-1733-8D80-2317-10C962795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EE2E3-1BBA-B796-F81E-702496D22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D05EE-EFD6-E52C-CC7B-97E1B68F7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998D-6DCB-8761-7948-816D8008FC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705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9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78FD-4F04-A735-7227-DD9D0C87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BADDE-A346-86EE-C54B-288C8AFFED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7005A3-29D6-AA06-6647-2698D53E2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1899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1318-1CBF-6DBA-89C5-EB895780A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2C6D3-53AB-5EF9-3972-451B42059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8AF908-CEBB-39F5-AB46-A54554EF4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971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6688-A6E8-DA47-A8C6-286905CD8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F5354-8E45-2730-2ADA-A07632389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87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12CACC-1178-676F-DA41-87E1A8685B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34D08-8B2B-9DEF-6A0A-537FAE2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0608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5FE3E-9707-5232-D1A7-10EE269B70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727243-EF1D-5BAF-7E5C-54B7AE289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49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svg"/><Relationship Id="rId4" Type="http://schemas.openxmlformats.org/officeDocument/2006/relationships/image" Target="../media/image8.svg"/><Relationship Id="rId5" Type="http://schemas.openxmlformats.org/officeDocument/2006/relationships/image" Target="../media/image9.svg"/><Relationship Id="rId6" Type="http://schemas.openxmlformats.org/officeDocument/2006/relationships/image" Target="../media/image10.svg"/><Relationship Id="rId7" Type="http://schemas.openxmlformats.org/officeDocument/2006/relationships/image" Target="../media/image1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18A9-85F0-3BCF-08E3-53242BED322C}"/>
              </a:ext>
            </a:extLst>
          </p:cNvPr>
          <p:cNvSpPr>
            <a:spLocks noGrp="1"/>
          </p:cNvSpPr>
          <p:nvPr>
            <p:ph type="ctrTitle"/>
          </p:nvPr>
        </p:nvSpPr>
        <p:spPr/>
        <p:txBody>
          <a:bodyPr/>
          <a:lstStyle/>
          <a:p>
            <a:r>
              <a:rPr sz="2600"/>
              <a:t>From Evidence to Action: Translating MaRVIN Study Findings Into Policy Implementation Under Nigeria's 2021 Mental Health Act</a:t>
            </a:r>
          </a:p>
        </p:txBody>
      </p:sp>
      <p:sp>
        <p:nvSpPr>
          <p:cNvPr id="3" name="Subtitle 2">
            <a:extLst>
              <a:ext uri="{FF2B5EF4-FFF2-40B4-BE49-F238E27FC236}">
                <a16:creationId xmlns:a16="http://schemas.microsoft.com/office/drawing/2014/main" id="{27C44F12-169B-E2E1-BF80-C326C1BF9763}"/>
              </a:ext>
            </a:extLst>
          </p:cNvPr>
          <p:cNvSpPr>
            <a:spLocks noGrp="1"/>
          </p:cNvSpPr>
          <p:nvPr>
            <p:ph type="subTitle" idx="1"/>
          </p:nvPr>
        </p:nvSpPr>
        <p:spPr/>
        <p:txBody>
          <a:bodyPr/>
          <a:lstStyle/>
          <a:p>
            <a:pPr>
              <a:lnSpc>
                <a:spcPct val="130000"/>
              </a:lnSpc>
            </a:pPr>
            <a:r>
              <a:rPr lang="en-US" dirty="0"/>
              <a:t>Tunde MasseyFerguson Ojo, MBBS, MSc, FMCPsych</a:t>
            </a:r>
          </a:p>
          <a:p>
            <a:pPr>
              <a:lnSpc>
                <a:spcPct val="130000"/>
              </a:lnSpc>
            </a:pPr>
            <a:r>
              <a:rPr lang="en-US" sz="1600" dirty="0">
                <a:solidFill>
                  <a:srgbClr val="F2F2F2"/>
                </a:solidFill>
              </a:rPr>
              <a:t>Federal Ministry of Health and Social Welfare, Nigeria · University of Abuja</a:t>
            </a:r>
          </a:p>
          <a:p>
            <a:pPr>
              <a:lnSpc>
                <a:spcPct val="130000"/>
              </a:lnSpc>
            </a:pPr>
            <a:r>
              <a:rPr lang="en-US" sz="1500" dirty="0">
                <a:solidFill>
                  <a:srgbClr val="F2F2F2"/>
                </a:solidFill>
              </a:rPr>
              <a:t>ISTSS 42nd Annual Meeting · San Antonio, TX · September 24, 2026</a:t>
            </a:r>
          </a:p>
        </p:txBody>
      </p:sp>
    </p:spTree>
    <p:extLst>
      <p:ext uri="{BB962C8B-B14F-4D97-AF65-F5344CB8AC3E}">
        <p14:creationId xmlns:p14="http://schemas.microsoft.com/office/powerpoint/2010/main" val="151317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808E-CCF4-3463-2FDA-3BA4D8F6B1F1}"/>
              </a:ext>
            </a:extLst>
          </p:cNvPr>
          <p:cNvSpPr>
            <a:spLocks noGrp="1"/>
          </p:cNvSpPr>
          <p:nvPr>
            <p:ph type="title"/>
          </p:nvPr>
        </p:nvSpPr>
        <p:spPr>
          <a:xfrm>
            <a:off x="838200" y="389316"/>
            <a:ext cx="10515600" cy="1325563"/>
          </a:xfrm>
        </p:spPr>
        <p:txBody>
          <a:bodyPr>
            <a:normAutofit fontScale="90000"/>
          </a:bodyPr>
          <a:lstStyle/>
          <a:p>
            <a:pPr algn="ctr"/>
            <a:r>
              <a:rPr lang="en-US" sz="5600">
                <a:solidFill>
                  <a:schemeClr val="bg1"/>
                </a:solidFill>
                <a:ea typeface="+mj-lt"/>
                <a:cs typeface="+mj-lt"/>
              </a:rPr>
              <a:t>Continuing Medical Education Financial Disclosure </a:t>
            </a:r>
            <a:endParaRPr lang="en-US">
              <a:solidFill>
                <a:schemeClr val="bg1"/>
              </a:solidFill>
            </a:endParaRPr>
          </a:p>
        </p:txBody>
      </p:sp>
      <p:sp>
        <p:nvSpPr>
          <p:cNvPr id="3" name="Content Placeholder 2">
            <a:extLst>
              <a:ext uri="{FF2B5EF4-FFF2-40B4-BE49-F238E27FC236}">
                <a16:creationId xmlns:a16="http://schemas.microsoft.com/office/drawing/2014/main" id="{D81E43C8-B81F-911F-DFA1-9067AA2E8A2B}"/>
              </a:ext>
            </a:extLst>
          </p:cNvPr>
          <p:cNvSpPr>
            <a:spLocks noGrp="1"/>
          </p:cNvSpPr>
          <p:nvPr>
            <p:ph idx="1"/>
          </p:nvPr>
        </p:nvSpPr>
        <p:spPr>
          <a:xfrm>
            <a:off x="838200" y="1905000"/>
            <a:ext cx="10515600" cy="2413000"/>
          </a:xfrm>
        </p:spPr>
        <p:txBody>
          <a:bodyPr vert="horz" lIns="91440" tIns="45720" rIns="91440" bIns="45720" rtlCol="0" anchor="t">
            <a:normAutofit/>
          </a:bodyPr>
          <a:lstStyle/>
          <a:p>
            <a:pPr marL="0" indent="0">
              <a:lnSpc>
                <a:spcPct val="130000"/>
              </a:lnSpc>
              <a:spcBef>
                <a:spcPts val="0"/>
              </a:spcBef>
              <a:spcAft>
                <a:spcPts val="900"/>
              </a:spcAft>
              <a:buNone/>
            </a:pPr>
            <a:r>
              <a:rPr lang="en-US" sz="1700" dirty="0">
                <a:solidFill>
                  <a:srgbClr val="C9D1DE"/>
                </a:solidFill>
                <a:latin typeface="Aptos"/>
              </a:rPr>
              <a:t>Amedco, our CME provider, asks that all individuals who have the ability to influence and/or control the content of this accredited activity disclose any/all relationships with ‎Ineligible Companies. </a:t>
            </a:r>
          </a:p>
          <a:p>
            <a:pPr marL="0" indent="0">
              <a:lnSpc>
                <a:spcPct val="130000"/>
              </a:lnSpc>
              <a:spcBef>
                <a:spcPts val="0"/>
              </a:spcBef>
              <a:spcAft>
                <a:spcPts val="0"/>
              </a:spcAft>
              <a:buNone/>
            </a:pPr>
            <a:r>
              <a:rPr lang="en-US" sz="1700" dirty="0">
                <a:solidFill>
                  <a:srgbClr val="C9D1DE"/>
                </a:solidFill>
                <a:latin typeface="Aptos"/>
              </a:rPr>
              <a:t>This information is disclosed to CME activity participants, and Amedco has procedures in place to resolve any apparent conflicts. In addition, presenters are asked to disclose when any discussion of unapproved use of pharmaceuticals and devices are being discussed. </a:t>
            </a:r>
          </a:p>
        </p:txBody>
      </p:sp>
      <p:sp>
        <p:nvSpPr>
          <p:cNvPr id="10" name="Disclosure statement"/>
          <p:cNvSpPr/>
          <p:nvPr/>
        </p:nvSpPr>
        <p:spPr>
          <a:xfrm>
            <a:off x="838200" y="4521200"/>
            <a:ext cx="10515600" cy="1117600"/>
          </a:xfrm>
          <a:prstGeom prst="rect">
            <a:avLst/>
          </a:prstGeom>
          <a:solidFill>
            <a:srgbClr val="FFFFFF">
              <a:alpha val="8000"/>
            </a:srgbClr>
          </a:solidFill>
          <a:ln w="15875">
            <a:solidFill>
              <a:srgbClr val="E97132"/>
            </a:solidFill>
          </a:ln>
        </p:spPr>
        <p:txBody>
          <a:bodyPr wrap="square" lIns="203200" tIns="101600" rIns="203200" bIns="101600" anchor="ctr">
            <a:noAutofit/>
          </a:bodyPr>
          <a:lstStyle/>
          <a:p>
            <a:pPr marL="0" indent="0">
              <a:lnSpc>
                <a:spcPct val="130000"/>
              </a:lnSpc>
              <a:spcBef>
                <a:spcPts val="0"/>
              </a:spcBef>
              <a:spcAft>
                <a:spcPts val="0"/>
              </a:spcAft>
              <a:buNone/>
            </a:pPr>
            <a:r>
              <a:rPr lang="en-US" sz="2000" dirty="0">
                <a:solidFill>
                  <a:srgbClr val="F2F2F2"/>
                </a:solidFill>
                <a:latin typeface="Aptos"/>
              </a:rPr>
              <a:t>In the past 24 months, I Tunde MasseyFerguson Ojo, have not had financial relationships with any ineligible companies. </a:t>
            </a:r>
          </a:p>
        </p:txBody>
      </p:sp>
    </p:spTree>
    <p:extLst>
      <p:ext uri="{BB962C8B-B14F-4D97-AF65-F5344CB8AC3E}">
        <p14:creationId xmlns:p14="http://schemas.microsoft.com/office/powerpoint/2010/main" val="2159832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Nigeria's Policy Moment</a:t>
            </a:r>
          </a:p>
        </p:txBody>
      </p:sp>
      <p:sp>
        <p:nvSpPr>
          <p:cNvPr id="10" name="Old law card"/>
          <p:cNvSpPr/>
          <p:nvPr/>
        </p:nvSpPr>
        <p:spPr>
          <a:xfrm>
            <a:off x="315784" y="1991497"/>
            <a:ext cx="3175000" cy="2413000"/>
          </a:xfrm>
          <a:prstGeom prst="rect">
            <a:avLst/>
          </a:prstGeom>
          <a:solidFill>
            <a:srgbClr val="FFFFFF">
              <a:alpha val="8000"/>
            </a:srgbClr>
          </a:solidFill>
          <a:ln w="9525">
            <a:solidFill>
              <a:srgbClr val="FFFFFF">
                <a:alpha val="20000"/>
              </a:srgbClr>
            </a:solidFill>
          </a:ln>
        </p:spPr>
        <p:txBody>
          <a:bodyPr wrap="square" lIns="177800" tIns="152400" rIns="177800" bIns="152400" anchor="ctr" anchorCtr="0">
            <a:noAutofit/>
          </a:bodyPr>
          <a:lstStyle/>
          <a:p>
            <a:pPr marL="0" indent="0" algn="l">
              <a:lnSpc>
                <a:spcPct val="130000"/>
              </a:lnSpc>
              <a:spcBef>
                <a:spcPts val="0"/>
              </a:spcBef>
              <a:spcAft>
                <a:spcPts val="0"/>
              </a:spcAft>
              <a:buNone/>
            </a:pPr>
            <a:r>
              <a:rPr lang="en-US" sz="2800" b="0" dirty="0">
                <a:solidFill>
                  <a:srgbClr val="B8C2D3"/>
                </a:solidFill>
              </a:rPr>
              <a:t>1958</a:t>
            </a:r>
          </a:p>
          <a:p>
            <a:pPr marL="0" indent="0" algn="l">
              <a:lnSpc>
                <a:spcPct val="130000"/>
              </a:lnSpc>
              <a:spcBef>
                <a:spcPts val="0"/>
              </a:spcBef>
              <a:spcAft>
                <a:spcPts val="400"/>
              </a:spcAft>
              <a:buNone/>
            </a:pPr>
            <a:r>
              <a:rPr lang="en-US" sz="2000" b="0" dirty="0">
                <a:solidFill>
                  <a:srgbClr val="F2F2F2"/>
                </a:solidFill>
              </a:rPr>
              <a:t>Lunacy Act</a:t>
            </a:r>
          </a:p>
          <a:p>
            <a:pPr marL="0" indent="0" algn="l">
              <a:lnSpc>
                <a:spcPct val="130000"/>
              </a:lnSpc>
              <a:spcBef>
                <a:spcPts val="0"/>
              </a:spcBef>
              <a:spcAft>
                <a:spcPts val="0"/>
              </a:spcAft>
              <a:buNone/>
            </a:pPr>
            <a:r>
              <a:rPr lang="en-US" sz="1600" b="0" dirty="0">
                <a:solidFill>
                  <a:srgbClr val="B8C2D3"/>
                </a:solidFill>
              </a:rPr>
              <a:t>Colonial, custodial law</a:t>
            </a:r>
          </a:p>
        </p:txBody>
      </p:sp>
      <p:sp>
        <p:nvSpPr>
          <p:cNvPr id="11" name="Arrow"/>
          <p:cNvSpPr/>
          <p:nvPr/>
        </p:nvSpPr>
        <p:spPr>
          <a:xfrm>
            <a:off x="3646616" y="2857500"/>
            <a:ext cx="635000" cy="508000"/>
          </a:xfrm>
          <a:prstGeom prst="rightArrow">
            <a:avLst/>
          </a:prstGeom>
          <a:solidFill>
            <a:srgbClr val="E97132"/>
          </a:solidFill>
          <a:ln>
            <a:noFill/>
          </a:ln>
        </p:spPr>
        <p:txBody>
          <a:bodyPr wrap="square" lIns="177800" tIns="152400" rIns="177800" bIns="152400" anchor="t">
            <a:noAutofit/>
          </a:bodyPr>
          <a:lstStyle/>
          <a:p>
            <a:endParaRPr lang="en-US" dirty="0"/>
          </a:p>
        </p:txBody>
      </p:sp>
      <p:sp>
        <p:nvSpPr>
          <p:cNvPr id="12" name="New law card"/>
          <p:cNvSpPr/>
          <p:nvPr/>
        </p:nvSpPr>
        <p:spPr>
          <a:xfrm>
            <a:off x="4437448" y="1904999"/>
            <a:ext cx="3648676" cy="2654643"/>
          </a:xfrm>
          <a:prstGeom prst="rect">
            <a:avLst/>
          </a:prstGeom>
          <a:solidFill>
            <a:srgbClr val="FFFFFF">
              <a:alpha val="8000"/>
            </a:srgbClr>
          </a:solidFill>
          <a:ln w="15875">
            <a:solidFill>
              <a:srgbClr val="E97132">
                <a:alpha val="100000"/>
              </a:srgbClr>
            </a:solidFill>
          </a:ln>
        </p:spPr>
        <p:txBody>
          <a:bodyPr wrap="square" lIns="177800" tIns="152400" rIns="177800" bIns="152400" anchor="t">
            <a:noAutofit/>
          </a:bodyPr>
          <a:lstStyle/>
          <a:p>
            <a:pPr marL="0" indent="0" algn="l">
              <a:lnSpc>
                <a:spcPct val="130000"/>
              </a:lnSpc>
              <a:spcBef>
                <a:spcPts val="0"/>
              </a:spcBef>
              <a:spcAft>
                <a:spcPts val="600"/>
              </a:spcAft>
              <a:buNone/>
            </a:pPr>
            <a:r>
              <a:rPr lang="en-US" sz="2800" b="0" dirty="0">
                <a:solidFill>
                  <a:srgbClr val="E97132"/>
                </a:solidFill>
              </a:rPr>
              <a:t>2021</a:t>
            </a:r>
            <a:r>
              <a:rPr lang="en-US" sz="2000" b="0" dirty="0">
                <a:solidFill>
                  <a:srgbClr val="F2F2F2"/>
                </a:solidFill>
              </a:rPr>
              <a:t>   Mental Health Act: rights-based framework</a:t>
            </a:r>
          </a:p>
          <a:p>
            <a:pPr marL="228600" indent="-228600" algn="l">
              <a:lnSpc>
                <a:spcPct val="130000"/>
              </a:lnSpc>
              <a:spcBef>
                <a:spcPts val="0"/>
              </a:spcBef>
              <a:spcAft>
                <a:spcPts val="200"/>
              </a:spcAft>
              <a:buClr>
                <a:srgbClr val="E97132"/>
              </a:buClr>
              <a:buFont typeface="Arial"/>
              <a:buChar char="•"/>
            </a:pPr>
            <a:r>
              <a:rPr lang="en-US" sz="1400" b="0" dirty="0">
                <a:solidFill>
                  <a:srgbClr val="F2F2F2"/>
                </a:solidFill>
              </a:rPr>
              <a:t>Mental health integrated into primary health care</a:t>
            </a:r>
          </a:p>
          <a:p>
            <a:pPr marL="228600" indent="-228600" algn="l">
              <a:lnSpc>
                <a:spcPct val="130000"/>
              </a:lnSpc>
              <a:spcBef>
                <a:spcPts val="0"/>
              </a:spcBef>
              <a:spcAft>
                <a:spcPts val="200"/>
              </a:spcAft>
              <a:buClr>
                <a:srgbClr val="E97132"/>
              </a:buClr>
              <a:buFont typeface="Arial"/>
              <a:buChar char="•"/>
            </a:pPr>
            <a:r>
              <a:rPr lang="en-US" sz="1400" b="0" dirty="0">
                <a:solidFill>
                  <a:srgbClr val="F2F2F2"/>
                </a:solidFill>
              </a:rPr>
              <a:t>Non-discrimination, consent, community-based care</a:t>
            </a:r>
          </a:p>
          <a:p>
            <a:pPr marL="228600" indent="-228600" algn="l">
              <a:lnSpc>
                <a:spcPct val="130000"/>
              </a:lnSpc>
              <a:spcBef>
                <a:spcPts val="0"/>
              </a:spcBef>
              <a:spcAft>
                <a:spcPts val="0"/>
              </a:spcAft>
              <a:buClr>
                <a:srgbClr val="E97132"/>
              </a:buClr>
              <a:buFont typeface="Arial"/>
              <a:buChar char="•"/>
            </a:pPr>
            <a:r>
              <a:rPr lang="en-US" sz="1400" b="0" dirty="0">
                <a:solidFill>
                  <a:srgbClr val="F2F2F2"/>
                </a:solidFill>
              </a:rPr>
              <a:t>Mental health fund / budget provision</a:t>
            </a:r>
          </a:p>
        </p:txBody>
      </p:sp>
      <p:sp>
        <p:nvSpPr>
          <p:cNvPr id="3" name="Arrow">
            <a:extLst>
              <a:ext uri="{FF2B5EF4-FFF2-40B4-BE49-F238E27FC236}">
                <a16:creationId xmlns:a16="http://schemas.microsoft.com/office/drawing/2014/main" id="{D1FE02C0-B5AA-6FB5-B991-35B8F93EB083}"/>
              </a:ext>
            </a:extLst>
          </p:cNvPr>
          <p:cNvSpPr/>
          <p:nvPr/>
        </p:nvSpPr>
        <p:spPr>
          <a:xfrm>
            <a:off x="8234405" y="2857500"/>
            <a:ext cx="635000" cy="508000"/>
          </a:xfrm>
          <a:prstGeom prst="rightArrow">
            <a:avLst/>
          </a:prstGeom>
          <a:solidFill>
            <a:srgbClr val="E97132"/>
          </a:solidFill>
          <a:ln>
            <a:noFill/>
          </a:ln>
        </p:spPr>
        <p:txBody>
          <a:bodyPr wrap="square" lIns="177800" tIns="152400" rIns="177800" bIns="152400" anchor="t">
            <a:noAutofit/>
          </a:bodyPr>
          <a:lstStyle/>
          <a:p>
            <a:endParaRPr lang="en-US" dirty="0"/>
          </a:p>
        </p:txBody>
      </p:sp>
    </p:spTree>
    <p:extLst>
      <p:ext uri="{BB962C8B-B14F-4D97-AF65-F5344CB8AC3E}">
        <p14:creationId xmlns:p14="http://schemas.microsoft.com/office/powerpoint/2010/main" val="629738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32D4D-FE14-7DD5-6FCE-6A9E8479925A}"/>
              </a:ext>
            </a:extLst>
          </p:cNvPr>
          <p:cNvSpPr>
            <a:spLocks noGrp="1"/>
          </p:cNvSpPr>
          <p:nvPr>
            <p:ph type="title"/>
          </p:nvPr>
        </p:nvSpPr>
        <p:spPr/>
        <p:txBody>
          <a:bodyPr/>
          <a:lstStyle/>
          <a:p>
            <a:r>
              <a:rPr lang="en-US" b="0" dirty="0"/>
              <a:t>What the Act Does Not Say</a:t>
            </a:r>
          </a:p>
        </p:txBody>
      </p:sp>
      <p:sp>
        <p:nvSpPr>
          <p:cNvPr id="9" name="Lead"/>
          <p:cNvSpPr/>
          <p:nvPr/>
        </p:nvSpPr>
        <p:spPr>
          <a:xfrm>
            <a:off x="838199" y="1760083"/>
            <a:ext cx="10515600" cy="381000"/>
          </a:xfrm>
          <a:prstGeom prst="rect">
            <a:avLst/>
          </a:prstGeom>
          <a:noFill/>
          <a:ln>
            <a:noFill/>
          </a:ln>
        </p:spPr>
        <p:txBody>
          <a:bodyPr wrap="square" lIns="0" tIns="0" rIns="0" bIns="0" anchor="ctr">
            <a:noAutofit/>
          </a:bodyPr>
          <a:lstStyle/>
          <a:p>
            <a:pPr marL="0" indent="0" algn="l">
              <a:lnSpc>
                <a:spcPct val="130000"/>
              </a:lnSpc>
              <a:spcBef>
                <a:spcPts val="0"/>
              </a:spcBef>
              <a:spcAft>
                <a:spcPts val="0"/>
              </a:spcAft>
              <a:buNone/>
            </a:pPr>
            <a:r>
              <a:rPr lang="en-US" sz="1800" b="0" dirty="0">
                <a:solidFill>
                  <a:srgbClr val="C9D1DE"/>
                </a:solidFill>
              </a:rPr>
              <a:t>The Act says what to build. It does not say:</a:t>
            </a:r>
          </a:p>
        </p:txBody>
      </p:sp>
      <p:sp>
        <p:nvSpPr>
          <p:cNvPr id="10" name="Question 1"/>
          <p:cNvSpPr/>
          <p:nvPr/>
        </p:nvSpPr>
        <p:spPr>
          <a:xfrm>
            <a:off x="838200" y="2336800"/>
            <a:ext cx="3369733" cy="1524000"/>
          </a:xfrm>
          <a:prstGeom prst="rect">
            <a:avLst/>
          </a:prstGeom>
          <a:solidFill>
            <a:srgbClr val="FFFFFF">
              <a:alpha val="8000"/>
            </a:srgbClr>
          </a:solidFill>
          <a:ln w="9525">
            <a:solidFill>
              <a:srgbClr val="FFFFFF">
                <a:alpha val="20000"/>
              </a:srgbClr>
            </a:solidFill>
          </a:ln>
        </p:spPr>
        <p:txBody>
          <a:bodyPr wrap="square" lIns="228600" tIns="203200" rIns="228600" bIns="203200" anchor="ctr">
            <a:noAutofit/>
          </a:bodyPr>
          <a:lstStyle/>
          <a:p>
            <a:pPr marL="0" indent="0" algn="l">
              <a:lnSpc>
                <a:spcPct val="130000"/>
              </a:lnSpc>
              <a:spcBef>
                <a:spcPts val="0"/>
              </a:spcBef>
              <a:spcAft>
                <a:spcPts val="200"/>
              </a:spcAft>
              <a:buNone/>
            </a:pPr>
            <a:r>
              <a:rPr lang="en-US" sz="2800" b="0" dirty="0">
                <a:solidFill>
                  <a:srgbClr val="E97132"/>
                </a:solidFill>
              </a:rPr>
              <a:t>How much</a:t>
            </a:r>
          </a:p>
          <a:p>
            <a:pPr marL="0" indent="0" algn="l">
              <a:lnSpc>
                <a:spcPct val="130000"/>
              </a:lnSpc>
              <a:spcBef>
                <a:spcPts val="0"/>
              </a:spcBef>
              <a:spcAft>
                <a:spcPts val="0"/>
              </a:spcAft>
              <a:buNone/>
            </a:pPr>
            <a:r>
              <a:rPr lang="en-US" sz="1800" b="0" dirty="0">
                <a:solidFill>
                  <a:srgbClr val="F2F2F2"/>
                </a:solidFill>
              </a:rPr>
              <a:t>need exists</a:t>
            </a:r>
          </a:p>
        </p:txBody>
      </p:sp>
      <p:sp>
        <p:nvSpPr>
          <p:cNvPr id="11" name="Question 2"/>
          <p:cNvSpPr/>
          <p:nvPr/>
        </p:nvSpPr>
        <p:spPr>
          <a:xfrm>
            <a:off x="4411133" y="2336800"/>
            <a:ext cx="3369733" cy="1524000"/>
          </a:xfrm>
          <a:prstGeom prst="rect">
            <a:avLst/>
          </a:prstGeom>
          <a:solidFill>
            <a:srgbClr val="FFFFFF">
              <a:alpha val="8000"/>
            </a:srgbClr>
          </a:solidFill>
          <a:ln w="9525">
            <a:solidFill>
              <a:srgbClr val="FFFFFF">
                <a:alpha val="20000"/>
              </a:srgbClr>
            </a:solidFill>
          </a:ln>
        </p:spPr>
        <p:txBody>
          <a:bodyPr wrap="square" lIns="228600" tIns="203200" rIns="228600" bIns="203200" anchor="ctr">
            <a:noAutofit/>
          </a:bodyPr>
          <a:lstStyle/>
          <a:p>
            <a:pPr marL="0" indent="0" algn="l">
              <a:lnSpc>
                <a:spcPct val="130000"/>
              </a:lnSpc>
              <a:spcBef>
                <a:spcPts val="0"/>
              </a:spcBef>
              <a:spcAft>
                <a:spcPts val="200"/>
              </a:spcAft>
              <a:buNone/>
            </a:pPr>
            <a:r>
              <a:rPr lang="en-US" sz="2800" b="0" dirty="0">
                <a:solidFill>
                  <a:srgbClr val="E97132"/>
                </a:solidFill>
              </a:rPr>
              <a:t>Where</a:t>
            </a:r>
          </a:p>
          <a:p>
            <a:pPr marL="0" indent="0" algn="l">
              <a:lnSpc>
                <a:spcPct val="130000"/>
              </a:lnSpc>
              <a:spcBef>
                <a:spcPts val="0"/>
              </a:spcBef>
              <a:spcAft>
                <a:spcPts val="0"/>
              </a:spcAft>
              <a:buNone/>
            </a:pPr>
            <a:r>
              <a:rPr lang="en-US" sz="1800" b="0" dirty="0">
                <a:solidFill>
                  <a:srgbClr val="F2F2F2"/>
                </a:solidFill>
              </a:rPr>
              <a:t>it concentrates</a:t>
            </a:r>
          </a:p>
        </p:txBody>
      </p:sp>
      <p:sp>
        <p:nvSpPr>
          <p:cNvPr id="12" name="Question 3"/>
          <p:cNvSpPr/>
          <p:nvPr/>
        </p:nvSpPr>
        <p:spPr>
          <a:xfrm>
            <a:off x="7984067" y="2336800"/>
            <a:ext cx="3369733" cy="1524000"/>
          </a:xfrm>
          <a:prstGeom prst="rect">
            <a:avLst/>
          </a:prstGeom>
          <a:solidFill>
            <a:srgbClr val="FFFFFF">
              <a:alpha val="8000"/>
            </a:srgbClr>
          </a:solidFill>
          <a:ln w="9525">
            <a:solidFill>
              <a:srgbClr val="FFFFFF">
                <a:alpha val="20000"/>
              </a:srgbClr>
            </a:solidFill>
          </a:ln>
        </p:spPr>
        <p:txBody>
          <a:bodyPr wrap="square" lIns="228600" tIns="203200" rIns="228600" bIns="203200" anchor="ctr">
            <a:noAutofit/>
          </a:bodyPr>
          <a:lstStyle/>
          <a:p>
            <a:pPr marL="0" indent="0" algn="l">
              <a:lnSpc>
                <a:spcPct val="130000"/>
              </a:lnSpc>
              <a:spcBef>
                <a:spcPts val="0"/>
              </a:spcBef>
              <a:spcAft>
                <a:spcPts val="200"/>
              </a:spcAft>
              <a:buNone/>
            </a:pPr>
            <a:r>
              <a:rPr lang="en-US" sz="2800" b="0" dirty="0">
                <a:solidFill>
                  <a:srgbClr val="E97132"/>
                </a:solidFill>
              </a:rPr>
              <a:t>Which services</a:t>
            </a:r>
          </a:p>
          <a:p>
            <a:pPr marL="0" indent="0" algn="l">
              <a:lnSpc>
                <a:spcPct val="130000"/>
              </a:lnSpc>
              <a:spcBef>
                <a:spcPts val="0"/>
              </a:spcBef>
              <a:spcAft>
                <a:spcPts val="0"/>
              </a:spcAft>
              <a:buNone/>
            </a:pPr>
            <a:r>
              <a:rPr lang="en-US" sz="1800" b="0" dirty="0">
                <a:solidFill>
                  <a:srgbClr val="F2F2F2"/>
                </a:solidFill>
              </a:rPr>
              <a:t>go where</a:t>
            </a:r>
          </a:p>
        </p:txBody>
      </p:sp>
    </p:spTree>
    <p:extLst>
      <p:ext uri="{BB962C8B-B14F-4D97-AF65-F5344CB8AC3E}">
        <p14:creationId xmlns:p14="http://schemas.microsoft.com/office/powerpoint/2010/main" val="3770397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the Ministry Co-Owned the Research</a:t>
            </a:r>
          </a:p>
        </p:txBody>
      </p:sp>
      <p:sp>
        <p:nvSpPr>
          <p:cNvPr id="10" name="Card 1"/>
          <p:cNvSpPr/>
          <p:nvPr/>
        </p:nvSpPr>
        <p:spPr>
          <a:xfrm>
            <a:off x="838200" y="2286000"/>
            <a:ext cx="2476500" cy="2590800"/>
          </a:xfrm>
          <a:prstGeom prst="rect">
            <a:avLst/>
          </a:prstGeom>
          <a:solidFill>
            <a:srgbClr val="FFFFFF">
              <a:alpha val="8000"/>
            </a:srgbClr>
          </a:solidFill>
          <a:ln w="9525">
            <a:solidFill>
              <a:srgbClr val="FFFFFF">
                <a:alpha val="20000"/>
              </a:srgbClr>
            </a:solidFill>
          </a:ln>
        </p:spPr>
        <p:txBody>
          <a:bodyPr wrap="square" lIns="177800" tIns="838200" rIns="177800" bIns="152400" anchor="t">
            <a:noAutofit/>
          </a:bodyPr>
          <a:lstStyle/>
          <a:p>
            <a:pPr marL="0" indent="0">
              <a:lnSpc>
                <a:spcPct val="130000"/>
              </a:lnSpc>
              <a:spcBef>
                <a:spcPts val="0"/>
              </a:spcBef>
              <a:spcAft>
                <a:spcPts val="0"/>
              </a:spcAft>
              <a:buNone/>
            </a:pPr>
            <a:r>
              <a:rPr lang="en-US" sz="1800" b="0" dirty="0">
                <a:solidFill>
                  <a:srgbClr val="F2F2F2"/>
                </a:solidFill>
              </a:rPr>
              <a:t>No context specific validated screening tools</a:t>
            </a:r>
          </a:p>
          <a:p>
            <a:pPr marL="0" indent="0">
              <a:lnSpc>
                <a:spcPct val="130000"/>
              </a:lnSpc>
              <a:spcBef>
                <a:spcPts val="0"/>
              </a:spcBef>
              <a:spcAft>
                <a:spcPts val="0"/>
              </a:spcAft>
              <a:buNone/>
            </a:pPr>
            <a:endParaRPr lang="en-US" sz="1800" b="0" dirty="0">
              <a:solidFill>
                <a:srgbClr val="F2F2F2"/>
              </a:solidFill>
            </a:endParaRPr>
          </a:p>
        </p:txBody>
      </p:sp>
      <p:sp>
        <p:nvSpPr>
          <p:cNvPr id="11" name="Card 2"/>
          <p:cNvSpPr/>
          <p:nvPr/>
        </p:nvSpPr>
        <p:spPr>
          <a:xfrm>
            <a:off x="3517900" y="2286000"/>
            <a:ext cx="2476500" cy="2590800"/>
          </a:xfrm>
          <a:prstGeom prst="rect">
            <a:avLst/>
          </a:prstGeom>
          <a:solidFill>
            <a:srgbClr val="FFFFFF">
              <a:alpha val="8000"/>
            </a:srgbClr>
          </a:solidFill>
          <a:ln w="9525">
            <a:solidFill>
              <a:srgbClr val="FFFFFF">
                <a:alpha val="20000"/>
              </a:srgbClr>
            </a:solidFill>
          </a:ln>
        </p:spPr>
        <p:txBody>
          <a:bodyPr wrap="square" lIns="177800" tIns="838200" rIns="177800" bIns="152400" anchor="t">
            <a:noAutofit/>
          </a:bodyPr>
          <a:lstStyle/>
          <a:p>
            <a:pPr marL="0" indent="0">
              <a:lnSpc>
                <a:spcPct val="130000"/>
              </a:lnSpc>
              <a:spcBef>
                <a:spcPts val="0"/>
              </a:spcBef>
              <a:spcAft>
                <a:spcPts val="0"/>
              </a:spcAft>
              <a:buNone/>
            </a:pPr>
            <a:r>
              <a:rPr lang="en-US" sz="1800" b="0" dirty="0">
                <a:solidFill>
                  <a:srgbClr val="F2F2F2"/>
                </a:solidFill>
              </a:rPr>
              <a:t>No burden estimates</a:t>
            </a:r>
          </a:p>
        </p:txBody>
      </p:sp>
      <p:sp>
        <p:nvSpPr>
          <p:cNvPr id="12" name="Card 3"/>
          <p:cNvSpPr/>
          <p:nvPr/>
        </p:nvSpPr>
        <p:spPr>
          <a:xfrm>
            <a:off x="6197600" y="2286000"/>
            <a:ext cx="2476500" cy="2590800"/>
          </a:xfrm>
          <a:prstGeom prst="rect">
            <a:avLst/>
          </a:prstGeom>
          <a:solidFill>
            <a:srgbClr val="FFFFFF">
              <a:alpha val="8000"/>
            </a:srgbClr>
          </a:solidFill>
          <a:ln w="9525">
            <a:solidFill>
              <a:srgbClr val="FFFFFF">
                <a:alpha val="20000"/>
              </a:srgbClr>
            </a:solidFill>
          </a:ln>
        </p:spPr>
        <p:txBody>
          <a:bodyPr wrap="square" lIns="177800" tIns="838200" rIns="177800" bIns="152400" anchor="t">
            <a:noAutofit/>
          </a:bodyPr>
          <a:lstStyle/>
          <a:p>
            <a:pPr marL="0" indent="0">
              <a:lnSpc>
                <a:spcPct val="130000"/>
              </a:lnSpc>
              <a:spcBef>
                <a:spcPts val="0"/>
              </a:spcBef>
              <a:spcAft>
                <a:spcPts val="0"/>
              </a:spcAft>
              <a:buNone/>
            </a:pPr>
            <a:r>
              <a:rPr lang="en-US" sz="1800" b="0" dirty="0">
                <a:solidFill>
                  <a:srgbClr val="F2F2F2"/>
                </a:solidFill>
              </a:rPr>
              <a:t>No evidence on drivers</a:t>
            </a:r>
          </a:p>
        </p:txBody>
      </p:sp>
      <p:sp>
        <p:nvSpPr>
          <p:cNvPr id="13" name="Card 4"/>
          <p:cNvSpPr/>
          <p:nvPr/>
        </p:nvSpPr>
        <p:spPr>
          <a:xfrm>
            <a:off x="8877300" y="2286000"/>
            <a:ext cx="2476500" cy="2590800"/>
          </a:xfrm>
          <a:prstGeom prst="rect">
            <a:avLst/>
          </a:prstGeom>
          <a:solidFill>
            <a:srgbClr val="FFFFFF">
              <a:alpha val="8000"/>
            </a:srgbClr>
          </a:solidFill>
          <a:ln w="9525">
            <a:solidFill>
              <a:srgbClr val="FFFFFF">
                <a:alpha val="20000"/>
              </a:srgbClr>
            </a:solidFill>
          </a:ln>
        </p:spPr>
        <p:txBody>
          <a:bodyPr wrap="square" lIns="177800" tIns="838200" rIns="177800" bIns="152400" anchor="t">
            <a:noAutofit/>
          </a:bodyPr>
          <a:lstStyle/>
          <a:p>
            <a:pPr marL="0" indent="0">
              <a:lnSpc>
                <a:spcPct val="130000"/>
              </a:lnSpc>
              <a:spcBef>
                <a:spcPts val="0"/>
              </a:spcBef>
              <a:spcAft>
                <a:spcPts val="0"/>
              </a:spcAft>
              <a:buNone/>
            </a:pPr>
            <a:r>
              <a:rPr lang="en-US" sz="1800" b="0" dirty="0">
                <a:solidFill>
                  <a:srgbClr val="F2F2F2"/>
                </a:solidFill>
              </a:rPr>
              <a:t>No guide to match services to need</a:t>
            </a:r>
          </a:p>
        </p:txBody>
      </p:sp>
      <p:pic>
        <p:nvPicPr>
          <p:cNvPr id="22" name="Graphic 22" descr="Screening checklis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6000" y="2438400"/>
            <a:ext cx="508000" cy="508000"/>
          </a:xfrm>
          <a:prstGeom prst="rect">
            <a:avLst/>
          </a:prstGeom>
        </p:spPr>
      </p:pic>
      <p:pic>
        <p:nvPicPr>
          <p:cNvPr id="23" name="Graphic 23" descr="Ma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95700" y="2438400"/>
            <a:ext cx="508000" cy="508000"/>
          </a:xfrm>
          <a:prstGeom prst="rect">
            <a:avLst/>
          </a:prstGeom>
        </p:spPr>
      </p:pic>
      <p:pic>
        <p:nvPicPr>
          <p:cNvPr id="24" name="Graphic 24" descr="Question mark"/>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5400" y="2438400"/>
            <a:ext cx="508000" cy="508000"/>
          </a:xfrm>
          <a:prstGeom prst="rect">
            <a:avLst/>
          </a:prstGeom>
        </p:spPr>
      </p:pic>
      <p:pic>
        <p:nvPicPr>
          <p:cNvPr id="25" name="Graphic 25" descr="Stethoscope"/>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55100" y="2438400"/>
            <a:ext cx="508000" cy="508000"/>
          </a:xfrm>
          <a:prstGeom prst="rect">
            <a:avLst/>
          </a:prstGeom>
        </p:spPr>
      </p:pic>
      <p:sp>
        <p:nvSpPr>
          <p:cNvPr id="40" name="Card body 1"/>
          <p:cNvSpPr/>
          <p:nvPr/>
        </p:nvSpPr>
        <p:spPr>
          <a:xfrm>
            <a:off x="838200" y="4201984"/>
            <a:ext cx="2476500" cy="660400"/>
          </a:xfrm>
          <a:prstGeom prst="rect">
            <a:avLst/>
          </a:prstGeom>
          <a:noFill/>
          <a:ln>
            <a:noFill/>
          </a:ln>
        </p:spPr>
        <p:txBody>
          <a:bodyPr wrap="square" lIns="177800" tIns="0" rIns="177800" bIns="0" anchor="t">
            <a:noAutofit/>
          </a:bodyPr>
          <a:lstStyle/>
          <a:p>
            <a:pPr marL="0" indent="0">
              <a:lnSpc>
                <a:spcPct val="130000"/>
              </a:lnSpc>
              <a:spcBef>
                <a:spcPts val="0"/>
              </a:spcBef>
              <a:spcAft>
                <a:spcPts val="0"/>
              </a:spcAft>
              <a:buNone/>
            </a:pPr>
            <a:r>
              <a:rPr lang="en-US" sz="1500" b="0" dirty="0">
                <a:solidFill>
                  <a:srgbClr val="B8C2D3"/>
                </a:solidFill>
              </a:rPr>
              <a:t>No defensible case definitions for planning</a:t>
            </a:r>
          </a:p>
        </p:txBody>
      </p:sp>
      <p:sp>
        <p:nvSpPr>
          <p:cNvPr id="41" name="Card body 2"/>
          <p:cNvSpPr/>
          <p:nvPr/>
        </p:nvSpPr>
        <p:spPr>
          <a:xfrm>
            <a:off x="3517900" y="4201984"/>
            <a:ext cx="2476500" cy="660400"/>
          </a:xfrm>
          <a:prstGeom prst="rect">
            <a:avLst/>
          </a:prstGeom>
          <a:noFill/>
          <a:ln>
            <a:noFill/>
          </a:ln>
        </p:spPr>
        <p:txBody>
          <a:bodyPr wrap="square" lIns="177800" tIns="0" rIns="177800" bIns="0" anchor="t">
            <a:noAutofit/>
          </a:bodyPr>
          <a:lstStyle/>
          <a:p>
            <a:pPr marL="0" indent="0">
              <a:lnSpc>
                <a:spcPct val="130000"/>
              </a:lnSpc>
              <a:spcBef>
                <a:spcPts val="0"/>
              </a:spcBef>
              <a:spcAft>
                <a:spcPts val="0"/>
              </a:spcAft>
              <a:buNone/>
            </a:pPr>
            <a:r>
              <a:rPr lang="en-US" sz="1500" b="0" dirty="0">
                <a:solidFill>
                  <a:srgbClr val="B8C2D3"/>
                </a:solidFill>
              </a:rPr>
              <a:t>No basis for allocating resources across states</a:t>
            </a:r>
          </a:p>
        </p:txBody>
      </p:sp>
      <p:sp>
        <p:nvSpPr>
          <p:cNvPr id="42" name="Card body 3"/>
          <p:cNvSpPr/>
          <p:nvPr/>
        </p:nvSpPr>
        <p:spPr>
          <a:xfrm>
            <a:off x="6197600" y="4201984"/>
            <a:ext cx="2476500" cy="660400"/>
          </a:xfrm>
          <a:prstGeom prst="rect">
            <a:avLst/>
          </a:prstGeom>
          <a:noFill/>
          <a:ln>
            <a:noFill/>
          </a:ln>
        </p:spPr>
        <p:txBody>
          <a:bodyPr wrap="square" lIns="177800" tIns="0" rIns="177800" bIns="0" anchor="t">
            <a:noAutofit/>
          </a:bodyPr>
          <a:lstStyle/>
          <a:p>
            <a:pPr marL="0" indent="0">
              <a:lnSpc>
                <a:spcPct val="130000"/>
              </a:lnSpc>
              <a:spcBef>
                <a:spcPts val="0"/>
              </a:spcBef>
              <a:spcAft>
                <a:spcPts val="0"/>
              </a:spcAft>
              <a:buNone/>
            </a:pPr>
            <a:r>
              <a:rPr lang="en-US" sz="1500" b="0" dirty="0">
                <a:solidFill>
                  <a:srgbClr val="B8C2D3"/>
                </a:solidFill>
              </a:rPr>
              <a:t>Trauma, displacement conditions, or both?</a:t>
            </a:r>
          </a:p>
        </p:txBody>
      </p:sp>
      <p:sp>
        <p:nvSpPr>
          <p:cNvPr id="43" name="Card body 4"/>
          <p:cNvSpPr/>
          <p:nvPr/>
        </p:nvSpPr>
        <p:spPr>
          <a:xfrm>
            <a:off x="8877300" y="4201984"/>
            <a:ext cx="2476500" cy="660400"/>
          </a:xfrm>
          <a:prstGeom prst="rect">
            <a:avLst/>
          </a:prstGeom>
          <a:noFill/>
          <a:ln>
            <a:noFill/>
          </a:ln>
        </p:spPr>
        <p:txBody>
          <a:bodyPr wrap="square" lIns="177800" tIns="0" rIns="177800" bIns="0" anchor="t">
            <a:noAutofit/>
          </a:bodyPr>
          <a:lstStyle/>
          <a:p>
            <a:pPr marL="0" indent="0">
              <a:lnSpc>
                <a:spcPct val="130000"/>
              </a:lnSpc>
              <a:spcBef>
                <a:spcPts val="0"/>
              </a:spcBef>
              <a:spcAft>
                <a:spcPts val="0"/>
              </a:spcAft>
              <a:buNone/>
            </a:pPr>
            <a:r>
              <a:rPr lang="en-US" sz="1500" b="0" dirty="0">
                <a:solidFill>
                  <a:srgbClr val="B8C2D3"/>
                </a:solidFill>
              </a:rPr>
              <a:t>~250 psychiatrists for 200+ million people</a:t>
            </a:r>
          </a:p>
        </p:txBody>
      </p:sp>
    </p:spTree>
    <p:extLst>
      <p:ext uri="{BB962C8B-B14F-4D97-AF65-F5344CB8AC3E}">
        <p14:creationId xmlns:p14="http://schemas.microsoft.com/office/powerpoint/2010/main" val="3706637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Evidence Now Says — Four Findings</a:t>
            </a:r>
          </a:p>
        </p:txBody>
      </p:sp>
      <p:sp>
        <p:nvSpPr>
          <p:cNvPr id="10" name="Finding 1"/>
          <p:cNvSpPr/>
          <p:nvPr/>
        </p:nvSpPr>
        <p:spPr>
          <a:xfrm>
            <a:off x="838200" y="1854200"/>
            <a:ext cx="2476500" cy="3810000"/>
          </a:xfrm>
          <a:prstGeom prst="rect">
            <a:avLst/>
          </a:prstGeom>
          <a:solidFill>
            <a:srgbClr val="FFFFFF">
              <a:alpha val="8000"/>
            </a:srgbClr>
          </a:solidFill>
          <a:ln w="9525">
            <a:solidFill>
              <a:srgbClr val="FFFFFF">
                <a:alpha val="20000"/>
              </a:srgbClr>
            </a:solidFill>
          </a:ln>
        </p:spPr>
        <p:txBody>
          <a:bodyPr wrap="square" lIns="177800" tIns="0" rIns="152400" bIns="0" anchor="t">
            <a:noAutofit/>
          </a:bodyPr>
          <a:lstStyle/>
          <a:p>
            <a:endParaRPr lang="en-US" dirty="0"/>
          </a:p>
        </p:txBody>
      </p:sp>
      <p:sp>
        <p:nvSpPr>
          <p:cNvPr id="20" name="Stat 1"/>
          <p:cNvSpPr/>
          <p:nvPr/>
        </p:nvSpPr>
        <p:spPr>
          <a:xfrm>
            <a:off x="838200" y="2032000"/>
            <a:ext cx="2476500" cy="635000"/>
          </a:xfrm>
          <a:prstGeom prst="rect">
            <a:avLst/>
          </a:prstGeom>
          <a:noFill/>
          <a:ln>
            <a:noFill/>
          </a:ln>
        </p:spPr>
        <p:txBody>
          <a:bodyPr wrap="square" lIns="177800" tIns="0" rIns="152400" bIns="0" anchor="ctr">
            <a:noAutofit/>
          </a:bodyPr>
          <a:lstStyle/>
          <a:p>
            <a:pPr marL="0" indent="0">
              <a:lnSpc>
                <a:spcPct val="100000"/>
              </a:lnSpc>
              <a:spcBef>
                <a:spcPts val="0"/>
              </a:spcBef>
              <a:spcAft>
                <a:spcPts val="0"/>
              </a:spcAft>
              <a:buNone/>
            </a:pPr>
            <a:r>
              <a:rPr lang="en-US" sz="3600" b="0" dirty="0">
                <a:solidFill>
                  <a:srgbClr val="E97132"/>
                </a:solidFill>
              </a:rPr>
              <a:t>38</a:t>
            </a:r>
          </a:p>
        </p:txBody>
      </p:sp>
      <p:sp>
        <p:nvSpPr>
          <p:cNvPr id="30" name="Stat label 1"/>
          <p:cNvSpPr/>
          <p:nvPr/>
        </p:nvSpPr>
        <p:spPr>
          <a:xfrm>
            <a:off x="838200" y="2692400"/>
            <a:ext cx="2476500" cy="584200"/>
          </a:xfrm>
          <a:prstGeom prst="rect">
            <a:avLst/>
          </a:prstGeom>
          <a:noFill/>
          <a:ln>
            <a:noFill/>
          </a:ln>
        </p:spPr>
        <p:txBody>
          <a:bodyPr wrap="square" lIns="177800" tIns="0" rIns="152400" bIns="0" anchor="t">
            <a:noAutofit/>
          </a:bodyPr>
          <a:lstStyle/>
          <a:p>
            <a:pPr marL="0" indent="0">
              <a:lnSpc>
                <a:spcPct val="115000"/>
              </a:lnSpc>
              <a:spcBef>
                <a:spcPts val="0"/>
              </a:spcBef>
              <a:spcAft>
                <a:spcPts val="0"/>
              </a:spcAft>
              <a:buNone/>
            </a:pPr>
            <a:r>
              <a:rPr lang="en-US" sz="1400" b="0" dirty="0">
                <a:solidFill>
                  <a:srgbClr val="B8C2D3"/>
                </a:solidFill>
              </a:rPr>
              <a:t>PCL-5 cut-point, vs. 33 internationally</a:t>
            </a:r>
          </a:p>
        </p:txBody>
      </p:sp>
      <p:sp>
        <p:nvSpPr>
          <p:cNvPr id="40" name="Finding head 1"/>
          <p:cNvSpPr/>
          <p:nvPr/>
        </p:nvSpPr>
        <p:spPr>
          <a:xfrm>
            <a:off x="838200" y="3429000"/>
            <a:ext cx="2476500" cy="762000"/>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700" b="0" dirty="0">
                <a:solidFill>
                  <a:srgbClr val="F2F2F2"/>
                </a:solidFill>
              </a:rPr>
              <a:t>Local calibration works</a:t>
            </a:r>
          </a:p>
        </p:txBody>
      </p:sp>
      <p:sp>
        <p:nvSpPr>
          <p:cNvPr id="50" name="Finding detail 1"/>
          <p:cNvSpPr/>
          <p:nvPr/>
        </p:nvSpPr>
        <p:spPr>
          <a:xfrm>
            <a:off x="838200" y="4318000"/>
            <a:ext cx="2476500" cy="1219200"/>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500" b="0" dirty="0">
                <a:solidFill>
                  <a:srgbClr val="B8C2D3"/>
                </a:solidFill>
              </a:rPr>
              <a:t>Validated against psychiatrist interview</a:t>
            </a:r>
          </a:p>
        </p:txBody>
      </p:sp>
      <p:sp>
        <p:nvSpPr>
          <p:cNvPr id="11" name="Finding 2"/>
          <p:cNvSpPr/>
          <p:nvPr/>
        </p:nvSpPr>
        <p:spPr>
          <a:xfrm>
            <a:off x="3517900" y="1854200"/>
            <a:ext cx="2476500" cy="3810000"/>
          </a:xfrm>
          <a:prstGeom prst="rect">
            <a:avLst/>
          </a:prstGeom>
          <a:solidFill>
            <a:srgbClr val="FFFFFF">
              <a:alpha val="8000"/>
            </a:srgbClr>
          </a:solidFill>
          <a:ln w="9525">
            <a:solidFill>
              <a:srgbClr val="FFFFFF">
                <a:alpha val="20000"/>
              </a:srgbClr>
            </a:solidFill>
          </a:ln>
        </p:spPr>
        <p:txBody>
          <a:bodyPr wrap="square" lIns="177800" tIns="0" rIns="152400" bIns="0" anchor="t">
            <a:noAutofit/>
          </a:bodyPr>
          <a:lstStyle/>
          <a:p>
            <a:endParaRPr lang="en-US" dirty="0"/>
          </a:p>
        </p:txBody>
      </p:sp>
      <p:sp>
        <p:nvSpPr>
          <p:cNvPr id="21" name="Stat 2"/>
          <p:cNvSpPr/>
          <p:nvPr/>
        </p:nvSpPr>
        <p:spPr>
          <a:xfrm>
            <a:off x="3517900" y="2032000"/>
            <a:ext cx="2476500" cy="635000"/>
          </a:xfrm>
          <a:prstGeom prst="rect">
            <a:avLst/>
          </a:prstGeom>
          <a:noFill/>
          <a:ln>
            <a:noFill/>
          </a:ln>
        </p:spPr>
        <p:txBody>
          <a:bodyPr wrap="square" lIns="177800" tIns="0" rIns="152400" bIns="0" anchor="ctr">
            <a:noAutofit/>
          </a:bodyPr>
          <a:lstStyle/>
          <a:p>
            <a:pPr marL="0" indent="0">
              <a:lnSpc>
                <a:spcPct val="100000"/>
              </a:lnSpc>
              <a:spcBef>
                <a:spcPts val="0"/>
              </a:spcBef>
              <a:spcAft>
                <a:spcPts val="0"/>
              </a:spcAft>
              <a:buNone/>
            </a:pPr>
            <a:r>
              <a:rPr lang="en-US" sz="3600" b="0" dirty="0">
                <a:solidFill>
                  <a:srgbClr val="E97132"/>
                </a:solidFill>
              </a:rPr>
              <a:t>≥ 1 in 5</a:t>
            </a:r>
          </a:p>
        </p:txBody>
      </p:sp>
      <p:sp>
        <p:nvSpPr>
          <p:cNvPr id="31" name="Stat label 2"/>
          <p:cNvSpPr/>
          <p:nvPr/>
        </p:nvSpPr>
        <p:spPr>
          <a:xfrm>
            <a:off x="3517900" y="2692400"/>
            <a:ext cx="2476500" cy="584200"/>
          </a:xfrm>
          <a:prstGeom prst="rect">
            <a:avLst/>
          </a:prstGeom>
          <a:noFill/>
          <a:ln>
            <a:noFill/>
          </a:ln>
        </p:spPr>
        <p:txBody>
          <a:bodyPr wrap="square" lIns="177800" tIns="0" rIns="152400" bIns="0" anchor="t">
            <a:noAutofit/>
          </a:bodyPr>
          <a:lstStyle/>
          <a:p>
            <a:pPr marL="0" indent="0">
              <a:lnSpc>
                <a:spcPct val="115000"/>
              </a:lnSpc>
              <a:spcBef>
                <a:spcPts val="0"/>
              </a:spcBef>
              <a:spcAft>
                <a:spcPts val="0"/>
              </a:spcAft>
              <a:buNone/>
            </a:pPr>
            <a:r>
              <a:rPr lang="en-US" sz="1400" b="0" dirty="0">
                <a:solidFill>
                  <a:srgbClr val="B8C2D3"/>
                </a:solidFill>
              </a:rPr>
              <a:t>adults with each condition; 30.4% with at least one</a:t>
            </a:r>
          </a:p>
        </p:txBody>
      </p:sp>
      <p:sp>
        <p:nvSpPr>
          <p:cNvPr id="41" name="Finding head 2"/>
          <p:cNvSpPr/>
          <p:nvPr/>
        </p:nvSpPr>
        <p:spPr>
          <a:xfrm>
            <a:off x="3517900" y="3429000"/>
            <a:ext cx="2476500" cy="762000"/>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700" b="0" dirty="0">
                <a:solidFill>
                  <a:srgbClr val="F2F2F2"/>
                </a:solidFill>
              </a:rPr>
              <a:t>The burden is large and uneven</a:t>
            </a:r>
          </a:p>
        </p:txBody>
      </p:sp>
      <p:sp>
        <p:nvSpPr>
          <p:cNvPr id="51" name="Finding detail 2"/>
          <p:cNvSpPr/>
          <p:nvPr/>
        </p:nvSpPr>
        <p:spPr>
          <a:xfrm>
            <a:off x="3517900" y="4318000"/>
            <a:ext cx="2476500" cy="1044832"/>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500" b="0" dirty="0">
                <a:solidFill>
                  <a:srgbClr val="B8C2D3"/>
                </a:solidFill>
              </a:rPr>
              <a:t>28-fold variation across states; clusters by community</a:t>
            </a:r>
          </a:p>
        </p:txBody>
      </p:sp>
      <p:sp>
        <p:nvSpPr>
          <p:cNvPr id="12" name="Finding 3"/>
          <p:cNvSpPr/>
          <p:nvPr/>
        </p:nvSpPr>
        <p:spPr>
          <a:xfrm>
            <a:off x="6197600" y="1854200"/>
            <a:ext cx="2476500" cy="3810000"/>
          </a:xfrm>
          <a:prstGeom prst="rect">
            <a:avLst/>
          </a:prstGeom>
          <a:solidFill>
            <a:srgbClr val="FFFFFF">
              <a:alpha val="8000"/>
            </a:srgbClr>
          </a:solidFill>
          <a:ln w="9525">
            <a:solidFill>
              <a:srgbClr val="FFFFFF">
                <a:alpha val="20000"/>
              </a:srgbClr>
            </a:solidFill>
          </a:ln>
        </p:spPr>
        <p:txBody>
          <a:bodyPr wrap="square" lIns="177800" tIns="0" rIns="152400" bIns="0" anchor="t">
            <a:noAutofit/>
          </a:bodyPr>
          <a:lstStyle/>
          <a:p>
            <a:endParaRPr lang="en-US" dirty="0"/>
          </a:p>
        </p:txBody>
      </p:sp>
      <p:sp>
        <p:nvSpPr>
          <p:cNvPr id="22" name="Stat 3"/>
          <p:cNvSpPr/>
          <p:nvPr/>
        </p:nvSpPr>
        <p:spPr>
          <a:xfrm>
            <a:off x="6197600" y="2032000"/>
            <a:ext cx="2476500" cy="635000"/>
          </a:xfrm>
          <a:prstGeom prst="rect">
            <a:avLst/>
          </a:prstGeom>
          <a:noFill/>
          <a:ln>
            <a:noFill/>
          </a:ln>
        </p:spPr>
        <p:txBody>
          <a:bodyPr wrap="square" lIns="177800" tIns="0" rIns="152400" bIns="0" anchor="ctr">
            <a:noAutofit/>
          </a:bodyPr>
          <a:lstStyle/>
          <a:p>
            <a:pPr marL="0" indent="0">
              <a:lnSpc>
                <a:spcPct val="100000"/>
              </a:lnSpc>
              <a:spcBef>
                <a:spcPts val="0"/>
              </a:spcBef>
              <a:spcAft>
                <a:spcPts val="0"/>
              </a:spcAft>
              <a:buNone/>
            </a:pPr>
            <a:r>
              <a:rPr lang="en-US" sz="3600" b="0" dirty="0">
                <a:solidFill>
                  <a:srgbClr val="E97132"/>
                </a:solidFill>
              </a:rPr>
              <a:t>1.9–2.9×</a:t>
            </a:r>
          </a:p>
        </p:txBody>
      </p:sp>
      <p:sp>
        <p:nvSpPr>
          <p:cNvPr id="32" name="Stat label 3"/>
          <p:cNvSpPr/>
          <p:nvPr/>
        </p:nvSpPr>
        <p:spPr>
          <a:xfrm>
            <a:off x="6197600" y="2692400"/>
            <a:ext cx="2476500" cy="584200"/>
          </a:xfrm>
          <a:prstGeom prst="rect">
            <a:avLst/>
          </a:prstGeom>
          <a:noFill/>
          <a:ln>
            <a:noFill/>
          </a:ln>
        </p:spPr>
        <p:txBody>
          <a:bodyPr wrap="square" lIns="177800" tIns="0" rIns="152400" bIns="0" anchor="t">
            <a:noAutofit/>
          </a:bodyPr>
          <a:lstStyle/>
          <a:p>
            <a:pPr marL="0" indent="0">
              <a:lnSpc>
                <a:spcPct val="115000"/>
              </a:lnSpc>
              <a:spcBef>
                <a:spcPts val="0"/>
              </a:spcBef>
              <a:spcAft>
                <a:spcPts val="0"/>
              </a:spcAft>
              <a:buNone/>
            </a:pPr>
            <a:r>
              <a:rPr lang="en-US" sz="1400" b="0" dirty="0">
                <a:solidFill>
                  <a:srgbClr val="B8C2D3"/>
                </a:solidFill>
              </a:rPr>
              <a:t>higher prevalence in IDP camps</a:t>
            </a:r>
          </a:p>
        </p:txBody>
      </p:sp>
      <p:sp>
        <p:nvSpPr>
          <p:cNvPr id="42" name="Finding head 3"/>
          <p:cNvSpPr/>
          <p:nvPr/>
        </p:nvSpPr>
        <p:spPr>
          <a:xfrm>
            <a:off x="6197600" y="3429000"/>
            <a:ext cx="2476500" cy="762000"/>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700" b="0" dirty="0">
                <a:solidFill>
                  <a:srgbClr val="F2F2F2"/>
                </a:solidFill>
              </a:rPr>
              <a:t>Camps are their own driver</a:t>
            </a:r>
          </a:p>
        </p:txBody>
      </p:sp>
      <p:sp>
        <p:nvSpPr>
          <p:cNvPr id="52" name="Finding detail 3"/>
          <p:cNvSpPr/>
          <p:nvPr/>
        </p:nvSpPr>
        <p:spPr>
          <a:xfrm>
            <a:off x="6197600" y="4318000"/>
            <a:ext cx="2476500" cy="1219200"/>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500" b="0" dirty="0">
                <a:solidFill>
                  <a:srgbClr val="B8C2D3"/>
                </a:solidFill>
              </a:rPr>
              <a:t>Holds after accounting for trauma exposure</a:t>
            </a:r>
          </a:p>
        </p:txBody>
      </p:sp>
      <p:sp>
        <p:nvSpPr>
          <p:cNvPr id="13" name="Finding 4"/>
          <p:cNvSpPr/>
          <p:nvPr/>
        </p:nvSpPr>
        <p:spPr>
          <a:xfrm>
            <a:off x="8877300" y="1854200"/>
            <a:ext cx="2476500" cy="3810000"/>
          </a:xfrm>
          <a:prstGeom prst="rect">
            <a:avLst/>
          </a:prstGeom>
          <a:solidFill>
            <a:srgbClr val="FFFFFF">
              <a:alpha val="8000"/>
            </a:srgbClr>
          </a:solidFill>
          <a:ln w="9525">
            <a:solidFill>
              <a:srgbClr val="FFFFFF">
                <a:alpha val="20000"/>
              </a:srgbClr>
            </a:solidFill>
          </a:ln>
        </p:spPr>
        <p:txBody>
          <a:bodyPr wrap="square" lIns="177800" tIns="0" rIns="152400" bIns="0" anchor="t">
            <a:noAutofit/>
          </a:bodyPr>
          <a:lstStyle/>
          <a:p>
            <a:endParaRPr lang="en-US" dirty="0"/>
          </a:p>
        </p:txBody>
      </p:sp>
      <p:sp>
        <p:nvSpPr>
          <p:cNvPr id="23" name="Stat 4"/>
          <p:cNvSpPr/>
          <p:nvPr/>
        </p:nvSpPr>
        <p:spPr>
          <a:xfrm>
            <a:off x="8877300" y="2032000"/>
            <a:ext cx="2476500" cy="635000"/>
          </a:xfrm>
          <a:prstGeom prst="rect">
            <a:avLst/>
          </a:prstGeom>
          <a:noFill/>
          <a:ln>
            <a:noFill/>
          </a:ln>
        </p:spPr>
        <p:txBody>
          <a:bodyPr wrap="square" lIns="177800" tIns="0" rIns="152400" bIns="0" anchor="ctr">
            <a:noAutofit/>
          </a:bodyPr>
          <a:lstStyle/>
          <a:p>
            <a:pPr marL="0" indent="0">
              <a:lnSpc>
                <a:spcPct val="100000"/>
              </a:lnSpc>
              <a:spcBef>
                <a:spcPts val="0"/>
              </a:spcBef>
              <a:spcAft>
                <a:spcPts val="0"/>
              </a:spcAft>
              <a:buNone/>
            </a:pPr>
            <a:r>
              <a:rPr lang="en-US" sz="3600" b="0" dirty="0">
                <a:solidFill>
                  <a:srgbClr val="E97132"/>
                </a:solidFill>
              </a:rPr>
              <a:t>2 tiers</a:t>
            </a:r>
          </a:p>
        </p:txBody>
      </p:sp>
      <p:sp>
        <p:nvSpPr>
          <p:cNvPr id="33" name="Stat label 4"/>
          <p:cNvSpPr/>
          <p:nvPr/>
        </p:nvSpPr>
        <p:spPr>
          <a:xfrm>
            <a:off x="8877300" y="2692400"/>
            <a:ext cx="2476500" cy="584200"/>
          </a:xfrm>
          <a:prstGeom prst="rect">
            <a:avLst/>
          </a:prstGeom>
          <a:noFill/>
          <a:ln>
            <a:noFill/>
          </a:ln>
        </p:spPr>
        <p:txBody>
          <a:bodyPr wrap="square" lIns="177800" tIns="0" rIns="152400" bIns="0" anchor="t">
            <a:noAutofit/>
          </a:bodyPr>
          <a:lstStyle/>
          <a:p>
            <a:pPr marL="0" indent="0">
              <a:lnSpc>
                <a:spcPct val="115000"/>
              </a:lnSpc>
              <a:spcBef>
                <a:spcPts val="0"/>
              </a:spcBef>
              <a:spcAft>
                <a:spcPts val="0"/>
              </a:spcAft>
              <a:buNone/>
            </a:pPr>
            <a:r>
              <a:rPr lang="en-US" sz="1400" b="0" dirty="0">
                <a:solidFill>
                  <a:srgbClr val="B8C2D3"/>
                </a:solidFill>
              </a:rPr>
              <a:t>of need</a:t>
            </a:r>
          </a:p>
        </p:txBody>
      </p:sp>
      <p:sp>
        <p:nvSpPr>
          <p:cNvPr id="43" name="Finding head 4"/>
          <p:cNvSpPr/>
          <p:nvPr/>
        </p:nvSpPr>
        <p:spPr>
          <a:xfrm>
            <a:off x="8877300" y="3429000"/>
            <a:ext cx="2476500" cy="762000"/>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700" b="0" dirty="0">
                <a:solidFill>
                  <a:srgbClr val="F2F2F2"/>
                </a:solidFill>
              </a:rPr>
              <a:t>One program does not fit all</a:t>
            </a:r>
          </a:p>
        </p:txBody>
      </p:sp>
      <p:sp>
        <p:nvSpPr>
          <p:cNvPr id="53" name="Finding detail 4"/>
          <p:cNvSpPr/>
          <p:nvPr/>
        </p:nvSpPr>
        <p:spPr>
          <a:xfrm>
            <a:off x="8877300" y="4318000"/>
            <a:ext cx="2476500" cy="1219200"/>
          </a:xfrm>
          <a:prstGeom prst="rect">
            <a:avLst/>
          </a:prstGeom>
          <a:noFill/>
          <a:ln>
            <a:noFill/>
          </a:ln>
        </p:spPr>
        <p:txBody>
          <a:bodyPr wrap="square" lIns="177800" tIns="0" rIns="152400" bIns="0" anchor="t">
            <a:noAutofit/>
          </a:bodyPr>
          <a:lstStyle/>
          <a:p>
            <a:pPr marL="0" indent="0">
              <a:lnSpc>
                <a:spcPct val="130000"/>
              </a:lnSpc>
              <a:spcBef>
                <a:spcPts val="0"/>
              </a:spcBef>
              <a:spcAft>
                <a:spcPts val="0"/>
              </a:spcAft>
              <a:buNone/>
            </a:pPr>
            <a:r>
              <a:rPr lang="en-US" sz="1500" b="0" dirty="0">
                <a:solidFill>
                  <a:srgbClr val="B8C2D3"/>
                </a:solidFill>
              </a:rPr>
              <a:t>Limited exposure: stress-linked risk. Heavy exposure: trauma-focused care</a:t>
            </a:r>
          </a:p>
        </p:txBody>
      </p:sp>
    </p:spTree>
    <p:extLst>
      <p:ext uri="{BB962C8B-B14F-4D97-AF65-F5344CB8AC3E}">
        <p14:creationId xmlns:p14="http://schemas.microsoft.com/office/powerpoint/2010/main" val="1587013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Each Finding to a Policy Lever</a:t>
            </a:r>
          </a:p>
        </p:txBody>
      </p:sp>
      <p:graphicFrame>
        <p:nvGraphicFramePr>
          <p:cNvPr id="3" name="Table 2"/>
          <p:cNvGraphicFramePr>
            <a:graphicFrameLocks noGrp="1"/>
          </p:cNvGraphicFramePr>
          <p:nvPr>
            <p:extLst>
              <p:ext uri="{D42A27DB-BD31-4B8C-83A1-F6EECF244321}">
                <p14:modId xmlns:p14="http://schemas.microsoft.com/office/powerpoint/2010/main" val="2226994477"/>
              </p:ext>
            </p:extLst>
          </p:nvPr>
        </p:nvGraphicFramePr>
        <p:xfrm>
          <a:off x="838200" y="1854200"/>
          <a:ext cx="10515600" cy="3759200"/>
        </p:xfrm>
        <a:graphic>
          <a:graphicData uri="http://schemas.openxmlformats.org/drawingml/2006/table">
            <a:tbl>
              <a:tblPr>
                <a:tableStyleId>{2D5ABB26-0587-4C30-8999-92F81FD0307C}</a:tableStyleId>
              </a:tblPr>
              <a:tblGrid>
                <a:gridCol w="4191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08000">
                <a:tc>
                  <a:txBody>
                    <a:bodyPr/>
                    <a:lstStyle/>
                    <a:p>
                      <a:pPr>
                        <a:lnSpc>
                          <a:spcPct val="130000"/>
                        </a:lnSpc>
                      </a:pPr>
                      <a:r>
                        <a:rPr lang="en-US" sz="1600" b="0" dirty="0">
                          <a:solidFill>
                            <a:srgbClr val="E97132"/>
                          </a:solidFill>
                        </a:rPr>
                        <a:t>Evidence</a:t>
                      </a:r>
                    </a:p>
                  </a:txBody>
                  <a:tcPr marL="101600" marR="152400" marT="50800" marB="50800" anchor="ctr">
                    <a:lnL w="0">
                      <a:noFill/>
                    </a:lnL>
                    <a:lnR w="0">
                      <a:noFill/>
                    </a:lnR>
                    <a:lnT w="0">
                      <a:noFill/>
                    </a:lnT>
                    <a:lnB w="12700">
                      <a:solidFill>
                        <a:srgbClr val="E97132"/>
                      </a:solidFill>
                    </a:lnB>
                    <a:noFill/>
                  </a:tcPr>
                </a:tc>
                <a:tc>
                  <a:txBody>
                    <a:bodyPr/>
                    <a:lstStyle/>
                    <a:p>
                      <a:pPr>
                        <a:lnSpc>
                          <a:spcPct val="130000"/>
                        </a:lnSpc>
                      </a:pPr>
                      <a:r>
                        <a:rPr lang="en-US" sz="1600" b="0" dirty="0">
                          <a:solidFill>
                            <a:srgbClr val="E97132"/>
                          </a:solidFill>
                        </a:rPr>
                        <a:t>Policy lever under the Act</a:t>
                      </a:r>
                    </a:p>
                  </a:txBody>
                  <a:tcPr marL="101600" marR="152400" marT="50800" marB="50800" anchor="ctr">
                    <a:lnL w="0">
                      <a:noFill/>
                    </a:lnL>
                    <a:lnR w="0">
                      <a:noFill/>
                    </a:lnR>
                    <a:lnT w="0">
                      <a:noFill/>
                    </a:lnT>
                    <a:lnB w="12700">
                      <a:solidFill>
                        <a:srgbClr val="E97132"/>
                      </a:solidFill>
                    </a:lnB>
                    <a:noFill/>
                  </a:tcPr>
                </a:tc>
                <a:extLst>
                  <a:ext uri="{0D108BD9-81ED-4DB2-BD59-A6C34878D82A}">
                    <a16:rowId xmlns:a16="http://schemas.microsoft.com/office/drawing/2014/main" val="10000"/>
                  </a:ext>
                </a:extLst>
              </a:tr>
              <a:tr h="812800">
                <a:tc>
                  <a:txBody>
                    <a:bodyPr/>
                    <a:lstStyle/>
                    <a:p>
                      <a:pPr>
                        <a:lnSpc>
                          <a:spcPct val="130000"/>
                        </a:lnSpc>
                      </a:pPr>
                      <a:r>
                        <a:rPr lang="en-US" sz="1700" b="0" dirty="0">
                          <a:solidFill>
                            <a:srgbClr val="F2F2F2"/>
                          </a:solidFill>
                        </a:rPr>
                        <a:t>Validated instruments, local cut-points, limitations</a:t>
                      </a:r>
                    </a:p>
                  </a:txBody>
                  <a:tcPr marL="101600" marR="152400" marT="50800" marB="50800" anchor="ctr">
                    <a:lnL w="0">
                      <a:noFill/>
                    </a:lnL>
                    <a:lnR w="0">
                      <a:noFill/>
                    </a:lnR>
                    <a:lnT w="12700" cap="flat" cmpd="sng" algn="ctr">
                      <a:solidFill>
                        <a:srgbClr val="E97132"/>
                      </a:solidFill>
                      <a:prstDash val="solid"/>
                      <a:round/>
                      <a:headEnd type="none" w="med" len="med"/>
                      <a:tailEnd type="none" w="med" len="med"/>
                    </a:lnT>
                    <a:lnB w="9525">
                      <a:solidFill>
                        <a:srgbClr val="FFFFFF">
                          <a:alpha val="25000"/>
                        </a:srgbClr>
                      </a:solidFill>
                    </a:lnB>
                    <a:noFill/>
                  </a:tcPr>
                </a:tc>
                <a:tc>
                  <a:txBody>
                    <a:bodyPr/>
                    <a:lstStyle/>
                    <a:p>
                      <a:pPr>
                        <a:lnSpc>
                          <a:spcPct val="130000"/>
                        </a:lnSpc>
                      </a:pPr>
                      <a:r>
                        <a:rPr lang="en-US" sz="1600" b="0" dirty="0">
                          <a:solidFill>
                            <a:srgbClr val="C9D1DE"/>
                          </a:solidFill>
                        </a:rPr>
                        <a:t>National screening standard for PHC and task-shared programs [adopt into national guidelines]</a:t>
                      </a:r>
                    </a:p>
                  </a:txBody>
                  <a:tcPr marL="101600" marR="152400" marT="50800" marB="50800" anchor="ctr">
                    <a:lnL w="0">
                      <a:noFill/>
                    </a:lnL>
                    <a:lnR w="0">
                      <a:noFill/>
                    </a:lnR>
                    <a:lnT w="12700" cap="flat" cmpd="sng" algn="ctr">
                      <a:solidFill>
                        <a:srgbClr val="E97132"/>
                      </a:solidFill>
                      <a:prstDash val="solid"/>
                      <a:round/>
                      <a:headEnd type="none" w="med" len="med"/>
                      <a:tailEnd type="none" w="med" len="med"/>
                    </a:lnT>
                    <a:lnB w="9525">
                      <a:solidFill>
                        <a:srgbClr val="FFFFFF">
                          <a:alpha val="25000"/>
                        </a:srgbClr>
                      </a:solidFill>
                    </a:lnB>
                    <a:noFill/>
                  </a:tcPr>
                </a:tc>
                <a:extLst>
                  <a:ext uri="{0D108BD9-81ED-4DB2-BD59-A6C34878D82A}">
                    <a16:rowId xmlns:a16="http://schemas.microsoft.com/office/drawing/2014/main" val="10001"/>
                  </a:ext>
                </a:extLst>
              </a:tr>
              <a:tr h="812800">
                <a:tc>
                  <a:txBody>
                    <a:bodyPr/>
                    <a:lstStyle/>
                    <a:p>
                      <a:pPr>
                        <a:lnSpc>
                          <a:spcPct val="130000"/>
                        </a:lnSpc>
                      </a:pPr>
                      <a:r>
                        <a:rPr lang="en-US" sz="1700" b="0" dirty="0">
                          <a:solidFill>
                            <a:srgbClr val="F2F2F2"/>
                          </a:solidFill>
                        </a:rPr>
                        <a:t>Burden maps: state and community variation</a:t>
                      </a:r>
                    </a:p>
                  </a:txBody>
                  <a:tcPr marL="101600" marR="152400" marT="50800" marB="50800" anchor="ctr">
                    <a:lnL w="0">
                      <a:noFill/>
                    </a:lnL>
                    <a:lnR w="0">
                      <a:noFill/>
                    </a:lnR>
                    <a:lnT w="9525" cap="flat" cmpd="sng" algn="ctr">
                      <a:solidFill>
                        <a:srgbClr val="FFFFFF">
                          <a:alpha val="25000"/>
                        </a:srgbClr>
                      </a:solidFill>
                      <a:prstDash val="solid"/>
                      <a:round/>
                      <a:headEnd type="none" w="med" len="med"/>
                      <a:tailEnd type="none" w="med" len="med"/>
                    </a:lnT>
                    <a:lnB w="9525">
                      <a:solidFill>
                        <a:srgbClr val="FFFFFF">
                          <a:alpha val="25000"/>
                        </a:srgbClr>
                      </a:solidFill>
                    </a:lnB>
                    <a:noFill/>
                  </a:tcPr>
                </a:tc>
                <a:tc>
                  <a:txBody>
                    <a:bodyPr/>
                    <a:lstStyle/>
                    <a:p>
                      <a:pPr>
                        <a:lnSpc>
                          <a:spcPct val="130000"/>
                        </a:lnSpc>
                      </a:pPr>
                      <a:r>
                        <a:rPr lang="en-US" sz="1600" b="0" dirty="0">
                          <a:solidFill>
                            <a:srgbClr val="C9D1DE"/>
                          </a:solidFill>
                        </a:rPr>
                        <a:t>Needs-based allocation to states and LGAs; community targeting, not blanket coverage</a:t>
                      </a:r>
                    </a:p>
                  </a:txBody>
                  <a:tcPr marL="101600" marR="152400" marT="50800" marB="50800" anchor="ctr">
                    <a:lnL w="0">
                      <a:noFill/>
                    </a:lnL>
                    <a:lnR w="0">
                      <a:noFill/>
                    </a:lnR>
                    <a:lnT w="9525" cap="flat" cmpd="sng" algn="ctr">
                      <a:solidFill>
                        <a:srgbClr val="FFFFFF">
                          <a:alpha val="25000"/>
                        </a:srgbClr>
                      </a:solidFill>
                      <a:prstDash val="solid"/>
                      <a:round/>
                      <a:headEnd type="none" w="med" len="med"/>
                      <a:tailEnd type="none" w="med" len="med"/>
                    </a:lnT>
                    <a:lnB w="9525">
                      <a:solidFill>
                        <a:srgbClr val="FFFFFF">
                          <a:alpha val="25000"/>
                        </a:srgbClr>
                      </a:solidFill>
                    </a:lnB>
                    <a:noFill/>
                  </a:tcPr>
                </a:tc>
                <a:extLst>
                  <a:ext uri="{0D108BD9-81ED-4DB2-BD59-A6C34878D82A}">
                    <a16:rowId xmlns:a16="http://schemas.microsoft.com/office/drawing/2014/main" val="10002"/>
                  </a:ext>
                </a:extLst>
              </a:tr>
              <a:tr h="812800">
                <a:tc>
                  <a:txBody>
                    <a:bodyPr/>
                    <a:lstStyle/>
                    <a:p>
                      <a:pPr>
                        <a:lnSpc>
                          <a:spcPct val="130000"/>
                        </a:lnSpc>
                      </a:pPr>
                      <a:r>
                        <a:rPr lang="en-US" sz="1700" b="0" dirty="0">
                          <a:solidFill>
                            <a:srgbClr val="F2F2F2"/>
                          </a:solidFill>
                        </a:rPr>
                        <a:t>Camp environment as independent driver</a:t>
                      </a:r>
                    </a:p>
                  </a:txBody>
                  <a:tcPr marL="101600" marR="152400" marT="50800" marB="50800" anchor="ctr">
                    <a:lnL w="0">
                      <a:noFill/>
                    </a:lnL>
                    <a:lnR w="0">
                      <a:noFill/>
                    </a:lnR>
                    <a:lnT w="9525" cap="flat" cmpd="sng" algn="ctr">
                      <a:solidFill>
                        <a:srgbClr val="FFFFFF">
                          <a:alpha val="25000"/>
                        </a:srgbClr>
                      </a:solidFill>
                      <a:prstDash val="solid"/>
                      <a:round/>
                      <a:headEnd type="none" w="med" len="med"/>
                      <a:tailEnd type="none" w="med" len="med"/>
                    </a:lnT>
                    <a:lnB w="9525">
                      <a:solidFill>
                        <a:srgbClr val="FFFFFF">
                          <a:alpha val="25000"/>
                        </a:srgbClr>
                      </a:solidFill>
                    </a:lnB>
                    <a:noFill/>
                  </a:tcPr>
                </a:tc>
                <a:tc>
                  <a:txBody>
                    <a:bodyPr/>
                    <a:lstStyle/>
                    <a:p>
                      <a:pPr>
                        <a:lnSpc>
                          <a:spcPct val="130000"/>
                        </a:lnSpc>
                      </a:pPr>
                      <a:r>
                        <a:rPr lang="en-US" sz="1600" b="0" dirty="0">
                          <a:solidFill>
                            <a:srgbClr val="C9D1DE"/>
                          </a:solidFill>
                        </a:rPr>
                        <a:t>Joint action with humanitarian and displacement authorities on shelter, safety and livelihoods</a:t>
                      </a:r>
                    </a:p>
                  </a:txBody>
                  <a:tcPr marL="101600" marR="152400" marT="50800" marB="50800" anchor="ctr">
                    <a:lnL w="0">
                      <a:noFill/>
                    </a:lnL>
                    <a:lnR w="0">
                      <a:noFill/>
                    </a:lnR>
                    <a:lnT w="9525" cap="flat" cmpd="sng" algn="ctr">
                      <a:solidFill>
                        <a:srgbClr val="FFFFFF">
                          <a:alpha val="25000"/>
                        </a:srgbClr>
                      </a:solidFill>
                      <a:prstDash val="solid"/>
                      <a:round/>
                      <a:headEnd type="none" w="med" len="med"/>
                      <a:tailEnd type="none" w="med" len="med"/>
                    </a:lnT>
                    <a:lnB w="9525">
                      <a:solidFill>
                        <a:srgbClr val="FFFFFF">
                          <a:alpha val="25000"/>
                        </a:srgbClr>
                      </a:solidFill>
                    </a:lnB>
                    <a:noFill/>
                  </a:tcPr>
                </a:tc>
                <a:extLst>
                  <a:ext uri="{0D108BD9-81ED-4DB2-BD59-A6C34878D82A}">
                    <a16:rowId xmlns:a16="http://schemas.microsoft.com/office/drawing/2014/main" val="10003"/>
                  </a:ext>
                </a:extLst>
              </a:tr>
              <a:tr h="812800">
                <a:tc>
                  <a:txBody>
                    <a:bodyPr/>
                    <a:lstStyle/>
                    <a:p>
                      <a:pPr>
                        <a:lnSpc>
                          <a:spcPct val="130000"/>
                        </a:lnSpc>
                      </a:pPr>
                      <a:r>
                        <a:rPr lang="en-US" sz="1700" b="0" dirty="0">
                          <a:solidFill>
                            <a:srgbClr val="F2F2F2"/>
                          </a:solidFill>
                        </a:rPr>
                        <a:t>Trauma saturation → stratified need</a:t>
                      </a:r>
                    </a:p>
                  </a:txBody>
                  <a:tcPr marL="101600" marR="152400" marT="50800" marB="50800" anchor="ctr">
                    <a:lnL w="0">
                      <a:noFill/>
                    </a:lnL>
                    <a:lnR w="0">
                      <a:noFill/>
                    </a:lnR>
                    <a:lnT w="9525" cap="flat" cmpd="sng" algn="ctr">
                      <a:solidFill>
                        <a:srgbClr val="FFFFFF">
                          <a:alpha val="25000"/>
                        </a:srgbClr>
                      </a:solidFill>
                      <a:prstDash val="solid"/>
                      <a:round/>
                      <a:headEnd type="none" w="med" len="med"/>
                      <a:tailEnd type="none" w="med" len="med"/>
                    </a:lnT>
                    <a:lnB w="0">
                      <a:noFill/>
                    </a:lnB>
                    <a:noFill/>
                  </a:tcPr>
                </a:tc>
                <a:tc>
                  <a:txBody>
                    <a:bodyPr/>
                    <a:lstStyle/>
                    <a:p>
                      <a:pPr>
                        <a:lnSpc>
                          <a:spcPct val="130000"/>
                        </a:lnSpc>
                      </a:pPr>
                      <a:r>
                        <a:rPr lang="en-US" sz="1600" b="0" dirty="0">
                          <a:solidFill>
                            <a:srgbClr val="C9D1DE"/>
                          </a:solidFill>
                        </a:rPr>
                        <a:t>Two-tier model: stress and livelihood support in PHC; trauma-focused referral for the heavily exposed</a:t>
                      </a:r>
                    </a:p>
                  </a:txBody>
                  <a:tcPr marL="101600" marR="152400" marT="50800" marB="50800" anchor="ctr">
                    <a:lnL w="0">
                      <a:noFill/>
                    </a:lnL>
                    <a:lnR w="0">
                      <a:noFill/>
                    </a:lnR>
                    <a:lnT w="9525" cap="flat" cmpd="sng" algn="ctr">
                      <a:solidFill>
                        <a:srgbClr val="FFFFFF">
                          <a:alpha val="25000"/>
                        </a:srgbClr>
                      </a:solidFill>
                      <a:prstDash val="solid"/>
                      <a:round/>
                      <a:headEnd type="none" w="med" len="med"/>
                      <a:tailEnd type="none" w="med" len="med"/>
                    </a:lnT>
                    <a:lnB w="0">
                      <a:noFill/>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65370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Implementation Vehicles</a:t>
            </a:r>
          </a:p>
        </p:txBody>
      </p:sp>
      <p:sp>
        <p:nvSpPr>
          <p:cNvPr id="10" name="Vehicle 1"/>
          <p:cNvSpPr/>
          <p:nvPr/>
        </p:nvSpPr>
        <p:spPr>
          <a:xfrm>
            <a:off x="838200" y="1879600"/>
            <a:ext cx="1960880" cy="2997200"/>
          </a:xfrm>
          <a:prstGeom prst="rect">
            <a:avLst/>
          </a:prstGeom>
          <a:solidFill>
            <a:srgbClr val="FFFFFF">
              <a:alpha val="8000"/>
            </a:srgbClr>
          </a:solidFill>
          <a:ln w="9525">
            <a:solidFill>
              <a:srgbClr val="FFFFFF">
                <a:alpha val="20000"/>
              </a:srgbClr>
            </a:solidFill>
          </a:ln>
        </p:spPr>
        <p:txBody>
          <a:bodyPr wrap="square" lIns="152400" tIns="812800" rIns="152400" bIns="152400" anchor="t">
            <a:noAutofit/>
          </a:bodyPr>
          <a:lstStyle/>
          <a:p>
            <a:pPr marL="0" indent="0" algn="l">
              <a:lnSpc>
                <a:spcPct val="130000"/>
              </a:lnSpc>
              <a:spcBef>
                <a:spcPts val="0"/>
              </a:spcBef>
              <a:spcAft>
                <a:spcPts val="600"/>
              </a:spcAft>
              <a:buNone/>
            </a:pPr>
            <a:r>
              <a:rPr lang="en-US" sz="1800" b="0" dirty="0">
                <a:solidFill>
                  <a:srgbClr val="F2F2F2"/>
                </a:solidFill>
              </a:rPr>
              <a:t>PHC screening</a:t>
            </a:r>
          </a:p>
          <a:p>
            <a:pPr marL="0" indent="0" algn="l">
              <a:lnSpc>
                <a:spcPct val="130000"/>
              </a:lnSpc>
              <a:spcBef>
                <a:spcPts val="0"/>
              </a:spcBef>
              <a:spcAft>
                <a:spcPts val="0"/>
              </a:spcAft>
              <a:buNone/>
            </a:pPr>
            <a:r>
              <a:rPr lang="en-US" sz="1400" b="0" dirty="0">
                <a:solidFill>
                  <a:srgbClr val="B8C2D3"/>
                </a:solidFill>
              </a:rPr>
              <a:t>[Validated battery in PHC protocols / mhGAP adaptation]</a:t>
            </a:r>
          </a:p>
        </p:txBody>
      </p:sp>
      <p:sp>
        <p:nvSpPr>
          <p:cNvPr id="11" name="Vehicle 2"/>
          <p:cNvSpPr/>
          <p:nvPr/>
        </p:nvSpPr>
        <p:spPr>
          <a:xfrm>
            <a:off x="2976880" y="1879600"/>
            <a:ext cx="1960880" cy="2997200"/>
          </a:xfrm>
          <a:prstGeom prst="rect">
            <a:avLst/>
          </a:prstGeom>
          <a:solidFill>
            <a:srgbClr val="FFFFFF">
              <a:alpha val="8000"/>
            </a:srgbClr>
          </a:solidFill>
          <a:ln w="9525">
            <a:solidFill>
              <a:srgbClr val="FFFFFF">
                <a:alpha val="20000"/>
              </a:srgbClr>
            </a:solidFill>
          </a:ln>
        </p:spPr>
        <p:txBody>
          <a:bodyPr wrap="square" lIns="152400" tIns="812800" rIns="152400" bIns="152400" anchor="t">
            <a:noAutofit/>
          </a:bodyPr>
          <a:lstStyle/>
          <a:p>
            <a:pPr marL="0" indent="0" algn="l">
              <a:lnSpc>
                <a:spcPct val="130000"/>
              </a:lnSpc>
              <a:spcBef>
                <a:spcPts val="0"/>
              </a:spcBef>
              <a:spcAft>
                <a:spcPts val="600"/>
              </a:spcAft>
              <a:buNone/>
            </a:pPr>
            <a:r>
              <a:rPr lang="en-US" sz="1800" b="0" dirty="0">
                <a:solidFill>
                  <a:srgbClr val="F2F2F2"/>
                </a:solidFill>
              </a:rPr>
              <a:t>Task-sharing</a:t>
            </a:r>
          </a:p>
          <a:p>
            <a:pPr marL="0" indent="0" algn="l">
              <a:lnSpc>
                <a:spcPct val="130000"/>
              </a:lnSpc>
              <a:spcBef>
                <a:spcPts val="0"/>
              </a:spcBef>
              <a:spcAft>
                <a:spcPts val="0"/>
              </a:spcAft>
              <a:buNone/>
            </a:pPr>
            <a:r>
              <a:rPr lang="en-US" sz="1400" b="0" dirty="0">
                <a:solidFill>
                  <a:srgbClr val="B8C2D3"/>
                </a:solidFill>
              </a:rPr>
              <a:t>[CHW curriculum; 36-item battery deliverable by lay workers]</a:t>
            </a:r>
          </a:p>
        </p:txBody>
      </p:sp>
      <p:sp>
        <p:nvSpPr>
          <p:cNvPr id="12" name="Vehicle 3"/>
          <p:cNvSpPr/>
          <p:nvPr/>
        </p:nvSpPr>
        <p:spPr>
          <a:xfrm>
            <a:off x="5115560" y="1879600"/>
            <a:ext cx="1960880" cy="2997200"/>
          </a:xfrm>
          <a:prstGeom prst="rect">
            <a:avLst/>
          </a:prstGeom>
          <a:solidFill>
            <a:srgbClr val="FFFFFF">
              <a:alpha val="8000"/>
            </a:srgbClr>
          </a:solidFill>
          <a:ln w="9525">
            <a:solidFill>
              <a:srgbClr val="FFFFFF">
                <a:alpha val="20000"/>
              </a:srgbClr>
            </a:solidFill>
          </a:ln>
        </p:spPr>
        <p:txBody>
          <a:bodyPr wrap="square" lIns="152400" tIns="812800" rIns="152400" bIns="152400" anchor="t">
            <a:noAutofit/>
          </a:bodyPr>
          <a:lstStyle/>
          <a:p>
            <a:pPr marL="0" indent="0" algn="l">
              <a:lnSpc>
                <a:spcPct val="130000"/>
              </a:lnSpc>
              <a:spcBef>
                <a:spcPts val="0"/>
              </a:spcBef>
              <a:spcAft>
                <a:spcPts val="600"/>
              </a:spcAft>
              <a:buNone/>
            </a:pPr>
            <a:r>
              <a:rPr lang="en-US" sz="1800" b="0" dirty="0">
                <a:solidFill>
                  <a:srgbClr val="F2F2F2"/>
                </a:solidFill>
              </a:rPr>
              <a:t>State desks</a:t>
            </a:r>
          </a:p>
          <a:p>
            <a:pPr marL="0" indent="0" algn="l">
              <a:lnSpc>
                <a:spcPct val="130000"/>
              </a:lnSpc>
              <a:spcBef>
                <a:spcPts val="0"/>
              </a:spcBef>
              <a:spcAft>
                <a:spcPts val="0"/>
              </a:spcAft>
              <a:buNone/>
            </a:pPr>
            <a:r>
              <a:rPr lang="en-US" sz="1400" b="0" dirty="0">
                <a:solidFill>
                  <a:srgbClr val="B8C2D3"/>
                </a:solidFill>
              </a:rPr>
              <a:t>[Coordinators in the six study states first, then scale]</a:t>
            </a:r>
          </a:p>
        </p:txBody>
      </p:sp>
      <p:sp>
        <p:nvSpPr>
          <p:cNvPr id="13" name="Vehicle 4"/>
          <p:cNvSpPr/>
          <p:nvPr/>
        </p:nvSpPr>
        <p:spPr>
          <a:xfrm>
            <a:off x="7254240" y="1879600"/>
            <a:ext cx="1960880" cy="2997200"/>
          </a:xfrm>
          <a:prstGeom prst="rect">
            <a:avLst/>
          </a:prstGeom>
          <a:solidFill>
            <a:srgbClr val="FFFFFF">
              <a:alpha val="8000"/>
            </a:srgbClr>
          </a:solidFill>
          <a:ln w="9525">
            <a:solidFill>
              <a:srgbClr val="FFFFFF">
                <a:alpha val="20000"/>
              </a:srgbClr>
            </a:solidFill>
          </a:ln>
        </p:spPr>
        <p:txBody>
          <a:bodyPr wrap="square" lIns="152400" tIns="812800" rIns="152400" bIns="152400" anchor="t">
            <a:noAutofit/>
          </a:bodyPr>
          <a:lstStyle/>
          <a:p>
            <a:pPr marL="0" indent="0" algn="l">
              <a:lnSpc>
                <a:spcPct val="130000"/>
              </a:lnSpc>
              <a:spcBef>
                <a:spcPts val="0"/>
              </a:spcBef>
              <a:spcAft>
                <a:spcPts val="600"/>
              </a:spcAft>
              <a:buNone/>
            </a:pPr>
            <a:r>
              <a:rPr lang="en-US" sz="1800" b="0" dirty="0">
                <a:solidFill>
                  <a:srgbClr val="F2F2F2"/>
                </a:solidFill>
              </a:rPr>
              <a:t>Financing</a:t>
            </a:r>
          </a:p>
          <a:p>
            <a:pPr marL="0" indent="0" algn="l">
              <a:lnSpc>
                <a:spcPct val="130000"/>
              </a:lnSpc>
              <a:spcBef>
                <a:spcPts val="0"/>
              </a:spcBef>
              <a:spcAft>
                <a:spcPts val="0"/>
              </a:spcAft>
              <a:buNone/>
            </a:pPr>
            <a:r>
              <a:rPr lang="en-US" sz="1400" b="0" dirty="0">
                <a:solidFill>
                  <a:srgbClr val="B8C2D3"/>
                </a:solidFill>
              </a:rPr>
              <a:t>[Mental health budget line / NHIA benefit package]</a:t>
            </a:r>
          </a:p>
        </p:txBody>
      </p:sp>
      <p:sp>
        <p:nvSpPr>
          <p:cNvPr id="14" name="Vehicle 5"/>
          <p:cNvSpPr/>
          <p:nvPr/>
        </p:nvSpPr>
        <p:spPr>
          <a:xfrm>
            <a:off x="9392920" y="1879600"/>
            <a:ext cx="1960880" cy="2997200"/>
          </a:xfrm>
          <a:prstGeom prst="rect">
            <a:avLst/>
          </a:prstGeom>
          <a:solidFill>
            <a:srgbClr val="FFFFFF">
              <a:alpha val="8000"/>
            </a:srgbClr>
          </a:solidFill>
          <a:ln w="9525">
            <a:solidFill>
              <a:srgbClr val="FFFFFF">
                <a:alpha val="20000"/>
              </a:srgbClr>
            </a:solidFill>
          </a:ln>
        </p:spPr>
        <p:txBody>
          <a:bodyPr wrap="square" lIns="152400" tIns="812800" rIns="152400" bIns="152400" anchor="t">
            <a:noAutofit/>
          </a:bodyPr>
          <a:lstStyle/>
          <a:p>
            <a:pPr marL="0" indent="0" algn="l">
              <a:lnSpc>
                <a:spcPct val="130000"/>
              </a:lnSpc>
              <a:spcBef>
                <a:spcPts val="0"/>
              </a:spcBef>
              <a:spcAft>
                <a:spcPts val="600"/>
              </a:spcAft>
              <a:buNone/>
            </a:pPr>
            <a:r>
              <a:rPr lang="en-US" sz="1800" b="0" dirty="0">
                <a:solidFill>
                  <a:srgbClr val="F2F2F2"/>
                </a:solidFill>
              </a:rPr>
              <a:t>Surveillance</a:t>
            </a:r>
          </a:p>
          <a:p>
            <a:pPr marL="0" indent="0" algn="l">
              <a:lnSpc>
                <a:spcPct val="130000"/>
              </a:lnSpc>
              <a:spcBef>
                <a:spcPts val="0"/>
              </a:spcBef>
              <a:spcAft>
                <a:spcPts val="0"/>
              </a:spcAft>
              <a:buNone/>
            </a:pPr>
            <a:r>
              <a:rPr lang="en-US" sz="1400" b="0" dirty="0">
                <a:solidFill>
                  <a:srgbClr val="B8C2D3"/>
                </a:solidFill>
              </a:rPr>
              <a:t>[Repeat MaRVIN protocol as a periodic national survey]</a:t>
            </a:r>
          </a:p>
        </p:txBody>
      </p:sp>
      <p:pic>
        <p:nvPicPr>
          <p:cNvPr id="21" name="Graphic 21" descr="Screeni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600" y="2032000"/>
            <a:ext cx="508000" cy="508000"/>
          </a:xfrm>
          <a:prstGeom prst="rect">
            <a:avLst/>
          </a:prstGeom>
        </p:spPr>
      </p:pic>
      <p:pic>
        <p:nvPicPr>
          <p:cNvPr id="22" name="Graphic 22" descr="Traini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4200" y="2032000"/>
            <a:ext cx="508000" cy="508000"/>
          </a:xfrm>
          <a:prstGeom prst="rect">
            <a:avLst/>
          </a:prstGeom>
        </p:spPr>
      </p:pic>
      <p:pic>
        <p:nvPicPr>
          <p:cNvPr id="23" name="Graphic 23" descr="State institution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70500" y="2032000"/>
            <a:ext cx="508000" cy="508000"/>
          </a:xfrm>
          <a:prstGeom prst="rect">
            <a:avLst/>
          </a:prstGeom>
        </p:spPr>
      </p:pic>
      <p:pic>
        <p:nvPicPr>
          <p:cNvPr id="24" name="Graphic 24" descr="Financi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04100" y="2032000"/>
            <a:ext cx="508000" cy="508000"/>
          </a:xfrm>
          <a:prstGeom prst="rect">
            <a:avLst/>
          </a:prstGeom>
        </p:spPr>
      </p:pic>
      <p:pic>
        <p:nvPicPr>
          <p:cNvPr id="25" name="Graphic 25" descr="Surveillance"/>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50400" y="2032000"/>
            <a:ext cx="508000" cy="508000"/>
          </a:xfrm>
          <a:prstGeom prst="rect">
            <a:avLst/>
          </a:prstGeom>
        </p:spPr>
      </p:pic>
    </p:spTree>
    <p:extLst>
      <p:ext uri="{BB962C8B-B14F-4D97-AF65-F5344CB8AC3E}">
        <p14:creationId xmlns:p14="http://schemas.microsoft.com/office/powerpoint/2010/main" val="1278663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Workforce Numbers Require</a:t>
            </a:r>
          </a:p>
        </p:txBody>
      </p:sp>
      <p:sp>
        <p:nvSpPr>
          <p:cNvPr id="10" name="Chart label"/>
          <p:cNvSpPr/>
          <p:nvPr/>
        </p:nvSpPr>
        <p:spPr>
          <a:xfrm>
            <a:off x="838200" y="1803400"/>
            <a:ext cx="4826000" cy="381000"/>
          </a:xfrm>
          <a:prstGeom prst="rect">
            <a:avLst/>
          </a:prstGeom>
          <a:noFill/>
          <a:ln>
            <a:noFill/>
          </a:ln>
        </p:spPr>
        <p:txBody>
          <a:bodyPr wrap="square" lIns="91440" tIns="0" rIns="91440" bIns="0" anchor="ctr">
            <a:noAutofit/>
          </a:bodyPr>
          <a:lstStyle/>
          <a:p>
            <a:pPr marL="0" indent="0" algn="l">
              <a:lnSpc>
                <a:spcPct val="130000"/>
              </a:lnSpc>
              <a:spcBef>
                <a:spcPts val="0"/>
              </a:spcBef>
              <a:spcAft>
                <a:spcPts val="0"/>
              </a:spcAft>
              <a:buNone/>
            </a:pPr>
            <a:r>
              <a:rPr lang="en-US" sz="1600" b="0" dirty="0">
                <a:solidFill>
                  <a:srgbClr val="B8C2D3"/>
                </a:solidFill>
              </a:rPr>
              <a:t>Mental health workers per 100,000 people</a:t>
            </a:r>
          </a:p>
        </p:txBody>
      </p:sp>
      <p:sp>
        <p:nvSpPr>
          <p:cNvPr id="11" name="Chart note"/>
          <p:cNvSpPr/>
          <p:nvPr/>
        </p:nvSpPr>
        <p:spPr>
          <a:xfrm>
            <a:off x="838200" y="5588000"/>
            <a:ext cx="4826000" cy="355600"/>
          </a:xfrm>
          <a:prstGeom prst="rect">
            <a:avLst/>
          </a:prstGeom>
          <a:noFill/>
          <a:ln>
            <a:noFill/>
          </a:ln>
        </p:spPr>
        <p:txBody>
          <a:bodyPr wrap="square" lIns="91440" tIns="0" rIns="91440" bIns="0" anchor="ctr">
            <a:noAutofit/>
          </a:bodyPr>
          <a:lstStyle/>
          <a:p>
            <a:pPr marL="0" indent="0" algn="l">
              <a:lnSpc>
                <a:spcPct val="130000"/>
              </a:lnSpc>
              <a:spcBef>
                <a:spcPts val="0"/>
              </a:spcBef>
              <a:spcAft>
                <a:spcPts val="0"/>
              </a:spcAft>
              <a:buNone/>
            </a:pPr>
            <a:r>
              <a:rPr lang="en-US" sz="1500" b="0" dirty="0">
                <a:solidFill>
                  <a:srgbClr val="E97132"/>
                </a:solidFill>
              </a:rPr>
              <a:t>One psychiatrist per ~800,000 Nigerians</a:t>
            </a:r>
          </a:p>
        </p:txBody>
      </p:sp>
      <p:sp>
        <p:nvSpPr>
          <p:cNvPr id="13" name="Tier 2"/>
          <p:cNvSpPr/>
          <p:nvPr/>
        </p:nvSpPr>
        <p:spPr>
          <a:xfrm>
            <a:off x="6323011" y="3989388"/>
            <a:ext cx="5179069" cy="1346200"/>
          </a:xfrm>
          <a:prstGeom prst="rect">
            <a:avLst/>
          </a:prstGeom>
          <a:solidFill>
            <a:srgbClr val="FFFFFF">
              <a:alpha val="8000"/>
            </a:srgbClr>
          </a:solidFill>
          <a:ln w="9525">
            <a:solidFill>
              <a:srgbClr val="FFFFFF">
                <a:alpha val="20000"/>
              </a:srgbClr>
            </a:solidFill>
          </a:ln>
        </p:spPr>
        <p:txBody>
          <a:bodyPr wrap="square" lIns="177800" tIns="127000" rIns="177800" bIns="127000" anchor="t">
            <a:noAutofit/>
          </a:bodyPr>
          <a:lstStyle/>
          <a:p>
            <a:pPr marL="0" indent="0" algn="l">
              <a:lnSpc>
                <a:spcPct val="130000"/>
              </a:lnSpc>
              <a:spcBef>
                <a:spcPts val="0"/>
              </a:spcBef>
              <a:spcAft>
                <a:spcPts val="300"/>
              </a:spcAft>
              <a:buNone/>
            </a:pPr>
            <a:r>
              <a:rPr lang="en-US" sz="1600" b="0" dirty="0">
                <a:solidFill>
                  <a:srgbClr val="E97132"/>
                </a:solidFill>
              </a:rPr>
              <a:t>Tier 2 · the few, extensive exposure</a:t>
            </a:r>
          </a:p>
          <a:p>
            <a:pPr marL="0" indent="0" algn="l">
              <a:lnSpc>
                <a:spcPct val="130000"/>
              </a:lnSpc>
              <a:spcBef>
                <a:spcPts val="0"/>
              </a:spcBef>
              <a:spcAft>
                <a:spcPts val="0"/>
              </a:spcAft>
              <a:buNone/>
            </a:pPr>
            <a:r>
              <a:rPr lang="en-US" sz="1400" b="0" dirty="0">
                <a:solidFill>
                  <a:srgbClr val="B8C2D3"/>
                </a:solidFill>
              </a:rPr>
              <a:t>Trauma-focused therapy by specialists and supervised lay providers; referral via brief trauma screening, stepped</a:t>
            </a:r>
          </a:p>
        </p:txBody>
      </p:sp>
      <p:sp>
        <p:nvSpPr>
          <p:cNvPr id="14" name="Tier 1"/>
          <p:cNvSpPr/>
          <p:nvPr/>
        </p:nvSpPr>
        <p:spPr>
          <a:xfrm>
            <a:off x="6244281" y="2407444"/>
            <a:ext cx="5257800" cy="1193800"/>
          </a:xfrm>
          <a:prstGeom prst="rect">
            <a:avLst/>
          </a:prstGeom>
          <a:solidFill>
            <a:srgbClr val="FFFFFF">
              <a:alpha val="8000"/>
            </a:srgbClr>
          </a:solidFill>
          <a:ln w="9525">
            <a:solidFill>
              <a:srgbClr val="FFFFFF">
                <a:alpha val="20000"/>
              </a:srgbClr>
            </a:solidFill>
          </a:ln>
        </p:spPr>
        <p:txBody>
          <a:bodyPr wrap="square" lIns="177800" tIns="127000" rIns="177800" bIns="127000" anchor="t">
            <a:noAutofit/>
          </a:bodyPr>
          <a:lstStyle/>
          <a:p>
            <a:pPr marL="0" indent="0" algn="l">
              <a:lnSpc>
                <a:spcPct val="130000"/>
              </a:lnSpc>
              <a:spcBef>
                <a:spcPts val="0"/>
              </a:spcBef>
              <a:spcAft>
                <a:spcPts val="300"/>
              </a:spcAft>
              <a:buNone/>
            </a:pPr>
            <a:r>
              <a:rPr lang="en-US" sz="1600" b="0" dirty="0">
                <a:solidFill>
                  <a:srgbClr val="E97132"/>
                </a:solidFill>
              </a:rPr>
              <a:t>Tier 1 · the many, limited trauma exposure</a:t>
            </a:r>
          </a:p>
          <a:p>
            <a:pPr marL="0" indent="0" algn="l">
              <a:lnSpc>
                <a:spcPct val="130000"/>
              </a:lnSpc>
              <a:spcBef>
                <a:spcPts val="0"/>
              </a:spcBef>
              <a:spcAft>
                <a:spcPts val="0"/>
              </a:spcAft>
              <a:buNone/>
            </a:pPr>
            <a:r>
              <a:rPr lang="en-US" sz="1400" b="0" dirty="0">
                <a:solidFill>
                  <a:srgbClr val="B8C2D3"/>
                </a:solidFill>
              </a:rPr>
              <a:t>Task-shared stress management and livelihood-linked support in PHC and community settings</a:t>
            </a:r>
          </a:p>
        </p:txBody>
      </p:sp>
      <p:graphicFrame>
        <p:nvGraphicFramePr>
          <p:cNvPr id="16" name="Chart"/>
          <p:cNvGraphicFramePr/>
          <p:nvPr/>
        </p:nvGraphicFramePr>
        <p:xfrm>
          <a:off x="838200" y="2209800"/>
          <a:ext cx="4826000" cy="3352800"/>
        </p:xfrm>
        <a:graphic>
          <a:graphicData uri="http://schemas.openxmlformats.org/drawingml/2006/chart">
            <c:chart xmlns:c="http://schemas.openxmlformats.org/drawingml/2006/chart" xmlns:r="http://schemas.openxmlformats.org/officeDocument/2006/relationships" r:id="rId3"/>
          </a:graphicData>
        </a:graphic>
      </p:graphicFrame>
      <p:sp>
        <p:nvSpPr>
          <p:cNvPr id="3" name="Down Arrow 2">
            <a:extLst>
              <a:ext uri="{FF2B5EF4-FFF2-40B4-BE49-F238E27FC236}">
                <a16:creationId xmlns:a16="http://schemas.microsoft.com/office/drawing/2014/main" id="{B1642C3D-31FE-7253-81D5-4F510AC91CA8}"/>
              </a:ext>
            </a:extLst>
          </p:cNvPr>
          <p:cNvSpPr/>
          <p:nvPr/>
        </p:nvSpPr>
        <p:spPr>
          <a:xfrm>
            <a:off x="8515350" y="3601244"/>
            <a:ext cx="185738" cy="388144"/>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105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 Working Model Other Settings Can Copy</a:t>
            </a:r>
          </a:p>
        </p:txBody>
      </p:sp>
      <p:sp>
        <p:nvSpPr>
          <p:cNvPr id="10" name="Step 1"/>
          <p:cNvSpPr/>
          <p:nvPr/>
        </p:nvSpPr>
        <p:spPr>
          <a:xfrm>
            <a:off x="838200" y="1828800"/>
            <a:ext cx="2743200" cy="660400"/>
          </a:xfrm>
          <a:prstGeom prst="homePlate">
            <a:avLst>
              <a:gd name="adj" fmla="val 30000"/>
            </a:avLst>
          </a:prstGeom>
          <a:solidFill>
            <a:srgbClr val="FFFFFF">
              <a:alpha val="14000"/>
            </a:srgbClr>
          </a:solidFill>
          <a:ln>
            <a:noFill/>
          </a:ln>
        </p:spPr>
        <p:txBody>
          <a:bodyPr wrap="square" lIns="177800" tIns="0" rIns="254000" bIns="0" anchor="ctr">
            <a:noAutofit/>
          </a:bodyPr>
          <a:lstStyle/>
          <a:p>
            <a:pPr marL="0" indent="0" algn="ctr">
              <a:lnSpc>
                <a:spcPct val="130000"/>
              </a:lnSpc>
              <a:spcBef>
                <a:spcPts val="0"/>
              </a:spcBef>
              <a:spcAft>
                <a:spcPts val="0"/>
              </a:spcAft>
              <a:buNone/>
            </a:pPr>
            <a:r>
              <a:rPr lang="en-US" sz="1700" b="0" dirty="0">
                <a:solidFill>
                  <a:srgbClr val="F2F2F2"/>
                </a:solidFill>
              </a:rPr>
              <a:t>Validation</a:t>
            </a:r>
          </a:p>
        </p:txBody>
      </p:sp>
      <p:sp>
        <p:nvSpPr>
          <p:cNvPr id="11" name="Step 2"/>
          <p:cNvSpPr/>
          <p:nvPr/>
        </p:nvSpPr>
        <p:spPr>
          <a:xfrm>
            <a:off x="3429000" y="1828800"/>
            <a:ext cx="2743200" cy="660400"/>
          </a:xfrm>
          <a:prstGeom prst="chevron">
            <a:avLst>
              <a:gd name="adj" fmla="val 30000"/>
            </a:avLst>
          </a:prstGeom>
          <a:solidFill>
            <a:srgbClr val="FFFFFF">
              <a:alpha val="14000"/>
            </a:srgbClr>
          </a:solidFill>
          <a:ln>
            <a:noFill/>
          </a:ln>
        </p:spPr>
        <p:txBody>
          <a:bodyPr wrap="square" lIns="330200" tIns="0" rIns="254000" bIns="0" anchor="ctr">
            <a:noAutofit/>
          </a:bodyPr>
          <a:lstStyle/>
          <a:p>
            <a:pPr marL="0" indent="0" algn="ctr">
              <a:lnSpc>
                <a:spcPct val="130000"/>
              </a:lnSpc>
              <a:spcBef>
                <a:spcPts val="0"/>
              </a:spcBef>
              <a:spcAft>
                <a:spcPts val="0"/>
              </a:spcAft>
              <a:buNone/>
            </a:pPr>
            <a:r>
              <a:rPr lang="en-US" sz="1700" b="0" dirty="0">
                <a:solidFill>
                  <a:srgbClr val="F2F2F2"/>
                </a:solidFill>
              </a:rPr>
              <a:t>Surveillance</a:t>
            </a:r>
          </a:p>
        </p:txBody>
      </p:sp>
      <p:sp>
        <p:nvSpPr>
          <p:cNvPr id="12" name="Step 3"/>
          <p:cNvSpPr/>
          <p:nvPr/>
        </p:nvSpPr>
        <p:spPr>
          <a:xfrm>
            <a:off x="6019800" y="1828800"/>
            <a:ext cx="2743200" cy="660400"/>
          </a:xfrm>
          <a:prstGeom prst="chevron">
            <a:avLst>
              <a:gd name="adj" fmla="val 30000"/>
            </a:avLst>
          </a:prstGeom>
          <a:solidFill>
            <a:srgbClr val="FFFFFF">
              <a:alpha val="14000"/>
            </a:srgbClr>
          </a:solidFill>
          <a:ln>
            <a:noFill/>
          </a:ln>
        </p:spPr>
        <p:txBody>
          <a:bodyPr wrap="square" lIns="330200" tIns="0" rIns="254000" bIns="0" anchor="ctr">
            <a:noAutofit/>
          </a:bodyPr>
          <a:lstStyle/>
          <a:p>
            <a:pPr marL="0" indent="0" algn="ctr">
              <a:lnSpc>
                <a:spcPct val="130000"/>
              </a:lnSpc>
              <a:spcBef>
                <a:spcPts val="0"/>
              </a:spcBef>
              <a:spcAft>
                <a:spcPts val="0"/>
              </a:spcAft>
              <a:buNone/>
            </a:pPr>
            <a:r>
              <a:rPr lang="en-US" sz="1700" b="0" dirty="0">
                <a:solidFill>
                  <a:srgbClr val="F2F2F2"/>
                </a:solidFill>
              </a:rPr>
              <a:t>Mechanism</a:t>
            </a:r>
          </a:p>
        </p:txBody>
      </p:sp>
      <p:sp>
        <p:nvSpPr>
          <p:cNvPr id="13" name="Step 4"/>
          <p:cNvSpPr/>
          <p:nvPr/>
        </p:nvSpPr>
        <p:spPr>
          <a:xfrm>
            <a:off x="8610600" y="1828800"/>
            <a:ext cx="2743200" cy="660400"/>
          </a:xfrm>
          <a:prstGeom prst="chevron">
            <a:avLst>
              <a:gd name="adj" fmla="val 30000"/>
            </a:avLst>
          </a:prstGeom>
          <a:solidFill>
            <a:srgbClr val="E97132"/>
          </a:solidFill>
          <a:ln>
            <a:noFill/>
          </a:ln>
        </p:spPr>
        <p:txBody>
          <a:bodyPr wrap="square" lIns="330200" tIns="0" rIns="254000" bIns="0" anchor="ctr">
            <a:noAutofit/>
          </a:bodyPr>
          <a:lstStyle/>
          <a:p>
            <a:pPr marL="0" indent="0" algn="ctr">
              <a:lnSpc>
                <a:spcPct val="130000"/>
              </a:lnSpc>
              <a:spcBef>
                <a:spcPts val="0"/>
              </a:spcBef>
              <a:spcAft>
                <a:spcPts val="0"/>
              </a:spcAft>
              <a:buNone/>
            </a:pPr>
            <a:r>
              <a:rPr lang="en-US" sz="1700" b="0" dirty="0">
                <a:solidFill>
                  <a:srgbClr val="0B1530"/>
                </a:solidFill>
              </a:rPr>
              <a:t>Implementation</a:t>
            </a:r>
          </a:p>
        </p:txBody>
      </p:sp>
      <p:sp>
        <p:nvSpPr>
          <p:cNvPr id="15" name="Flow caption"/>
          <p:cNvSpPr/>
          <p:nvPr/>
        </p:nvSpPr>
        <p:spPr>
          <a:xfrm>
            <a:off x="749300" y="2641600"/>
            <a:ext cx="10515600" cy="355600"/>
          </a:xfrm>
          <a:prstGeom prst="rect">
            <a:avLst/>
          </a:prstGeom>
          <a:noFill/>
          <a:ln>
            <a:noFill/>
          </a:ln>
        </p:spPr>
        <p:txBody>
          <a:bodyPr wrap="square" lIns="91440" tIns="0" rIns="91440" bIns="0" anchor="ctr">
            <a:noAutofit/>
          </a:bodyPr>
          <a:lstStyle/>
          <a:p>
            <a:pPr marL="0" indent="0" algn="l">
              <a:lnSpc>
                <a:spcPct val="130000"/>
              </a:lnSpc>
              <a:spcBef>
                <a:spcPts val="0"/>
              </a:spcBef>
              <a:spcAft>
                <a:spcPts val="0"/>
              </a:spcAft>
              <a:buNone/>
            </a:pPr>
            <a:r>
              <a:rPr lang="en-US" sz="1500" b="0" dirty="0">
                <a:solidFill>
                  <a:srgbClr val="B8C2D3"/>
                </a:solidFill>
              </a:rPr>
              <a:t>One program of work with one government partner</a:t>
            </a:r>
          </a:p>
        </p:txBody>
      </p:sp>
      <p:sp>
        <p:nvSpPr>
          <p:cNvPr id="20" name="Why heading"/>
          <p:cNvSpPr/>
          <p:nvPr/>
        </p:nvSpPr>
        <p:spPr>
          <a:xfrm>
            <a:off x="838200" y="3251200"/>
            <a:ext cx="10515600" cy="304800"/>
          </a:xfrm>
          <a:prstGeom prst="rect">
            <a:avLst/>
          </a:prstGeom>
          <a:noFill/>
          <a:ln>
            <a:noFill/>
          </a:ln>
        </p:spPr>
        <p:txBody>
          <a:bodyPr wrap="square" lIns="0" tIns="0" rIns="0" bIns="0" anchor="ctr">
            <a:noAutofit/>
          </a:bodyPr>
          <a:lstStyle/>
          <a:p>
            <a:pPr marL="0" indent="0" algn="l">
              <a:lnSpc>
                <a:spcPct val="130000"/>
              </a:lnSpc>
              <a:spcBef>
                <a:spcPts val="0"/>
              </a:spcBef>
              <a:spcAft>
                <a:spcPts val="0"/>
              </a:spcAft>
              <a:buNone/>
            </a:pPr>
            <a:r>
              <a:rPr lang="en-US" sz="1800" b="0" dirty="0">
                <a:solidFill>
                  <a:srgbClr val="E97132"/>
                </a:solidFill>
              </a:rPr>
              <a:t>Why it worked</a:t>
            </a:r>
          </a:p>
        </p:txBody>
      </p:sp>
      <p:sp>
        <p:nvSpPr>
          <p:cNvPr id="21" name="Reason 1"/>
          <p:cNvSpPr/>
          <p:nvPr/>
        </p:nvSpPr>
        <p:spPr>
          <a:xfrm>
            <a:off x="838200" y="3708400"/>
            <a:ext cx="5156200" cy="1905000"/>
          </a:xfrm>
          <a:prstGeom prst="rect">
            <a:avLst/>
          </a:prstGeom>
          <a:solidFill>
            <a:srgbClr val="FFFFFF">
              <a:alpha val="8000"/>
            </a:srgbClr>
          </a:solidFill>
          <a:ln w="9525">
            <a:solidFill>
              <a:srgbClr val="FFFFFF">
                <a:alpha val="20000"/>
              </a:srgbClr>
            </a:solidFill>
          </a:ln>
        </p:spPr>
        <p:txBody>
          <a:bodyPr wrap="square" lIns="203200" tIns="177800" rIns="203200" bIns="177800" anchor="t">
            <a:noAutofit/>
          </a:bodyPr>
          <a:lstStyle/>
          <a:p>
            <a:pPr marL="0" indent="0" algn="l">
              <a:lnSpc>
                <a:spcPct val="130000"/>
              </a:lnSpc>
              <a:spcBef>
                <a:spcPts val="0"/>
              </a:spcBef>
              <a:spcAft>
                <a:spcPts val="600"/>
              </a:spcAft>
              <a:buNone/>
            </a:pPr>
            <a:r>
              <a:rPr lang="en-US" sz="2600" b="0" dirty="0">
                <a:solidFill>
                  <a:srgbClr val="E97132"/>
                </a:solidFill>
              </a:rPr>
              <a:t>Years → months</a:t>
            </a:r>
          </a:p>
          <a:p>
            <a:pPr marL="0" indent="0" algn="l">
              <a:lnSpc>
                <a:spcPct val="130000"/>
              </a:lnSpc>
              <a:spcBef>
                <a:spcPts val="0"/>
              </a:spcBef>
              <a:spcAft>
                <a:spcPts val="0"/>
              </a:spcAft>
              <a:buNone/>
            </a:pPr>
            <a:r>
              <a:rPr lang="en-US" sz="1600" b="0" dirty="0">
                <a:solidFill>
                  <a:srgbClr val="F2F2F2"/>
                </a:solidFill>
              </a:rPr>
              <a:t>Ministry co-ownership from protocol design cut evidence-to-policy time</a:t>
            </a:r>
          </a:p>
        </p:txBody>
      </p:sp>
      <p:sp>
        <p:nvSpPr>
          <p:cNvPr id="22" name="Reason 2"/>
          <p:cNvSpPr/>
          <p:nvPr/>
        </p:nvSpPr>
        <p:spPr>
          <a:xfrm>
            <a:off x="6197600" y="3708400"/>
            <a:ext cx="5156200" cy="1905000"/>
          </a:xfrm>
          <a:prstGeom prst="rect">
            <a:avLst/>
          </a:prstGeom>
          <a:solidFill>
            <a:srgbClr val="FFFFFF">
              <a:alpha val="8000"/>
            </a:srgbClr>
          </a:solidFill>
          <a:ln w="9525">
            <a:solidFill>
              <a:srgbClr val="FFFFFF">
                <a:alpha val="20000"/>
              </a:srgbClr>
            </a:solidFill>
          </a:ln>
        </p:spPr>
        <p:txBody>
          <a:bodyPr wrap="square" lIns="203200" tIns="177800" rIns="203200" bIns="177800" anchor="t">
            <a:noAutofit/>
          </a:bodyPr>
          <a:lstStyle/>
          <a:p>
            <a:pPr marL="0" indent="0" algn="l">
              <a:lnSpc>
                <a:spcPct val="130000"/>
              </a:lnSpc>
              <a:spcBef>
                <a:spcPts val="0"/>
              </a:spcBef>
              <a:spcAft>
                <a:spcPts val="600"/>
              </a:spcAft>
              <a:buNone/>
            </a:pPr>
            <a:r>
              <a:rPr lang="en-US" sz="2600" b="0" dirty="0">
                <a:solidFill>
                  <a:srgbClr val="E97132"/>
                </a:solidFill>
              </a:rPr>
              <a:t>Transferable</a:t>
            </a:r>
          </a:p>
          <a:p>
            <a:pPr marL="0" indent="0" algn="l">
              <a:lnSpc>
                <a:spcPct val="130000"/>
              </a:lnSpc>
              <a:spcBef>
                <a:spcPts val="0"/>
              </a:spcBef>
              <a:spcAft>
                <a:spcPts val="0"/>
              </a:spcAft>
              <a:buNone/>
            </a:pPr>
            <a:r>
              <a:rPr lang="en-US" sz="1600" b="0" dirty="0">
                <a:solidFill>
                  <a:srgbClr val="F2F2F2"/>
                </a:solidFill>
              </a:rPr>
              <a:t>Instruments, sampling in insecure areas and the partnership structure work in other conflict-affected settings</a:t>
            </a:r>
          </a:p>
        </p:txBody>
      </p:sp>
    </p:spTree>
    <p:extLst>
      <p:ext uri="{BB962C8B-B14F-4D97-AF65-F5344CB8AC3E}">
        <p14:creationId xmlns:p14="http://schemas.microsoft.com/office/powerpoint/2010/main" val="2870643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 Ask of This Room</a:t>
            </a:r>
          </a:p>
        </p:txBody>
      </p:sp>
      <p:sp>
        <p:nvSpPr>
          <p:cNvPr id="10" name="Ask 1"/>
          <p:cNvSpPr/>
          <p:nvPr/>
        </p:nvSpPr>
        <p:spPr>
          <a:xfrm>
            <a:off x="838200" y="2032000"/>
            <a:ext cx="3369733" cy="2616200"/>
          </a:xfrm>
          <a:prstGeom prst="rect">
            <a:avLst/>
          </a:prstGeom>
          <a:solidFill>
            <a:srgbClr val="FFFFFF">
              <a:alpha val="8000"/>
            </a:srgbClr>
          </a:solidFill>
          <a:ln w="9525">
            <a:solidFill>
              <a:srgbClr val="FFFFFF">
                <a:alpha val="20000"/>
              </a:srgbClr>
            </a:solidFill>
          </a:ln>
        </p:spPr>
        <p:txBody>
          <a:bodyPr wrap="square" lIns="228600" tIns="1066800" rIns="228600" bIns="203200" anchor="t">
            <a:noAutofit/>
          </a:bodyPr>
          <a:lstStyle/>
          <a:p>
            <a:pPr marL="0" indent="0" algn="l">
              <a:lnSpc>
                <a:spcPct val="130000"/>
              </a:lnSpc>
              <a:spcBef>
                <a:spcPts val="0"/>
              </a:spcBef>
              <a:spcAft>
                <a:spcPts val="800"/>
              </a:spcAft>
              <a:buNone/>
            </a:pPr>
            <a:r>
              <a:rPr lang="en-US" sz="2200" b="0" dirty="0">
                <a:solidFill>
                  <a:srgbClr val="F2F2F2"/>
                </a:solidFill>
              </a:rPr>
              <a:t>Research</a:t>
            </a:r>
          </a:p>
          <a:p>
            <a:pPr marL="0" indent="0" algn="l">
              <a:lnSpc>
                <a:spcPct val="130000"/>
              </a:lnSpc>
              <a:spcBef>
                <a:spcPts val="0"/>
              </a:spcBef>
              <a:spcAft>
                <a:spcPts val="0"/>
              </a:spcAft>
              <a:buNone/>
            </a:pPr>
            <a:r>
              <a:rPr lang="en-US" sz="1700" b="0" dirty="0">
                <a:solidFill>
                  <a:srgbClr val="C9D1DE"/>
                </a:solidFill>
              </a:rPr>
              <a:t>Partnership on longitudinal and intervention questions</a:t>
            </a:r>
          </a:p>
        </p:txBody>
      </p:sp>
      <p:sp>
        <p:nvSpPr>
          <p:cNvPr id="11" name="Ask 2"/>
          <p:cNvSpPr/>
          <p:nvPr/>
        </p:nvSpPr>
        <p:spPr>
          <a:xfrm>
            <a:off x="4411133" y="2032000"/>
            <a:ext cx="3369733" cy="2616200"/>
          </a:xfrm>
          <a:prstGeom prst="rect">
            <a:avLst/>
          </a:prstGeom>
          <a:solidFill>
            <a:srgbClr val="FFFFFF">
              <a:alpha val="8000"/>
            </a:srgbClr>
          </a:solidFill>
          <a:ln w="9525">
            <a:solidFill>
              <a:srgbClr val="FFFFFF">
                <a:alpha val="20000"/>
              </a:srgbClr>
            </a:solidFill>
          </a:ln>
        </p:spPr>
        <p:txBody>
          <a:bodyPr wrap="square" lIns="228600" tIns="1066800" rIns="228600" bIns="203200" anchor="t">
            <a:noAutofit/>
          </a:bodyPr>
          <a:lstStyle/>
          <a:p>
            <a:pPr marL="0" indent="0" algn="l">
              <a:lnSpc>
                <a:spcPct val="130000"/>
              </a:lnSpc>
              <a:spcBef>
                <a:spcPts val="0"/>
              </a:spcBef>
              <a:spcAft>
                <a:spcPts val="800"/>
              </a:spcAft>
              <a:buNone/>
            </a:pPr>
            <a:r>
              <a:rPr lang="en-US" sz="2200" b="0" dirty="0">
                <a:solidFill>
                  <a:srgbClr val="F2F2F2"/>
                </a:solidFill>
              </a:rPr>
              <a:t>Technical support</a:t>
            </a:r>
          </a:p>
          <a:p>
            <a:pPr marL="0" indent="0" algn="l">
              <a:lnSpc>
                <a:spcPct val="130000"/>
              </a:lnSpc>
              <a:spcBef>
                <a:spcPts val="0"/>
              </a:spcBef>
              <a:spcAft>
                <a:spcPts val="0"/>
              </a:spcAft>
              <a:buNone/>
            </a:pPr>
            <a:r>
              <a:rPr lang="en-US" sz="1700" b="0" dirty="0">
                <a:solidFill>
                  <a:srgbClr val="C9D1DE"/>
                </a:solidFill>
              </a:rPr>
              <a:t>To institutionalize surveillance</a:t>
            </a:r>
          </a:p>
        </p:txBody>
      </p:sp>
      <p:sp>
        <p:nvSpPr>
          <p:cNvPr id="12" name="Ask 3"/>
          <p:cNvSpPr/>
          <p:nvPr/>
        </p:nvSpPr>
        <p:spPr>
          <a:xfrm>
            <a:off x="7984067" y="2032000"/>
            <a:ext cx="3369733" cy="2616200"/>
          </a:xfrm>
          <a:prstGeom prst="rect">
            <a:avLst/>
          </a:prstGeom>
          <a:solidFill>
            <a:srgbClr val="FFFFFF">
              <a:alpha val="8000"/>
            </a:srgbClr>
          </a:solidFill>
          <a:ln w="9525">
            <a:solidFill>
              <a:srgbClr val="FFFFFF">
                <a:alpha val="20000"/>
              </a:srgbClr>
            </a:solidFill>
          </a:ln>
        </p:spPr>
        <p:txBody>
          <a:bodyPr wrap="square" lIns="228600" tIns="1066800" rIns="228600" bIns="203200" anchor="t">
            <a:noAutofit/>
          </a:bodyPr>
          <a:lstStyle/>
          <a:p>
            <a:pPr marL="0" indent="0" algn="l">
              <a:lnSpc>
                <a:spcPct val="130000"/>
              </a:lnSpc>
              <a:spcBef>
                <a:spcPts val="0"/>
              </a:spcBef>
              <a:spcAft>
                <a:spcPts val="800"/>
              </a:spcAft>
              <a:buNone/>
            </a:pPr>
            <a:r>
              <a:rPr lang="en-US" sz="2200" b="0" dirty="0">
                <a:solidFill>
                  <a:srgbClr val="F2F2F2"/>
                </a:solidFill>
              </a:rPr>
              <a:t>Financing</a:t>
            </a:r>
          </a:p>
          <a:p>
            <a:pPr marL="0" indent="0" algn="l">
              <a:lnSpc>
                <a:spcPct val="130000"/>
              </a:lnSpc>
              <a:spcBef>
                <a:spcPts val="0"/>
              </a:spcBef>
              <a:spcAft>
                <a:spcPts val="0"/>
              </a:spcAft>
              <a:buNone/>
            </a:pPr>
            <a:r>
              <a:rPr lang="en-US" sz="1700" b="0" dirty="0">
                <a:solidFill>
                  <a:srgbClr val="C9D1DE"/>
                </a:solidFill>
              </a:rPr>
              <a:t>Partners for the two-tier scale-up</a:t>
            </a:r>
          </a:p>
        </p:txBody>
      </p:sp>
      <p:pic>
        <p:nvPicPr>
          <p:cNvPr id="22" name="Graphic 22" descr="Research partnership"/>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6800" y="2235200"/>
            <a:ext cx="558800" cy="558800"/>
          </a:xfrm>
          <a:prstGeom prst="rect">
            <a:avLst/>
          </a:prstGeom>
        </p:spPr>
      </p:pic>
      <p:pic>
        <p:nvPicPr>
          <p:cNvPr id="23" name="Graphic 23" descr="Technical support"/>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08500" y="2235200"/>
            <a:ext cx="558800" cy="558800"/>
          </a:xfrm>
          <a:prstGeom prst="rect">
            <a:avLst/>
          </a:prstGeom>
        </p:spPr>
      </p:pic>
      <p:pic>
        <p:nvPicPr>
          <p:cNvPr id="24" name="Graphic 24" descr="Financi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500" y="2235200"/>
            <a:ext cx="558800" cy="558800"/>
          </a:xfrm>
          <a:prstGeom prst="rect">
            <a:avLst/>
          </a:prstGeom>
        </p:spPr>
      </p:pic>
    </p:spTree>
    <p:extLst>
      <p:ext uri="{BB962C8B-B14F-4D97-AF65-F5344CB8AC3E}">
        <p14:creationId xmlns:p14="http://schemas.microsoft.com/office/powerpoint/2010/main" val="1135525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a:t>
            </a:r>
          </a:p>
        </p:txBody>
      </p:sp>
      <p:sp>
        <p:nvSpPr>
          <p:cNvPr id="10" name="Num 1"/>
          <p:cNvSpPr/>
          <p:nvPr/>
        </p:nvSpPr>
        <p:spPr>
          <a:xfrm>
            <a:off x="838200" y="1879600"/>
            <a:ext cx="762000" cy="939800"/>
          </a:xfrm>
          <a:prstGeom prst="rect">
            <a:avLst/>
          </a:prstGeom>
          <a:noFill/>
          <a:ln>
            <a:noFill/>
          </a:ln>
        </p:spPr>
        <p:txBody>
          <a:bodyPr wrap="square" lIns="91440" tIns="0" rIns="91440" bIns="0" anchor="ctr">
            <a:noAutofit/>
          </a:bodyPr>
          <a:lstStyle/>
          <a:p>
            <a:pPr marL="0" indent="0" algn="l">
              <a:lnSpc>
                <a:spcPct val="100000"/>
              </a:lnSpc>
              <a:spcBef>
                <a:spcPts val="0"/>
              </a:spcBef>
              <a:spcAft>
                <a:spcPts val="0"/>
              </a:spcAft>
              <a:buNone/>
            </a:pPr>
            <a:r>
              <a:rPr lang="en-US" sz="3600" b="0" dirty="0">
                <a:solidFill>
                  <a:srgbClr val="E97132"/>
                </a:solidFill>
              </a:rPr>
              <a:t>1</a:t>
            </a:r>
          </a:p>
        </p:txBody>
      </p:sp>
      <p:sp>
        <p:nvSpPr>
          <p:cNvPr id="20" name="Point 1"/>
          <p:cNvSpPr/>
          <p:nvPr/>
        </p:nvSpPr>
        <p:spPr>
          <a:xfrm>
            <a:off x="1651000" y="1879600"/>
            <a:ext cx="9702800" cy="939800"/>
          </a:xfrm>
          <a:prstGeom prst="rect">
            <a:avLst/>
          </a:prstGeom>
          <a:noFill/>
          <a:ln>
            <a:noFill/>
          </a:ln>
        </p:spPr>
        <p:txBody>
          <a:bodyPr wrap="square" lIns="91440" tIns="0" rIns="91440" bIns="0" anchor="ctr">
            <a:noAutofit/>
          </a:bodyPr>
          <a:lstStyle/>
          <a:p>
            <a:pPr marL="0" indent="0" algn="l">
              <a:lnSpc>
                <a:spcPct val="130000"/>
              </a:lnSpc>
              <a:spcBef>
                <a:spcPts val="0"/>
              </a:spcBef>
              <a:spcAft>
                <a:spcPts val="0"/>
              </a:spcAft>
              <a:buNone/>
            </a:pPr>
            <a:r>
              <a:rPr lang="en-US" sz="1900" dirty="0">
                <a:solidFill>
                  <a:srgbClr val="F2F2F2"/>
                </a:solidFill>
              </a:rPr>
              <a:t>Context specific v</a:t>
            </a:r>
            <a:r>
              <a:rPr lang="en-US" sz="1900" b="0" dirty="0">
                <a:solidFill>
                  <a:srgbClr val="F2F2F2"/>
                </a:solidFill>
              </a:rPr>
              <a:t>alidated instruments, burden estimates, and evidence on who needs which service</a:t>
            </a:r>
          </a:p>
        </p:txBody>
      </p:sp>
      <p:cxnSp>
        <p:nvCxnSpPr>
          <p:cNvPr id="30" name="Divider 30"/>
          <p:cNvCxnSpPr/>
          <p:nvPr/>
        </p:nvCxnSpPr>
        <p:spPr>
          <a:xfrm>
            <a:off x="838200" y="2882900"/>
            <a:ext cx="10515600" cy="0"/>
          </a:xfrm>
          <a:prstGeom prst="line">
            <a:avLst/>
          </a:prstGeom>
          <a:ln w="9525">
            <a:solidFill>
              <a:srgbClr val="FFFFFF">
                <a:alpha val="25000"/>
              </a:srgbClr>
            </a:solidFill>
          </a:ln>
        </p:spPr>
      </p:cxnSp>
      <p:sp>
        <p:nvSpPr>
          <p:cNvPr id="11" name="Num 2"/>
          <p:cNvSpPr/>
          <p:nvPr/>
        </p:nvSpPr>
        <p:spPr>
          <a:xfrm>
            <a:off x="838200" y="2946400"/>
            <a:ext cx="762000" cy="939800"/>
          </a:xfrm>
          <a:prstGeom prst="rect">
            <a:avLst/>
          </a:prstGeom>
          <a:noFill/>
          <a:ln>
            <a:noFill/>
          </a:ln>
        </p:spPr>
        <p:txBody>
          <a:bodyPr wrap="square" lIns="91440" tIns="0" rIns="91440" bIns="0" anchor="ctr">
            <a:noAutofit/>
          </a:bodyPr>
          <a:lstStyle/>
          <a:p>
            <a:pPr marL="0" indent="0" algn="l">
              <a:lnSpc>
                <a:spcPct val="100000"/>
              </a:lnSpc>
              <a:spcBef>
                <a:spcPts val="0"/>
              </a:spcBef>
              <a:spcAft>
                <a:spcPts val="0"/>
              </a:spcAft>
              <a:buNone/>
            </a:pPr>
            <a:r>
              <a:rPr lang="en-US" sz="3600" b="0" dirty="0">
                <a:solidFill>
                  <a:srgbClr val="E97132"/>
                </a:solidFill>
              </a:rPr>
              <a:t>2</a:t>
            </a:r>
          </a:p>
        </p:txBody>
      </p:sp>
      <p:sp>
        <p:nvSpPr>
          <p:cNvPr id="21" name="Point 2"/>
          <p:cNvSpPr/>
          <p:nvPr/>
        </p:nvSpPr>
        <p:spPr>
          <a:xfrm>
            <a:off x="1651000" y="2946400"/>
            <a:ext cx="9702800" cy="939800"/>
          </a:xfrm>
          <a:prstGeom prst="rect">
            <a:avLst/>
          </a:prstGeom>
          <a:noFill/>
          <a:ln>
            <a:noFill/>
          </a:ln>
        </p:spPr>
        <p:txBody>
          <a:bodyPr wrap="square" lIns="91440" tIns="0" rIns="91440" bIns="0" anchor="ctr">
            <a:noAutofit/>
          </a:bodyPr>
          <a:lstStyle/>
          <a:p>
            <a:pPr marL="0" indent="0" algn="l">
              <a:lnSpc>
                <a:spcPct val="130000"/>
              </a:lnSpc>
              <a:spcBef>
                <a:spcPts val="0"/>
              </a:spcBef>
              <a:spcAft>
                <a:spcPts val="0"/>
              </a:spcAft>
              <a:buNone/>
            </a:pPr>
            <a:r>
              <a:rPr lang="en-US" sz="1900" b="0" dirty="0">
                <a:solidFill>
                  <a:srgbClr val="F2F2F2"/>
                </a:solidFill>
              </a:rPr>
              <a:t>The response should match the evidence: calibrated screening, needs-based allocation, camp action, and two-tier services</a:t>
            </a:r>
          </a:p>
        </p:txBody>
      </p:sp>
      <p:cxnSp>
        <p:nvCxnSpPr>
          <p:cNvPr id="31" name="Divider 31"/>
          <p:cNvCxnSpPr/>
          <p:nvPr/>
        </p:nvCxnSpPr>
        <p:spPr>
          <a:xfrm>
            <a:off x="838200" y="3949700"/>
            <a:ext cx="10515600" cy="0"/>
          </a:xfrm>
          <a:prstGeom prst="line">
            <a:avLst/>
          </a:prstGeom>
          <a:ln w="9525">
            <a:solidFill>
              <a:srgbClr val="FFFFFF">
                <a:alpha val="25000"/>
              </a:srgbClr>
            </a:solidFill>
          </a:ln>
        </p:spPr>
      </p:cxnSp>
      <p:sp>
        <p:nvSpPr>
          <p:cNvPr id="12" name="Num 3"/>
          <p:cNvSpPr/>
          <p:nvPr/>
        </p:nvSpPr>
        <p:spPr>
          <a:xfrm>
            <a:off x="838200" y="4013200"/>
            <a:ext cx="762000" cy="939800"/>
          </a:xfrm>
          <a:prstGeom prst="rect">
            <a:avLst/>
          </a:prstGeom>
          <a:noFill/>
          <a:ln>
            <a:noFill/>
          </a:ln>
        </p:spPr>
        <p:txBody>
          <a:bodyPr wrap="square" lIns="91440" tIns="0" rIns="91440" bIns="0" anchor="ctr">
            <a:noAutofit/>
          </a:bodyPr>
          <a:lstStyle/>
          <a:p>
            <a:pPr marL="0" indent="0" algn="l">
              <a:lnSpc>
                <a:spcPct val="100000"/>
              </a:lnSpc>
              <a:spcBef>
                <a:spcPts val="0"/>
              </a:spcBef>
              <a:spcAft>
                <a:spcPts val="0"/>
              </a:spcAft>
              <a:buNone/>
            </a:pPr>
            <a:r>
              <a:rPr lang="en-US" sz="3600" b="0" dirty="0">
                <a:solidFill>
                  <a:srgbClr val="E97132"/>
                </a:solidFill>
              </a:rPr>
              <a:t>3</a:t>
            </a:r>
          </a:p>
        </p:txBody>
      </p:sp>
      <p:sp>
        <p:nvSpPr>
          <p:cNvPr id="22" name="Point 3"/>
          <p:cNvSpPr/>
          <p:nvPr/>
        </p:nvSpPr>
        <p:spPr>
          <a:xfrm>
            <a:off x="1651000" y="4013200"/>
            <a:ext cx="9702800" cy="939800"/>
          </a:xfrm>
          <a:prstGeom prst="rect">
            <a:avLst/>
          </a:prstGeom>
          <a:noFill/>
          <a:ln>
            <a:noFill/>
          </a:ln>
        </p:spPr>
        <p:txBody>
          <a:bodyPr wrap="square" lIns="91440" tIns="0" rIns="91440" bIns="0" anchor="ctr">
            <a:noAutofit/>
          </a:bodyPr>
          <a:lstStyle/>
          <a:p>
            <a:pPr marL="0" indent="0" algn="l">
              <a:lnSpc>
                <a:spcPct val="130000"/>
              </a:lnSpc>
              <a:spcBef>
                <a:spcPts val="0"/>
              </a:spcBef>
              <a:spcAft>
                <a:spcPts val="0"/>
              </a:spcAft>
              <a:buNone/>
            </a:pPr>
            <a:r>
              <a:rPr lang="en-US" sz="1900" dirty="0">
                <a:solidFill>
                  <a:srgbClr val="F2F2F2"/>
                </a:solidFill>
              </a:rPr>
              <a:t>Intentional p</a:t>
            </a:r>
            <a:r>
              <a:rPr lang="en-US" sz="1900" b="0" dirty="0">
                <a:solidFill>
                  <a:srgbClr val="F2F2F2"/>
                </a:solidFill>
              </a:rPr>
              <a:t>artnerships between institutions and governmental agencie</a:t>
            </a:r>
            <a:r>
              <a:rPr lang="en-US" sz="1900" dirty="0">
                <a:solidFill>
                  <a:srgbClr val="F2F2F2"/>
                </a:solidFill>
              </a:rPr>
              <a:t>s improves transition from research to implementation</a:t>
            </a:r>
            <a:endParaRPr lang="en-US" sz="1900" b="0" dirty="0">
              <a:solidFill>
                <a:srgbClr val="F2F2F2"/>
              </a:solidFill>
            </a:endParaRPr>
          </a:p>
        </p:txBody>
      </p:sp>
      <p:sp>
        <p:nvSpPr>
          <p:cNvPr id="40" name="Thanks"/>
          <p:cNvSpPr/>
          <p:nvPr/>
        </p:nvSpPr>
        <p:spPr>
          <a:xfrm>
            <a:off x="838200" y="5207000"/>
            <a:ext cx="10648950" cy="508000"/>
          </a:xfrm>
          <a:prstGeom prst="rect">
            <a:avLst/>
          </a:prstGeom>
          <a:noFill/>
          <a:ln>
            <a:noFill/>
          </a:ln>
        </p:spPr>
        <p:txBody>
          <a:bodyPr wrap="square" lIns="91440" tIns="0" rIns="91440" bIns="0" anchor="ctr">
            <a:noAutofit/>
          </a:bodyPr>
          <a:lstStyle/>
          <a:p>
            <a:pPr marL="0" indent="0" algn="l">
              <a:lnSpc>
                <a:spcPct val="130000"/>
              </a:lnSpc>
              <a:spcBef>
                <a:spcPts val="0"/>
              </a:spcBef>
              <a:spcAft>
                <a:spcPts val="0"/>
              </a:spcAft>
              <a:buNone/>
            </a:pPr>
            <a:r>
              <a:rPr lang="en-US" sz="2000" b="0" dirty="0">
                <a:solidFill>
                  <a:srgbClr val="E97132"/>
                </a:solidFill>
              </a:rPr>
              <a:t>Thank you, on behalf of the Federal Ministry of Health and Social Welfare</a:t>
            </a:r>
          </a:p>
        </p:txBody>
      </p:sp>
    </p:spTree>
    <p:extLst>
      <p:ext uri="{BB962C8B-B14F-4D97-AF65-F5344CB8AC3E}">
        <p14:creationId xmlns:p14="http://schemas.microsoft.com/office/powerpoint/2010/main" val="4213444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D531279-7FD5-D448-AB4C-F082C1B15DBA}">
  <we:reference id="WA200010001" version="1.0.0.1" store="Omex" storeType="OMEX"/>
  <we:alternateReferences>
    <we:reference id="WA200010001" version="1.0.0.1" store="WA200010001" storeType="OMEX"/>
  </we:alternateReferences>
  <we:properties>
    <we:property name="claude.fileId" value="&quot;b30ea1ae-b3ec-4d9d-9dd7-56613c3d7ed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6f9e34a-f673-4991-bd36-81c9500deaa7">
      <Terms xmlns="http://schemas.microsoft.com/office/infopath/2007/PartnerControls"/>
    </lcf76f155ced4ddcb4097134ff3c332f>
    <TaxCatchAll xmlns="0d455e71-3517-45a9-a939-bdf8808606a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4876336B1FEC34C9AF13CFD0682E5C4" ma:contentTypeVersion="15" ma:contentTypeDescription="Create a new document." ma:contentTypeScope="" ma:versionID="f930fe4fb9fc0775590c4daff8c16b97">
  <xsd:schema xmlns:xsd="http://www.w3.org/2001/XMLSchema" xmlns:xs="http://www.w3.org/2001/XMLSchema" xmlns:p="http://schemas.microsoft.com/office/2006/metadata/properties" xmlns:ns2="16f9e34a-f673-4991-bd36-81c9500deaa7" xmlns:ns3="0d455e71-3517-45a9-a939-bdf8808606ae" targetNamespace="http://schemas.microsoft.com/office/2006/metadata/properties" ma:root="true" ma:fieldsID="cde4bf3402db8cf643ee45ef11b54067" ns2:_="" ns3:_="">
    <xsd:import namespace="16f9e34a-f673-4991-bd36-81c9500deaa7"/>
    <xsd:import namespace="0d455e71-3517-45a9-a939-bdf880860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9e34a-f673-4991-bd36-81c9500de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22d6aeb-2130-4a19-b464-59cdf858f26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455e71-3517-45a9-a939-bdf880860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e837d8e-31af-40a5-9b44-e3432619d9a9}" ma:internalName="TaxCatchAll" ma:showField="CatchAllData" ma:web="0d455e71-3517-45a9-a939-bdf880860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461CDA-AB55-4D84-9CEF-669BCD74C02F}">
  <ds:schemaRefs>
    <ds:schemaRef ds:uri="http://schemas.microsoft.com/sharepoint/v3/contenttype/forms"/>
  </ds:schemaRefs>
</ds:datastoreItem>
</file>

<file path=customXml/itemProps2.xml><?xml version="1.0" encoding="utf-8"?>
<ds:datastoreItem xmlns:ds="http://schemas.openxmlformats.org/officeDocument/2006/customXml" ds:itemID="{5514700D-B035-4BA6-828A-0AE1243E6859}">
  <ds:schemaRefs>
    <ds:schemaRef ds:uri="http://schemas.microsoft.com/office/2006/metadata/properties"/>
    <ds:schemaRef ds:uri="http://schemas.microsoft.com/office/infopath/2007/PartnerControls"/>
    <ds:schemaRef ds:uri="16f9e34a-f673-4991-bd36-81c9500deaa7"/>
    <ds:schemaRef ds:uri="0d455e71-3517-45a9-a939-bdf8808606ae"/>
  </ds:schemaRefs>
</ds:datastoreItem>
</file>

<file path=customXml/itemProps3.xml><?xml version="1.0" encoding="utf-8"?>
<ds:datastoreItem xmlns:ds="http://schemas.openxmlformats.org/officeDocument/2006/customXml" ds:itemID="{1C096B2B-A652-4499-9E2B-71FAFA955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9e34a-f673-4991-bd36-81c9500deaa7"/>
    <ds:schemaRef ds:uri="0d455e71-3517-45a9-a939-bdf880860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555</TotalTime>
  <Words>1500</Words>
  <Application>Microsoft Macintosh PowerPoint</Application>
  <PresentationFormat>Widescreen</PresentationFormat>
  <Paragraphs>118</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From Evidence to Action: Translating MaRVIN Study Findings Into Policy Implementation Under Nigeria's 2021 Mental Health Act</vt:lpstr>
      <vt:lpstr>Continuing Medical Education Financial Disclosure </vt:lpstr>
      <vt:lpstr>Nigeria's Policy Moment</vt:lpstr>
      <vt:lpstr>What the Act Does Not Say</vt:lpstr>
      <vt:lpstr>Why the Ministry Co-Owned the Research</vt:lpstr>
      <vt:lpstr>What the Evidence Now Says — Four Findings</vt:lpstr>
      <vt:lpstr>From Each Finding to a Policy Lever</vt:lpstr>
      <vt:lpstr>Implementation Vehicles</vt:lpstr>
      <vt:lpstr>What the Workforce Numbers Require</vt:lpstr>
      <vt:lpstr>A Working Model Other Settings Can Copy</vt:lpstr>
      <vt:lpstr>What We Ask of This Room</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Brahlek</dc:creator>
  <cp:lastModifiedBy>Abba-Aji, Mohammed</cp:lastModifiedBy>
  <cp:revision>19</cp:revision>
  <dcterms:created xsi:type="dcterms:W3CDTF">2026-04-30T16:25:28Z</dcterms:created>
  <dcterms:modified xsi:type="dcterms:W3CDTF">2026-09-24T01:47:07Z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0x010100E4876336B1FEC34C9AF13CFD0682E5C4</vt:lpwstr>
  </property>
  <property fmtid="{D5CDD505-2E9C-101B-9397-08002B2CF9AE}" pid="3" name="MediaServiceImageTags">
    <vt:lpwstr/>
  </property>
</Properties>
</file>