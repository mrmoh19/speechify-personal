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9"/>
    <p:sldId id="259" r:id="rId8"/>
    <p:sldId id="260" r:id="rId7"/>
    <p:sldId id="261" r:id="rId17"/>
    <p:sldId id="262" r:id="rId18"/>
    <p:sldId id="263" r:id="rId19"/>
    <p:sldId id="264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919D0-9672-3B54-444D-474231CC376B}" v="27" dt="2026-05-05T17:49:24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Evans" userId="S::levans@parthenonmgmt.com::502e5b7e-0522-4e8f-98b1-099491360ecc" providerId="AD" clId="Web-{10A919D0-9672-3B54-444D-474231CC376B}"/>
    <pc:docChg chg="modSld">
      <pc:chgData name="Laura Evans" userId="S::levans@parthenonmgmt.com::502e5b7e-0522-4e8f-98b1-099491360ecc" providerId="AD" clId="Web-{10A919D0-9672-3B54-444D-474231CC376B}" dt="2026-05-05T17:49:24.769" v="29" actId="1076"/>
      <pc:docMkLst>
        <pc:docMk/>
      </pc:docMkLst>
      <pc:sldChg chg="modSp">
        <pc:chgData name="Laura Evans" userId="S::levans@parthenonmgmt.com::502e5b7e-0522-4e8f-98b1-099491360ecc" providerId="AD" clId="Web-{10A919D0-9672-3B54-444D-474231CC376B}" dt="2026-05-05T17:47:32.081" v="6" actId="20577"/>
        <pc:sldMkLst>
          <pc:docMk/>
          <pc:sldMk cId="1804320558" sldId="256"/>
        </pc:sldMkLst>
        <pc:spChg chg="mod">
          <ac:chgData name="Laura Evans" userId="S::levans@parthenonmgmt.com::502e5b7e-0522-4e8f-98b1-099491360ecc" providerId="AD" clId="Web-{10A919D0-9672-3B54-444D-474231CC376B}" dt="2026-05-05T17:47:32.081" v="6" actId="20577"/>
          <ac:spMkLst>
            <pc:docMk/>
            <pc:sldMk cId="1804320558" sldId="256"/>
            <ac:spMk id="2" creationId="{125018A9-85F0-3BCF-08E3-53242BED322C}"/>
          </ac:spMkLst>
        </pc:spChg>
      </pc:sldChg>
      <pc:sldChg chg="modSp">
        <pc:chgData name="Laura Evans" userId="S::levans@parthenonmgmt.com::502e5b7e-0522-4e8f-98b1-099491360ecc" providerId="AD" clId="Web-{10A919D0-9672-3B54-444D-474231CC376B}" dt="2026-05-05T17:49:24.769" v="29" actId="1076"/>
        <pc:sldMkLst>
          <pc:docMk/>
          <pc:sldMk cId="1217370416" sldId="257"/>
        </pc:sldMkLst>
        <pc:spChg chg="mod">
          <ac:chgData name="Laura Evans" userId="S::levans@parthenonmgmt.com::502e5b7e-0522-4e8f-98b1-099491360ecc" providerId="AD" clId="Web-{10A919D0-9672-3B54-444D-474231CC376B}" dt="2026-05-05T17:49:20.847" v="28" actId="1076"/>
          <ac:spMkLst>
            <pc:docMk/>
            <pc:sldMk cId="1217370416" sldId="257"/>
            <ac:spMk id="2" creationId="{8541808E-CCF4-3463-2FDA-3BA4D8F6B1F1}"/>
          </ac:spMkLst>
        </pc:spChg>
        <pc:spChg chg="mod">
          <ac:chgData name="Laura Evans" userId="S::levans@parthenonmgmt.com::502e5b7e-0522-4e8f-98b1-099491360ecc" providerId="AD" clId="Web-{10A919D0-9672-3B54-444D-474231CC376B}" dt="2026-05-05T17:49:24.769" v="29" actId="1076"/>
          <ac:spMkLst>
            <pc:docMk/>
            <pc:sldMk cId="1217370416" sldId="257"/>
            <ac:spMk id="3" creationId="{D81E43C8-B81F-911F-DFA1-9067AA2E8A2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chair. I speak for the Federal Ministry of Health and Social Welfare: what happens to this evidence after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financial relationships to disclose.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sixty-three years Nigeria's mental health law was the Lunacy Act of 1958 — custodial, colonial, silent on community care. The 2021 Act replaced it with a rights-based framework: primary care integration, community services, [the Department of Mental Health and the fund]. An Act is authority, not information. It cannot tell us how much need exists, where it sits, or which service belongs where. The ministry joined MaRVIN to answer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usual pipeline — researchers publish, ministries eventually read — takes years we do not have. We co-designed MaRVIN from the first protocol: the ministry's implementation questions shaped the instruments, the sampling, and the analysis. Four missing pieces blocked planning: validated tools, burden estimates, drivers, and a basis for matching services to need with a workforce of 250 psychiatrists.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findings, in the order you heard them today. The instruments work, but only with local calibration — the wrong cut-point would misplan the entire response. The burden is enormous and concentrated — by state and, more sharply, by community. The camp environment drives risk beyond the trauma count. And the saturation finding: services must be matched to trauma history, not delivered uniformly.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maps to a lever. The validation gives us a defensible national screening standard. The burden maps give us an allocation formula — need varies 28-fold, so budgets should not be uniform. The camp finding takes mental health policy beyond the health sector, into how camps are run. And saturation gives the service model: a broad scalable tier in primary care, and a specialist trauma-focused tier with clear referral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slide is Dr. Ojo's to fill with the ministry's actual vehicles and dates — the draft names the plausible set: screening standards into PHC protocols, task-sharing curricula, state desks, financing through the budget line or NHIA package, and MaRVIN as the baseline wave of a recurring national surveillance instrument.]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one psychiatrist per 800,000 people, the only honest plan is task-sharing — and the saturation evidence tells us it is also the right plan. Most of the affected population retains stress sensitivity and can be served by scalable, task-shared support in primary care. The smaller heavily-exposed group needs trauma-focused care, which is where scarce specialist capacity belongs. A brief trauma-history screen — feasible for lay workers with these validated tools — is the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three notes. First, the model: a ministry inside the research from day one turns a four-paper symposium into an implementation plan — other conflict-affected countries can copy the structure. Second, the commitments you saw two slides ago — [Dr. Ojo restates the two or three he owns]. Third, the ask: partners for the longitudinal and intervention trials the saturation finding demands, technical support to institutionalize surveillance, and financing for the two-tier scale-up. The evidence exists. The law exists. The remaining work is implementation, and that is the ministry's job — with your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the Act gave us the mandate; MaRVIN gave us the map. Screening standards, needs-based allocation, action on the camp environment, and a two-tier service model — that is the implementation agenda. Thank you, and thank you to the study communities, AFENET, and the research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2F07-ACD0-46D7-5BFB-BAA0E7043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8877-66BE-034D-D927-46D0CFC5C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59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7AD1-73C4-45F4-685A-791D9BA0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16B9-DA0F-8DBB-30CF-93F515B6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006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9D04-BFB6-D2BC-915D-4141F304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06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BB4D8-C7D6-5799-D878-9127D945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3941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844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3695-D63C-614A-592E-C7C8FACC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1E00-535F-7798-D7B7-5A0785FC9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184D3-E0CB-B543-4600-1FE46236B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729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8F22-5587-8C51-9F26-1E85693E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4F101-494F-5244-4B75-4BC8C06B7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A9443-1733-8D80-2317-10C962795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EE2E3-1BBA-B796-F81E-702496D22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D05EE-EFD6-E52C-CC7B-97E1B68F7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94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998D-6DCB-8761-7948-816D8008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70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95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78FD-4F04-A735-7227-DD9D0C87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ADDE-A346-86EE-C54B-288C8AFF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005A3-29D6-AA06-6647-2698D53E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9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1318-1CBF-6DBA-89C5-EB895780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2C6D3-53AB-5EF9-3972-451B42059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AF908-CEBB-39F5-AB46-A54554EF4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971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6688-A6E8-DA47-A8C6-286905CD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F5354-8E45-2730-2ADA-A07632389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887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2CACC-1178-676F-DA41-87E1A8685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34D08-8B2B-9DEF-6A0A-537FAE2CE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0608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5FE3E-9707-5232-D1A7-10EE269B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7243-EF1D-5BAF-7E5C-54B7AE289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649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18A9-85F0-3BCF-08E3-53242BED3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/>
              <a:t>From Evidence to Action: Translating MaRVIN Study Findings Into Policy Implementation Under Nigeria's 2021 Mental Health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44F12-169B-E2E1-BF80-C326C1BF9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Tunde MasseyFerguson Ojo, MBBS, MSc, FMCPsych</a:t>
            </a:r>
          </a:p>
          <a:p>
            <a:r>
              <a:rPr sz="1400">
                <a:solidFill>
                  <a:srgbClr val="898989"/>
                </a:solidFill>
              </a:rPr>
              <a:t>Federal Ministry of Health and Social Welfare, Nigeria · University of Abuja</a:t>
            </a:r>
          </a:p>
          <a:p>
            <a:r>
              <a:rPr sz="1300">
                <a:solidFill>
                  <a:srgbClr val="898989"/>
                </a:solidFill>
              </a:rPr>
              <a:t>ISTSS 42nd Annual Meeting · San Antonio, TX · 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180432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808E-CCF4-3463-2FDA-3BA4D8F6B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31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600">
                <a:solidFill>
                  <a:schemeClr val="bg1"/>
                </a:solidFill>
                <a:ea typeface="+mj-lt"/>
                <a:cs typeface="+mj-lt"/>
              </a:rPr>
              <a:t>Continuing Medical Education Financial Disclosure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E43C8-B81F-911F-DFA1-9067AA2E8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673"/>
            <a:ext cx="10515600" cy="414571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chemeClr val="bg1"/>
                </a:solidFill>
                <a:latin typeface="Aptos"/>
              </a:rPr>
              <a:t>Amedco</a:t>
            </a:r>
            <a:r>
              <a:rPr lang="en-US" sz="2400" dirty="0">
                <a:solidFill>
                  <a:schemeClr val="bg1"/>
                </a:solidFill>
                <a:latin typeface="Aptos"/>
              </a:rPr>
              <a:t>, our CME provider, asks that all individuals who have the ability to influence and/or control the content of this accredited activity disclose any/all relationships with ‎Ineligible Companies.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Aptos"/>
              </a:rPr>
              <a:t>This information is disclosed to CME activity participants, and </a:t>
            </a:r>
            <a:r>
              <a:rPr lang="en-US" sz="2400" dirty="0" err="1">
                <a:solidFill>
                  <a:schemeClr val="bg1"/>
                </a:solidFill>
                <a:latin typeface="Aptos"/>
              </a:rPr>
              <a:t>Amedco</a:t>
            </a:r>
            <a:r>
              <a:rPr lang="en-US" sz="2400" dirty="0">
                <a:solidFill>
                  <a:schemeClr val="bg1"/>
                </a:solidFill>
                <a:latin typeface="Aptos"/>
              </a:rPr>
              <a:t> has procedures in place to resolve any apparent conflicts. In addition, presenters are asked to disclose when any discussion of unapproved use of pharmaceuticals and devices are being discussed.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chemeClr val="bg1"/>
                </a:solidFill>
                <a:latin typeface="Aptos"/>
              </a:rPr>
              <a:t>In the past 24 months, I Tunde MasseyFerguson Ojo, have not had financial relationships with any ineligible companies.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737041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Nigeria's Policy Moment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The Mental Health Act (2021) replaced the Lunacy Act of 1958 — a colonial custodial law — with a rights-based framework</a:t>
            </a:r>
          </a:p>
          <a:p>
            <a:pPr lvl="1">
              <a:spcAft>
                <a:spcPts val="400"/>
              </a:spcAft>
            </a:pPr>
            <a:r>
              <a:rPr sz="1500"/>
              <a:t>Establishes [the Department/Desk of Mental Health]; mandates integration of mental health into primary health care</a:t>
            </a:r>
          </a:p>
          <a:p>
            <a:pPr lvl="1">
              <a:spcAft>
                <a:spcPts val="400"/>
              </a:spcAft>
            </a:pPr>
            <a:r>
              <a:rPr sz="1500"/>
              <a:t>Provides for non-discrimination, consent, and community-based care; [mental health fund / budget provision]</a:t>
            </a:r>
          </a:p>
          <a:p>
            <a:pPr>
              <a:spcAft>
                <a:spcPts val="800"/>
              </a:spcAft>
            </a:pPr>
            <a:r>
              <a:rPr sz="1800"/>
              <a:t>The Act tells us what to build. It does not tell us how much need exists, where it concentrates, or which services to put where</a:t>
            </a:r>
          </a:p>
          <a:p>
            <a:pPr>
              <a:spcAft>
                <a:spcPts val="800"/>
              </a:spcAft>
            </a:pPr>
            <a:r>
              <a:rPr sz="1800"/>
              <a:t>That is the gap the MaRVIN partnership was designed to 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Ministry Co-Owned the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Implementation planning was blocked by four missing pieces:</a:t>
            </a:r>
          </a:p>
          <a:p>
            <a:pPr lvl="1">
              <a:spcAft>
                <a:spcPts val="400"/>
              </a:spcAft>
            </a:pPr>
            <a:r>
              <a:rPr sz="1500"/>
              <a:t>No locally validated screening instruments — so no defensible case definitions for planning</a:t>
            </a:r>
          </a:p>
          <a:p>
            <a:pPr lvl="1">
              <a:spcAft>
                <a:spcPts val="400"/>
              </a:spcAft>
            </a:pPr>
            <a:r>
              <a:rPr sz="1500"/>
              <a:t>No population-based burden estimates — so no basis for allocation across states</a:t>
            </a:r>
          </a:p>
          <a:p>
            <a:pPr lvl="1">
              <a:spcAft>
                <a:spcPts val="400"/>
              </a:spcAft>
            </a:pPr>
            <a:r>
              <a:rPr sz="1500"/>
              <a:t>No evidence on what drives the burden — trauma, displacement conditions, or both</a:t>
            </a:r>
          </a:p>
          <a:p>
            <a:pPr lvl="1">
              <a:spcAft>
                <a:spcPts val="400"/>
              </a:spcAft>
            </a:pPr>
            <a:r>
              <a:rPr sz="1500"/>
              <a:t>No guidance on matching scarce services to need — ~250 psychiatrists for 200+ million people</a:t>
            </a:r>
          </a:p>
          <a:p>
            <a:pPr>
              <a:spcAft>
                <a:spcPts val="800"/>
              </a:spcAft>
            </a:pPr>
            <a:r>
              <a:rPr sz="1800"/>
              <a:t>MaRVIN was designed with the Federal Ministry of Health and Social Welfare and AFENET from the first protocol, not handed over at the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Evidence Now Says — Four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1. The instruments work here — with local calibration: PCL-5 cut-point 38, not the international 33 (validated against psychiatrist interview)</a:t>
            </a:r>
          </a:p>
          <a:p>
            <a:pPr>
              <a:spcAft>
                <a:spcPts val="800"/>
              </a:spcAft>
            </a:pPr>
            <a:r>
              <a:rPr sz="1800"/>
              <a:t>2. The burden is large and uneven: nearly 1 in 3 adults with at least one condition; 28-fold variation across states; burden clusters intensely by community (ICC up to 0.86)</a:t>
            </a:r>
          </a:p>
          <a:p>
            <a:pPr>
              <a:spcAft>
                <a:spcPts val="800"/>
              </a:spcAft>
            </a:pPr>
            <a:r>
              <a:rPr sz="1800"/>
              <a:t>3. The displacement environment is its own driver: IDP camp residence carries 1.9–2.9-fold higher prevalence after accounting for trauma</a:t>
            </a:r>
          </a:p>
          <a:p>
            <a:pPr>
              <a:spcAft>
                <a:spcPts val="800"/>
              </a:spcAft>
            </a:pPr>
            <a:r>
              <a:rPr sz="1800"/>
              <a:t>4. One program does not fit all: stress-linked risk is concentrated among those with limited trauma exposure; the heavily exposed need trauma-focused care regardless of circumstances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Each Finding to an Implementation Lever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57200">
                <a:tc>
                  <a:txBody>
                    <a:bodyPr/>
                    <a:lstStyle/>
                    <a:p>
                      <a:r>
                        <a:rPr sz="1500"/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Policy lever under the 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Validated instruments, local cut-points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National screening standard for PHC and task-shared programs [adopt into [national guidelines]]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Burden maps: state and community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Needs-based allocation to states and LGAs; community-level targeting, not blanket coverage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Camp environment as independent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Joint action with humanitarian and displacement authorities — shelter, safety, livelihoods as mental health policy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Trauma saturation → stratified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Two-tier service model: scalable stress/livelihood support in PHC; trauma-focused referral capacity for the heavily exposed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[Integration of the validated screening battery into PHC service protocols / mhGAP adaptation]</a:t>
            </a:r>
          </a:p>
          <a:p>
            <a:pPr>
              <a:spcAft>
                <a:spcPts val="800"/>
              </a:spcAft>
            </a:pPr>
            <a:r>
              <a:rPr sz="1800"/>
              <a:t>[Task-sharing: training curriculum for community health workers — the 36-item battery is deliverable by lay workers]</a:t>
            </a:r>
          </a:p>
          <a:p>
            <a:pPr>
              <a:spcAft>
                <a:spcPts val="800"/>
              </a:spcAft>
            </a:pPr>
            <a:r>
              <a:rPr sz="1800"/>
              <a:t>[State mental health desks / coordinators in the six study states first, then scale]</a:t>
            </a:r>
          </a:p>
          <a:p>
            <a:pPr>
              <a:spcAft>
                <a:spcPts val="800"/>
              </a:spcAft>
            </a:pPr>
            <a:r>
              <a:rPr sz="1800"/>
              <a:t>[Financing: [mental health budget line / NHIA benefit package inclusion]]</a:t>
            </a:r>
          </a:p>
          <a:p>
            <a:pPr>
              <a:spcAft>
                <a:spcPts val="800"/>
              </a:spcAft>
            </a:pPr>
            <a:r>
              <a:rPr sz="1800"/>
              <a:t>[Surveillance: repeating the MaRVIN protocol as a periodic national mental health survey]</a:t>
            </a:r>
          </a:p>
          <a:p>
            <a:pPr>
              <a:spcAft>
                <a:spcPts val="800"/>
              </a:spcAft>
            </a:pPr>
            <a:r>
              <a:rPr sz="1800"/>
              <a:t>Timeline: [Dr. Ojo to supply milestones]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Workforce Numbers Require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~0.6 mental health workers per 100,000 population against a WHO benchmark of 5.0; one psychiatrist per ~800,000 Nigerians</a:t>
            </a:r>
          </a:p>
          <a:p>
            <a:pPr>
              <a:spcAft>
                <a:spcPts val="800"/>
              </a:spcAft>
            </a:pPr>
            <a:r>
              <a:rPr sz="1800"/>
              <a:t>Specialist care cannot reach the 1 in 3 — and the evidence says it does not need to</a:t>
            </a:r>
          </a:p>
          <a:p>
            <a:pPr>
              <a:spcAft>
                <a:spcPts val="800"/>
              </a:spcAft>
            </a:pPr>
            <a:r>
              <a:rPr sz="1800"/>
              <a:t>Tier 1 (the many, limited trauma exposure): task-shared stress management, livelihood-linked psychosocial support, delivered in PHC and community settings</a:t>
            </a:r>
          </a:p>
          <a:p>
            <a:pPr>
              <a:spcAft>
                <a:spcPts val="800"/>
              </a:spcAft>
            </a:pPr>
            <a:r>
              <a:rPr sz="1800"/>
              <a:t>Tier 2 (the few, extensive exposure): trauma-focused therapies through trained specialist and supervised non-specialist providers; referral triggered by brief trauma-history screening</a:t>
            </a:r>
          </a:p>
          <a:p>
            <a:pPr>
              <a:spcAft>
                <a:spcPts val="800"/>
              </a:spcAft>
            </a:pPr>
            <a:r>
              <a:rPr sz="1800"/>
              <a:t>The validated instruments make triage by lay workers feasible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Working Model Other Settings Can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Ministry co-ownership from protocol design shortened the evidence-to-policy pipeline from years to months</a:t>
            </a:r>
          </a:p>
          <a:p>
            <a:pPr>
              <a:spcAft>
                <a:spcPts val="800"/>
              </a:spcAft>
            </a:pPr>
            <a:r>
              <a:rPr sz="1800"/>
              <a:t>Validation → surveillance → mechanism → implementation, as one program of work with one government partner</a:t>
            </a:r>
          </a:p>
          <a:p>
            <a:pPr>
              <a:spcAft>
                <a:spcPts val="800"/>
              </a:spcAft>
            </a:pPr>
            <a:r>
              <a:rPr sz="1800"/>
              <a:t>The approach is transferable to other conflict-affected settings: the instruments, the sampling design in insecure areas, and the partnership structure</a:t>
            </a:r>
          </a:p>
          <a:p>
            <a:pPr>
              <a:spcAft>
                <a:spcPts val="800"/>
              </a:spcAft>
            </a:pPr>
            <a:r>
              <a:rPr sz="1800"/>
              <a:t>What we ask of this room: [research partnership on the longitudinal and intervention questions]; [technical support for surveillance institutionalization]; [financing partners for the two-tier scale-up]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/>
              <a:t>Nigeria now has what implementation of the Mental Health Act (2021) was missing: validated instruments, population burden estimates, and evidence on who needs which service</a:t>
            </a:r>
          </a:p>
          <a:p>
            <a:pPr>
              <a:spcAft>
                <a:spcPts val="800"/>
              </a:spcAft>
            </a:pPr>
            <a:r>
              <a:rPr sz="1800"/>
              <a:t>The response must be as structured as the evidence: locally calibrated screening, needs-based allocation, camp-environment action, and a two-tier service model</a:t>
            </a:r>
          </a:p>
          <a:p>
            <a:pPr>
              <a:spcAft>
                <a:spcPts val="800"/>
              </a:spcAft>
            </a:pPr>
            <a:r>
              <a:rPr sz="1800"/>
              <a:t>The MaRVIN partnership shows a ministry co-owning research is the fastest route from measurement to policy</a:t>
            </a:r>
          </a:p>
          <a:p>
            <a:pPr>
              <a:spcAft>
                <a:spcPts val="800"/>
              </a:spcAft>
            </a:pPr>
            <a:r>
              <a:rPr sz="1800"/>
              <a:t>Thank you — on behalf of the Federal Ministry of Health and Social Welfare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876336B1FEC34C9AF13CFD0682E5C4" ma:contentTypeVersion="15" ma:contentTypeDescription="Create a new document." ma:contentTypeScope="" ma:versionID="f930fe4fb9fc0775590c4daff8c16b97">
  <xsd:schema xmlns:xsd="http://www.w3.org/2001/XMLSchema" xmlns:xs="http://www.w3.org/2001/XMLSchema" xmlns:p="http://schemas.microsoft.com/office/2006/metadata/properties" xmlns:ns2="16f9e34a-f673-4991-bd36-81c9500deaa7" xmlns:ns3="0d455e71-3517-45a9-a939-bdf8808606ae" targetNamespace="http://schemas.microsoft.com/office/2006/metadata/properties" ma:root="true" ma:fieldsID="cde4bf3402db8cf643ee45ef11b54067" ns2:_="" ns3:_="">
    <xsd:import namespace="16f9e34a-f673-4991-bd36-81c9500deaa7"/>
    <xsd:import namespace="0d455e71-3517-45a9-a939-bdf880860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9e34a-f673-4991-bd36-81c9500dea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22d6aeb-2130-4a19-b464-59cdf858f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455e71-3517-45a9-a939-bdf880860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e837d8e-31af-40a5-9b44-e3432619d9a9}" ma:internalName="TaxCatchAll" ma:showField="CatchAllData" ma:web="0d455e71-3517-45a9-a939-bdf880860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f9e34a-f673-4991-bd36-81c9500deaa7">
      <Terms xmlns="http://schemas.microsoft.com/office/infopath/2007/PartnerControls"/>
    </lcf76f155ced4ddcb4097134ff3c332f>
    <TaxCatchAll xmlns="0d455e71-3517-45a9-a939-bdf8808606a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096B2B-A652-4499-9E2B-71FAFA9556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f9e34a-f673-4991-bd36-81c9500deaa7"/>
    <ds:schemaRef ds:uri="0d455e71-3517-45a9-a939-bdf880860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14700D-B035-4BA6-828A-0AE1243E6859}">
  <ds:schemaRefs>
    <ds:schemaRef ds:uri="http://schemas.microsoft.com/office/2006/metadata/properties"/>
    <ds:schemaRef ds:uri="http://schemas.microsoft.com/office/infopath/2007/PartnerControls"/>
    <ds:schemaRef ds:uri="16f9e34a-f673-4991-bd36-81c9500deaa7"/>
    <ds:schemaRef ds:uri="0d455e71-3517-45a9-a939-bdf8808606ae"/>
  </ds:schemaRefs>
</ds:datastoreItem>
</file>

<file path=customXml/itemProps3.xml><?xml version="1.0" encoding="utf-8"?>
<ds:datastoreItem xmlns:ds="http://schemas.openxmlformats.org/officeDocument/2006/customXml" ds:itemID="{C7461CDA-AB55-4D84-9CEF-669BCD74C0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176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Continuing Medical Education Financial Disclosure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Brahlek</dc:creator>
  <cp:lastModifiedBy>TUNDE MASSEYFERGUSON OJO</cp:lastModifiedBy>
  <cp:revision>18</cp:revision>
  <dcterms:created xsi:type="dcterms:W3CDTF">2026-04-30T16:25:28Z</dcterms:created>
  <dcterms:modified xsi:type="dcterms:W3CDTF">2026-08-25T02:19:46Z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0x010100E4876336B1FEC34C9AF13CFD0682E5C4</vt:lpwstr>
  </property>
  <property fmtid="{D5CDD505-2E9C-101B-9397-08002B2CF9AE}" pid="3" name="MediaServiceImageTags">
    <vt:lpwstr/>
  </property>
</Properties>
</file>