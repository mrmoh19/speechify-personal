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No trauma</c:v>
                </c:pt>
              </c:strCache>
            </c:strRef>
          </c:tx>
          <c:spPr>
            <a:solidFill>
              <a:srgbClr val="FF0000"/>
            </a:solidFill>
            <a:ln w="31750" cap="flat">
              <a:solidFill>
                <a:srgbClr val="FF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0000"/>
              </a:solidFill>
              <a:ln w="9525" cap="flat">
                <a:solidFill>
                  <a:srgbClr val="FF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Sheet1!$B$2:$B$5</c:f>
              <c:numCache>
                <c:formatCode>General</c:formatCode>
                <c:ptCount val="4"/>
                <c:pt idx="0">
                  <c:v>7.3</c:v>
                </c:pt>
                <c:pt idx="1">
                  <c:v>14.6</c:v>
                </c:pt>
                <c:pt idx="2">
                  <c:v>29.2</c:v>
                </c:pt>
                <c:pt idx="3">
                  <c:v>58.5</c:v>
                </c:pt>
              </c:numCache>
            </c:numRef>
          </c:val>
          <c:smooth val="0"/>
        </c:ser>
        <c:ser>
          <c:idx val="1"/>
          <c:order val="1"/>
          <c:tx>
            <c:strRef>
              <c:f>Sheet1!$C$1</c:f>
              <c:strCache>
                <c:ptCount val="1"/>
                <c:pt idx="0">
                  <c:v>1 event</c:v>
                </c:pt>
              </c:strCache>
            </c:strRef>
          </c:tx>
          <c:spPr>
            <a:solidFill>
              <a:srgbClr val="A6A6A6"/>
            </a:solidFill>
            <a:ln w="317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Sheet1!$C$2:$C$5</c:f>
              <c:numCache>
                <c:formatCode>General</c:formatCode>
                <c:ptCount val="4"/>
                <c:pt idx="0">
                  <c:v>9.8</c:v>
                </c:pt>
                <c:pt idx="1">
                  <c:v>15.6</c:v>
                </c:pt>
                <c:pt idx="2">
                  <c:v>24.7</c:v>
                </c:pt>
                <c:pt idx="3">
                  <c:v>39.3</c:v>
                </c:pt>
              </c:numCache>
            </c:numRef>
          </c:val>
          <c:smooth val="0"/>
        </c:ser>
        <c:ser>
          <c:idx val="2"/>
          <c:order val="2"/>
          <c:tx>
            <c:strRef>
              <c:f>Sheet1!$D$1</c:f>
              <c:strCache>
                <c:ptCount val="1"/>
                <c:pt idx="0">
                  <c:v>3 events</c:v>
                </c:pt>
              </c:strCache>
            </c:strRef>
          </c:tx>
          <c:spPr>
            <a:solidFill>
              <a:srgbClr val="737373"/>
            </a:solidFill>
            <a:ln w="31750" cap="flat">
              <a:solidFill>
                <a:srgbClr val="7373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37373"/>
              </a:solidFill>
              <a:ln w="9525" cap="flat">
                <a:solidFill>
                  <a:srgbClr val="737373"/>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Sheet1!$D$2:$D$5</c:f>
              <c:numCache>
                <c:formatCode>General</c:formatCode>
                <c:ptCount val="4"/>
                <c:pt idx="0">
                  <c:v>19</c:v>
                </c:pt>
                <c:pt idx="1">
                  <c:v>21.2</c:v>
                </c:pt>
                <c:pt idx="2">
                  <c:v>23.5</c:v>
                </c:pt>
                <c:pt idx="3">
                  <c:v>26.2</c:v>
                </c:pt>
              </c:numCache>
            </c:numRef>
          </c:val>
          <c:smooth val="0"/>
        </c:ser>
        <c:ser>
          <c:idx val="3"/>
          <c:order val="3"/>
          <c:tx>
            <c:strRef>
              <c:f>Sheet1!$E$1</c:f>
              <c:strCache>
                <c:ptCount val="1"/>
                <c:pt idx="0">
                  <c:v>5 events</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Sheet1!$E$2:$E$5</c:f>
              <c:numCache>
                <c:formatCode>General</c:formatCode>
                <c:ptCount val="4"/>
                <c:pt idx="0">
                  <c:v>42</c:v>
                </c:pt>
                <c:pt idx="1">
                  <c:v>40.5</c:v>
                </c:pt>
                <c:pt idx="2">
                  <c:v>39</c:v>
                </c:pt>
                <c:pt idx="3">
                  <c:v>37.6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000000"/>
                    </a:solidFill>
                    <a:latin typeface="Arial"/>
                  </a:defRPr>
                </a:pPr>
                <a:r>
                  <a:rPr sz="1200" b="0" i="0" u="none" strike="noStrike">
                    <a:solidFill>
                      <a:srgbClr val="000000"/>
                    </a:solidFill>
                    <a:latin typeface="Arial"/>
                  </a:rPr>
                  <a:t>Socioeconomic stressors (count)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6E6E6"/>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Prevalence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4"/>
        <c:crosses val="autoZero"/>
        <c:crossBetween val="between"/>
      </c:valAx>
      <c:spPr>
        <a:noFill/>
        <a:ln>
          <a:noFill/>
        </a:ln>
        <a:effectLst/>
      </c:spPr>
    </c:plotArea>
    <c:legend>
      <c:legendPos val="r"/>
      <c:overlay val="0"/>
      <c:txPr>
        <a:bodyPr/>
        <a:lstStyle/>
        <a:p>
          <a:pPr>
            <a:defRPr sz="1200">
              <a:latin typeface="Avenir Book"/>
              <a:cs typeface="Avenir Book"/>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chair. One sentence: this talk asks whether trauma changes what everyday stress does to mental health, using population data from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background, methods, results, discussion. We are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traditions. Additive models: trauma and daily stressors each add risk, so everyone benefits from stress reduction. Effect-modification models: trauma changes stress reactivity itself. Conflict settings are where the two make sharply different predictions, and where the evidence is thinnest. Our earlier work documented roughly one in five adults with probable PTSD across conflict-affected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in one line. If trauma exposure modifies stress sensitivity, universal psychosocial programming is aiming at the wrong target for a large share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Survey of 1,766 adults, January to March 2024. Six states: five conflict-affected — Benue, Borno, Enugu, Rivers, Sokoto — and Ogun as a non-conflict comparison, which anchors the low end of the trauma gradient. Stratified multi-stage cluster design: state strata, 572 community clusters, community and IDP-camp settings. Analyses account for the design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Outcomes: probable PTSD, PCL-5 at 38 and above; depression, PHQ-9 at 10; anxiety, GAD-7 at 10 — instruments validated in this population in our first study. Exposure: count of traumatic event types, zero to twelve, modeled as a restricted cubic spline so the shape of any saturation is estimated, not imposed by categories. Stressors: a 0-to-10 count of socioeconomic challenges. Poisson models give prevalence ratios; adjusted for age, gender, education, state; variances account for the cluster design. The test is the trauma-by-stressor interaction. We also estimate absolute prevalence differences, because targeting claims live on the absolute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in three steps: the gradient, the picture, the absolute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one row aloud. Among adults with no trauma exposure, each additional stressor raises PTSD prevalence by 73 percent. Among adults with five or more event types, nothing — a null. Depression and anxiety do the same. The interaction is significant for all three outcomes, p at or below 0.0006. The red row is the finding: stress sensitivity is concentrated where trauma exposure is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result as a picture. Each line is a trauma level; the horizontal axis is the stressor count; the vertical axis is adjusted PTSD prevalence. The red line — no trauma exposure — climbs from 7 percent to 29 percent and keeps going. The five-event line starts near 40 percent and does not move. The gradient belongs to the unexposed; the burden belongs to the exposed.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programming: the absolute scale. Going from zero to four stressors adds 22 percentage points of PTSD prevalence among adults with no trauma exposure — from 7 to 29 percent. The same contrast among adults with five event types adds nothing, minus three points with a confidence interval straddling zero, against a baseline near 40 percent. Depression: plus 22 versus plus 3. Anxiety: plus 17 versus minus 4. All three nulls at high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is not an artifact of any cutoff. PCL-5 at 33, PHQ-9 at 15, GAD-7 at 7, and the continuous symptom scores all show the interaction at p of 0.0001 or below. The categorical specification from earlier versions of this work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in one line. Pause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and what it cannot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Implication: universal psychosocial programming aims stress reduction at people whose symptoms no longer track stress. Match the intervention to trauma history — stress-focused support where sensitivity is retained, trauma-focused therapies where exposure is extensive. Limits, stated plainly: cross-sectional data, so 'saturation' describes an association pattern, not a mechanism; recall of both events and stressors; few respondents above six events, so the extreme tail is unstable; and this is prevalence, not 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collaborators and the field teams in the five states and Ogun.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1554480"/>
            <a:ext cx="7680960" cy="1371600"/>
          </a:xfrm>
          <a:prstGeom prst="rect">
            <a:avLst/>
          </a:prstGeom>
          <a:noFill/>
          <a:ln/>
        </p:spPr>
        <p:txBody>
          <a:bodyPr wrap="square" lIns="0" tIns="0" rIns="0" bIns="0" rtlCol="0" anchor="ctr"/>
          <a:lstStyle/>
          <a:p>
            <a:pPr algn="ctr" indent="0" marL="0">
              <a:buNone/>
            </a:pPr>
            <a:r>
              <a:rPr lang="en-US" sz="3400" dirty="0">
                <a:solidFill>
                  <a:srgbClr val="000000"/>
                </a:solidFill>
                <a:latin typeface="Avenir Book" pitchFamily="34" charset="0"/>
                <a:ea typeface="Avenir Book" pitchFamily="34" charset="-122"/>
                <a:cs typeface="Avenir Book" pitchFamily="34" charset="-120"/>
              </a:rPr>
              <a:t>Trauma Saturation and</a:t>
            </a:r>
            <a:endParaRPr lang="en-US" sz="3400" dirty="0"/>
          </a:p>
          <a:p>
            <a:pPr algn="ctr" indent="0" marL="0">
              <a:buNone/>
            </a:pPr>
            <a:r>
              <a:rPr lang="en-US" sz="3400" dirty="0">
                <a:solidFill>
                  <a:srgbClr val="000000"/>
                </a:solidFill>
                <a:latin typeface="Avenir Book" pitchFamily="34" charset="0"/>
                <a:ea typeface="Avenir Book" pitchFamily="34" charset="-122"/>
                <a:cs typeface="Avenir Book" pitchFamily="34" charset="-120"/>
              </a:rPr>
              <a:t>Differential Stress Sensitivity</a:t>
            </a:r>
            <a:endParaRPr lang="en-US" sz="3400" dirty="0"/>
          </a:p>
        </p:txBody>
      </p:sp>
      <p:sp>
        <p:nvSpPr>
          <p:cNvPr id="4" name="Text 1"/>
          <p:cNvSpPr txBox="1"/>
          <p:nvPr/>
        </p:nvSpPr>
        <p:spPr>
          <a:xfrm>
            <a:off x="731520" y="2880360"/>
            <a:ext cx="7680960" cy="457200"/>
          </a:xfrm>
          <a:prstGeom prst="rect">
            <a:avLst/>
          </a:prstGeom>
          <a:noFill/>
          <a:ln/>
        </p:spPr>
        <p:txBody>
          <a:bodyPr wrap="square" lIns="0" tIns="0" rIns="0" bIns="0" rtlCol="0" anchor="ctr"/>
          <a:lstStyle/>
          <a:p>
            <a:pPr algn="ctr" indent="0" marL="0">
              <a:buNone/>
            </a:pPr>
            <a:r>
              <a:rPr lang="en-US" sz="1800" dirty="0">
                <a:solidFill>
                  <a:srgbClr val="000000"/>
                </a:solidFill>
                <a:latin typeface="Avenir Book" pitchFamily="34" charset="0"/>
                <a:ea typeface="Avenir Book" pitchFamily="34" charset="-122"/>
                <a:cs typeface="Avenir Book" pitchFamily="34" charset="-120"/>
              </a:rPr>
              <a:t>Evidence from six Nigerian states</a:t>
            </a:r>
            <a:endParaRPr lang="en-US" sz="1800" dirty="0"/>
          </a:p>
        </p:txBody>
      </p:sp>
      <p:sp>
        <p:nvSpPr>
          <p:cNvPr id="5" name="Text 2"/>
          <p:cNvSpPr txBox="1"/>
          <p:nvPr/>
        </p:nvSpPr>
        <p:spPr>
          <a:xfrm>
            <a:off x="731520" y="3520440"/>
            <a:ext cx="7680960" cy="365760"/>
          </a:xfrm>
          <a:prstGeom prst="rect">
            <a:avLst/>
          </a:prstGeom>
          <a:noFill/>
          <a:ln/>
        </p:spPr>
        <p:txBody>
          <a:bodyPr wrap="square" lIns="0" tIns="0" rIns="0" bIns="0" rtlCol="0" anchor="ctr"/>
          <a:lstStyle/>
          <a:p>
            <a:pPr algn="ctr" indent="0" marL="0">
              <a:buNone/>
            </a:pPr>
            <a:r>
              <a:rPr lang="en-US" sz="1400" dirty="0">
                <a:solidFill>
                  <a:srgbClr val="898989"/>
                </a:solidFill>
                <a:latin typeface="Avenir Book" pitchFamily="34" charset="0"/>
                <a:ea typeface="Avenir Book" pitchFamily="34" charset="-122"/>
                <a:cs typeface="Avenir Book" pitchFamily="34" charset="-120"/>
              </a:rPr>
              <a:t>Mohammed Abba-Aji  ·  Washington University in St. Louis  ·  ISTSS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Two views of trauma and daily stress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Additive: each stressor adds the same risk to everyone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Effect modification: trauma changes stress sensitivity itself</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Conflict settings make these predictions diverge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Nigeria: ~1 in 5 adults with probable PTSD in conflict-affected states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Does trauma change what stress does?</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Sample</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1,766 adults, January–March 2024</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Five conflict-affected states + Ogun (non-conflict comparison)</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Stratified multi-stage cluster design; 572 communities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Community and displacement-camp settings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Measures and model</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PCL-5 ≥ 38  ·  PHQ-9 ≥ 10  ·  GAD-7 ≥ 10 (locally validated)</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Trauma: 0–12 event types, restricted cubic spline</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Stressors: socioeconomic challenge count (0–10)</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Poisson prevalence ratios; adjusted; design-based variances</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Test: trauma × stressor interaction, both scales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Per-stressor prevalence ratio, by trauma exposure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1828800"/>
                <a:gridCol w="2194560"/>
                <a:gridCol w="2011680"/>
                <a:gridCol w="2011680"/>
              </a:tblGrid>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Trauma</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PTSD</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Depression</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Anxiety</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0 events</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1.73 (1.37–2.18)</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1.53 (1.18–1.98)</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1.52 (1.22–1.89)</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1.27</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1.15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3–4</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0.86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0.92 (0.83–1.03)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0.99</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Interaction p</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0.0006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Adjusted PTSD prevalence</a:t>
            </a:r>
            <a:endParaRPr lang="en-US" sz="2800" dirty="0"/>
          </a:p>
        </p:txBody>
      </p:sp>
      <p:graphicFrame>
        <p:nvGraphicFramePr>
          <p:cNvPr id="4" name="Chart 0" descr=""/>
          <p:cNvGraphicFramePr/>
          <p:nvPr/>
        </p:nvGraphicFramePr>
        <p:xfrm>
          <a:off x="548640" y="1234440"/>
          <a:ext cx="8046720" cy="3291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Four additional stressors, in percentage points</a:t>
            </a:r>
            <a:endParaRPr lang="en-US" sz="2800" dirty="0"/>
          </a:p>
        </p:txBody>
      </p:sp>
      <p:sp>
        <p:nvSpPr>
          <p:cNvPr id="4" name="Text 1"/>
          <p:cNvSpPr txBox="1"/>
          <p:nvPr/>
        </p:nvSpPr>
        <p:spPr>
          <a:xfrm>
            <a:off x="1097280" y="1554480"/>
            <a:ext cx="3108960" cy="1097280"/>
          </a:xfrm>
          <a:prstGeom prst="rect">
            <a:avLst/>
          </a:prstGeom>
          <a:noFill/>
          <a:ln/>
        </p:spPr>
        <p:txBody>
          <a:bodyPr wrap="square" lIns="0" tIns="0" rIns="0" bIns="0" rtlCol="0" anchor="ctr"/>
          <a:lstStyle/>
          <a:p>
            <a:pPr algn="ctr" indent="0" marL="0">
              <a:buNone/>
            </a:pPr>
            <a:r>
              <a:rPr lang="en-US" sz="6000" dirty="0">
                <a:solidFill>
                  <a:srgbClr val="FF0000"/>
                </a:solidFill>
                <a:latin typeface="Avenir Book" pitchFamily="34" charset="0"/>
                <a:ea typeface="Avenir Book" pitchFamily="34" charset="-122"/>
                <a:cs typeface="Avenir Book" pitchFamily="34" charset="-120"/>
              </a:rPr>
              <a:t>+21.9</a:t>
            </a:r>
            <a:endParaRPr lang="en-US" sz="6000" dirty="0"/>
          </a:p>
        </p:txBody>
      </p:sp>
      <p:sp>
        <p:nvSpPr>
          <p:cNvPr id="5" name="Text 2"/>
          <p:cNvSpPr txBox="1"/>
          <p:nvPr/>
        </p:nvSpPr>
        <p:spPr>
          <a:xfrm>
            <a:off x="109728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no trauma exposure</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7.7–36.1)</a:t>
            </a:r>
            <a:endParaRPr lang="en-US" sz="1400" dirty="0"/>
          </a:p>
        </p:txBody>
      </p:sp>
      <p:sp>
        <p:nvSpPr>
          <p:cNvPr id="6" name="Text 3"/>
          <p:cNvSpPr txBox="1"/>
          <p:nvPr/>
        </p:nvSpPr>
        <p:spPr>
          <a:xfrm>
            <a:off x="4937760" y="1554480"/>
            <a:ext cx="3108960" cy="1097280"/>
          </a:xfrm>
          <a:prstGeom prst="rect">
            <a:avLst/>
          </a:prstGeom>
          <a:noFill/>
          <a:ln/>
        </p:spPr>
        <p:txBody>
          <a:bodyPr wrap="square" lIns="0" tIns="0" rIns="0" bIns="0" rtlCol="0" anchor="ctr"/>
          <a:lstStyle/>
          <a:p>
            <a:pPr algn="ctr" indent="0" marL="0">
              <a:buNone/>
            </a:pPr>
            <a:r>
              <a:rPr lang="en-US" sz="6000" dirty="0">
                <a:solidFill>
                  <a:srgbClr val="000000"/>
                </a:solidFill>
                <a:latin typeface="Avenir Book" pitchFamily="34" charset="0"/>
                <a:ea typeface="Avenir Book" pitchFamily="34" charset="-122"/>
                <a:cs typeface="Avenir Book" pitchFamily="34" charset="-120"/>
              </a:rPr>
              <a:t>−3.0</a:t>
            </a:r>
            <a:endParaRPr lang="en-US" sz="6000" dirty="0"/>
          </a:p>
        </p:txBody>
      </p:sp>
      <p:sp>
        <p:nvSpPr>
          <p:cNvPr id="7" name="Text 4"/>
          <p:cNvSpPr txBox="1"/>
          <p:nvPr/>
        </p:nvSpPr>
        <p:spPr>
          <a:xfrm>
            <a:off x="493776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five or more events</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−19.5 to +13.6)</a:t>
            </a:r>
            <a:endParaRPr lang="en-US" sz="1400" dirty="0"/>
          </a:p>
        </p:txBody>
      </p:sp>
      <p:sp>
        <p:nvSpPr>
          <p:cNvPr id="8" name="Text 5"/>
          <p:cNvSpPr txBox="1"/>
          <p:nvPr/>
        </p:nvSpPr>
        <p:spPr>
          <a:xfrm>
            <a:off x="548640" y="3840480"/>
            <a:ext cx="8046720" cy="457200"/>
          </a:xfrm>
          <a:prstGeom prst="rect">
            <a:avLst/>
          </a:prstGeom>
          <a:noFill/>
          <a:ln/>
        </p:spPr>
        <p:txBody>
          <a:bodyPr wrap="square" lIns="0" tIns="0" rIns="0" bIns="0" rtlCol="0" anchor="ctr"/>
          <a:lstStyle/>
          <a:p>
            <a:pPr algn="ctr" indent="0" marL="0">
              <a:buNone/>
            </a:pPr>
            <a:r>
              <a:rPr lang="en-US" sz="1600" dirty="0">
                <a:solidFill>
                  <a:srgbClr val="000000"/>
                </a:solidFill>
                <a:latin typeface="Avenir Book" pitchFamily="34" charset="0"/>
                <a:ea typeface="Avenir Book" pitchFamily="34" charset="-122"/>
                <a:cs typeface="Avenir Book" pitchFamily="34" charset="-120"/>
              </a:rPr>
              <a:t>Depression: +21.9 vs +2.8   ·   Anxiety: +16.6 vs −4.4</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Robustness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Alternative thresholds (PCL-5≥33, PHQ-9≥15, GAD-7≥7): all p≤0.0001</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Continuous symptom scores: all p≤0.0001</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Categorical trauma specification: same pattern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The stress gradient lives among the least trauma-exposed.</a:t>
            </a:r>
            <a:endParaRPr lang="en-US" sz="3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What this means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Match intervention to trauma history, not one program for all</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Stress-focused support where sensitivity is retained</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Trauma-focused therapies where exposure is extensive</a:t>
            </a:r>
            <a:endParaRPr lang="en-US" sz="2000" dirty="0"/>
          </a:p>
          <a:p>
            <a:pPr indent="0" marL="0">
              <a:spcAft>
                <a:spcPts val="200"/>
              </a:spcAft>
              <a:buNone/>
            </a:pPr>
            <a:r>
              <a:rPr lang="en-US" sz="2000" dirty="0">
                <a:solidFill>
                  <a:srgbClr val="000000"/>
                </a:solidFill>
                <a:latin typeface="Avenir Book" pitchFamily="34" charset="0"/>
                <a:ea typeface="Avenir Book" pitchFamily="34" charset="-122"/>
                <a:cs typeface="Avenir Book" pitchFamily="34" charset="-120"/>
              </a:rPr>
              <a:t>Limits: cross-sectional; recall; sparse data above six events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286000"/>
            <a:ext cx="7680960" cy="548640"/>
          </a:xfrm>
          <a:prstGeom prst="rect">
            <a:avLst/>
          </a:prstGeom>
          <a:noFill/>
          <a:ln/>
        </p:spPr>
        <p:txBody>
          <a:bodyPr wrap="square" lIns="0" tIns="0" rIns="0" bIns="0" rtlCol="0" anchor="ctr"/>
          <a:lstStyle/>
          <a:p>
            <a:pPr algn="ctr" indent="0" marL="0">
              <a:buNone/>
            </a:pPr>
            <a:r>
              <a:rPr lang="en-US" sz="2200" dirty="0">
                <a:solidFill>
                  <a:srgbClr val="000000"/>
                </a:solidFill>
                <a:latin typeface="Avenir Book" pitchFamily="34" charset="0"/>
                <a:ea typeface="Avenir Book" pitchFamily="34" charset="-122"/>
                <a:cs typeface="Avenir Book" pitchFamily="34" charset="-120"/>
              </a:rPr>
              <a:t>[your preferred email]</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2026-09-20T17:49:10Z</dcterms:created>
  <dcterms:modified xsi:type="dcterms:W3CDTF">2026-09-20T17:49:10Z</dcterms:modified>
</cp:coreProperties>
</file>