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 trauma</c:v>
                </c:pt>
              </c:strCache>
            </c:strRef>
          </c:tx>
          <c:spPr>
            <a:solidFill>
              <a:srgbClr val="FF0000"/>
            </a:solidFill>
            <a:ln w="31750" cap="flat">
              <a:solidFill>
                <a:srgbClr val="FF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0000"/>
              </a:solidFill>
              <a:ln w="9525" cap="flat">
                <a:solidFill>
                  <a:srgbClr val="FF0000"/>
                </a:solidFill>
                <a:prstDash val="solid"/>
                <a:round/>
              </a:ln>
              <a:effectLst/>
            </c:spPr>
          </c:marker>
          <c:cat>
            <c:multiLvlStrRef>
              <c:f>Sheet1!$A$2:$A$5</c:f>
              <c:multiLvlStrCache>
                <c:ptCount val="4"/>
                <c:lvl>
                  <c:pt idx="0">
                    <c:v>0</c:v>
                  </c:pt>
                  <c:pt idx="1">
                    <c:v>2</c:v>
                  </c:pt>
                  <c:pt idx="2">
                    <c:v>4</c:v>
                  </c:pt>
                  <c:pt idx="3">
                    <c:v>6</c:v>
                  </c:pt>
                </c:lvl>
              </c:multiLvlStrCache>
            </c:multiLvlStrRef>
          </c:cat>
          <c:val>
            <c:numRef>
              <c:f>Sheet1!$B$2:$B$5</c:f>
              <c:numCache>
                <c:formatCode>General</c:formatCode>
                <c:ptCount val="4"/>
                <c:pt idx="0">
                  <c:v>6.5</c:v>
                </c:pt>
                <c:pt idx="1">
                  <c:v>13.6</c:v>
                </c:pt>
                <c:pt idx="2">
                  <c:v>28.4</c:v>
                </c:pt>
                <c:pt idx="3">
                  <c:v>59.1</c:v>
                </c:pt>
              </c:numCache>
            </c:numRef>
          </c:val>
          <c:smooth val="0"/>
        </c:ser>
        <c:ser>
          <c:idx val="1"/>
          <c:order val="1"/>
          <c:tx>
            <c:strRef>
              <c:f>Sheet1!$C$1</c:f>
              <c:strCache>
                <c:ptCount val="1"/>
                <c:pt idx="0">
                  <c:v>1 event</c:v>
                </c:pt>
              </c:strCache>
            </c:strRef>
          </c:tx>
          <c:spPr>
            <a:solidFill>
              <a:srgbClr val="A6A6A6"/>
            </a:solidFill>
            <a:ln w="31750"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Sheet1!$A$2:$A$5</c:f>
              <c:multiLvlStrCache>
                <c:ptCount val="4"/>
                <c:lvl>
                  <c:pt idx="0">
                    <c:v>0</c:v>
                  </c:pt>
                  <c:pt idx="1">
                    <c:v>2</c:v>
                  </c:pt>
                  <c:pt idx="2">
                    <c:v>4</c:v>
                  </c:pt>
                  <c:pt idx="3">
                    <c:v>6</c:v>
                  </c:pt>
                </c:lvl>
              </c:multiLvlStrCache>
            </c:multiLvlStrRef>
          </c:cat>
          <c:val>
            <c:numRef>
              <c:f>Sheet1!$C$2:$C$5</c:f>
              <c:numCache>
                <c:formatCode>General</c:formatCode>
                <c:ptCount val="4"/>
                <c:pt idx="0">
                  <c:v>9.4</c:v>
                </c:pt>
                <c:pt idx="1">
                  <c:v>15.2</c:v>
                </c:pt>
                <c:pt idx="2">
                  <c:v>24.4</c:v>
                </c:pt>
                <c:pt idx="3">
                  <c:v>39.4</c:v>
                </c:pt>
              </c:numCache>
            </c:numRef>
          </c:val>
          <c:smooth val="0"/>
        </c:ser>
        <c:ser>
          <c:idx val="2"/>
          <c:order val="2"/>
          <c:tx>
            <c:strRef>
              <c:f>Sheet1!$D$1</c:f>
              <c:strCache>
                <c:ptCount val="1"/>
                <c:pt idx="0">
                  <c:v>3 events</c:v>
                </c:pt>
              </c:strCache>
            </c:strRef>
          </c:tx>
          <c:spPr>
            <a:solidFill>
              <a:srgbClr val="737373"/>
            </a:solidFill>
            <a:ln w="31750" cap="flat">
              <a:solidFill>
                <a:srgbClr val="7373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37373"/>
              </a:solidFill>
              <a:ln w="9525" cap="flat">
                <a:solidFill>
                  <a:srgbClr val="737373"/>
                </a:solidFill>
                <a:prstDash val="solid"/>
                <a:round/>
              </a:ln>
              <a:effectLst/>
            </c:spPr>
          </c:marker>
          <c:cat>
            <c:multiLvlStrRef>
              <c:f>Sheet1!$A$2:$A$5</c:f>
              <c:multiLvlStrCache>
                <c:ptCount val="4"/>
                <c:lvl>
                  <c:pt idx="0">
                    <c:v>0</c:v>
                  </c:pt>
                  <c:pt idx="1">
                    <c:v>2</c:v>
                  </c:pt>
                  <c:pt idx="2">
                    <c:v>4</c:v>
                  </c:pt>
                  <c:pt idx="3">
                    <c:v>6</c:v>
                  </c:pt>
                </c:lvl>
              </c:multiLvlStrCache>
            </c:multiLvlStrRef>
          </c:cat>
          <c:val>
            <c:numRef>
              <c:f>Sheet1!$D$2:$D$5</c:f>
              <c:numCache>
                <c:formatCode>General</c:formatCode>
                <c:ptCount val="4"/>
                <c:pt idx="0">
                  <c:v>19.6</c:v>
                </c:pt>
                <c:pt idx="1">
                  <c:v>21.5</c:v>
                </c:pt>
                <c:pt idx="2">
                  <c:v>23.7</c:v>
                </c:pt>
                <c:pt idx="3">
                  <c:v>26</c:v>
                </c:pt>
              </c:numCache>
            </c:numRef>
          </c:val>
          <c:smooth val="0"/>
        </c:ser>
        <c:ser>
          <c:idx val="3"/>
          <c:order val="3"/>
          <c:tx>
            <c:strRef>
              <c:f>Sheet1!$E$1</c:f>
              <c:strCache>
                <c:ptCount val="1"/>
                <c:pt idx="0">
                  <c:v>5 events</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000"/>
              </a:solidFill>
              <a:ln w="9525" cap="flat">
                <a:solidFill>
                  <a:srgbClr val="000000"/>
                </a:solidFill>
                <a:prstDash val="solid"/>
                <a:round/>
              </a:ln>
              <a:effectLst/>
            </c:spPr>
          </c:marker>
          <c:cat>
            <c:multiLvlStrRef>
              <c:f>Sheet1!$A$2:$A$5</c:f>
              <c:multiLvlStrCache>
                <c:ptCount val="4"/>
                <c:lvl>
                  <c:pt idx="0">
                    <c:v>0</c:v>
                  </c:pt>
                  <c:pt idx="1">
                    <c:v>2</c:v>
                  </c:pt>
                  <c:pt idx="2">
                    <c:v>4</c:v>
                  </c:pt>
                  <c:pt idx="3">
                    <c:v>6</c:v>
                  </c:pt>
                </c:lvl>
              </c:multiLvlStrCache>
            </c:multiLvlStrRef>
          </c:cat>
          <c:val>
            <c:numRef>
              <c:f>Sheet1!$E$2:$E$5</c:f>
              <c:numCache>
                <c:formatCode>General</c:formatCode>
                <c:ptCount val="4"/>
                <c:pt idx="0">
                  <c:v>40.9</c:v>
                </c:pt>
                <c:pt idx="1">
                  <c:v>39.6</c:v>
                </c:pt>
                <c:pt idx="2">
                  <c:v>38.4</c:v>
                </c:pt>
                <c:pt idx="3">
                  <c:v>37.2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Socioeconomic stressors (count)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venir Boo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6E6E6"/>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Prevalence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venir Book"/>
              </a:defRPr>
            </a:pPr>
            <a:endParaRPr lang="en-US"/>
          </a:p>
        </c:txPr>
        <c:crossAx val="2094734554"/>
        <c:crosses val="autoZero"/>
        <c:crossBetween val="between"/>
      </c:valAx>
      <c:spPr>
        <a:noFill/>
        <a:ln>
          <a:noFill/>
        </a:ln>
        <a:effectLst/>
      </c:spPr>
    </c:plotArea>
    <c:legend>
      <c:legendPos val="r"/>
      <c:overlay val="0"/>
      <c:txPr>
        <a:bodyPr/>
        <a:lstStyle/>
        <a:p>
          <a:pPr>
            <a:defRPr sz="1200">
              <a:latin typeface="Avenir Book"/>
              <a:cs typeface="Avenir Book"/>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chair. One sentence: this talk asks whether trauma changes what everyday stress does to mental health, in the same population Salma just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once, briefly: no financial relationships to disclose.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background, methods, results,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Jaimie showed the instruments work here; Salma showed the burden at scale. The population carries two loads at once: traumatic events from overlapping conflicts, and grinding daily adversity — food insecurity, job loss, housing precarity. Humanitarian programming usually treats these as one additive pile of risk. Whether that is true decides who universal psychosocial programs actually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offers three incompatible answers. Stress sensitization — Post's kindling work, and the child-adversity literature — says prior trauma amplifies reactivity to later stress, so gradients should be steepest among the most exposed. Stress inoculation says moderate exposure toughens, predicting the opposite. And the daily-stressors model in humanitarian settings — Miller and Rasmussen — says everyday adversity mediates much of conflict's effect but is largely silent on effect modification. Almost all the evidence behind these comes from high-income cohorts with far lower exposure ranges than ours. Nobody has tested the shape of the interaction in a population where exposure runs this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in one line.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the sample you have already met, then measures, then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MaRVIN sample Salma presented: 1,774 adults surveyed January to March 2024; 1,729 answered the trauma inventory and enter this analysis. Six states: five conflict-affected — Benue, Borno, Enugu, Rivers, Sokoto — plus Ogun as a non-conflict comparison, which anchors the low end of the trauma gradient. Stratified multi-stage cluster design, 565 community clusters, community and IDP-camp settings. All analyses honor the design: state strata, community clusters, linearized variances.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use the instruments Jaimie validated: probable PTSD at PCL-5 38 and above; depression, PHQ-9 at 10; anxiety, GAD-7 at 10. Trauma exposure is a count of twelve event types — assaults, armed conflict, disasters, accidents; respondents who declined the inventory are excluded, not counted as unexposed. Stressors are a 0-to-10 count of socioeconomic challenges: job loss, rent difficulty, eviction, family disruption,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 choice that matters: trauma enters continuously, zero to twelve, as a restricted cubic spline, so the shape of any saturation is estimated from the data — the earlier categorical specification imposed it. Poisson models return prevalence ratios directly; adjusted for age, gender, education, state; variances honor the cluster design. The test is the trauma-by-stressor interaction, and we read it on two scales, because relative ratios answer etiology while absolute percentage points answer programming. Everything is prespecified with sensitivity analyses on thresholds and continuous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in four steps: the burden, the gradient, the picture, the absolute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main effect, so the interaction has context. At zero stressors, adjusted PTSD prevalence climbs from 6.5 percent among the unexposed to 41 percent at five event types — a six-fold burden gradient. Trauma dominates the risk landscape here; that is not the news. The news is what happens to the stress gradient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interaction. Read the red row: among adults with no trauma exposure, each additional stressor nearly doubles PTSD prevalence — ratio 1.97. Walk down the column: 1.26 at one to two events, null at three to four, null at five plus. Depression and anxiety show the same staircase. All three interactions below 0.0001. This is the opposite of sensitization: the gradient is steepest where exposure is lowest.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result as a picture. Each line is a trauma level; horizontal axis is the stressor count; vertical is adjusted PTSD prevalence. The red line — no trauma exposure — climbs from 7 to 28 percent and keeps rising. The five-event line starts near 41 percent and does not move. The lines converge: the gradient belongs to the unexposed, the burden belongs to the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programming: the absolute scale. Zero to four stressors adds 22 percentage points of PTSD prevalence among adults with no trauma exposure, 7 to 28 percent. The same contrast among adults with five event types adds nothing — minus two and a half points, interval straddling zero, against a baseline near 40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Depression and anxiety, same test. Four stressors add 24 points of depression prevalence at zero trauma, 5 to 29 percent; at five events, plus three and a half, null, against 35 percent. Anxiety: plus 18 at zero trauma, minus four, null, at five. Three outcomes, one pattern. And it is not a cutoff artifact — alternative thresholds and the continuous symptom scores all reproduce the interaction at p of 0.0002 or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in one line. Pause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means, and what it cannot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sensitization, and beyond simple dose-response: symptom prevalence among the heavily exposed is high at every stressor level — saturated — while stress sensitivity is concentrated among those with limited exposure. For programming: universal stress-reduction aims at people whose symptoms no longer track stress. Match the intervention to trauma history. Stress-focused and livelihood support where sensitivity is retained — the majority, with limited exposure. Trauma-focused therapies — the treatments this society's trials support — where exposure is extensive, because for them the trauma load, not the stressor load, is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Cross-sectional data: saturation names an association pattern, not a mechanism — selection, recall, and ceiling processes could each contribute. Event counts are lifetime recall; stressors are current. Few respondents above six events, so the extreme tail is unstable. And prevalence, not incidence: we see who is symptomatic, not who became so. The longitudinal test — does a new stressor move symptoms differently by trauma history — is the next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field teams across the six states, co-authors, and the symposium chair. Hand to Dr. Ojo, whose paper takes these findings to the ministry.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40080" y="1371600"/>
            <a:ext cx="7863840" cy="822960"/>
          </a:xfrm>
          <a:prstGeom prst="rect">
            <a:avLst/>
          </a:prstGeom>
          <a:noFill/>
          <a:ln/>
        </p:spPr>
        <p:txBody>
          <a:bodyPr wrap="square" lIns="0" tIns="0" rIns="0" bIns="0" rtlCol="0" anchor="ctr"/>
          <a:lstStyle/>
          <a:p>
            <a:pPr algn="ctr" indent="0" marL="0">
              <a:buNone/>
            </a:pPr>
            <a:r>
              <a:rPr lang="en-US" sz="3000" dirty="0">
                <a:solidFill>
                  <a:srgbClr val="000000"/>
                </a:solidFill>
                <a:latin typeface="Avenir Book" pitchFamily="34" charset="0"/>
                <a:ea typeface="Avenir Book" pitchFamily="34" charset="-122"/>
                <a:cs typeface="Avenir Book" pitchFamily="34" charset="-120"/>
              </a:rPr>
              <a:t>When More Trauma Means Less Stress Sensitivity</a:t>
            </a:r>
            <a:endParaRPr lang="en-US" sz="3000" dirty="0"/>
          </a:p>
        </p:txBody>
      </p:sp>
      <p:sp>
        <p:nvSpPr>
          <p:cNvPr id="4" name="Text 1"/>
          <p:cNvSpPr txBox="1"/>
          <p:nvPr/>
        </p:nvSpPr>
        <p:spPr>
          <a:xfrm>
            <a:off x="731520" y="2240280"/>
            <a:ext cx="7680960" cy="822960"/>
          </a:xfrm>
          <a:prstGeom prst="rect">
            <a:avLst/>
          </a:prstGeom>
          <a:noFill/>
          <a:ln/>
        </p:spPr>
        <p:txBody>
          <a:bodyPr wrap="square" lIns="0" tIns="0" rIns="0" bIns="0" rtlCol="0" anchor="ctr"/>
          <a:lstStyle/>
          <a:p>
            <a:pPr algn="ctr" indent="0" marL="0">
              <a:buNone/>
            </a:pPr>
            <a:r>
              <a:rPr lang="en-US" sz="1800" dirty="0">
                <a:solidFill>
                  <a:srgbClr val="000000"/>
                </a:solidFill>
                <a:latin typeface="Avenir Book" pitchFamily="34" charset="0"/>
                <a:ea typeface="Avenir Book" pitchFamily="34" charset="-122"/>
                <a:cs typeface="Avenir Book" pitchFamily="34" charset="-120"/>
              </a:rPr>
              <a:t>Evidence for a Trauma Saturation Effect Among</a:t>
            </a:r>
            <a:endParaRPr lang="en-US" sz="1800" dirty="0"/>
          </a:p>
          <a:p>
            <a:pPr algn="ctr" indent="0" marL="0">
              <a:buNone/>
            </a:pPr>
            <a:r>
              <a:rPr lang="en-US" sz="1800" dirty="0">
                <a:solidFill>
                  <a:srgbClr val="000000"/>
                </a:solidFill>
                <a:latin typeface="Avenir Book" pitchFamily="34" charset="0"/>
                <a:ea typeface="Avenir Book" pitchFamily="34" charset="-122"/>
                <a:cs typeface="Avenir Book" pitchFamily="34" charset="-120"/>
              </a:rPr>
              <a:t>Violence-Exposed Populations in Nigeria</a:t>
            </a:r>
            <a:endParaRPr lang="en-US" sz="1800" dirty="0"/>
          </a:p>
        </p:txBody>
      </p:sp>
      <p:sp>
        <p:nvSpPr>
          <p:cNvPr id="5" name="Text 2"/>
          <p:cNvSpPr txBox="1"/>
          <p:nvPr/>
        </p:nvSpPr>
        <p:spPr>
          <a:xfrm>
            <a:off x="731520" y="3291840"/>
            <a:ext cx="7680960" cy="365760"/>
          </a:xfrm>
          <a:prstGeom prst="rect">
            <a:avLst/>
          </a:prstGeom>
          <a:noFill/>
          <a:ln/>
        </p:spPr>
        <p:txBody>
          <a:bodyPr wrap="square" lIns="0" tIns="0" rIns="0" bIns="0" rtlCol="0" anchor="ctr"/>
          <a:lstStyle/>
          <a:p>
            <a:pPr algn="ctr" indent="0" marL="0">
              <a:buNone/>
            </a:pPr>
            <a:r>
              <a:rPr lang="en-US" sz="1400" dirty="0">
                <a:solidFill>
                  <a:srgbClr val="898989"/>
                </a:solidFill>
                <a:latin typeface="Avenir Book" pitchFamily="34" charset="0"/>
                <a:ea typeface="Avenir Book" pitchFamily="34" charset="-122"/>
                <a:cs typeface="Avenir Book" pitchFamily="34" charset="-120"/>
              </a:rPr>
              <a:t>Mohammed Abba-Aji  ·  Washington University in St. Louis</a:t>
            </a:r>
            <a:endParaRPr lang="en-US" sz="1400" dirty="0"/>
          </a:p>
        </p:txBody>
      </p:sp>
      <p:sp>
        <p:nvSpPr>
          <p:cNvPr id="6" name="Text 3"/>
          <p:cNvSpPr txBox="1"/>
          <p:nvPr/>
        </p:nvSpPr>
        <p:spPr>
          <a:xfrm>
            <a:off x="731520" y="3703320"/>
            <a:ext cx="7680960" cy="365760"/>
          </a:xfrm>
          <a:prstGeom prst="rect">
            <a:avLst/>
          </a:prstGeom>
          <a:noFill/>
          <a:ln/>
        </p:spPr>
        <p:txBody>
          <a:bodyPr wrap="square" lIns="0" tIns="0" rIns="0" bIns="0" rtlCol="0" anchor="ctr"/>
          <a:lstStyle/>
          <a:p>
            <a:pPr algn="ctr" indent="0" marL="0">
              <a:buNone/>
            </a:pPr>
            <a:r>
              <a:rPr lang="en-US" sz="1200" dirty="0">
                <a:solidFill>
                  <a:srgbClr val="898989"/>
                </a:solidFill>
                <a:latin typeface="Avenir Book" pitchFamily="34" charset="0"/>
                <a:ea typeface="Avenir Book" pitchFamily="34" charset="-122"/>
                <a:cs typeface="Avenir Book" pitchFamily="34" charset="-120"/>
              </a:rPr>
              <a:t>ISTSS 42nd Annual Meeting  ·  San Antonio, TX  ·  September 24,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Financial disclosure</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1800" dirty="0">
                <a:solidFill>
                  <a:srgbClr val="000000"/>
                </a:solidFill>
                <a:latin typeface="Avenir Book" pitchFamily="34" charset="0"/>
                <a:ea typeface="Avenir Book" pitchFamily="34" charset="-122"/>
                <a:cs typeface="Avenir Book" pitchFamily="34" charset="-120"/>
              </a:rPr>
              <a:t>In the past 24 months, I, Mohammed Abba-Aji, have not had financial relationships with any ineligible companies.</a:t>
            </a:r>
            <a:endParaRPr lang="en-US" sz="1800" dirty="0"/>
          </a:p>
          <a:p>
            <a:pPr indent="0" marL="0">
              <a:spcAft>
                <a:spcPts val="1400"/>
              </a:spcAft>
              <a:buNone/>
            </a:pPr>
            <a:r>
              <a:rPr lang="en-US" sz="1800" dirty="0">
                <a:solidFill>
                  <a:srgbClr val="000000"/>
                </a:solidFill>
                <a:latin typeface="Avenir Book" pitchFamily="34" charset="0"/>
                <a:ea typeface="Avenir Book" pitchFamily="34" charset="-122"/>
                <a:cs typeface="Avenir Book" pitchFamily="34" charset="-120"/>
              </a:rPr>
              <a:t>No discussion of unapproved uses of pharmaceuticals or devices.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108960" y="1463040"/>
            <a:ext cx="3657600" cy="2377440"/>
          </a:xfrm>
          <a:prstGeom prst="rect">
            <a:avLst/>
          </a:prstGeom>
          <a:noFill/>
          <a:ln/>
        </p:spPr>
        <p:txBody>
          <a:bodyPr wrap="square" lIns="0" tIns="0" rIns="0" bIns="0" rtlCol="0" anchor="ctr"/>
          <a:lstStyle/>
          <a:p>
            <a:pPr indent="0" marL="0">
              <a:spcAft>
                <a:spcPts val="1800"/>
              </a:spcAft>
              <a:buNone/>
            </a:pPr>
            <a:r>
              <a:rPr lang="en-US" sz="2400" dirty="0">
                <a:solidFill>
                  <a:srgbClr val="FF0000"/>
                </a:solidFill>
                <a:latin typeface="Avenir Book" pitchFamily="34" charset="0"/>
                <a:ea typeface="Avenir Book" pitchFamily="34" charset="-122"/>
                <a:cs typeface="Avenir Book" pitchFamily="34" charset="-120"/>
              </a:rPr>
              <a:t>1. Background</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2. Methods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3. Results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4. Discussion</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Two burdens, one population</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Conflict-affected Nigerians carry traumatic exposure and daily socioeconomic adversity together</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Programming typically treats the two as additive: every stressor removed helps everyone equally</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If trauma modifies stress sensitivity, that assumption fails for a large share of the population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Three predictions in the literature</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Stress sensitization: prior trauma amplifies reactivity, steepest gradients among the exposed</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Stress inoculation: moderate exposure protects against later stress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Daily-stressors model: adversity mediates conflict's effect; silent on modification</a:t>
            </a:r>
            <a:endParaRPr lang="en-US" sz="2000" dirty="0"/>
          </a:p>
          <a:p>
            <a:pPr indent="0" marL="0">
              <a:spcAft>
                <a:spcPts val="200"/>
              </a:spcAft>
              <a:buNone/>
            </a:pPr>
            <a:r>
              <a:rPr lang="en-US" sz="2000" dirty="0">
                <a:solidFill>
                  <a:srgbClr val="000000"/>
                </a:solidFill>
                <a:latin typeface="Avenir Book" pitchFamily="34" charset="0"/>
                <a:ea typeface="Avenir Book" pitchFamily="34" charset="-122"/>
                <a:cs typeface="Avenir Book" pitchFamily="34" charset="-120"/>
              </a:rPr>
              <a:t>Nearly all evidence: high-income samples, narrow exposure ranges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731520" y="2011680"/>
            <a:ext cx="7680960" cy="1097280"/>
          </a:xfrm>
          <a:prstGeom prst="rect">
            <a:avLst/>
          </a:prstGeom>
          <a:noFill/>
          <a:ln/>
        </p:spPr>
        <p:txBody>
          <a:bodyPr wrap="square" lIns="0" tIns="0" rIns="0" bIns="0" rtlCol="0" anchor="ctr"/>
          <a:lstStyle/>
          <a:p>
            <a:pPr algn="ctr" indent="0" marL="0">
              <a:buNone/>
            </a:pPr>
            <a:r>
              <a:rPr lang="en-US" sz="3000" dirty="0">
                <a:solidFill>
                  <a:srgbClr val="000000"/>
                </a:solidFill>
                <a:latin typeface="Avenir Book" pitchFamily="34" charset="0"/>
                <a:ea typeface="Avenir Book" pitchFamily="34" charset="-122"/>
                <a:cs typeface="Avenir Book" pitchFamily="34" charset="-120"/>
              </a:rPr>
              <a:t>Does trauma change what stress does?</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108960" y="1463040"/>
            <a:ext cx="3657600" cy="2377440"/>
          </a:xfrm>
          <a:prstGeom prst="rect">
            <a:avLst/>
          </a:prstGeom>
          <a:noFill/>
          <a:ln/>
        </p:spPr>
        <p:txBody>
          <a:bodyPr wrap="square" lIns="0" tIns="0" rIns="0" bIns="0" rtlCol="0" anchor="ctr"/>
          <a:lstStyle/>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1. Background</a:t>
            </a:r>
            <a:endParaRPr lang="en-US" sz="2400" dirty="0"/>
          </a:p>
          <a:p>
            <a:pPr indent="0" marL="0">
              <a:spcAft>
                <a:spcPts val="1800"/>
              </a:spcAft>
              <a:buNone/>
            </a:pPr>
            <a:r>
              <a:rPr lang="en-US" sz="2400" dirty="0">
                <a:solidFill>
                  <a:srgbClr val="FF0000"/>
                </a:solidFill>
                <a:latin typeface="Avenir Book" pitchFamily="34" charset="0"/>
                <a:ea typeface="Avenir Book" pitchFamily="34" charset="-122"/>
                <a:cs typeface="Avenir Book" pitchFamily="34" charset="-120"/>
              </a:rPr>
              <a:t>2. Methods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3. Results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4. Discussion</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Sample</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1,729 adults, January–March 2024 (of the 1,774 in the previous talk)</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Five conflict-affected states + Ogun (non-conflict comparison)</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Stratified multi-stage cluster design; 565 communities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Community and displacement-camp settings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Measures</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PCL-5 ≥ 38  ·  PHQ-9 ≥ 10  ·  GAD-7 ≥ 10 (validated in this population — paper 1)</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Trauma: count of 12 event types; refusals excluded, not zero</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Stressors: socioeconomic challenge count, 0–10</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Model</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Trauma as a restricted cubic spline: the saturation shape is estimated, not assumed</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Poisson prevalence ratios; adjusted; design-based variances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Test: trauma × stressor interaction — on the relative and the absolute scale</a:t>
            </a:r>
            <a:endParaRPr lang="en-US" sz="2000" dirty="0"/>
          </a:p>
          <a:p>
            <a:pPr indent="0" marL="0">
              <a:spcAft>
                <a:spcPts val="200"/>
              </a:spcAft>
              <a:buNone/>
            </a:pPr>
            <a:r>
              <a:rPr lang="en-US" sz="2000" dirty="0">
                <a:solidFill>
                  <a:srgbClr val="000000"/>
                </a:solidFill>
                <a:latin typeface="Avenir Book" pitchFamily="34" charset="0"/>
                <a:ea typeface="Avenir Book" pitchFamily="34" charset="-122"/>
                <a:cs typeface="Avenir Book" pitchFamily="34" charset="-120"/>
              </a:rPr>
              <a:t>Sensitivity: alternative thresholds, continuous scores, categorical specification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108960" y="1463040"/>
            <a:ext cx="3657600" cy="2377440"/>
          </a:xfrm>
          <a:prstGeom prst="rect">
            <a:avLst/>
          </a:prstGeom>
          <a:noFill/>
          <a:ln/>
        </p:spPr>
        <p:txBody>
          <a:bodyPr wrap="square" lIns="0" tIns="0" rIns="0" bIns="0" rtlCol="0" anchor="ctr"/>
          <a:lstStyle/>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1. Background</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2. Methods</a:t>
            </a:r>
            <a:endParaRPr lang="en-US" sz="2400" dirty="0"/>
          </a:p>
          <a:p>
            <a:pPr indent="0" marL="0">
              <a:spcAft>
                <a:spcPts val="1800"/>
              </a:spcAft>
              <a:buNone/>
            </a:pPr>
            <a:r>
              <a:rPr lang="en-US" sz="2400" dirty="0">
                <a:solidFill>
                  <a:srgbClr val="FF0000"/>
                </a:solidFill>
                <a:latin typeface="Avenir Book" pitchFamily="34" charset="0"/>
                <a:ea typeface="Avenir Book" pitchFamily="34" charset="-122"/>
                <a:cs typeface="Avenir Book" pitchFamily="34" charset="-120"/>
              </a:rPr>
              <a:t>3. Results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4. Discussion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The burden gradient</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Adjusted PTSD prevalence at zero stressors: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6.5% with no trauma exposure</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20% at three event types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41% at five event types</a:t>
            </a:r>
            <a:endParaRPr lang="en-US" sz="2000" dirty="0"/>
          </a:p>
          <a:p>
            <a:pPr indent="0" marL="0">
              <a:spcAft>
                <a:spcPts val="200"/>
              </a:spcAft>
              <a:buNone/>
            </a:pPr>
            <a:r>
              <a:rPr lang="en-US" sz="2000" dirty="0">
                <a:solidFill>
                  <a:srgbClr val="000000"/>
                </a:solidFill>
                <a:latin typeface="Avenir Book" pitchFamily="34" charset="0"/>
                <a:ea typeface="Avenir Book" pitchFamily="34" charset="-122"/>
                <a:cs typeface="Avenir Book" pitchFamily="34" charset="-120"/>
              </a:rPr>
              <a:t>Trauma dominates the risk landscape — that is not the news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Per-stressor prevalence ratio, by trauma exposure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828800"/>
                <a:gridCol w="2194560"/>
                <a:gridCol w="2011680"/>
                <a:gridCol w="2011680"/>
              </a:tblGrid>
              <a:tr h="411480">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Trauma</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PTSD</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Depression</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Anxiety</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500" dirty="0">
                          <a:solidFill>
                            <a:srgbClr val="FF0000"/>
                          </a:solidFill>
                          <a:latin typeface="Avenir Book" pitchFamily="34" charset="0"/>
                          <a:ea typeface="Avenir Book" pitchFamily="34" charset="-122"/>
                          <a:cs typeface="Avenir Book" pitchFamily="34" charset="-120"/>
                        </a:rPr>
                        <a:t>0 events</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FF0000"/>
                          </a:solidFill>
                          <a:latin typeface="Avenir Book" pitchFamily="34" charset="0"/>
                          <a:ea typeface="Avenir Book" pitchFamily="34" charset="-122"/>
                          <a:cs typeface="Avenir Book" pitchFamily="34" charset="-120"/>
                        </a:rPr>
                        <a:t>1.97 (1.53–2.54)</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FF0000"/>
                          </a:solidFill>
                          <a:latin typeface="Avenir Book" pitchFamily="34" charset="0"/>
                          <a:ea typeface="Avenir Book" pitchFamily="34" charset="-122"/>
                          <a:cs typeface="Avenir Book" pitchFamily="34" charset="-120"/>
                        </a:rPr>
                        <a:t>1.83 (1.46–2.30)</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FF0000"/>
                          </a:solidFill>
                          <a:latin typeface="Avenir Book" pitchFamily="34" charset="0"/>
                          <a:ea typeface="Avenir Book" pitchFamily="34" charset="-122"/>
                          <a:cs typeface="Avenir Book" pitchFamily="34" charset="-120"/>
                        </a:rPr>
                        <a:t>1.71 (1.35–2.17)</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1–2</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1.26</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1.27</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1.15</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3–4</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1.03</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0.95</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0.86</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5+</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0.92 (0.83–1.03)</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0.99</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1.03</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411480">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Interaction p</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&lt;0.0001</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&lt;0.0001</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dirty="0">
                          <a:solidFill>
                            <a:srgbClr val="000000"/>
                          </a:solidFill>
                          <a:latin typeface="Avenir Book" pitchFamily="34" charset="0"/>
                          <a:ea typeface="Avenir Book" pitchFamily="34" charset="-122"/>
                          <a:cs typeface="Avenir Book" pitchFamily="34" charset="-120"/>
                        </a:rPr>
                        <a:t>&lt;0.0001</a:t>
                      </a:r>
                      <a:endParaRPr lang="en-US" sz="1500" dirty="0">
                        <a:latin typeface="Avenir Book" charset="0"/>
                        <a:ea typeface="Avenir Book" charset="0"/>
                        <a:cs typeface="Avenir Book"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Adjusted PTSD prevalence</a:t>
            </a:r>
            <a:endParaRPr lang="en-US" sz="2800" dirty="0"/>
          </a:p>
        </p:txBody>
      </p:sp>
      <p:graphicFrame>
        <p:nvGraphicFramePr>
          <p:cNvPr id="4" name="Chart 0" descr=""/>
          <p:cNvGraphicFramePr/>
          <p:nvPr/>
        </p:nvGraphicFramePr>
        <p:xfrm>
          <a:off x="548640" y="1234440"/>
          <a:ext cx="8046720" cy="3291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Four additional stressors, in percentage points</a:t>
            </a:r>
            <a:endParaRPr lang="en-US" sz="2800" dirty="0"/>
          </a:p>
        </p:txBody>
      </p:sp>
      <p:sp>
        <p:nvSpPr>
          <p:cNvPr id="4" name="Text 1"/>
          <p:cNvSpPr txBox="1"/>
          <p:nvPr/>
        </p:nvSpPr>
        <p:spPr>
          <a:xfrm>
            <a:off x="1097280" y="1554480"/>
            <a:ext cx="3108960" cy="1097280"/>
          </a:xfrm>
          <a:prstGeom prst="rect">
            <a:avLst/>
          </a:prstGeom>
          <a:noFill/>
          <a:ln/>
        </p:spPr>
        <p:txBody>
          <a:bodyPr wrap="square" lIns="0" tIns="0" rIns="0" bIns="0" rtlCol="0" anchor="ctr"/>
          <a:lstStyle/>
          <a:p>
            <a:pPr algn="ctr" indent="0" marL="0">
              <a:buNone/>
            </a:pPr>
            <a:r>
              <a:rPr lang="en-US" sz="6000" dirty="0">
                <a:solidFill>
                  <a:srgbClr val="FF0000"/>
                </a:solidFill>
                <a:latin typeface="Avenir Book" pitchFamily="34" charset="0"/>
                <a:ea typeface="Avenir Book" pitchFamily="34" charset="-122"/>
                <a:cs typeface="Avenir Book" pitchFamily="34" charset="-120"/>
              </a:rPr>
              <a:t>+21.8</a:t>
            </a:r>
            <a:endParaRPr lang="en-US" sz="6000" dirty="0"/>
          </a:p>
        </p:txBody>
      </p:sp>
      <p:sp>
        <p:nvSpPr>
          <p:cNvPr id="5" name="Text 2"/>
          <p:cNvSpPr txBox="1"/>
          <p:nvPr/>
        </p:nvSpPr>
        <p:spPr>
          <a:xfrm>
            <a:off x="1097280" y="2651760"/>
            <a:ext cx="3108960" cy="731520"/>
          </a:xfrm>
          <a:prstGeom prst="rect">
            <a:avLst/>
          </a:prstGeom>
          <a:noFill/>
          <a:ln/>
        </p:spPr>
        <p:txBody>
          <a:bodyPr wrap="square" lIns="0" tIns="0" rIns="0" bIns="0" rtlCol="0" anchor="ctr"/>
          <a:lstStyle/>
          <a:p>
            <a:pPr algn="ctr" indent="0" marL="0">
              <a:buNone/>
            </a:pPr>
            <a:r>
              <a:rPr lang="en-US" sz="1400" dirty="0">
                <a:solidFill>
                  <a:srgbClr val="000000"/>
                </a:solidFill>
                <a:latin typeface="Avenir Book" pitchFamily="34" charset="0"/>
                <a:ea typeface="Avenir Book" pitchFamily="34" charset="-122"/>
                <a:cs typeface="Avenir Book" pitchFamily="34" charset="-120"/>
              </a:rPr>
              <a:t>no trauma exposure</a:t>
            </a:r>
            <a:endParaRPr lang="en-US" sz="1400" dirty="0"/>
          </a:p>
          <a:p>
            <a:pPr algn="ctr" indent="0" marL="0">
              <a:buNone/>
            </a:pPr>
            <a:r>
              <a:rPr lang="en-US" sz="1400" dirty="0">
                <a:solidFill>
                  <a:srgbClr val="000000"/>
                </a:solidFill>
                <a:latin typeface="Avenir Book" pitchFamily="34" charset="0"/>
                <a:ea typeface="Avenir Book" pitchFamily="34" charset="-122"/>
                <a:cs typeface="Avenir Book" pitchFamily="34" charset="-120"/>
              </a:rPr>
              <a:t>(95% CI 7.2–36.5)</a:t>
            </a:r>
            <a:endParaRPr lang="en-US" sz="1400" dirty="0"/>
          </a:p>
        </p:txBody>
      </p:sp>
      <p:sp>
        <p:nvSpPr>
          <p:cNvPr id="6" name="Text 3"/>
          <p:cNvSpPr txBox="1"/>
          <p:nvPr/>
        </p:nvSpPr>
        <p:spPr>
          <a:xfrm>
            <a:off x="4937760" y="1554480"/>
            <a:ext cx="3108960" cy="1097280"/>
          </a:xfrm>
          <a:prstGeom prst="rect">
            <a:avLst/>
          </a:prstGeom>
          <a:noFill/>
          <a:ln/>
        </p:spPr>
        <p:txBody>
          <a:bodyPr wrap="square" lIns="0" tIns="0" rIns="0" bIns="0" rtlCol="0" anchor="ctr"/>
          <a:lstStyle/>
          <a:p>
            <a:pPr algn="ctr" indent="0" marL="0">
              <a:buNone/>
            </a:pPr>
            <a:r>
              <a:rPr lang="en-US" sz="6000" dirty="0">
                <a:solidFill>
                  <a:srgbClr val="000000"/>
                </a:solidFill>
                <a:latin typeface="Avenir Book" pitchFamily="34" charset="0"/>
                <a:ea typeface="Avenir Book" pitchFamily="34" charset="-122"/>
                <a:cs typeface="Avenir Book" pitchFamily="34" charset="-120"/>
              </a:rPr>
              <a:t>−2.5</a:t>
            </a:r>
            <a:endParaRPr lang="en-US" sz="6000" dirty="0"/>
          </a:p>
        </p:txBody>
      </p:sp>
      <p:sp>
        <p:nvSpPr>
          <p:cNvPr id="7" name="Text 4"/>
          <p:cNvSpPr txBox="1"/>
          <p:nvPr/>
        </p:nvSpPr>
        <p:spPr>
          <a:xfrm>
            <a:off x="4937760" y="2651760"/>
            <a:ext cx="3108960" cy="731520"/>
          </a:xfrm>
          <a:prstGeom prst="rect">
            <a:avLst/>
          </a:prstGeom>
          <a:noFill/>
          <a:ln/>
        </p:spPr>
        <p:txBody>
          <a:bodyPr wrap="square" lIns="0" tIns="0" rIns="0" bIns="0" rtlCol="0" anchor="ctr"/>
          <a:lstStyle/>
          <a:p>
            <a:pPr algn="ctr" indent="0" marL="0">
              <a:buNone/>
            </a:pPr>
            <a:r>
              <a:rPr lang="en-US" sz="1400" dirty="0">
                <a:solidFill>
                  <a:srgbClr val="000000"/>
                </a:solidFill>
                <a:latin typeface="Avenir Book" pitchFamily="34" charset="0"/>
                <a:ea typeface="Avenir Book" pitchFamily="34" charset="-122"/>
                <a:cs typeface="Avenir Book" pitchFamily="34" charset="-120"/>
              </a:rPr>
              <a:t>five or more events</a:t>
            </a:r>
            <a:endParaRPr lang="en-US" sz="1400" dirty="0"/>
          </a:p>
          <a:p>
            <a:pPr algn="ctr" indent="0" marL="0">
              <a:buNone/>
            </a:pPr>
            <a:r>
              <a:rPr lang="en-US" sz="1400" dirty="0">
                <a:solidFill>
                  <a:srgbClr val="000000"/>
                </a:solidFill>
                <a:latin typeface="Avenir Book" pitchFamily="34" charset="0"/>
                <a:ea typeface="Avenir Book" pitchFamily="34" charset="-122"/>
                <a:cs typeface="Avenir Book" pitchFamily="34" charset="-120"/>
              </a:rPr>
              <a:t>(95% CI −18.3 to +13.4)</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Depression and anxiety: the same pattern</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Depression: +24.1 points at zero trauma (5%→29%); +3.5, null, at five events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Anxiety: +17.8 points at zero trauma; −4.0, null, at five events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Robust: alternative thresholds and continuous scores, all p ≤ 0.0002</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731520" y="2011680"/>
            <a:ext cx="7680960" cy="1097280"/>
          </a:xfrm>
          <a:prstGeom prst="rect">
            <a:avLst/>
          </a:prstGeom>
          <a:noFill/>
          <a:ln/>
        </p:spPr>
        <p:txBody>
          <a:bodyPr wrap="square" lIns="0" tIns="0" rIns="0" bIns="0" rtlCol="0" anchor="ctr"/>
          <a:lstStyle/>
          <a:p>
            <a:pPr algn="ctr" indent="0" marL="0">
              <a:buNone/>
            </a:pPr>
            <a:r>
              <a:rPr lang="en-US" sz="3000" dirty="0">
                <a:solidFill>
                  <a:srgbClr val="000000"/>
                </a:solidFill>
                <a:latin typeface="Avenir Book" pitchFamily="34" charset="0"/>
                <a:ea typeface="Avenir Book" pitchFamily="34" charset="-122"/>
                <a:cs typeface="Avenir Book" pitchFamily="34" charset="-120"/>
              </a:rPr>
              <a:t>The stress gradient lives among the least trauma-exposed.</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108960" y="1463040"/>
            <a:ext cx="3657600" cy="2377440"/>
          </a:xfrm>
          <a:prstGeom prst="rect">
            <a:avLst/>
          </a:prstGeom>
          <a:noFill/>
          <a:ln/>
        </p:spPr>
        <p:txBody>
          <a:bodyPr wrap="square" lIns="0" tIns="0" rIns="0" bIns="0" rtlCol="0" anchor="ctr"/>
          <a:lstStyle/>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1. Background</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2. Methods</a:t>
            </a:r>
            <a:endParaRPr lang="en-US" sz="2400" dirty="0"/>
          </a:p>
          <a:p>
            <a:pPr indent="0" marL="0">
              <a:spcAft>
                <a:spcPts val="1800"/>
              </a:spcAft>
              <a:buNone/>
            </a:pPr>
            <a:r>
              <a:rPr lang="en-US" sz="2400" dirty="0">
                <a:solidFill>
                  <a:srgbClr val="000000"/>
                </a:solidFill>
                <a:latin typeface="Avenir Book" pitchFamily="34" charset="0"/>
                <a:ea typeface="Avenir Book" pitchFamily="34" charset="-122"/>
                <a:cs typeface="Avenir Book" pitchFamily="34" charset="-120"/>
              </a:rPr>
              <a:t>3. Results</a:t>
            </a:r>
            <a:endParaRPr lang="en-US" sz="2400" dirty="0"/>
          </a:p>
          <a:p>
            <a:pPr indent="0" marL="0">
              <a:spcAft>
                <a:spcPts val="1800"/>
              </a:spcAft>
              <a:buNone/>
            </a:pPr>
            <a:r>
              <a:rPr lang="en-US" sz="2400" dirty="0">
                <a:solidFill>
                  <a:srgbClr val="FF0000"/>
                </a:solidFill>
                <a:latin typeface="Avenir Book" pitchFamily="34" charset="0"/>
                <a:ea typeface="Avenir Book" pitchFamily="34" charset="-122"/>
                <a:cs typeface="Avenir Book" pitchFamily="34" charset="-120"/>
              </a:rPr>
              <a:t>4. Discussion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What this means</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Not sensitization: gradients flatten, not steepen, with exposure</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Universal stress-reduction targets people whose symptoms no longer track stress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Stress-focused and livelihood support where sensitivity is retained</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Trauma-focused therapies where exposure is extensive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dirty="0">
                <a:solidFill>
                  <a:srgbClr val="000000"/>
                </a:solidFill>
                <a:latin typeface="Avenir Book" pitchFamily="34" charset="0"/>
                <a:ea typeface="Avenir Book" pitchFamily="34" charset="-122"/>
                <a:cs typeface="Avenir Book" pitchFamily="34" charset="-120"/>
              </a:rPr>
              <a:t>Limits</a:t>
            </a:r>
            <a:endParaRPr lang="en-US" sz="2800" dirty="0"/>
          </a:p>
        </p:txBody>
      </p:sp>
      <p:sp>
        <p:nvSpPr>
          <p:cNvPr id="4" name="Text 1"/>
          <p:cNvSpPr txBox="1"/>
          <p:nvPr/>
        </p:nvSpPr>
        <p:spPr>
          <a:xfrm>
            <a:off x="548640" y="1371600"/>
            <a:ext cx="8046720" cy="3291840"/>
          </a:xfrm>
          <a:prstGeom prst="rect">
            <a:avLst/>
          </a:prstGeom>
          <a:noFill/>
          <a:ln/>
        </p:spPr>
        <p:txBody>
          <a:bodyPr wrap="square" lIns="0" tIns="0" rIns="0" bIns="0" rtlCol="0" anchor="t"/>
          <a:lstStyle/>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Cross-sectional: a pattern of association, not a mechanism</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Lifetime event recall against current stressors</a:t>
            </a:r>
            <a:endParaRPr lang="en-US" sz="2000" dirty="0"/>
          </a:p>
          <a:p>
            <a:pPr indent="0" marL="0">
              <a:spcAft>
                <a:spcPts val="1400"/>
              </a:spcAft>
              <a:buNone/>
            </a:pPr>
            <a:r>
              <a:rPr lang="en-US" sz="2000" dirty="0">
                <a:solidFill>
                  <a:srgbClr val="000000"/>
                </a:solidFill>
                <a:latin typeface="Avenir Book" pitchFamily="34" charset="0"/>
                <a:ea typeface="Avenir Book" pitchFamily="34" charset="-122"/>
                <a:cs typeface="Avenir Book" pitchFamily="34" charset="-120"/>
              </a:rPr>
              <a:t>Sparse data above six events</a:t>
            </a:r>
            <a:endParaRPr lang="en-US" sz="2000" dirty="0"/>
          </a:p>
          <a:p>
            <a:pPr indent="0" marL="0">
              <a:spcAft>
                <a:spcPts val="200"/>
              </a:spcAft>
              <a:buNone/>
            </a:pPr>
            <a:r>
              <a:rPr lang="en-US" sz="2000" dirty="0">
                <a:solidFill>
                  <a:srgbClr val="000000"/>
                </a:solidFill>
                <a:latin typeface="Avenir Book" pitchFamily="34" charset="0"/>
                <a:ea typeface="Avenir Book" pitchFamily="34" charset="-122"/>
                <a:cs typeface="Avenir Book" pitchFamily="34" charset="-120"/>
              </a:rPr>
              <a:t>Prevalence, not incidence — the longitudinal test is next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731520" y="2286000"/>
            <a:ext cx="7680960" cy="548640"/>
          </a:xfrm>
          <a:prstGeom prst="rect">
            <a:avLst/>
          </a:prstGeom>
          <a:noFill/>
          <a:ln/>
        </p:spPr>
        <p:txBody>
          <a:bodyPr wrap="square" lIns="0" tIns="0" rIns="0" bIns="0" rtlCol="0" anchor="ctr"/>
          <a:lstStyle/>
          <a:p>
            <a:pPr algn="ctr" indent="0" marL="0">
              <a:buNone/>
            </a:pPr>
            <a:r>
              <a:rPr lang="en-US" sz="2200" dirty="0">
                <a:solidFill>
                  <a:srgbClr val="000000"/>
                </a:solidFill>
                <a:latin typeface="Avenir Book" pitchFamily="34" charset="0"/>
                <a:ea typeface="Avenir Book" pitchFamily="34" charset="-122"/>
                <a:cs typeface="Avenir Book" pitchFamily="34" charset="-120"/>
              </a:rPr>
              <a:t>[your preferred email]</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2026-09-20T18:20:43Z</dcterms:created>
  <dcterms:modified xsi:type="dcterms:W3CDTF">2026-09-20T18:20:43Z</dcterms:modified>
</cp:coreProperties>
</file>