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9"/>
    <p:sldId id="259" r:id="rId8"/>
    <p:sldId id="260" r:id="rId7"/>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919D0-9672-3B54-444D-474231CC376B}" v="27" dt="2026-05-05T17:49:2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9" d="100"/>
          <a:sy n="89" d="100"/>
        </p:scale>
        <p:origin x="33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notesMaster" Target="notesMasters/notesMaster1.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Evans" userId="S::levans@parthenonmgmt.com::502e5b7e-0522-4e8f-98b1-099491360ecc" providerId="AD" clId="Web-{10A919D0-9672-3B54-444D-474231CC376B}"/>
    <pc:docChg chg="modSld">
      <pc:chgData name="Laura Evans" userId="S::levans@parthenonmgmt.com::502e5b7e-0522-4e8f-98b1-099491360ecc" providerId="AD" clId="Web-{10A919D0-9672-3B54-444D-474231CC376B}" dt="2026-05-05T17:49:24.769" v="29" actId="1076"/>
      <pc:docMkLst>
        <pc:docMk/>
      </pc:docMkLst>
      <pc:sldChg chg="modSp">
        <pc:chgData name="Laura Evans" userId="S::levans@parthenonmgmt.com::502e5b7e-0522-4e8f-98b1-099491360ecc" providerId="AD" clId="Web-{10A919D0-9672-3B54-444D-474231CC376B}" dt="2026-05-05T17:47:32.081" v="6" actId="20577"/>
        <pc:sldMkLst>
          <pc:docMk/>
          <pc:sldMk cId="1804320558" sldId="256"/>
        </pc:sldMkLst>
        <pc:spChg chg="mod">
          <ac:chgData name="Laura Evans" userId="S::levans@parthenonmgmt.com::502e5b7e-0522-4e8f-98b1-099491360ecc" providerId="AD" clId="Web-{10A919D0-9672-3B54-444D-474231CC376B}" dt="2026-05-05T17:47:32.081" v="6" actId="20577"/>
          <ac:spMkLst>
            <pc:docMk/>
            <pc:sldMk cId="1804320558" sldId="256"/>
            <ac:spMk id="2" creationId="{125018A9-85F0-3BCF-08E3-53242BED322C}"/>
          </ac:spMkLst>
        </pc:spChg>
      </pc:sldChg>
      <pc:sldChg chg="modSp">
        <pc:chgData name="Laura Evans" userId="S::levans@parthenonmgmt.com::502e5b7e-0522-4e8f-98b1-099491360ecc" providerId="AD" clId="Web-{10A919D0-9672-3B54-444D-474231CC376B}" dt="2026-05-05T17:49:24.769" v="29" actId="1076"/>
        <pc:sldMkLst>
          <pc:docMk/>
          <pc:sldMk cId="1217370416" sldId="257"/>
        </pc:sldMkLst>
        <pc:spChg chg="mod">
          <ac:chgData name="Laura Evans" userId="S::levans@parthenonmgmt.com::502e5b7e-0522-4e8f-98b1-099491360ecc" providerId="AD" clId="Web-{10A919D0-9672-3B54-444D-474231CC376B}" dt="2026-05-05T17:49:20.847" v="28" actId="1076"/>
          <ac:spMkLst>
            <pc:docMk/>
            <pc:sldMk cId="1217370416" sldId="257"/>
            <ac:spMk id="2" creationId="{8541808E-CCF4-3463-2FDA-3BA4D8F6B1F1}"/>
          </ac:spMkLst>
        </pc:spChg>
        <pc:spChg chg="mod">
          <ac:chgData name="Laura Evans" userId="S::levans@parthenonmgmt.com::502e5b7e-0522-4e8f-98b1-099491360ecc" providerId="AD" clId="Web-{10A919D0-9672-3B54-444D-474231CC376B}" dt="2026-05-05T17:49:24.769" v="29" actId="1076"/>
          <ac:spMkLst>
            <pc:docMk/>
            <pc:sldMk cId="1217370416" sldId="257"/>
            <ac:spMk id="3" creationId="{D81E43C8-B81F-911F-DFA1-9067AA2E8A2B}"/>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No trauma</c:v>
                </c:pt>
              </c:strCache>
            </c:strRef>
          </c:tx>
          <c:spPr>
            <a:ln w="31750">
              <a:solidFill>
                <a:srgbClr val="FF0000"/>
              </a:solidFill>
            </a:ln>
          </c:spPr>
          <c:marker>
            <c:symbol val="none"/>
          </c:marker>
          <c:cat>
            <c:strRef>
              <c:f>Sheet1!$A$2:$A$5</c:f>
              <c:strCache>
                <c:ptCount val="4"/>
                <c:pt idx="0">
                  <c:v>0</c:v>
                </c:pt>
                <c:pt idx="1">
                  <c:v>2</c:v>
                </c:pt>
                <c:pt idx="2">
                  <c:v>4</c:v>
                </c:pt>
                <c:pt idx="3">
                  <c:v>6</c:v>
                </c:pt>
              </c:strCache>
            </c:strRef>
          </c:cat>
          <c:val>
            <c:numRef>
              <c:f>Sheet1!$B$2:$B$5</c:f>
              <c:numCache>
                <c:formatCode>General</c:formatCode>
                <c:ptCount val="4"/>
                <c:pt idx="0">
                  <c:v>6.5</c:v>
                </c:pt>
                <c:pt idx="1">
                  <c:v>13.6</c:v>
                </c:pt>
                <c:pt idx="2">
                  <c:v>28.4</c:v>
                </c:pt>
                <c:pt idx="3">
                  <c:v>59.1</c:v>
                </c:pt>
              </c:numCache>
            </c:numRef>
          </c:val>
          <c:smooth val="0"/>
        </c:ser>
        <c:ser>
          <c:idx val="1"/>
          <c:order val="1"/>
          <c:tx>
            <c:strRef>
              <c:f>Sheet1!$C$1</c:f>
              <c:strCache>
                <c:ptCount val="1"/>
                <c:pt idx="0">
                  <c:v>1 event</c:v>
                </c:pt>
              </c:strCache>
            </c:strRef>
          </c:tx>
          <c:spPr>
            <a:ln w="31750">
              <a:solidFill>
                <a:srgbClr val="A6A6A6"/>
              </a:solidFill>
            </a:ln>
          </c:spPr>
          <c:marker>
            <c:symbol val="none"/>
          </c:marker>
          <c:cat>
            <c:strRef>
              <c:f>Sheet1!$A$2:$A$5</c:f>
              <c:strCache>
                <c:ptCount val="4"/>
                <c:pt idx="0">
                  <c:v>0</c:v>
                </c:pt>
                <c:pt idx="1">
                  <c:v>2</c:v>
                </c:pt>
                <c:pt idx="2">
                  <c:v>4</c:v>
                </c:pt>
                <c:pt idx="3">
                  <c:v>6</c:v>
                </c:pt>
              </c:strCache>
            </c:strRef>
          </c:cat>
          <c:val>
            <c:numRef>
              <c:f>Sheet1!$C$2:$C$5</c:f>
              <c:numCache>
                <c:formatCode>General</c:formatCode>
                <c:ptCount val="4"/>
                <c:pt idx="0">
                  <c:v>9.4</c:v>
                </c:pt>
                <c:pt idx="1">
                  <c:v>15.2</c:v>
                </c:pt>
                <c:pt idx="2">
                  <c:v>24.4</c:v>
                </c:pt>
                <c:pt idx="3">
                  <c:v>39.4</c:v>
                </c:pt>
              </c:numCache>
            </c:numRef>
          </c:val>
          <c:smooth val="0"/>
        </c:ser>
        <c:ser>
          <c:idx val="2"/>
          <c:order val="2"/>
          <c:tx>
            <c:strRef>
              <c:f>Sheet1!$D$1</c:f>
              <c:strCache>
                <c:ptCount val="1"/>
                <c:pt idx="0">
                  <c:v>3 events</c:v>
                </c:pt>
              </c:strCache>
            </c:strRef>
          </c:tx>
          <c:spPr>
            <a:ln w="31750">
              <a:solidFill>
                <a:srgbClr val="737373"/>
              </a:solidFill>
            </a:ln>
          </c:spPr>
          <c:marker>
            <c:symbol val="none"/>
          </c:marker>
          <c:cat>
            <c:strRef>
              <c:f>Sheet1!$A$2:$A$5</c:f>
              <c:strCache>
                <c:ptCount val="4"/>
                <c:pt idx="0">
                  <c:v>0</c:v>
                </c:pt>
                <c:pt idx="1">
                  <c:v>2</c:v>
                </c:pt>
                <c:pt idx="2">
                  <c:v>4</c:v>
                </c:pt>
                <c:pt idx="3">
                  <c:v>6</c:v>
                </c:pt>
              </c:strCache>
            </c:strRef>
          </c:cat>
          <c:val>
            <c:numRef>
              <c:f>Sheet1!$D$2:$D$5</c:f>
              <c:numCache>
                <c:formatCode>General</c:formatCode>
                <c:ptCount val="4"/>
                <c:pt idx="0">
                  <c:v>19.6</c:v>
                </c:pt>
                <c:pt idx="1">
                  <c:v>21.5</c:v>
                </c:pt>
                <c:pt idx="2">
                  <c:v>23.7</c:v>
                </c:pt>
                <c:pt idx="3">
                  <c:v>26.0</c:v>
                </c:pt>
              </c:numCache>
            </c:numRef>
          </c:val>
          <c:smooth val="0"/>
        </c:ser>
        <c:ser>
          <c:idx val="3"/>
          <c:order val="3"/>
          <c:tx>
            <c:strRef>
              <c:f>Sheet1!$E$1</c:f>
              <c:strCache>
                <c:ptCount val="1"/>
                <c:pt idx="0">
                  <c:v>5 events</c:v>
                </c:pt>
              </c:strCache>
            </c:strRef>
          </c:tx>
          <c:spPr>
            <a:ln w="31750">
              <a:solidFill>
                <a:srgbClr val="000000"/>
              </a:solidFill>
            </a:ln>
          </c:spPr>
          <c:marker>
            <c:symbol val="none"/>
          </c:marker>
          <c:cat>
            <c:strRef>
              <c:f>Sheet1!$A$2:$A$5</c:f>
              <c:strCache>
                <c:ptCount val="4"/>
                <c:pt idx="0">
                  <c:v>0</c:v>
                </c:pt>
                <c:pt idx="1">
                  <c:v>2</c:v>
                </c:pt>
                <c:pt idx="2">
                  <c:v>4</c:v>
                </c:pt>
                <c:pt idx="3">
                  <c:v>6</c:v>
                </c:pt>
              </c:strCache>
            </c:strRef>
          </c:cat>
          <c:val>
            <c:numRef>
              <c:f>Sheet1!$E$2:$E$5</c:f>
              <c:numCache>
                <c:formatCode>General</c:formatCode>
                <c:ptCount val="4"/>
                <c:pt idx="0">
                  <c:v>40.9</c:v>
                </c:pt>
                <c:pt idx="1">
                  <c:v>39.6</c:v>
                </c:pt>
                <c:pt idx="2">
                  <c:v>38.4</c:v>
                </c:pt>
                <c:pt idx="3">
                  <c:v>37.2</c:v>
                </c:pt>
              </c:numCache>
            </c:numRef>
          </c:val>
          <c:smooth val="0"/>
        </c:ser>
        <c:marker val="1"/>
        <c:smooth val="0"/>
        <c:axId val="2118791784"/>
        <c:axId val="2140495176"/>
      </c:lineChart>
      <c:catAx>
        <c:axId val="2118791784"/>
        <c:scaling>
          <c:orientation val="minMax"/>
        </c:scaling>
        <c:delete val="0"/>
        <c:axPos val="b"/>
        <c:title>
          <c:tx>
            <c:rich>
              <a:bodyPr/>
              <a:lstStyle/>
              <a:p>
                <a:r>
                  <a:t>Socioeconomic stressors (count)</a:t>
                </a:r>
              </a:p>
            </c:rich>
          </c:tx>
          <c:layout/>
          <c:overlay val="0"/>
        </c:title>
        <c:majorTickMark val="out"/>
        <c:minorTickMark val="none"/>
        <c:tickLblPos val="nextTo"/>
        <c:crossAx val="2140495176"/>
        <c:crosses val="autoZero"/>
        <c:auto val="1"/>
        <c:lblAlgn val="ctr"/>
        <c:lblOffset val="100"/>
        <c:noMultiLvlLbl val="0"/>
      </c:catAx>
      <c:valAx>
        <c:axId val="2140495176"/>
        <c:scaling>
          <c:max val="60.0"/>
          <c:min val="0.0"/>
        </c:scaling>
        <c:delete val="0"/>
        <c:axPos val="l"/>
        <c:majorGridlines/>
        <c:title>
          <c:tx>
            <c:rich>
              <a:bodyPr/>
              <a:lstStyle/>
              <a:p>
                <a:r>
                  <a:t>Prevalence (%)</a:t>
                </a:r>
              </a:p>
            </c:rich>
          </c:tx>
          <c:layout/>
          <c:overlay val="0"/>
        </c:title>
        <c:majorTickMark val="out"/>
        <c:minorTickMark val="none"/>
        <c:tickLblPos val="nextTo"/>
        <c:crossAx val="2118791784"/>
        <c:crosses val="autoZero"/>
      </c:valAx>
    </c:plotArea>
    <c:legend>
      <c:legendPos/>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chair. One sentence: this talk asks whether trauma changes what everyday stress does to mental health, in the same population Salma just described.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once, briefly: no financial relationships to disclose.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background, methods, results,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Jaimie showed the instruments work here; Salma showed the burden at scale. The population carries two loads at once: traumatic events from overlapping conflicts, and grinding daily adversity — food insecurity, job loss, housing precarity. Humanitarian programming usually treats these as one additive pile of risk. Whether that is true decides who universal psychosocial programs actually help.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literature offers three incompatible answers. Stress sensitization — Post's kindling work, and the child-adversity literature — says prior trauma amplifies reactivity to later stress, so gradients should be steepest among the most exposed. Stress inoculation says moderate exposure toughens, predicting the opposite. And the daily-stressors model in humanitarian settings — Miller and Rasmussen — says everyday adversity mediates much of conflict's effect but is largely silent on effect modification. Almost all that evidence comes from high-income cohorts with far lower exposure ranges than ours. Nobody has tested the shape of the interaction where exposure runs this high.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in one line. Pause.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Methods: the sample you have already met, then measures, then the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MaRVIN sample Salma presented: 1,774 adults surveyed May to October 2025; 1,729 answered the trauma inventory and enter this analysis. Six states: five conflict-affected — Benue, Borno, Enugu, Rivers, Sokoto — plus Ogun as a non-conflict comparison, which anchors the low end of the trauma gradient. Stratified multi-stage cluster design, 565 community clusters, community and IDP-camp settings. All analyses honor the design: state strata, community clusters, linearized variances.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Outcomes use the instruments Jaimie validated: probable PTSD at PCL-5 38 and above; depression, PHQ-9 at 10; anxiety, GAD-7 at 10. Trauma exposure is a count of twelve event types — assaults, armed conflict, disasters, accidents; respondents who declined the inventory are excluded, not counted as unexposed. Stressors are a 0-to-10 count of socioeconomic challenges: job loss, rent difficulty, eviction, family disruption, isolation.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 choice that matters: trauma enters continuously, zero to twelve, as a restricted cubic spline, so the shape of any saturation is estimated from the data — the earlier categorical specification imposed it. Poisson models return prevalence ratios directly; adjusted for age, gender, education, state; variances honor the cluster design. The test is the trauma-by-stressor interaction, read on two scales, because relative ratios answer etiology while absolute percentage points answer programming. Prespecified sensitivity analyses on thresholds and continuous scores.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in four steps: the burden, the gradient, the picture, the absolute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main effect, so the interaction has context. At zero stressors, adjusted PTSD prevalence climbs from 6.5 percent among the unexposed to 41 percent at five event types — a six-fold burden gradient. Trauma dominates the risk landscape here; that is not the news. The news is what happens to the stress gradient along the 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interaction. Read the red row: among adults with no trauma exposure, each additional stressor nearly doubles PTSD prevalence — ratio 1.97. Walk down the column: 1.26 at one to two events, null at three to four, null at five plus. Depression and anxiety show the same staircase. All three interactions below 0.0001. This is the opposite of sensitization: the gradient is steepest where exposure is lowest.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result as a picture. Each line is a trauma level; horizontal axis is the stressor count; vertical is adjusted PTSD prevalence. The red line — no trauma exposure — climbs from 7 to 28 percent and keeps rising. The five-event line starts near 41 percent and does not move. The lines converge: the gradient belongs to the unexposed, the burden belongs to the exposed.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matters for programming: the absolute scale. Zero to four stressors adds 22 percentage points of PTSD prevalence among adults with no trauma exposure, 7 to 28 percent. The same contrast among adults with five event types adds nothing — minus two and a half points, interval straddling zero, against a baseline near 40 percent.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Depression and anxiety, same test. Four stressors add 24 points of depression prevalence at zero trauma, 5 to 29 percent; at five events, plus three and a half, null, against 35 percent. Anxiety: plus 18 at zero trauma, minus four, null, at five. Three outcomes, one pattern. Not a cutoff artifact — alternative thresholds and continuous symptom scores all reproduce the interaction at p of 0.0002 or below.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 in one line. Pause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means, and what it cannot mean.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sensitization, and beyond simple dose-response: symptom prevalence among the heavily exposed is high at every stressor level — saturated — while stress sensitivity is concentrated among those with limited exposure. For programming: universal stress-reduction aims at people whose symptoms no longer track stress. Match the intervention to trauma history. Stress-focused and livelihood support where sensitivity is retained; trauma-focused therapies where exposure is extensive, because there the trauma load, not the stressor load, is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Stated plainly. Cross-sectional data: saturation names an association pattern, not a mechanism — selection, recall, and ceiling processes could each contribute. Event counts are lifetime recall; stressors are current. Few respondents above six events, so the extreme tail is unstable. Prevalence, not incidence: we see who is symptomatic, not who became so. The longitudinal test — does a new stressor move symptoms differently by trauma history — is the next study.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field teams across the six states, co-authors, and the chair. Hand to Dr. Ojo, whose paper takes these findings to the ministry.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p:txBody>
          <a:bodyPr/>
          <a:lstStyle/>
          <a:p>
            <a:r>
              <a:t>When More Trauma Means Less Stress Sensitivity</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p:txBody>
          <a:bodyPr/>
          <a:lstStyle/>
          <a:p>
            <a:r>
              <a:t>Evidence for a Trauma Saturation Effect Among Violence-Exposed Populations in Nigeria</a:t>
            </a:r>
          </a:p>
          <a:p>
            <a:r>
              <a:t>Mohammed Abba-Aji · Washington University in St. Louis</a:t>
            </a:r>
          </a:p>
          <a:p>
            <a:r>
              <a:rPr sz="1400">
                <a:solidFill>
                  <a:srgbClr val="898989"/>
                </a:solidFill>
              </a:rPr>
              <a:t>ISTSS 42nd Annual Meeting · San Antonio, TX · September 24, 2026</a:t>
            </a:r>
          </a:p>
        </p:txBody>
      </p:sp>
    </p:spTree>
    <p:extLst>
      <p:ext uri="{BB962C8B-B14F-4D97-AF65-F5344CB8AC3E}">
        <p14:creationId xmlns:p14="http://schemas.microsoft.com/office/powerpoint/2010/main" val="180432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a:xfrm>
            <a:off x="838200" y="389316"/>
            <a:ext cx="10515600" cy="1325563"/>
          </a:xfrm>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a:xfrm>
            <a:off x="838200" y="1958673"/>
            <a:ext cx="10515600" cy="4145719"/>
          </a:xfrm>
        </p:spPr>
        <p:txBody>
          <a:bodyPr vert="horz" lIns="91440" tIns="45720" rIns="91440" bIns="45720" rtlCol="0" anchor="t">
            <a:normAutofit fontScale="85000" lnSpcReduction="20000"/>
          </a:bodyPr>
          <a:lstStyle/>
          <a:p>
            <a:pPr marL="0" indent="0">
              <a:lnSpc>
                <a:spcPct val="100000"/>
              </a:lnSpc>
              <a:spcBef>
                <a:spcPts val="0"/>
              </a:spcBef>
              <a:buNone/>
            </a:pPr>
            <a:r>
              <a:rPr lang="en-US" sz="2400" dirty="0" err="1">
                <a:solidFill>
                  <a:schemeClr val="bg1"/>
                </a:solidFill>
                <a:latin typeface="Aptos"/>
              </a:rPr>
              <a:t>Amedco</a:t>
            </a:r>
            <a:r>
              <a:rPr lang="en-US" sz="2400" dirty="0">
                <a:solidFill>
                  <a:schemeClr val="bg1"/>
                </a:solidFill>
                <a:latin typeface="Aptos"/>
              </a:rPr>
              <a:t>, our CME provider, asks that all individuals who have the ability to influence and/or control the content of this accredited activity disclose any/all relationships with ‎Ineligible Companies. </a:t>
            </a:r>
          </a:p>
          <a:p>
            <a:pPr marL="0" indent="0">
              <a:lnSpc>
                <a:spcPct val="100000"/>
              </a:lnSpc>
              <a:spcBef>
                <a:spcPts val="0"/>
              </a:spcBef>
              <a:buNone/>
            </a:pPr>
            <a:r>
              <a:rPr lang="en-US" sz="2400" dirty="0">
                <a:solidFill>
                  <a:schemeClr val="bg1"/>
                </a:solidFill>
                <a:latin typeface="Aptos"/>
              </a:rPr>
              <a:t>This information is disclosed to CME activity participants, and </a:t>
            </a:r>
            <a:r>
              <a:rPr lang="en-US" sz="2400" dirty="0" err="1">
                <a:solidFill>
                  <a:schemeClr val="bg1"/>
                </a:solidFill>
                <a:latin typeface="Aptos"/>
              </a:rPr>
              <a:t>Amedco</a:t>
            </a:r>
            <a:r>
              <a:rPr lang="en-US" sz="2400" dirty="0">
                <a:solidFill>
                  <a:schemeClr val="bg1"/>
                </a:solidFill>
                <a:latin typeface="Aptos"/>
              </a:rPr>
              <a:t> has procedures in place to resolve any apparent conflicts. In addition, presenters are asked to disclose when any discussion of unapproved use of pharmaceuticals and devices are being discussed. </a:t>
            </a:r>
          </a:p>
          <a:p>
            <a:pPr marL="0" indent="0">
              <a:lnSpc>
                <a:spcPct val="100000"/>
              </a:lnSpc>
              <a:spcBef>
                <a:spcPts val="0"/>
              </a:spcBef>
              <a:buNone/>
            </a:pPr>
            <a:endParaRPr lang="en-US" sz="2400" dirty="0">
              <a:solidFill>
                <a:schemeClr val="bg1"/>
              </a:solidFill>
              <a:latin typeface="Aptos"/>
              <a:ea typeface="Calibri"/>
              <a:cs typeface="Calibri"/>
            </a:endParaRPr>
          </a:p>
          <a:p>
            <a:pPr marL="0" indent="0">
              <a:lnSpc>
                <a:spcPct val="100000"/>
              </a:lnSpc>
              <a:spcBef>
                <a:spcPts val="0"/>
              </a:spcBef>
              <a:buNone/>
            </a:pPr>
            <a:r>
              <a:rPr lang="en-US" sz="2400">
                <a:solidFill>
                  <a:schemeClr val="bg1"/>
                </a:solidFill>
                <a:latin typeface="Aptos"/>
              </a:rPr>
              <a:t>In the past 24 months, I Mohammed Abba-Aji, have not had financial relationships with any ineligible companies. </a:t>
            </a:r>
          </a:p>
          <a:p>
            <a:pPr marL="0" indent="0">
              <a:lnSpc>
                <a:spcPct val="100000"/>
              </a:lnSpc>
              <a:spcBef>
                <a:spcPts val="0"/>
              </a:spcBef>
              <a:buNone/>
            </a:pPr>
            <a:endParaRPr lang="en-US" sz="2400" dirty="0">
              <a:solidFill>
                <a:schemeClr val="bg1"/>
              </a:solidFill>
              <a:latin typeface="Aptos"/>
              <a:ea typeface="Calibri"/>
              <a:cs typeface="Calibri"/>
            </a:endParaRPr>
          </a:p>
        </p:txBody>
      </p:sp>
    </p:spTree>
    <p:extLst>
      <p:ext uri="{BB962C8B-B14F-4D97-AF65-F5344CB8AC3E}">
        <p14:creationId xmlns:p14="http://schemas.microsoft.com/office/powerpoint/2010/main" val="121737041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solidFill>
                  <a:srgbClr val="FF0000"/>
                </a:solidFill>
              </a:rPr>
              <a:t>1. Background</a:t>
            </a:r>
          </a:p>
          <a:p>
            <a:r>
              <a:rPr sz="2800"/>
              <a:t>2. Methods</a:t>
            </a:r>
          </a:p>
          <a:p>
            <a:r>
              <a:rPr sz="2800"/>
              <a:t>3. Results</a:t>
            </a:r>
          </a:p>
          <a:p>
            <a:r>
              <a:rPr sz="2800"/>
              <a:t>4.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burdens, one population</a:t>
            </a:r>
          </a:p>
        </p:txBody>
      </p:sp>
      <p:sp>
        <p:nvSpPr>
          <p:cNvPr id="3" name="Content Placeholder 2"/>
          <p:cNvSpPr>
            <a:spLocks noGrp="1"/>
          </p:cNvSpPr>
          <p:nvPr>
            <p:ph idx="1"/>
          </p:nvPr>
        </p:nvSpPr>
        <p:spPr/>
        <p:txBody>
          <a:bodyPr wrap="square"/>
          <a:lstStyle/>
          <a:p>
            <a:pPr>
              <a:spcAft>
                <a:spcPts val="1200"/>
              </a:spcAft>
            </a:pPr>
            <a:r>
              <a:rPr sz="2000"/>
              <a:t>Conflict-affected Nigerians carry traumatic exposure and daily socioeconomic adversity together</a:t>
            </a:r>
          </a:p>
          <a:p>
            <a:pPr>
              <a:spcAft>
                <a:spcPts val="1200"/>
              </a:spcAft>
            </a:pPr>
            <a:r>
              <a:rPr sz="2000"/>
              <a:t>Programming typically treats the two as additive: every stressor removed helps everyone equally</a:t>
            </a:r>
          </a:p>
          <a:p>
            <a:pPr>
              <a:spcAft>
                <a:spcPts val="1200"/>
              </a:spcAft>
            </a:pPr>
            <a:r>
              <a:rPr sz="2000"/>
              <a:t>If trauma modifies stress sensitivity, that assumption fails for a large share of the population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predictions in the literature</a:t>
            </a:r>
          </a:p>
        </p:txBody>
      </p:sp>
      <p:sp>
        <p:nvSpPr>
          <p:cNvPr id="3" name="Content Placeholder 2"/>
          <p:cNvSpPr>
            <a:spLocks noGrp="1"/>
          </p:cNvSpPr>
          <p:nvPr>
            <p:ph idx="1"/>
          </p:nvPr>
        </p:nvSpPr>
        <p:spPr/>
        <p:txBody>
          <a:bodyPr wrap="square"/>
          <a:lstStyle/>
          <a:p>
            <a:pPr>
              <a:spcAft>
                <a:spcPts val="1200"/>
              </a:spcAft>
            </a:pPr>
            <a:r>
              <a:rPr sz="2000"/>
              <a:t>Stress sensitization: prior trauma amplifies reactivity, steepest gradients among the exposed</a:t>
            </a:r>
          </a:p>
          <a:p>
            <a:pPr>
              <a:spcAft>
                <a:spcPts val="1200"/>
              </a:spcAft>
            </a:pPr>
            <a:r>
              <a:rPr sz="2000"/>
              <a:t>Stress inoculation: moderate exposure protects against later stress</a:t>
            </a:r>
          </a:p>
          <a:p>
            <a:pPr>
              <a:spcAft>
                <a:spcPts val="1200"/>
              </a:spcAft>
            </a:pPr>
            <a:r>
              <a:rPr sz="2000"/>
              <a:t>Daily-stressors model: adversity mediates conflict's effect; silent on modification</a:t>
            </a:r>
          </a:p>
          <a:p>
            <a:pPr>
              <a:spcAft>
                <a:spcPts val="1200"/>
              </a:spcAft>
            </a:pPr>
            <a:r>
              <a:rPr sz="2000"/>
              <a:t>Nearly all evidence: high-income samples, narrow exposure ranges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Does trauma change what stress does?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1. Background</a:t>
            </a:r>
          </a:p>
          <a:p>
            <a:r>
              <a:rPr sz="2800">
                <a:solidFill>
                  <a:srgbClr val="FF0000"/>
                </a:solidFill>
              </a:rPr>
              <a:t>2. Methods</a:t>
            </a:r>
          </a:p>
          <a:p>
            <a:r>
              <a:rPr sz="2800"/>
              <a:t>3. Results</a:t>
            </a:r>
          </a:p>
          <a:p>
            <a:r>
              <a:rPr sz="2800"/>
              <a:t>4. Discussion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a:t>
            </a:r>
          </a:p>
        </p:txBody>
      </p:sp>
      <p:sp>
        <p:nvSpPr>
          <p:cNvPr id="3" name="Content Placeholder 2"/>
          <p:cNvSpPr>
            <a:spLocks noGrp="1"/>
          </p:cNvSpPr>
          <p:nvPr>
            <p:ph idx="1"/>
          </p:nvPr>
        </p:nvSpPr>
        <p:spPr/>
        <p:txBody>
          <a:bodyPr wrap="square"/>
          <a:lstStyle/>
          <a:p>
            <a:pPr>
              <a:spcAft>
                <a:spcPts val="1200"/>
              </a:spcAft>
            </a:pPr>
            <a:r>
              <a:rPr sz="2000"/>
              <a:t>1,729 adults, May–October 2025 (of the 1,774 in the previous talk)</a:t>
            </a:r>
          </a:p>
          <a:p>
            <a:pPr>
              <a:spcAft>
                <a:spcPts val="1200"/>
              </a:spcAft>
            </a:pPr>
            <a:r>
              <a:rPr sz="2000"/>
              <a:t>Five conflict-affected states + Ogun (non-conflict comparison)</a:t>
            </a:r>
          </a:p>
          <a:p>
            <a:pPr>
              <a:spcAft>
                <a:spcPts val="1200"/>
              </a:spcAft>
            </a:pPr>
            <a:r>
              <a:rPr sz="2000"/>
              <a:t>Stratified multi-stage cluster design; 565 communities</a:t>
            </a:r>
          </a:p>
          <a:p>
            <a:pPr>
              <a:spcAft>
                <a:spcPts val="1200"/>
              </a:spcAft>
            </a:pPr>
            <a:r>
              <a:rPr sz="2000"/>
              <a:t>Community and displacement-camp settings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Measures</a:t>
            </a:r>
          </a:p>
        </p:txBody>
      </p:sp>
      <p:sp>
        <p:nvSpPr>
          <p:cNvPr id="3" name="Content Placeholder 2"/>
          <p:cNvSpPr>
            <a:spLocks noGrp="1"/>
          </p:cNvSpPr>
          <p:nvPr>
            <p:ph idx="1"/>
          </p:nvPr>
        </p:nvSpPr>
        <p:spPr/>
        <p:txBody>
          <a:bodyPr wrap="square"/>
          <a:lstStyle/>
          <a:p>
            <a:pPr>
              <a:spcAft>
                <a:spcPts val="1200"/>
              </a:spcAft>
            </a:pPr>
            <a:r>
              <a:rPr sz="2000"/>
              <a:t>PCL-5 ≥ 38 · PHQ-9 ≥ 10 · GAD-7 ≥ 10 (validated in this population — paper 1)</a:t>
            </a:r>
          </a:p>
          <a:p>
            <a:pPr>
              <a:spcAft>
                <a:spcPts val="1200"/>
              </a:spcAft>
            </a:pPr>
            <a:r>
              <a:rPr sz="2000"/>
              <a:t>Trauma: count of 12 event types; refusals excluded, not zero</a:t>
            </a:r>
          </a:p>
          <a:p>
            <a:pPr>
              <a:spcAft>
                <a:spcPts val="1200"/>
              </a:spcAft>
            </a:pPr>
            <a:r>
              <a:rPr sz="2000"/>
              <a:t>Stressors: socioeconomic challenge count, 0–10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a:t>
            </a:r>
          </a:p>
        </p:txBody>
      </p:sp>
      <p:sp>
        <p:nvSpPr>
          <p:cNvPr id="3" name="Content Placeholder 2"/>
          <p:cNvSpPr>
            <a:spLocks noGrp="1"/>
          </p:cNvSpPr>
          <p:nvPr>
            <p:ph idx="1"/>
          </p:nvPr>
        </p:nvSpPr>
        <p:spPr/>
        <p:txBody>
          <a:bodyPr wrap="square"/>
          <a:lstStyle/>
          <a:p>
            <a:pPr>
              <a:spcAft>
                <a:spcPts val="1200"/>
              </a:spcAft>
            </a:pPr>
            <a:r>
              <a:rPr sz="2000"/>
              <a:t>Trauma as a restricted cubic spline: the saturation shape is estimated, not assumed</a:t>
            </a:r>
          </a:p>
          <a:p>
            <a:pPr>
              <a:spcAft>
                <a:spcPts val="1200"/>
              </a:spcAft>
            </a:pPr>
            <a:r>
              <a:rPr sz="2000"/>
              <a:t>Poisson prevalence ratios; adjusted; design-based variances</a:t>
            </a:r>
          </a:p>
          <a:p>
            <a:pPr>
              <a:spcAft>
                <a:spcPts val="1200"/>
              </a:spcAft>
            </a:pPr>
            <a:r>
              <a:rPr sz="2000"/>
              <a:t>Test: trauma × stressor interaction — on the relative and the absolute scale</a:t>
            </a:r>
          </a:p>
          <a:p>
            <a:pPr>
              <a:spcAft>
                <a:spcPts val="1200"/>
              </a:spcAft>
            </a:pPr>
            <a:r>
              <a:rPr sz="2000"/>
              <a:t>Sensitivity: alternative thresholds, continuous scores, categorical specification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1. Background</a:t>
            </a:r>
          </a:p>
          <a:p>
            <a:r>
              <a:rPr sz="2800"/>
              <a:t>2. Methods</a:t>
            </a:r>
          </a:p>
          <a:p>
            <a:r>
              <a:rPr sz="2800">
                <a:solidFill>
                  <a:srgbClr val="FF0000"/>
                </a:solidFill>
              </a:rPr>
              <a:t>3. Results</a:t>
            </a:r>
          </a:p>
          <a:p>
            <a:r>
              <a:rPr sz="2800"/>
              <a:t>4. Discussion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burden gradient</a:t>
            </a:r>
          </a:p>
        </p:txBody>
      </p:sp>
      <p:sp>
        <p:nvSpPr>
          <p:cNvPr id="3" name="Content Placeholder 2"/>
          <p:cNvSpPr>
            <a:spLocks noGrp="1"/>
          </p:cNvSpPr>
          <p:nvPr>
            <p:ph idx="1"/>
          </p:nvPr>
        </p:nvSpPr>
        <p:spPr/>
        <p:txBody>
          <a:bodyPr wrap="square"/>
          <a:lstStyle/>
          <a:p>
            <a:pPr>
              <a:spcAft>
                <a:spcPts val="1200"/>
              </a:spcAft>
            </a:pPr>
            <a:r>
              <a:rPr sz="2000"/>
              <a:t>Adjusted PTSD prevalence at zero stressors:</a:t>
            </a:r>
          </a:p>
          <a:p>
            <a:pPr>
              <a:spcAft>
                <a:spcPts val="1200"/>
              </a:spcAft>
            </a:pPr>
            <a:r>
              <a:rPr sz="2000"/>
              <a:t>6.5% with no trauma exposure</a:t>
            </a:r>
          </a:p>
          <a:p>
            <a:pPr>
              <a:spcAft>
                <a:spcPts val="1200"/>
              </a:spcAft>
            </a:pPr>
            <a:r>
              <a:rPr sz="2000"/>
              <a:t>20% at three event types</a:t>
            </a:r>
          </a:p>
          <a:p>
            <a:pPr>
              <a:spcAft>
                <a:spcPts val="1200"/>
              </a:spcAft>
            </a:pPr>
            <a:r>
              <a:rPr sz="2000"/>
              <a:t>41% at five event types</a:t>
            </a:r>
          </a:p>
          <a:p>
            <a:pPr>
              <a:spcAft>
                <a:spcPts val="1200"/>
              </a:spcAft>
            </a:pPr>
            <a:r>
              <a:rPr sz="2000"/>
              <a:t>Trauma dominates the risk landscape — that is not the news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Per-stressor prevalence ratio, by trauma exposure</a:t>
            </a:r>
          </a:p>
        </p:txBody>
      </p:sp>
      <p:graphicFrame>
        <p:nvGraphicFramePr>
          <p:cNvPr id="3" name="Table 2"/>
          <p:cNvGraphicFramePr>
            <a:graphicFrameLocks noGrp="1"/>
          </p:cNvGraphicFramePr>
          <p:nvPr/>
        </p:nvGraphicFramePr>
        <p:xfrm>
          <a:off x="1097280" y="1828800"/>
          <a:ext cx="10058400" cy="3840480"/>
        </p:xfrm>
        <a:graphic>
          <a:graphicData uri="http://schemas.openxmlformats.org/drawingml/2006/table">
            <a:tbl>
              <a:tblPr firstRow="1" bandRow="1">
                <a:tableStyleId>{5C22544A-7EE6-4342-B048-85BDC9FD1C3A}</a:tableStyleId>
              </a:tblPr>
              <a:tblGrid>
                <a:gridCol w="2514600"/>
                <a:gridCol w="2514600"/>
                <a:gridCol w="2514600"/>
                <a:gridCol w="2514600"/>
              </a:tblGrid>
              <a:tr h="640080">
                <a:tc>
                  <a:txBody>
                    <a:bodyPr/>
                    <a:lstStyle/>
                    <a:p>
                      <a:r>
                        <a:rPr sz="1800"/>
                        <a:t>Trauma</a:t>
                      </a:r>
                    </a:p>
                  </a:txBody>
                  <a:tcPr/>
                </a:tc>
                <a:tc>
                  <a:txBody>
                    <a:bodyPr/>
                    <a:lstStyle/>
                    <a:p>
                      <a:r>
                        <a:rPr sz="1800"/>
                        <a:t>PTSD</a:t>
                      </a:r>
                    </a:p>
                  </a:txBody>
                  <a:tcPr/>
                </a:tc>
                <a:tc>
                  <a:txBody>
                    <a:bodyPr/>
                    <a:lstStyle/>
                    <a:p>
                      <a:r>
                        <a:rPr sz="1800"/>
                        <a:t>Depression</a:t>
                      </a:r>
                    </a:p>
                  </a:txBody>
                  <a:tcPr/>
                </a:tc>
                <a:tc>
                  <a:txBody>
                    <a:bodyPr/>
                    <a:lstStyle/>
                    <a:p>
                      <a:r>
                        <a:rPr sz="1800"/>
                        <a:t>Anxiety</a:t>
                      </a:r>
                    </a:p>
                  </a:txBody>
                  <a:tcPr/>
                </a:tc>
              </a:tr>
              <a:tr h="640080">
                <a:tc>
                  <a:txBody>
                    <a:bodyPr/>
                    <a:lstStyle/>
                    <a:p>
                      <a:r>
                        <a:rPr sz="1800">
                          <a:solidFill>
                            <a:srgbClr val="FF0000"/>
                          </a:solidFill>
                        </a:rPr>
                        <a:t>0 events</a:t>
                      </a:r>
                    </a:p>
                  </a:txBody>
                  <a:tcPr/>
                </a:tc>
                <a:tc>
                  <a:txBody>
                    <a:bodyPr/>
                    <a:lstStyle/>
                    <a:p>
                      <a:r>
                        <a:rPr sz="1800">
                          <a:solidFill>
                            <a:srgbClr val="FF0000"/>
                          </a:solidFill>
                        </a:rPr>
                        <a:t>1.97 (1.53–2.54)</a:t>
                      </a:r>
                    </a:p>
                  </a:txBody>
                  <a:tcPr/>
                </a:tc>
                <a:tc>
                  <a:txBody>
                    <a:bodyPr/>
                    <a:lstStyle/>
                    <a:p>
                      <a:r>
                        <a:rPr sz="1800">
                          <a:solidFill>
                            <a:srgbClr val="FF0000"/>
                          </a:solidFill>
                        </a:rPr>
                        <a:t>1.83 (1.46–2.30)</a:t>
                      </a:r>
                    </a:p>
                  </a:txBody>
                  <a:tcPr/>
                </a:tc>
                <a:tc>
                  <a:txBody>
                    <a:bodyPr/>
                    <a:lstStyle/>
                    <a:p>
                      <a:r>
                        <a:rPr sz="1800">
                          <a:solidFill>
                            <a:srgbClr val="FF0000"/>
                          </a:solidFill>
                        </a:rPr>
                        <a:t>1.71 (1.35–2.17)</a:t>
                      </a:r>
                    </a:p>
                  </a:txBody>
                  <a:tcPr/>
                </a:tc>
              </a:tr>
              <a:tr h="640080">
                <a:tc>
                  <a:txBody>
                    <a:bodyPr/>
                    <a:lstStyle/>
                    <a:p>
                      <a:r>
                        <a:rPr sz="1800"/>
                        <a:t>1–2</a:t>
                      </a:r>
                    </a:p>
                  </a:txBody>
                  <a:tcPr/>
                </a:tc>
                <a:tc>
                  <a:txBody>
                    <a:bodyPr/>
                    <a:lstStyle/>
                    <a:p>
                      <a:r>
                        <a:rPr sz="1800"/>
                        <a:t>1.26</a:t>
                      </a:r>
                    </a:p>
                  </a:txBody>
                  <a:tcPr/>
                </a:tc>
                <a:tc>
                  <a:txBody>
                    <a:bodyPr/>
                    <a:lstStyle/>
                    <a:p>
                      <a:r>
                        <a:rPr sz="1800"/>
                        <a:t>1.27</a:t>
                      </a:r>
                    </a:p>
                  </a:txBody>
                  <a:tcPr/>
                </a:tc>
                <a:tc>
                  <a:txBody>
                    <a:bodyPr/>
                    <a:lstStyle/>
                    <a:p>
                      <a:r>
                        <a:rPr sz="1800"/>
                        <a:t>1.15</a:t>
                      </a:r>
                    </a:p>
                  </a:txBody>
                  <a:tcPr/>
                </a:tc>
              </a:tr>
              <a:tr h="640080">
                <a:tc>
                  <a:txBody>
                    <a:bodyPr/>
                    <a:lstStyle/>
                    <a:p>
                      <a:r>
                        <a:rPr sz="1800"/>
                        <a:t>3–4</a:t>
                      </a:r>
                    </a:p>
                  </a:txBody>
                  <a:tcPr/>
                </a:tc>
                <a:tc>
                  <a:txBody>
                    <a:bodyPr/>
                    <a:lstStyle/>
                    <a:p>
                      <a:r>
                        <a:rPr sz="1800"/>
                        <a:t>1.03</a:t>
                      </a:r>
                    </a:p>
                  </a:txBody>
                  <a:tcPr/>
                </a:tc>
                <a:tc>
                  <a:txBody>
                    <a:bodyPr/>
                    <a:lstStyle/>
                    <a:p>
                      <a:r>
                        <a:rPr sz="1800"/>
                        <a:t>0.95</a:t>
                      </a:r>
                    </a:p>
                  </a:txBody>
                  <a:tcPr/>
                </a:tc>
                <a:tc>
                  <a:txBody>
                    <a:bodyPr/>
                    <a:lstStyle/>
                    <a:p>
                      <a:r>
                        <a:rPr sz="1800"/>
                        <a:t>0.86</a:t>
                      </a:r>
                    </a:p>
                  </a:txBody>
                  <a:tcPr/>
                </a:tc>
              </a:tr>
              <a:tr h="640080">
                <a:tc>
                  <a:txBody>
                    <a:bodyPr/>
                    <a:lstStyle/>
                    <a:p>
                      <a:r>
                        <a:rPr sz="1800"/>
                        <a:t>5+</a:t>
                      </a:r>
                    </a:p>
                  </a:txBody>
                  <a:tcPr/>
                </a:tc>
                <a:tc>
                  <a:txBody>
                    <a:bodyPr/>
                    <a:lstStyle/>
                    <a:p>
                      <a:r>
                        <a:rPr sz="1800"/>
                        <a:t>0.92 (0.83–1.03)</a:t>
                      </a:r>
                    </a:p>
                  </a:txBody>
                  <a:tcPr/>
                </a:tc>
                <a:tc>
                  <a:txBody>
                    <a:bodyPr/>
                    <a:lstStyle/>
                    <a:p>
                      <a:r>
                        <a:rPr sz="1800"/>
                        <a:t>0.99</a:t>
                      </a:r>
                    </a:p>
                  </a:txBody>
                  <a:tcPr/>
                </a:tc>
                <a:tc>
                  <a:txBody>
                    <a:bodyPr/>
                    <a:lstStyle/>
                    <a:p>
                      <a:r>
                        <a:rPr sz="1800"/>
                        <a:t>1.03</a:t>
                      </a:r>
                    </a:p>
                  </a:txBody>
                  <a:tcPr/>
                </a:tc>
              </a:tr>
              <a:tr h="640080">
                <a:tc>
                  <a:txBody>
                    <a:bodyPr/>
                    <a:lstStyle/>
                    <a:p>
                      <a:r>
                        <a:rPr sz="1800"/>
                        <a:t>Interaction p</a:t>
                      </a:r>
                    </a:p>
                  </a:txBody>
                  <a:tcPr/>
                </a:tc>
                <a:tc>
                  <a:txBody>
                    <a:bodyPr/>
                    <a:lstStyle/>
                    <a:p>
                      <a:r>
                        <a:rPr sz="1800"/>
                        <a:t>&lt;0.0001</a:t>
                      </a:r>
                    </a:p>
                  </a:txBody>
                  <a:tcPr/>
                </a:tc>
                <a:tc>
                  <a:txBody>
                    <a:bodyPr/>
                    <a:lstStyle/>
                    <a:p>
                      <a:r>
                        <a:rPr sz="1800"/>
                        <a:t>&lt;0.0001</a:t>
                      </a:r>
                    </a:p>
                  </a:txBody>
                  <a:tcPr/>
                </a:tc>
                <a:tc>
                  <a:txBody>
                    <a:bodyPr/>
                    <a:lstStyle/>
                    <a:p>
                      <a:r>
                        <a:rPr sz="1800"/>
                        <a:t>&lt;0.0001</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Adjusted PTSD prevalence</a:t>
            </a:r>
          </a:p>
        </p:txBody>
      </p:sp>
      <p:graphicFrame>
        <p:nvGraphicFramePr>
          <p:cNvPr id="3" name="Chart 2"/>
          <p:cNvGraphicFramePr>
            <a:graphicFrameLocks noGrp="1"/>
          </p:cNvGraphicFramePr>
          <p:nvPr/>
        </p:nvGraphicFramePr>
        <p:xfrm>
          <a:off x="1097280" y="1737360"/>
          <a:ext cx="100584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additional stressors, in percentage points</a:t>
            </a:r>
          </a:p>
        </p:txBody>
      </p:sp>
      <p:sp>
        <p:nvSpPr>
          <p:cNvPr id="3" name="Content Placeholder 2"/>
          <p:cNvSpPr>
            <a:spLocks noGrp="1"/>
          </p:cNvSpPr>
          <p:nvPr>
            <p:ph idx="1" sz="half"/>
          </p:nvPr>
        </p:nvSpPr>
        <p:spPr/>
        <p:txBody>
          <a:bodyPr/>
          <a:lstStyle/>
          <a:p>
            <a:r>
              <a:rPr sz="6600">
                <a:solidFill>
                  <a:srgbClr val="FF0000"/>
                </a:solidFill>
              </a:rPr>
              <a:t>+21.8</a:t>
            </a:r>
          </a:p>
          <a:p>
            <a:r>
              <a:rPr sz="1600"/>
              <a:t>no trauma exposure
(95% CI 7.2–36.5)</a:t>
            </a:r>
          </a:p>
        </p:txBody>
      </p:sp>
      <p:sp>
        <p:nvSpPr>
          <p:cNvPr id="4" name="Content Placeholder 3"/>
          <p:cNvSpPr>
            <a:spLocks noGrp="1"/>
          </p:cNvSpPr>
          <p:nvPr>
            <p:ph idx="2" sz="half"/>
          </p:nvPr>
        </p:nvSpPr>
        <p:spPr/>
        <p:txBody>
          <a:bodyPr/>
          <a:lstStyle/>
          <a:p>
            <a:r>
              <a:rPr sz="6600"/>
              <a:t>−2.5</a:t>
            </a:r>
          </a:p>
          <a:p>
            <a:r>
              <a:rPr sz="1600"/>
              <a:t>five or more events
(95% CI −18.3 to +13.4)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Depression and anxiety: the same pattern</a:t>
            </a:r>
          </a:p>
        </p:txBody>
      </p:sp>
      <p:sp>
        <p:nvSpPr>
          <p:cNvPr id="3" name="Content Placeholder 2"/>
          <p:cNvSpPr>
            <a:spLocks noGrp="1"/>
          </p:cNvSpPr>
          <p:nvPr>
            <p:ph idx="1"/>
          </p:nvPr>
        </p:nvSpPr>
        <p:spPr/>
        <p:txBody>
          <a:bodyPr wrap="square"/>
          <a:lstStyle/>
          <a:p>
            <a:pPr>
              <a:spcAft>
                <a:spcPts val="1200"/>
              </a:spcAft>
            </a:pPr>
            <a:r>
              <a:rPr sz="2000"/>
              <a:t>Depression: +24.1 points at zero trauma (5%→29%); +3.5, null, at five events</a:t>
            </a:r>
          </a:p>
          <a:p>
            <a:pPr>
              <a:spcAft>
                <a:spcPts val="1200"/>
              </a:spcAft>
            </a:pPr>
            <a:r>
              <a:rPr sz="2000"/>
              <a:t>Anxiety: +17.8 points at zero trauma; −4.0, null, at five events</a:t>
            </a:r>
          </a:p>
          <a:p>
            <a:pPr>
              <a:spcAft>
                <a:spcPts val="1200"/>
              </a:spcAft>
            </a:pPr>
            <a:r>
              <a:rPr sz="2000"/>
              <a:t>Robust: alternative thresholds and continuous scores, all p ≤ 0.0002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The stress gradient lives among the least trauma-exposed.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1. Background</a:t>
            </a:r>
          </a:p>
          <a:p>
            <a:r>
              <a:rPr sz="2800"/>
              <a:t>2. Methods</a:t>
            </a:r>
          </a:p>
          <a:p>
            <a:r>
              <a:rPr sz="2800"/>
              <a:t>3. Results</a:t>
            </a:r>
          </a:p>
          <a:p>
            <a:r>
              <a:rPr sz="2800">
                <a:solidFill>
                  <a:srgbClr val="FF0000"/>
                </a:solidFill>
              </a:rPr>
              <a:t>4. Discussion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a:t>
            </a:r>
          </a:p>
        </p:txBody>
      </p:sp>
      <p:sp>
        <p:nvSpPr>
          <p:cNvPr id="3" name="Content Placeholder 2"/>
          <p:cNvSpPr>
            <a:spLocks noGrp="1"/>
          </p:cNvSpPr>
          <p:nvPr>
            <p:ph idx="1"/>
          </p:nvPr>
        </p:nvSpPr>
        <p:spPr/>
        <p:txBody>
          <a:bodyPr wrap="square"/>
          <a:lstStyle/>
          <a:p>
            <a:pPr>
              <a:spcAft>
                <a:spcPts val="1200"/>
              </a:spcAft>
            </a:pPr>
            <a:r>
              <a:rPr sz="2000"/>
              <a:t>Not sensitization: gradients flatten, not steepen, with exposure</a:t>
            </a:r>
          </a:p>
          <a:p>
            <a:pPr>
              <a:spcAft>
                <a:spcPts val="1200"/>
              </a:spcAft>
            </a:pPr>
            <a:r>
              <a:rPr sz="2000"/>
              <a:t>Universal stress-reduction targets people whose symptoms no longer track stress</a:t>
            </a:r>
          </a:p>
          <a:p>
            <a:pPr>
              <a:spcAft>
                <a:spcPts val="1200"/>
              </a:spcAft>
            </a:pPr>
            <a:r>
              <a:rPr sz="2000"/>
              <a:t>Stress-focused and livelihood support where sensitivity is retained</a:t>
            </a:r>
          </a:p>
          <a:p>
            <a:pPr>
              <a:spcAft>
                <a:spcPts val="1200"/>
              </a:spcAft>
            </a:pPr>
            <a:r>
              <a:rPr sz="2000"/>
              <a:t>Trauma-focused therapies where exposure is extensive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Limits</a:t>
            </a:r>
          </a:p>
        </p:txBody>
      </p:sp>
      <p:sp>
        <p:nvSpPr>
          <p:cNvPr id="3" name="Content Placeholder 2"/>
          <p:cNvSpPr>
            <a:spLocks noGrp="1"/>
          </p:cNvSpPr>
          <p:nvPr>
            <p:ph idx="1"/>
          </p:nvPr>
        </p:nvSpPr>
        <p:spPr/>
        <p:txBody>
          <a:bodyPr wrap="square"/>
          <a:lstStyle/>
          <a:p>
            <a:pPr>
              <a:spcAft>
                <a:spcPts val="1200"/>
              </a:spcAft>
            </a:pPr>
            <a:r>
              <a:rPr sz="2000"/>
              <a:t>Cross-sectional: a pattern of association, not a mechanism</a:t>
            </a:r>
          </a:p>
          <a:p>
            <a:pPr>
              <a:spcAft>
                <a:spcPts val="1200"/>
              </a:spcAft>
            </a:pPr>
            <a:r>
              <a:rPr sz="2000"/>
              <a:t>Lifetime event recall against current stressors</a:t>
            </a:r>
          </a:p>
          <a:p>
            <a:pPr>
              <a:spcAft>
                <a:spcPts val="1200"/>
              </a:spcAft>
            </a:pPr>
            <a:r>
              <a:rPr sz="2000"/>
              <a:t>Sparse data above six events</a:t>
            </a:r>
          </a:p>
          <a:p>
            <a:pPr>
              <a:spcAft>
                <a:spcPts val="1200"/>
              </a:spcAft>
            </a:pPr>
            <a:r>
              <a:rPr sz="2000"/>
              <a:t>Prevalence, not incidence — the longitudinal test is next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Thank you</a:t>
            </a:r>
          </a:p>
          <a:p>
            <a:r>
              <a:rPr sz="1800">
                <a:solidFill>
                  <a:srgbClr val="898989"/>
                </a:solidFill>
              </a:rPr>
              <a:t>[your preferred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customXml/itemProps3.xml><?xml version="1.0" encoding="utf-8"?>
<ds:datastoreItem xmlns:ds="http://schemas.openxmlformats.org/officeDocument/2006/customXml" ds:itemID="{C7461CDA-AB55-4D84-9CEF-669BCD74C02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TotalTime>
  <Words>176</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Continuing Medical Education Financial Disclosure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TUNDE MASSEYFERGUSON OJO</cp:lastModifiedBy>
  <cp:revision>18</cp:revision>
  <dcterms:created xsi:type="dcterms:W3CDTF">2026-04-30T16:25:28Z</dcterms:created>
  <dcterms:modified xsi:type="dcterms:W3CDTF">2026-08-25T02:19:46Z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