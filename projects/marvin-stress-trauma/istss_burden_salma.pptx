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9"/>
    <p:sldId id="259" r:id="rId8"/>
    <p:sldId id="260" r:id="rId7"/>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919D0-9672-3B54-444D-474231CC376B}" v="27" dt="2026-05-05T17:49:2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89" d="100"/>
          <a:sy n="89" d="100"/>
        </p:scale>
        <p:origin x="33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notesMaster" Target="notesMasters/notesMaster1.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Evans" userId="S::levans@parthenonmgmt.com::502e5b7e-0522-4e8f-98b1-099491360ecc" providerId="AD" clId="Web-{10A919D0-9672-3B54-444D-474231CC376B}"/>
    <pc:docChg chg="modSld">
      <pc:chgData name="Laura Evans" userId="S::levans@parthenonmgmt.com::502e5b7e-0522-4e8f-98b1-099491360ecc" providerId="AD" clId="Web-{10A919D0-9672-3B54-444D-474231CC376B}" dt="2026-05-05T17:49:24.769" v="29" actId="1076"/>
      <pc:docMkLst>
        <pc:docMk/>
      </pc:docMkLst>
      <pc:sldChg chg="modSp">
        <pc:chgData name="Laura Evans" userId="S::levans@parthenonmgmt.com::502e5b7e-0522-4e8f-98b1-099491360ecc" providerId="AD" clId="Web-{10A919D0-9672-3B54-444D-474231CC376B}" dt="2026-05-05T17:47:32.081" v="6" actId="20577"/>
        <pc:sldMkLst>
          <pc:docMk/>
          <pc:sldMk cId="1804320558" sldId="256"/>
        </pc:sldMkLst>
        <pc:spChg chg="mod">
          <ac:chgData name="Laura Evans" userId="S::levans@parthenonmgmt.com::502e5b7e-0522-4e8f-98b1-099491360ecc" providerId="AD" clId="Web-{10A919D0-9672-3B54-444D-474231CC376B}" dt="2026-05-05T17:47:32.081" v="6" actId="20577"/>
          <ac:spMkLst>
            <pc:docMk/>
            <pc:sldMk cId="1804320558" sldId="256"/>
            <ac:spMk id="2" creationId="{125018A9-85F0-3BCF-08E3-53242BED322C}"/>
          </ac:spMkLst>
        </pc:spChg>
      </pc:sldChg>
      <pc:sldChg chg="modSp">
        <pc:chgData name="Laura Evans" userId="S::levans@parthenonmgmt.com::502e5b7e-0522-4e8f-98b1-099491360ecc" providerId="AD" clId="Web-{10A919D0-9672-3B54-444D-474231CC376B}" dt="2026-05-05T17:49:24.769" v="29" actId="1076"/>
        <pc:sldMkLst>
          <pc:docMk/>
          <pc:sldMk cId="1217370416" sldId="257"/>
        </pc:sldMkLst>
        <pc:spChg chg="mod">
          <ac:chgData name="Laura Evans" userId="S::levans@parthenonmgmt.com::502e5b7e-0522-4e8f-98b1-099491360ecc" providerId="AD" clId="Web-{10A919D0-9672-3B54-444D-474231CC376B}" dt="2026-05-05T17:49:20.847" v="28" actId="1076"/>
          <ac:spMkLst>
            <pc:docMk/>
            <pc:sldMk cId="1217370416" sldId="257"/>
            <ac:spMk id="2" creationId="{8541808E-CCF4-3463-2FDA-3BA4D8F6B1F1}"/>
          </ac:spMkLst>
        </pc:spChg>
        <pc:spChg chg="mod">
          <ac:chgData name="Laura Evans" userId="S::levans@parthenonmgmt.com::502e5b7e-0522-4e8f-98b1-099491360ecc" providerId="AD" clId="Web-{10A919D0-9672-3B54-444D-474231CC376B}" dt="2026-05-05T17:49:24.769" v="29" actId="1076"/>
          <ac:spMkLst>
            <pc:docMk/>
            <pc:sldMk cId="1217370416" sldId="257"/>
            <ac:spMk id="3" creationId="{D81E43C8-B81F-911F-DFA1-9067AA2E8A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chair. One sentence: Jaimie showed the instruments hold in this population; this paper deploys them at scale and asks what, besides trauma itself, carries the burden.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financial relationships to disclose. [Confirm with Salma.]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background, methods, results,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Organized violence takes three forms, and each drives displacement - over 75 million internally displaced worldwide. Two pathways to poor mental health run through it: cumulative traumatic exposure, with its dose-response signature, and the post-displacement environment. Which pathway carries more of the burden is debated, and the answer decides whether programming targets individual trauma or the structural conditions of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Nigeria carries all three forms of violence at once, across six geopolitical zones differing in conflict type, religion, language, and economy - associations holding across that variation are unlikely to be artifacts of one conflict. The evidence base was hospital samples and single sites, mostly with instruments never validated locally. Jaimie's paper fixed the instruments; this one supplies the population estimates.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in one line. Pause.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states, one per zone: Benue, Borno, Enugu, Ogun, Rivers, Sokoto. Two LGAs per state, urban and rural; 573 communities; households by systematic sampling from a random start; IDP camps sampled through the same procedures in the three states that host them. 1,774 adults, face-to-face, May to October 2025, with AFENET and the Federal Ministry of Health and Social Welfare.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Outcomes at the cut-points Jaimie validated - the PCL-5 at 38, which outperformed the international 33 here. Two multivariable models, one focal exposure each: Model A, the trauma count, adjusted for demographics and geography; Model B, current IDP camp residence, additionally adjusted for trauma. Daily stressors and food insecurity stay out deliberately - they are plausible mediators of the camp pathway, and adjusting for mediators biases the camp estimate toward null. Multilevel models estimate community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the burden, where it sits, what predicts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Survey-adjusted prevalence: PTSD 18.5, depression 21, anxiety 20.7 percent. Nearly one in three adults met criteria for at least one condition, and among those with any, over a third met all three - the conditions travel together, tetrachoric correlations above 0.8.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Prevalence varies 28-fold across states - 1.5 percent in Ogun, the non-conflict comparison, to 42 percent in Benue. Camp residents carry roughly four times the prevalence of community residents. Trauma shows the expected dose-response, 8 percent at zero events to 45 at five plus. The multivariable question is what survives adjustment.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 each additional traumatic event carries 14 to 15 percent higher prevalence of every condition. Model B is the headline, in red: current camp residence carries two- to three-fold higher prevalence after adjusting for demographics, geography, AND trauma exposure - and the trauma coefficients barely move when camp enters. Two separable pathways: the events, and the environment. Camp residence also absorbs much of the Benue-Borno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intraclass correlations are exceptional - 0.86 for PTSD in the null model, still above 0.6 adjusted. Most of the variation is between communities, not within them: a targeting instruction. Every sensitivity analysis holds. One more result matters for the next talk: the state-by-trauma interaction was significant, and the trauma association was steepest where baseline exposure was lowest - Enugu, Rivers - and flat in Borno where exposure runs highest. Mohammed's paper takes exactly that thread.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 in one line. Pause.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means.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camp association, robust to trauma adjustment, identifies the post-displacement environment as its own target: shelter, safety, livelihoods, services - not trauma treatment alone. The clustering says deliver by community. This is the evidence base the Ministry asked for - Dr. Ojo takes it from here to the Mental Health Act. Limitations in one breath: cross-sectional; purposively selected states so no national weights; camps present in only three states; camp residence could reflect selection of the most affected into camps, though the trauma adjustment addresses the most obvious version of that.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field teams, AFENET, the Federal Ministry, co-authors. [Salma's email]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p:txBody>
          <a:bodyPr/>
          <a:lstStyle/>
          <a:p>
            <a:r>
              <a:rPr sz="2600"/>
              <a:t>Prevalence and Predictors of PTSD, Depression, and Anxiety Among Persons Exposed to Diverse Forms of Armed Violence Across Six Nigerian States</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p:txBody>
          <a:bodyPr/>
          <a:lstStyle/>
          <a:p>
            <a:r>
              <a:t>Salma M. Abdalla, MBBS, MPH, DrPH · Washington University in St. Louis</a:t>
            </a:r>
          </a:p>
          <a:p>
            <a:r>
              <a:rPr sz="1400">
                <a:solidFill>
                  <a:srgbClr val="898989"/>
                </a:solidFill>
              </a:rPr>
              <a:t>The MaRVIN study — Abba-Aji, Abdalla, Gradus, Ojo, Magaji, Galea</a:t>
            </a:r>
          </a:p>
          <a:p>
            <a:r>
              <a:rPr sz="1300">
                <a:solidFill>
                  <a:srgbClr val="898989"/>
                </a:solidFill>
              </a:rPr>
              <a:t>ISTSS 42nd Annual Meeting · San Antonio, TX · September 24, 2026</a:t>
            </a:r>
          </a:p>
        </p:txBody>
      </p:sp>
    </p:spTree>
    <p:extLst>
      <p:ext uri="{BB962C8B-B14F-4D97-AF65-F5344CB8AC3E}">
        <p14:creationId xmlns:p14="http://schemas.microsoft.com/office/powerpoint/2010/main" val="1804320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a:xfrm>
            <a:off x="838200" y="389316"/>
            <a:ext cx="10515600" cy="1325563"/>
          </a:xfrm>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a:xfrm>
            <a:off x="838200" y="1958673"/>
            <a:ext cx="10515600" cy="4145719"/>
          </a:xfrm>
        </p:spPr>
        <p:txBody>
          <a:bodyPr vert="horz" lIns="91440" tIns="45720" rIns="91440" bIns="45720" rtlCol="0" anchor="t">
            <a:normAutofit fontScale="85000" lnSpcReduction="20000"/>
          </a:bodyPr>
          <a:lstStyle/>
          <a:p>
            <a:pPr marL="0" indent="0">
              <a:lnSpc>
                <a:spcPct val="100000"/>
              </a:lnSpc>
              <a:spcBef>
                <a:spcPts val="0"/>
              </a:spcBef>
              <a:buNone/>
            </a:pPr>
            <a:r>
              <a:rPr lang="en-US" sz="2400" dirty="0" err="1">
                <a:solidFill>
                  <a:schemeClr val="bg1"/>
                </a:solidFill>
                <a:latin typeface="Aptos"/>
              </a:rPr>
              <a:t>Amedco</a:t>
            </a:r>
            <a:r>
              <a:rPr lang="en-US" sz="2400" dirty="0">
                <a:solidFill>
                  <a:schemeClr val="bg1"/>
                </a:solidFill>
                <a:latin typeface="Aptos"/>
              </a:rPr>
              <a:t>, our CME provider, asks that all individuals who have the ability to influence and/or control the content of this accredited activity disclose any/all relationships with ‎Ineligible Companies. </a:t>
            </a:r>
          </a:p>
          <a:p>
            <a:pPr marL="0" indent="0">
              <a:lnSpc>
                <a:spcPct val="100000"/>
              </a:lnSpc>
              <a:spcBef>
                <a:spcPts val="0"/>
              </a:spcBef>
              <a:buNone/>
            </a:pPr>
            <a:r>
              <a:rPr lang="en-US" sz="2400" dirty="0">
                <a:solidFill>
                  <a:schemeClr val="bg1"/>
                </a:solidFill>
                <a:latin typeface="Aptos"/>
              </a:rPr>
              <a:t>This information is disclosed to CME activity participants, and </a:t>
            </a:r>
            <a:r>
              <a:rPr lang="en-US" sz="2400" dirty="0" err="1">
                <a:solidFill>
                  <a:schemeClr val="bg1"/>
                </a:solidFill>
                <a:latin typeface="Aptos"/>
              </a:rPr>
              <a:t>Amedco</a:t>
            </a:r>
            <a:r>
              <a:rPr lang="en-US" sz="2400" dirty="0">
                <a:solidFill>
                  <a:schemeClr val="bg1"/>
                </a:solidFill>
                <a:latin typeface="Aptos"/>
              </a:rPr>
              <a:t> has procedures in place to resolve any apparent conflicts. In addition, presenters are asked to disclose when any discussion of unapproved use of pharmaceuticals and devices are being discussed. </a:t>
            </a:r>
          </a:p>
          <a:p>
            <a:pPr marL="0" indent="0">
              <a:lnSpc>
                <a:spcPct val="100000"/>
              </a:lnSpc>
              <a:spcBef>
                <a:spcPts val="0"/>
              </a:spcBef>
              <a:buNone/>
            </a:pPr>
            <a:endParaRPr lang="en-US" sz="2400" dirty="0">
              <a:solidFill>
                <a:schemeClr val="bg1"/>
              </a:solidFill>
              <a:latin typeface="Aptos"/>
              <a:ea typeface="Calibri"/>
              <a:cs typeface="Calibri"/>
            </a:endParaRPr>
          </a:p>
          <a:p>
            <a:pPr marL="0" indent="0">
              <a:lnSpc>
                <a:spcPct val="100000"/>
              </a:lnSpc>
              <a:spcBef>
                <a:spcPts val="0"/>
              </a:spcBef>
              <a:buNone/>
            </a:pPr>
            <a:r>
              <a:rPr lang="en-US" sz="2400">
                <a:solidFill>
                  <a:schemeClr val="bg1"/>
                </a:solidFill>
                <a:latin typeface="Aptos"/>
              </a:rPr>
              <a:t>In the past 24 months, I Salma M. Abdalla, have not had financial relationships with any ineligible companies. </a:t>
            </a:r>
          </a:p>
          <a:p>
            <a:pPr marL="0" indent="0">
              <a:lnSpc>
                <a:spcPct val="100000"/>
              </a:lnSpc>
              <a:spcBef>
                <a:spcPts val="0"/>
              </a:spcBef>
              <a:buNone/>
            </a:pPr>
            <a:endParaRPr lang="en-US" sz="2400" dirty="0">
              <a:solidFill>
                <a:schemeClr val="bg1"/>
              </a:solidFill>
              <a:latin typeface="Aptos"/>
              <a:ea typeface="Calibri"/>
              <a:cs typeface="Calibri"/>
            </a:endParaRPr>
          </a:p>
        </p:txBody>
      </p:sp>
    </p:spTree>
    <p:extLst>
      <p:ext uri="{BB962C8B-B14F-4D97-AF65-F5344CB8AC3E}">
        <p14:creationId xmlns:p14="http://schemas.microsoft.com/office/powerpoint/2010/main" val="121737041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solidFill>
                  <a:srgbClr val="FF0000"/>
                </a:solidFill>
              </a:rPr>
              <a:t>1. Background</a:t>
            </a:r>
          </a:p>
          <a:p>
            <a:r>
              <a:rPr sz="2800"/>
              <a:t>2. Methods</a:t>
            </a:r>
          </a:p>
          <a:p>
            <a:r>
              <a:rPr sz="2800"/>
              <a:t>3. Results</a:t>
            </a:r>
          </a:p>
          <a:p>
            <a:r>
              <a:rPr sz="2800"/>
              <a:t>4.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Organized violence and its aftermath</a:t>
            </a:r>
          </a:p>
        </p:txBody>
      </p:sp>
      <p:sp>
        <p:nvSpPr>
          <p:cNvPr id="3" name="Content Placeholder 2"/>
          <p:cNvSpPr>
            <a:spLocks noGrp="1"/>
          </p:cNvSpPr>
          <p:nvPr>
            <p:ph idx="1"/>
          </p:nvPr>
        </p:nvSpPr>
        <p:spPr/>
        <p:txBody>
          <a:bodyPr wrap="square"/>
          <a:lstStyle/>
          <a:p>
            <a:pPr>
              <a:spcAft>
                <a:spcPts val="1200"/>
              </a:spcAft>
            </a:pPr>
            <a:r>
              <a:rPr sz="2000"/>
              <a:t>Three forms: state-based conflict, non-state violence, one-sided violence against civilians</a:t>
            </a:r>
          </a:p>
          <a:p>
            <a:pPr>
              <a:spcAft>
                <a:spcPts val="1200"/>
              </a:spcAft>
            </a:pPr>
            <a:r>
              <a:rPr sz="2000"/>
              <a:t>By end-2023, conflict had displaced more than 75 million people internally worldwide</a:t>
            </a:r>
          </a:p>
          <a:p>
            <a:pPr>
              <a:spcAft>
                <a:spcPts val="1200"/>
              </a:spcAft>
            </a:pPr>
            <a:r>
              <a:rPr sz="2000"/>
              <a:t>Both pathways damage mental health: the traumatic events, and the conditions displacement creates</a:t>
            </a:r>
          </a:p>
          <a:p>
            <a:pPr>
              <a:spcAft>
                <a:spcPts val="1200"/>
              </a:spcAft>
            </a:pPr>
            <a:r>
              <a:rPr sz="2000"/>
              <a:t>Their relative contribution is debated - and it decides what interventions target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Nigeria, and what was missing</a:t>
            </a:r>
          </a:p>
        </p:txBody>
      </p:sp>
      <p:sp>
        <p:nvSpPr>
          <p:cNvPr id="3" name="Content Placeholder 2"/>
          <p:cNvSpPr>
            <a:spLocks noGrp="1"/>
          </p:cNvSpPr>
          <p:nvPr>
            <p:ph idx="1"/>
          </p:nvPr>
        </p:nvSpPr>
        <p:spPr/>
        <p:txBody>
          <a:bodyPr wrap="square"/>
          <a:lstStyle/>
          <a:p>
            <a:pPr>
              <a:spcAft>
                <a:spcPts val="1200"/>
              </a:spcAft>
            </a:pPr>
            <a:r>
              <a:rPr sz="2000"/>
              <a:t>All three forms of violence co-occur: insurgency, communal and criminal violence, attacks on civilians</a:t>
            </a:r>
          </a:p>
          <a:p>
            <a:pPr>
              <a:spcAft>
                <a:spcPts val="1200"/>
              </a:spcAft>
            </a:pPr>
            <a:r>
              <a:rPr sz="2000"/>
              <a:t>Over 3 million internally displaced - among the largest such populations globally</a:t>
            </a:r>
          </a:p>
          <a:p>
            <a:pPr>
              <a:spcAft>
                <a:spcPts val="1200"/>
              </a:spcAft>
            </a:pPr>
            <a:r>
              <a:rPr sz="2000"/>
              <a:t>Existing evidence: hospital-based or single-site samples; unvalidated instruments</a:t>
            </a:r>
          </a:p>
          <a:p>
            <a:pPr>
              <a:spcAft>
                <a:spcPts val="1200"/>
              </a:spcAft>
            </a:pPr>
            <a:r>
              <a:rPr sz="2000"/>
              <a:t>No multi-state population-based prevalence study existed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The trauma, or the conditions displacement creates?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1. Background</a:t>
            </a:r>
          </a:p>
          <a:p>
            <a:r>
              <a:rPr sz="2800">
                <a:solidFill>
                  <a:srgbClr val="FF0000"/>
                </a:solidFill>
              </a:rPr>
              <a:t>2. Methods</a:t>
            </a:r>
          </a:p>
          <a:p>
            <a:r>
              <a:rPr sz="2800"/>
              <a:t>3. Results</a:t>
            </a:r>
          </a:p>
          <a:p>
            <a:r>
              <a:rPr sz="2800"/>
              <a:t>4. Discussion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a:t>
            </a:r>
          </a:p>
        </p:txBody>
      </p:sp>
      <p:sp>
        <p:nvSpPr>
          <p:cNvPr id="3" name="Content Placeholder 2"/>
          <p:cNvSpPr>
            <a:spLocks noGrp="1"/>
          </p:cNvSpPr>
          <p:nvPr>
            <p:ph idx="1"/>
          </p:nvPr>
        </p:nvSpPr>
        <p:spPr/>
        <p:txBody>
          <a:bodyPr wrap="square"/>
          <a:lstStyle/>
          <a:p>
            <a:pPr>
              <a:spcAft>
                <a:spcPts val="1200"/>
              </a:spcAft>
            </a:pPr>
            <a:r>
              <a:rPr sz="2000"/>
              <a:t>1,774 adults across six states, one per geopolitical zone</a:t>
            </a:r>
          </a:p>
          <a:p>
            <a:pPr>
              <a:spcAft>
                <a:spcPts val="1200"/>
              </a:spcAft>
            </a:pPr>
            <a:r>
              <a:rPr sz="2000"/>
              <a:t>12 LGAs (urban + rural per state); 573 communities; IDP camps included</a:t>
            </a:r>
          </a:p>
          <a:p>
            <a:pPr>
              <a:spcAft>
                <a:spcPts val="1200"/>
              </a:spcAft>
            </a:pPr>
            <a:r>
              <a:rPr sz="2000"/>
              <a:t>Household systematic sampling; face-to-face interviews, ODK</a:t>
            </a:r>
          </a:p>
          <a:p>
            <a:pPr>
              <a:spcAft>
                <a:spcPts val="1200"/>
              </a:spcAft>
            </a:pPr>
            <a:r>
              <a:rPr sz="2000"/>
              <a:t>May-October 2025; STROBE-compliant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Measures and models</a:t>
            </a:r>
          </a:p>
        </p:txBody>
      </p:sp>
      <p:sp>
        <p:nvSpPr>
          <p:cNvPr id="3" name="Content Placeholder 2"/>
          <p:cNvSpPr>
            <a:spLocks noGrp="1"/>
          </p:cNvSpPr>
          <p:nvPr>
            <p:ph idx="1"/>
          </p:nvPr>
        </p:nvSpPr>
        <p:spPr/>
        <p:txBody>
          <a:bodyPr wrap="square"/>
          <a:lstStyle/>
          <a:p>
            <a:pPr>
              <a:spcAft>
                <a:spcPts val="1200"/>
              </a:spcAft>
            </a:pPr>
            <a:r>
              <a:rPr sz="2000"/>
              <a:t>PCL-5 ≥ 38 (population-validated), PHQ-9 ≥ 10, GAD-7 ≥ 10</a:t>
            </a:r>
          </a:p>
          <a:p>
            <a:pPr>
              <a:spcAft>
                <a:spcPts val="1200"/>
              </a:spcAft>
            </a:pPr>
            <a:r>
              <a:rPr sz="2000"/>
              <a:t>Trauma: Life Events Checklist count · IDP camp residence: field-verified</a:t>
            </a:r>
          </a:p>
          <a:p>
            <a:pPr>
              <a:spcAft>
                <a:spcPts val="1200"/>
              </a:spcAft>
            </a:pPr>
            <a:r>
              <a:rPr sz="2000"/>
              <a:t>Design-based modified Poisson → prevalence ratios; community PSUs, state strata</a:t>
            </a:r>
          </a:p>
          <a:p>
            <a:pPr>
              <a:spcAft>
                <a:spcPts val="1200"/>
              </a:spcAft>
            </a:pPr>
            <a:r>
              <a:rPr sz="2000"/>
              <a:t>Model A: trauma as focal exposure · Model B: camp residence, adjusting for trauma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1. Background</a:t>
            </a:r>
          </a:p>
          <a:p>
            <a:r>
              <a:rPr sz="2800"/>
              <a:t>2. Methods</a:t>
            </a:r>
          </a:p>
          <a:p>
            <a:r>
              <a:rPr sz="2800">
                <a:solidFill>
                  <a:srgbClr val="FF0000"/>
                </a:solidFill>
              </a:rPr>
              <a:t>3. Results</a:t>
            </a:r>
          </a:p>
          <a:p>
            <a:r>
              <a:rPr sz="2800"/>
              <a:t>4. Discussion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substantial burden</a:t>
            </a:r>
          </a:p>
        </p:txBody>
      </p:sp>
      <p:sp>
        <p:nvSpPr>
          <p:cNvPr id="3" name="Content Placeholder 2"/>
          <p:cNvSpPr>
            <a:spLocks noGrp="1"/>
          </p:cNvSpPr>
          <p:nvPr>
            <p:ph idx="1" sz="half"/>
          </p:nvPr>
        </p:nvSpPr>
        <p:spPr/>
        <p:txBody>
          <a:bodyPr/>
          <a:lstStyle/>
          <a:p>
            <a:pPr>
              <a:spcAft>
                <a:spcPts val="1400"/>
              </a:spcAft>
            </a:pPr>
            <a:r>
              <a:rPr sz="3200"/>
              <a:t>18.5%  </a:t>
            </a:r>
            <a:r>
              <a:rPr sz="1400"/>
              <a:t>PTSD (95% CI 14.2-23.8)</a:t>
            </a:r>
          </a:p>
          <a:p>
            <a:pPr>
              <a:spcAft>
                <a:spcPts val="1400"/>
              </a:spcAft>
            </a:pPr>
            <a:r>
              <a:rPr sz="3200"/>
              <a:t>21.0%  </a:t>
            </a:r>
            <a:r>
              <a:rPr sz="1400"/>
              <a:t>Depression (16.4-26.3)</a:t>
            </a:r>
          </a:p>
          <a:p>
            <a:pPr>
              <a:spcAft>
                <a:spcPts val="1400"/>
              </a:spcAft>
            </a:pPr>
            <a:r>
              <a:rPr sz="3200"/>
              <a:t>20.7%  </a:t>
            </a:r>
            <a:r>
              <a:rPr sz="1400"/>
              <a:t>Anxiety (16.9-25.1)</a:t>
            </a:r>
          </a:p>
        </p:txBody>
      </p:sp>
      <p:sp>
        <p:nvSpPr>
          <p:cNvPr id="4" name="Content Placeholder 3"/>
          <p:cNvSpPr>
            <a:spLocks noGrp="1"/>
          </p:cNvSpPr>
          <p:nvPr>
            <p:ph idx="2" sz="half"/>
          </p:nvPr>
        </p:nvSpPr>
        <p:spPr/>
        <p:txBody>
          <a:bodyPr/>
          <a:lstStyle/>
          <a:p>
            <a:r>
              <a:rPr sz="6000">
                <a:solidFill>
                  <a:srgbClr val="FF0000"/>
                </a:solidFill>
              </a:rPr>
              <a:t>30.4%</a:t>
            </a:r>
          </a:p>
          <a:p>
            <a:r>
              <a:rPr sz="1600"/>
              <a:t>met criteria for at least one condition</a:t>
            </a:r>
          </a:p>
          <a:p>
            <a:r>
              <a:rPr sz="1300">
                <a:solidFill>
                  <a:srgbClr val="898989"/>
                </a:solidFill>
              </a:rPr>
              <a:t>36% of those with any condition met all three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burden is not evenly spread</a:t>
            </a:r>
          </a:p>
        </p:txBody>
      </p:sp>
      <p:sp>
        <p:nvSpPr>
          <p:cNvPr id="3" name="Content Placeholder 2"/>
          <p:cNvSpPr>
            <a:spLocks noGrp="1"/>
          </p:cNvSpPr>
          <p:nvPr>
            <p:ph idx="1"/>
          </p:nvPr>
        </p:nvSpPr>
        <p:spPr/>
        <p:txBody>
          <a:bodyPr wrap="square"/>
          <a:lstStyle/>
          <a:p>
            <a:pPr>
              <a:spcAft>
                <a:spcPts val="1200"/>
              </a:spcAft>
            </a:pPr>
            <a:r>
              <a:rPr sz="2000"/>
              <a:t>PTSD by state: 1.5% in Ogun to 42.1% in Benue - a 28-fold difference</a:t>
            </a:r>
          </a:p>
          <a:p>
            <a:pPr>
              <a:spcAft>
                <a:spcPts val="1200"/>
              </a:spcAft>
            </a:pPr>
            <a:r>
              <a:rPr sz="2000"/>
              <a:t>IDP camp residents: roughly 4-fold higher prevalence of every condition (40% vs 11-15%)</a:t>
            </a:r>
          </a:p>
          <a:p>
            <a:pPr>
              <a:spcAft>
                <a:spcPts val="1200"/>
              </a:spcAft>
            </a:pPr>
            <a:r>
              <a:rPr sz="2000"/>
              <a:t>Trauma dose-response: PTSD 7.9% at zero events to 45.2% at five or more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focal exposures, adjusted</a:t>
            </a:r>
          </a:p>
        </p:txBody>
      </p:sp>
      <p:graphicFrame>
        <p:nvGraphicFramePr>
          <p:cNvPr id="3" name="Table 2"/>
          <p:cNvGraphicFramePr>
            <a:graphicFrameLocks noGrp="1"/>
          </p:cNvGraphicFramePr>
          <p:nvPr/>
        </p:nvGraphicFramePr>
        <p:xfrm>
          <a:off x="822960" y="2103120"/>
          <a:ext cx="10607040" cy="2377440"/>
        </p:xfrm>
        <a:graphic>
          <a:graphicData uri="http://schemas.openxmlformats.org/drawingml/2006/table">
            <a:tbl>
              <a:tblPr firstRow="1" bandRow="1">
                <a:tableStyleId>{5C22544A-7EE6-4342-B048-85BDC9FD1C3A}</a:tableStyleId>
              </a:tblPr>
              <a:tblGrid>
                <a:gridCol w="2651760"/>
                <a:gridCol w="2651760"/>
                <a:gridCol w="2651760"/>
                <a:gridCol w="2651760"/>
              </a:tblGrid>
              <a:tr h="792480">
                <a:tc>
                  <a:txBody>
                    <a:bodyPr/>
                    <a:lstStyle/>
                    <a:p/>
                  </a:txBody>
                  <a:tcPr/>
                </a:tc>
                <a:tc>
                  <a:txBody>
                    <a:bodyPr/>
                    <a:lstStyle/>
                    <a:p>
                      <a:r>
                        <a:rPr sz="1600"/>
                        <a:t>PTSD</a:t>
                      </a:r>
                    </a:p>
                  </a:txBody>
                  <a:tcPr/>
                </a:tc>
                <a:tc>
                  <a:txBody>
                    <a:bodyPr/>
                    <a:lstStyle/>
                    <a:p>
                      <a:r>
                        <a:rPr sz="1600"/>
                        <a:t>Depression</a:t>
                      </a:r>
                    </a:p>
                  </a:txBody>
                  <a:tcPr/>
                </a:tc>
                <a:tc>
                  <a:txBody>
                    <a:bodyPr/>
                    <a:lstStyle/>
                    <a:p>
                      <a:r>
                        <a:rPr sz="1600"/>
                        <a:t>Anxiety</a:t>
                      </a:r>
                    </a:p>
                  </a:txBody>
                  <a:tcPr/>
                </a:tc>
              </a:tr>
              <a:tr h="792480">
                <a:tc>
                  <a:txBody>
                    <a:bodyPr/>
                    <a:lstStyle/>
                    <a:p>
                      <a:r>
                        <a:rPr sz="1600"/>
                        <a:t>Model A: per traumatic event</a:t>
                      </a:r>
                    </a:p>
                  </a:txBody>
                  <a:tcPr/>
                </a:tc>
                <a:tc>
                  <a:txBody>
                    <a:bodyPr/>
                    <a:lstStyle/>
                    <a:p>
                      <a:r>
                        <a:rPr sz="1600"/>
                        <a:t>1.15 (1.07-1.23)</a:t>
                      </a:r>
                    </a:p>
                  </a:txBody>
                  <a:tcPr/>
                </a:tc>
                <a:tc>
                  <a:txBody>
                    <a:bodyPr/>
                    <a:lstStyle/>
                    <a:p>
                      <a:r>
                        <a:rPr sz="1600"/>
                        <a:t>1.15 (1.09-1.22)</a:t>
                      </a:r>
                    </a:p>
                  </a:txBody>
                  <a:tcPr/>
                </a:tc>
                <a:tc>
                  <a:txBody>
                    <a:bodyPr/>
                    <a:lstStyle/>
                    <a:p>
                      <a:r>
                        <a:rPr sz="1600"/>
                        <a:t>1.14 (1.08-1.21)</a:t>
                      </a:r>
                    </a:p>
                  </a:txBody>
                  <a:tcPr/>
                </a:tc>
              </a:tr>
              <a:tr h="792480">
                <a:tc>
                  <a:txBody>
                    <a:bodyPr/>
                    <a:lstStyle/>
                    <a:p>
                      <a:r>
                        <a:rPr sz="1600"/>
                        <a:t>Model B: IDP camp residence</a:t>
                      </a:r>
                    </a:p>
                  </a:txBody>
                  <a:tcPr/>
                </a:tc>
                <a:tc>
                  <a:txBody>
                    <a:bodyPr/>
                    <a:lstStyle/>
                    <a:p>
                      <a:r>
                        <a:rPr sz="1600">
                          <a:solidFill>
                            <a:srgbClr val="FF0000"/>
                          </a:solidFill>
                        </a:rPr>
                        <a:t>2.32 (1.24-4.32)</a:t>
                      </a:r>
                    </a:p>
                  </a:txBody>
                  <a:tcPr/>
                </a:tc>
                <a:tc>
                  <a:txBody>
                    <a:bodyPr/>
                    <a:lstStyle/>
                    <a:p>
                      <a:r>
                        <a:rPr sz="1600">
                          <a:solidFill>
                            <a:srgbClr val="FF0000"/>
                          </a:solidFill>
                        </a:rPr>
                        <a:t>1.94 (1.21-3.10)</a:t>
                      </a:r>
                    </a:p>
                  </a:txBody>
                  <a:tcPr/>
                </a:tc>
                <a:tc>
                  <a:txBody>
                    <a:bodyPr/>
                    <a:lstStyle/>
                    <a:p>
                      <a:r>
                        <a:rPr sz="1600">
                          <a:solidFill>
                            <a:srgbClr val="FF0000"/>
                          </a:solidFill>
                        </a:rPr>
                        <a:t>2.87 (1.79-4.62)</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burden clusters by community</a:t>
            </a:r>
          </a:p>
        </p:txBody>
      </p:sp>
      <p:sp>
        <p:nvSpPr>
          <p:cNvPr id="3" name="Content Placeholder 2"/>
          <p:cNvSpPr>
            <a:spLocks noGrp="1"/>
          </p:cNvSpPr>
          <p:nvPr>
            <p:ph idx="1"/>
          </p:nvPr>
        </p:nvSpPr>
        <p:spPr/>
        <p:txBody>
          <a:bodyPr wrap="square"/>
          <a:lstStyle/>
          <a:p>
            <a:pPr>
              <a:spcAft>
                <a:spcPts val="1200"/>
              </a:spcAft>
            </a:pPr>
            <a:r>
              <a:rPr sz="2000"/>
              <a:t>Null-model ICCs: 0.86 (PTSD), 0.72 (depression), 0.72 (anxiety)</a:t>
            </a:r>
          </a:p>
          <a:p>
            <a:pPr>
              <a:spcAft>
                <a:spcPts val="1200"/>
              </a:spcAft>
            </a:pPr>
            <a:r>
              <a:rPr sz="2000"/>
              <a:t>Still 0.49-0.62 after full adjustment</a:t>
            </a:r>
          </a:p>
          <a:p>
            <a:pPr>
              <a:spcAft>
                <a:spcPts val="1200"/>
              </a:spcAft>
            </a:pPr>
            <a:r>
              <a:rPr sz="2000"/>
              <a:t>Most residual variation lies between communities, not between neighbors</a:t>
            </a:r>
          </a:p>
          <a:p>
            <a:pPr>
              <a:spcAft>
                <a:spcPts val="1200"/>
              </a:spcAft>
            </a:pPr>
            <a:r>
              <a:rPr sz="2000"/>
              <a:t>Robust: post-stratification weights, alternative cut-points, LGA fixed effects, continuous scores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The camp carries risk the trauma count does not explain.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1. Background</a:t>
            </a:r>
          </a:p>
          <a:p>
            <a:r>
              <a:rPr sz="2800"/>
              <a:t>2. Methods</a:t>
            </a:r>
          </a:p>
          <a:p>
            <a:r>
              <a:rPr sz="2800"/>
              <a:t>3. Results</a:t>
            </a:r>
          </a:p>
          <a:p>
            <a:r>
              <a:rPr sz="2800">
                <a:solidFill>
                  <a:srgbClr val="FF0000"/>
                </a:solidFill>
              </a:rPr>
              <a:t>4. Discussion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a:t>
            </a:r>
          </a:p>
        </p:txBody>
      </p:sp>
      <p:sp>
        <p:nvSpPr>
          <p:cNvPr id="3" name="Content Placeholder 2"/>
          <p:cNvSpPr>
            <a:spLocks noGrp="1"/>
          </p:cNvSpPr>
          <p:nvPr>
            <p:ph idx="1"/>
          </p:nvPr>
        </p:nvSpPr>
        <p:spPr/>
        <p:txBody>
          <a:bodyPr wrap="square"/>
          <a:lstStyle/>
          <a:p>
            <a:pPr>
              <a:spcAft>
                <a:spcPts val="1200"/>
              </a:spcAft>
            </a:pPr>
            <a:r>
              <a:rPr sz="2000"/>
              <a:t>The post-displacement environment is an intervention target in its own right</a:t>
            </a:r>
          </a:p>
          <a:p>
            <a:pPr>
              <a:spcAft>
                <a:spcPts val="1200"/>
              </a:spcAft>
            </a:pPr>
            <a:r>
              <a:rPr sz="2000"/>
              <a:t>Extreme community clustering supports community-targeted delivery</a:t>
            </a:r>
          </a:p>
          <a:p>
            <a:pPr>
              <a:spcAft>
                <a:spcPts val="1200"/>
              </a:spcAft>
            </a:pPr>
            <a:r>
              <a:rPr sz="2000"/>
              <a:t>Direct input for implementing Nigeria's Mental Health Act</a:t>
            </a:r>
          </a:p>
          <a:p>
            <a:pPr>
              <a:spcAft>
                <a:spcPts val="1200"/>
              </a:spcAft>
            </a:pPr>
            <a:r>
              <a:rPr sz="2000"/>
              <a:t>Trauma treatment alone leaves the camp pathway untouched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customXml/itemProps3.xml><?xml version="1.0" encoding="utf-8"?>
<ds:datastoreItem xmlns:ds="http://schemas.openxmlformats.org/officeDocument/2006/customXml" ds:itemID="{C7461CDA-AB55-4D84-9CEF-669BCD74C02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TotalTime>
  <Words>176</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Continuing Medical Education Financial Disclosure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TUNDE MASSEYFERGUSON OJO</cp:lastModifiedBy>
  <cp:revision>18</cp:revision>
  <dcterms:created xsi:type="dcterms:W3CDTF">2026-04-30T16:25:28Z</dcterms:created>
  <dcterms:modified xsi:type="dcterms:W3CDTF">2026-08-25T02:19:46Z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