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4.svg" ContentType="image/svg+xml"/>
  <Override PartName="/ppt/media/image5.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387" r:id="rId5"/>
    <p:sldId id="388" r:id="rId6"/>
    <p:sldId id="390" r:id="rId10"/>
    <p:sldId id="353" r:id="rId11"/>
    <p:sldId id="354" r:id="rId12"/>
    <p:sldId id="355" r:id="rId13"/>
    <p:sldId id="375" r:id="rId14"/>
    <p:sldId id="286" r:id="rId16"/>
    <p:sldId id="383" r:id="rId17"/>
    <p:sldId id="395" r:id="rId41"/>
    <p:sldId id="341" r:id="rId18"/>
    <p:sldId id="309" r:id="rId19"/>
    <p:sldId id="396" r:id="rId42"/>
    <p:sldId id="379" r:id="rId21"/>
    <p:sldId id="397" r:id="rId43"/>
    <p:sldId id="391" r:id="rId22"/>
    <p:sldId id="392" r:id="rId23"/>
    <p:sldId id="398" r:id="rId44"/>
    <p:sldId id="335" r:id="rId24"/>
    <p:sldId id="394" r:id="rId25"/>
    <p:sldId id="332" r:id="rId26"/>
    <p:sldId id="393" r:id="rId28"/>
    <p:sldId id="346" r:id="rId29"/>
    <p:sldId id="272" r:id="rId32"/>
    <p:sldId id="348" r:id="rId30"/>
    <p:sldId id="271" r:id="rId31"/>
    <p:sldId id="27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919D0-9672-3B54-444D-474231CC376B}" v="27" dt="2026-05-05T17:49:2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5" autoAdjust="0"/>
    <p:restoredTop sz="81882"/>
  </p:normalViewPr>
  <p:slideViewPr>
    <p:cSldViewPr snapToGrid="0">
      <p:cViewPr varScale="1">
        <p:scale>
          <a:sx n="85" d="100"/>
          <a:sy n="85" d="100"/>
        </p:scale>
        <p:origin x="19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4" Type="http://schemas.openxmlformats.org/officeDocument/2006/relationships/slide" Target="slides/slide30.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5/10/relationships/revisionInfo" Target="revisionInfo.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5B6B85"/>
            </a:solidFill>
            <a:ln>
              <a:noFill/>
            </a:ln>
          </c:spPr>
          <c:invertIfNegative val="1"/>
          <c:dPt>
            <c:idx val="1"/>
            <c:invertIfNegative val="1"/>
            <c:bubble3D val="0"/>
            <c:spPr>
              <a:solidFill>
                <a:srgbClr val="E8963C"/>
              </a:solidFill>
              <a:ln>
                <a:noFill/>
              </a:ln>
            </c:spPr>
            <c:extLst>
              <c:ext xmlns:c16="http://schemas.microsoft.com/office/drawing/2014/chart" uri="{C3380CC4-5D6E-409C-BE32-E72D297353CC}">
                <c16:uniqueId val="{00000001-9861-2B45-AC37-19EF30891182}"/>
              </c:ext>
            </c:extLst>
          </c:dPt>
          <c:dLbls>
            <c:numFmt formatCode="0.0" sourceLinked="0"/>
            <c:spPr>
              <a:noFill/>
              <a:ln>
                <a:noFill/>
              </a:ln>
              <a:effectLst/>
            </c:spPr>
            <c:txPr>
              <a:bodyPr wrap="none"/>
              <a:lstStyle/>
              <a:p>
                <a:pPr>
                  <a:defRPr sz="1400" b="1">
                    <a:solidFill>
                      <a:srgbClr val="FFFFFF"/>
                    </a:solidFill>
                    <a:latin typeface="Aveni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2"/>
              <c:pt idx="0">
                <c:v>WHO benchmark</c:v>
              </c:pt>
              <c:pt idx="1">
                <c:v>Nigeria</c:v>
              </c:pt>
            </c:strLit>
          </c:cat>
          <c:val>
            <c:numLit>
              <c:formatCode>General</c:formatCode>
              <c:ptCount val="2"/>
              <c:pt idx="0">
                <c:v>5</c:v>
              </c:pt>
              <c:pt idx="1">
                <c:v>0.6</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861-2B45-AC37-19EF30891182}"/>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485064"/>
            </a:solidFill>
          </a:ln>
        </c:spPr>
        <c:txPr>
          <a:bodyPr rot="0" vert="horz"/>
          <a:lstStyle/>
          <a:p>
            <a:pPr>
              <a:defRPr sz="1400" b="0">
                <a:solidFill>
                  <a:srgbClr val="FFFFFF"/>
                </a:solidFill>
                <a:latin typeface="Avenir"/>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
                </c:pt>
              </c:strCache>
            </c:strRef>
          </c:tx>
          <c:spPr>
            <a:solidFill>
              <a:srgbClr val="7FA8D9"/>
            </a:solidFill>
            <a:ln>
              <a:noFill/>
            </a:ln>
          </c:spPr>
          <c:invertIfNegative val="1"/>
          <c:dPt>
            <c:idx val="0"/>
            <c:invertIfNegative val="0"/>
            <c:bubble3D val="0"/>
            <c:spPr>
              <a:solidFill>
                <a:srgbClr val="C8102E"/>
              </a:solidFill>
              <a:ln>
                <a:noFill/>
              </a:ln>
            </c:spPr>
            <c:extLst>
              <c:ext xmlns:c16="http://schemas.microsoft.com/office/drawing/2014/chart" uri="{C3380CC4-5D6E-409C-BE32-E72D297353CC}">
                <c16:uniqueId val="{00000001-35BC-3E4A-9326-84B8F02253E4}"/>
              </c:ext>
            </c:extLst>
          </c:dPt>
          <c:dPt>
            <c:idx val="1"/>
            <c:invertIfNegative val="0"/>
            <c:bubble3D val="0"/>
            <c:spPr>
              <a:solidFill>
                <a:srgbClr val="3E6FA5"/>
              </a:solidFill>
              <a:ln>
                <a:noFill/>
              </a:ln>
            </c:spPr>
            <c:extLst>
              <c:ext xmlns:c16="http://schemas.microsoft.com/office/drawing/2014/chart" uri="{C3380CC4-5D6E-409C-BE32-E72D297353CC}">
                <c16:uniqueId val="{00000003-35BC-3E4A-9326-84B8F02253E4}"/>
              </c:ext>
            </c:extLst>
          </c:dPt>
          <c:dPt>
            <c:idx val="2"/>
            <c:invertIfNegative val="0"/>
            <c:bubble3D val="0"/>
            <c:spPr>
              <a:solidFill>
                <a:srgbClr val="1E3A5C"/>
              </a:solidFill>
              <a:ln>
                <a:noFill/>
              </a:ln>
            </c:spPr>
            <c:extLst>
              <c:ext xmlns:c16="http://schemas.microsoft.com/office/drawing/2014/chart" uri="{C3380CC4-5D6E-409C-BE32-E72D297353CC}">
                <c16:uniqueId val="{00000005-35BC-3E4A-9326-84B8F02253E4}"/>
              </c:ext>
            </c:extLst>
          </c:dPt>
          <c:dLbls>
            <c:numFmt formatCode="0.0&quot;%&quot;" sourceLinked="0"/>
            <c:spPr>
              <a:noFill/>
              <a:ln>
                <a:noFill/>
              </a:ln>
              <a:effectLst/>
            </c:spPr>
            <c:txPr>
              <a:bodyPr wrap="none"/>
              <a:lstStyle/>
              <a:p>
                <a:pPr>
                  <a:defRPr sz="1400" b="0">
                    <a:solidFill>
                      <a:srgbClr val="262626"/>
                    </a:solidFill>
                    <a:latin typeface="Aveni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Ref>
              <c:f>Sheet1!$A$2:$A$4</c:f>
              <c:strCache>
                <c:ptCount val="3"/>
                <c:pt idx="0">
                  <c:v>No trauma exposure</c:v>
                </c:pt>
                <c:pt idx="1">
                  <c:v>Three event types</c:v>
                </c:pt>
                <c:pt idx="2">
                  <c:v>Five event types</c:v>
                </c:pt>
              </c:strCache>
            </c:strRef>
          </c:cat>
          <c:val>
            <c:numRef>
              <c:f>Sheet1!$B$2:$B$4</c:f>
              <c:numCache>
                <c:formatCode>General</c:formatCode>
                <c:ptCount val="3"/>
                <c:pt idx="0">
                  <c:v>6.6</c:v>
                </c:pt>
                <c:pt idx="1">
                  <c:v>19.5</c:v>
                </c:pt>
                <c:pt idx="2">
                  <c:v>39.6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8BE-844B-A57D-78DED42697D5}"/>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262626"/>
                </a:solidFill>
                <a:latin typeface="Avenir"/>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solidFill>
      <a:srgbClr val="FFFFFF"/>
    </a:solid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08"/>
          <c:y val="0.13"/>
          <c:w val="0.9"/>
          <c:h val="0.68"/>
        </c:manualLayout>
      </c:layout>
      <c:scatterChart>
        <c:scatterStyle val="lineMarker"/>
        <c:varyColors val="0"/>
        <c:ser>
          <c:idx val="0"/>
          <c:order val="0"/>
          <c:tx>
            <c:v>PTSD</c:v>
          </c:tx>
          <c:spPr>
            <a:ln w="19050">
              <a:noFill/>
            </a:ln>
          </c:spPr>
          <c:marker>
            <c:symbol val="circle"/>
            <c:size val="9"/>
            <c:spPr>
              <a:solidFill>
                <a:srgbClr val="C8102E"/>
              </a:solidFill>
              <a:ln>
                <a:noFill/>
              </a:ln>
            </c:spPr>
          </c:marker>
          <c:errBars>
            <c:errDir val="y"/>
            <c:errBarType val="both"/>
            <c:errValType val="cust"/>
            <c:noEndCap val="0"/>
            <c:plus>
              <c:numLit>
                <c:formatCode>General</c:formatCode>
                <c:ptCount val="4"/>
                <c:pt idx="0">
                  <c:v>0.56999999999999995</c:v>
                </c:pt>
                <c:pt idx="1">
                  <c:v>0.24</c:v>
                </c:pt>
                <c:pt idx="2">
                  <c:v>0.18</c:v>
                </c:pt>
                <c:pt idx="3">
                  <c:v>0.11</c:v>
                </c:pt>
              </c:numLit>
            </c:plus>
            <c:minus>
              <c:numLit>
                <c:formatCode>General</c:formatCode>
                <c:ptCount val="4"/>
                <c:pt idx="0">
                  <c:v>0.44</c:v>
                </c:pt>
                <c:pt idx="1">
                  <c:v>0.2</c:v>
                </c:pt>
                <c:pt idx="2">
                  <c:v>0.16</c:v>
                </c:pt>
                <c:pt idx="3">
                  <c:v>0.09</c:v>
                </c:pt>
              </c:numLit>
            </c:minus>
            <c:spPr>
              <a:ln w="22225">
                <a:solidFill>
                  <a:srgbClr val="C8102E"/>
                </a:solidFill>
              </a:ln>
            </c:spPr>
          </c:errBars>
          <c:xVal>
            <c:numLit>
              <c:formatCode>General</c:formatCode>
              <c:ptCount val="4"/>
              <c:pt idx="0">
                <c:v>0.8</c:v>
              </c:pt>
              <c:pt idx="1">
                <c:v>1.8</c:v>
              </c:pt>
              <c:pt idx="2">
                <c:v>2.8</c:v>
              </c:pt>
              <c:pt idx="3">
                <c:v>3.8</c:v>
              </c:pt>
            </c:numLit>
          </c:xVal>
          <c:yVal>
            <c:numLit>
              <c:formatCode>General</c:formatCode>
              <c:ptCount val="4"/>
              <c:pt idx="0">
                <c:v>1.97</c:v>
              </c:pt>
              <c:pt idx="1">
                <c:v>1.26</c:v>
              </c:pt>
              <c:pt idx="2">
                <c:v>1.03</c:v>
              </c:pt>
              <c:pt idx="3">
                <c:v>0.92</c:v>
              </c:pt>
            </c:numLit>
          </c:yVal>
          <c:smooth val="0"/>
          <c:extLst>
            <c:ext xmlns:c16="http://schemas.microsoft.com/office/drawing/2014/chart" uri="{C3380CC4-5D6E-409C-BE32-E72D297353CC}">
              <c16:uniqueId val="{00000000-54F6-E945-A525-4B8FBFAD8F92}"/>
            </c:ext>
          </c:extLst>
        </c:ser>
        <c:ser>
          <c:idx val="1"/>
          <c:order val="1"/>
          <c:tx>
            <c:v>Depression</c:v>
          </c:tx>
          <c:spPr>
            <a:ln w="19050">
              <a:noFill/>
            </a:ln>
          </c:spPr>
          <c:marker>
            <c:symbol val="square"/>
            <c:size val="9"/>
            <c:spPr>
              <a:solidFill>
                <a:srgbClr val="1E3A5C"/>
              </a:solidFill>
              <a:ln>
                <a:noFill/>
              </a:ln>
            </c:spPr>
          </c:marker>
          <c:errBars>
            <c:errDir val="y"/>
            <c:errBarType val="both"/>
            <c:errValType val="cust"/>
            <c:noEndCap val="0"/>
            <c:plus>
              <c:numLit>
                <c:formatCode>General</c:formatCode>
                <c:ptCount val="4"/>
                <c:pt idx="0">
                  <c:v>0.47</c:v>
                </c:pt>
                <c:pt idx="1">
                  <c:v>0.18</c:v>
                </c:pt>
                <c:pt idx="2">
                  <c:v>0.17</c:v>
                </c:pt>
                <c:pt idx="3">
                  <c:v>0.1</c:v>
                </c:pt>
              </c:numLit>
            </c:plus>
            <c:minus>
              <c:numLit>
                <c:formatCode>General</c:formatCode>
                <c:ptCount val="4"/>
                <c:pt idx="0">
                  <c:v>0.37</c:v>
                </c:pt>
                <c:pt idx="1">
                  <c:v>0.16</c:v>
                </c:pt>
                <c:pt idx="2">
                  <c:v>0.14000000000000001</c:v>
                </c:pt>
                <c:pt idx="3">
                  <c:v>0.09</c:v>
                </c:pt>
              </c:numLit>
            </c:minus>
            <c:spPr>
              <a:ln w="22225">
                <a:solidFill>
                  <a:srgbClr val="1E3A5C"/>
                </a:solidFill>
              </a:ln>
            </c:spPr>
          </c:errBars>
          <c:xVal>
            <c:numLit>
              <c:formatCode>General</c:formatCode>
              <c:ptCount val="4"/>
              <c:pt idx="0">
                <c:v>1</c:v>
              </c:pt>
              <c:pt idx="1">
                <c:v>2</c:v>
              </c:pt>
              <c:pt idx="2">
                <c:v>3</c:v>
              </c:pt>
              <c:pt idx="3">
                <c:v>4</c:v>
              </c:pt>
            </c:numLit>
          </c:xVal>
          <c:yVal>
            <c:numLit>
              <c:formatCode>General</c:formatCode>
              <c:ptCount val="4"/>
              <c:pt idx="0">
                <c:v>1.83</c:v>
              </c:pt>
              <c:pt idx="1">
                <c:v>1.27</c:v>
              </c:pt>
              <c:pt idx="2">
                <c:v>0.95</c:v>
              </c:pt>
              <c:pt idx="3">
                <c:v>0.99</c:v>
              </c:pt>
            </c:numLit>
          </c:yVal>
          <c:smooth val="0"/>
          <c:extLst>
            <c:ext xmlns:c16="http://schemas.microsoft.com/office/drawing/2014/chart" uri="{C3380CC4-5D6E-409C-BE32-E72D297353CC}">
              <c16:uniqueId val="{00000001-54F6-E945-A525-4B8FBFAD8F92}"/>
            </c:ext>
          </c:extLst>
        </c:ser>
        <c:ser>
          <c:idx val="2"/>
          <c:order val="2"/>
          <c:tx>
            <c:v>Anxiety</c:v>
          </c:tx>
          <c:spPr>
            <a:ln w="19050">
              <a:noFill/>
            </a:ln>
          </c:spPr>
          <c:marker>
            <c:symbol val="diamond"/>
            <c:size val="9"/>
            <c:spPr>
              <a:solidFill>
                <a:srgbClr val="7FA8D9"/>
              </a:solidFill>
              <a:ln>
                <a:noFill/>
              </a:ln>
            </c:spPr>
          </c:marker>
          <c:errBars>
            <c:errDir val="y"/>
            <c:errBarType val="both"/>
            <c:errValType val="cust"/>
            <c:noEndCap val="0"/>
            <c:plus>
              <c:numLit>
                <c:formatCode>General</c:formatCode>
                <c:ptCount val="4"/>
                <c:pt idx="0">
                  <c:v>0.46</c:v>
                </c:pt>
                <c:pt idx="1">
                  <c:v>0.16</c:v>
                </c:pt>
                <c:pt idx="2">
                  <c:v>0.13</c:v>
                </c:pt>
                <c:pt idx="3">
                  <c:v>0.1</c:v>
                </c:pt>
              </c:numLit>
            </c:plus>
            <c:minus>
              <c:numLit>
                <c:formatCode>General</c:formatCode>
                <c:ptCount val="4"/>
                <c:pt idx="0">
                  <c:v>0.36</c:v>
                </c:pt>
                <c:pt idx="1">
                  <c:v>0.14000000000000001</c:v>
                </c:pt>
                <c:pt idx="2">
                  <c:v>0.11</c:v>
                </c:pt>
                <c:pt idx="3">
                  <c:v>0.08</c:v>
                </c:pt>
              </c:numLit>
            </c:minus>
            <c:spPr>
              <a:ln w="22225">
                <a:solidFill>
                  <a:srgbClr val="7FA8D9"/>
                </a:solidFill>
              </a:ln>
            </c:spPr>
          </c:errBars>
          <c:xVal>
            <c:numLit>
              <c:formatCode>General</c:formatCode>
              <c:ptCount val="4"/>
              <c:pt idx="0">
                <c:v>1.2</c:v>
              </c:pt>
              <c:pt idx="1">
                <c:v>2.2000000000000002</c:v>
              </c:pt>
              <c:pt idx="2">
                <c:v>3.2</c:v>
              </c:pt>
              <c:pt idx="3">
                <c:v>4.2</c:v>
              </c:pt>
            </c:numLit>
          </c:xVal>
          <c:yVal>
            <c:numLit>
              <c:formatCode>General</c:formatCode>
              <c:ptCount val="4"/>
              <c:pt idx="0">
                <c:v>1.71</c:v>
              </c:pt>
              <c:pt idx="1">
                <c:v>1.1499999999999999</c:v>
              </c:pt>
              <c:pt idx="2">
                <c:v>0.86</c:v>
              </c:pt>
              <c:pt idx="3">
                <c:v>1.03</c:v>
              </c:pt>
            </c:numLit>
          </c:yVal>
          <c:smooth val="0"/>
          <c:extLst>
            <c:ext xmlns:c16="http://schemas.microsoft.com/office/drawing/2014/chart" uri="{C3380CC4-5D6E-409C-BE32-E72D297353CC}">
              <c16:uniqueId val="{00000002-54F6-E945-A525-4B8FBFAD8F92}"/>
            </c:ext>
          </c:extLst>
        </c:ser>
        <c:ser>
          <c:idx val="3"/>
          <c:order val="3"/>
          <c:tx>
            <c:v>No added risk</c:v>
          </c:tx>
          <c:spPr>
            <a:ln w="12700">
              <a:solidFill>
                <a:srgbClr val="7F7F7F"/>
              </a:solidFill>
              <a:prstDash val="dash"/>
            </a:ln>
          </c:spPr>
          <c:marker>
            <c:symbol val="none"/>
          </c:marker>
          <c:xVal>
            <c:numLit>
              <c:formatCode>General</c:formatCode>
              <c:ptCount val="2"/>
              <c:pt idx="0">
                <c:v>0.5</c:v>
              </c:pt>
              <c:pt idx="1">
                <c:v>4.5</c:v>
              </c:pt>
            </c:numLit>
          </c:xVal>
          <c:yVal>
            <c:numLit>
              <c:formatCode>General</c:formatCode>
              <c:ptCount val="2"/>
              <c:pt idx="0">
                <c:v>1</c:v>
              </c:pt>
              <c:pt idx="1">
                <c:v>1</c:v>
              </c:pt>
            </c:numLit>
          </c:yVal>
          <c:smooth val="0"/>
          <c:extLst>
            <c:ext xmlns:c16="http://schemas.microsoft.com/office/drawing/2014/chart" uri="{C3380CC4-5D6E-409C-BE32-E72D297353CC}">
              <c16:uniqueId val="{00000003-54F6-E945-A525-4B8FBFAD8F92}"/>
            </c:ext>
          </c:extLst>
        </c:ser>
        <c:dLbls>
          <c:showLegendKey val="0"/>
          <c:showVal val="0"/>
          <c:showCatName val="0"/>
          <c:showSerName val="0"/>
          <c:showPercent val="0"/>
          <c:showBubbleSize val="0"/>
        </c:dLbls>
        <c:axId val="11"/>
        <c:axId val="12"/>
      </c:scatterChart>
      <c:valAx>
        <c:axId val="11"/>
        <c:scaling>
          <c:orientation val="minMax"/>
          <c:max val="4.5"/>
          <c:min val="0.5"/>
        </c:scaling>
        <c:delete val="0"/>
        <c:axPos val="b"/>
        <c:numFmt formatCode="General" sourceLinked="0"/>
        <c:majorTickMark val="none"/>
        <c:minorTickMark val="none"/>
        <c:tickLblPos val="none"/>
        <c:spPr>
          <a:ln w="9525">
            <a:solidFill>
              <a:srgbClr val="BFBFBF"/>
            </a:solidFill>
          </a:ln>
        </c:spPr>
        <c:crossAx val="12"/>
        <c:crosses val="min"/>
        <c:crossBetween val="midCat"/>
        <c:majorUnit val="1"/>
      </c:valAx>
      <c:valAx>
        <c:axId val="12"/>
        <c:scaling>
          <c:orientation val="minMax"/>
          <c:max val="3"/>
          <c:min val="0.5"/>
        </c:scaling>
        <c:delete val="0"/>
        <c:axPos val="l"/>
        <c:majorGridlines>
          <c:spPr>
            <a:ln w="6350">
              <a:solidFill>
                <a:srgbClr val="E3E3E3"/>
              </a:solidFill>
            </a:ln>
          </c:spPr>
        </c:majorGridlines>
        <c:numFmt formatCode="0.0" sourceLinked="0"/>
        <c:majorTickMark val="none"/>
        <c:minorTickMark val="none"/>
        <c:tickLblPos val="nextTo"/>
        <c:spPr>
          <a:ln>
            <a:noFill/>
          </a:ln>
        </c:spPr>
        <c:txPr>
          <a:bodyPr/>
          <a:lstStyle/>
          <a:p>
            <a:pPr>
              <a:defRPr sz="1400" b="0">
                <a:solidFill>
                  <a:srgbClr val="262626"/>
                </a:solidFill>
                <a:latin typeface="Avenir"/>
              </a:defRPr>
            </a:pPr>
            <a:endParaRPr lang="en-US"/>
          </a:p>
        </c:txPr>
        <c:crossAx val="11"/>
        <c:crosses val="min"/>
        <c:crossBetween val="midCat"/>
        <c:majorUnit val="0.5"/>
      </c:valAx>
      <c:spPr>
        <a:noFill/>
        <a:ln>
          <a:noFill/>
        </a:ln>
      </c:spPr>
    </c:plotArea>
    <c:legend>
      <c:legendPos val="t"/>
      <c:legendEntry>
        <c:idx val="3"/>
        <c:delete val="1"/>
      </c:legendEntry>
      <c:overlay val="0"/>
      <c:txPr>
        <a:bodyPr/>
        <a:lstStyle/>
        <a:p>
          <a:pPr>
            <a:defRPr sz="1400" b="0">
              <a:solidFill>
                <a:srgbClr val="262626"/>
              </a:solidFill>
              <a:latin typeface="Avenir"/>
            </a:defRPr>
          </a:pPr>
          <a:endParaRPr lang="en-US"/>
        </a:p>
      </c:txPr>
    </c:legend>
    <c:plotVisOnly val="1"/>
    <c:dispBlanksAs val="gap"/>
    <c:showDLblsOverMax val="1"/>
  </c:chart>
  <c:spPr>
    <a:noFill/>
    <a:ln>
      <a:noFill/>
    </a:ln>
  </c:spPr>
  <c:txPr>
    <a:bodyPr/>
    <a:lstStyle/>
    <a:p>
      <a:pPr>
        <a:defRPr sz="1400" b="0">
          <a:solidFill>
            <a:srgbClr val="262626"/>
          </a:solidFill>
          <a:latin typeface="Avenir"/>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5.7227495211747179E-2"/>
          <c:y val="3.6616535433070869E-2"/>
          <c:w val="0.94277250478825281"/>
          <c:h val="0.68609396325459315"/>
        </c:manualLayout>
      </c:layout>
      <c:lineChart>
        <c:grouping val="standard"/>
        <c:varyColors val="0"/>
        <c:ser>
          <c:idx val="0"/>
          <c:order val="0"/>
          <c:tx>
            <c:strRef>
              <c:f>Sheet1!$B$1</c:f>
              <c:strCache>
                <c:ptCount val="1"/>
                <c:pt idx="0">
                  <c:v>No trauma</c:v>
                </c:pt>
              </c:strCache>
            </c:strRef>
          </c:tx>
          <c:spPr>
            <a:ln w="38100">
              <a:solidFill>
                <a:srgbClr val="C8102E"/>
              </a:solidFill>
            </a:ln>
          </c:spPr>
          <c:marker>
            <c:symbol val="none"/>
          </c:marker>
          <c:cat>
            <c:strRef>
              <c:f>Sheet1!$A$2:$A$5</c:f>
              <c:strCache>
                <c:ptCount val="4"/>
                <c:pt idx="0">
                  <c:v>0</c:v>
                </c:pt>
                <c:pt idx="1">
                  <c:v>2</c:v>
                </c:pt>
                <c:pt idx="2">
                  <c:v>4</c:v>
                </c:pt>
                <c:pt idx="3">
                  <c:v>6</c:v>
                </c:pt>
              </c:strCache>
            </c:strRef>
          </c:cat>
          <c:val>
            <c:numRef>
              <c:f>Sheet1!$B$2:$B$5</c:f>
              <c:numCache>
                <c:formatCode>General</c:formatCode>
                <c:ptCount val="4"/>
                <c:pt idx="0">
                  <c:v>6.6</c:v>
                </c:pt>
                <c:pt idx="1">
                  <c:v>13.6</c:v>
                </c:pt>
                <c:pt idx="2">
                  <c:v>28.3</c:v>
                </c:pt>
                <c:pt idx="3">
                  <c:v>58.9</c:v>
                </c:pt>
              </c:numCache>
            </c:numRef>
          </c:val>
          <c:smooth val="0"/>
          <c:extLst>
            <c:ext xmlns:c16="http://schemas.microsoft.com/office/drawing/2014/chart" uri="{C3380CC4-5D6E-409C-BE32-E72D297353CC}">
              <c16:uniqueId val="{00000000-7756-3A43-9AC4-C3DEE0980EBC}"/>
            </c:ext>
          </c:extLst>
        </c:ser>
        <c:ser>
          <c:idx val="1"/>
          <c:order val="1"/>
          <c:tx>
            <c:strRef>
              <c:f>Sheet1!$C$1</c:f>
              <c:strCache>
                <c:ptCount val="1"/>
                <c:pt idx="0">
                  <c:v>1–2 events</c:v>
                </c:pt>
              </c:strCache>
            </c:strRef>
          </c:tx>
          <c:spPr>
            <a:ln w="38100">
              <a:solidFill>
                <a:srgbClr val="7FA8D9"/>
              </a:solidFill>
            </a:ln>
          </c:spPr>
          <c:marker>
            <c:symbol val="none"/>
          </c:marker>
          <c:cat>
            <c:strRef>
              <c:f>Sheet1!$A$2:$A$5</c:f>
              <c:strCache>
                <c:ptCount val="4"/>
                <c:pt idx="0">
                  <c:v>0</c:v>
                </c:pt>
                <c:pt idx="1">
                  <c:v>2</c:v>
                </c:pt>
                <c:pt idx="2">
                  <c:v>4</c:v>
                </c:pt>
                <c:pt idx="3">
                  <c:v>6</c:v>
                </c:pt>
              </c:strCache>
            </c:strRef>
          </c:cat>
          <c:val>
            <c:numRef>
              <c:f>Sheet1!$C$2:$C$5</c:f>
              <c:numCache>
                <c:formatCode>General</c:formatCode>
                <c:ptCount val="4"/>
                <c:pt idx="0">
                  <c:v>9.5</c:v>
                </c:pt>
                <c:pt idx="1">
                  <c:v>15.2</c:v>
                </c:pt>
                <c:pt idx="2">
                  <c:v>24.5</c:v>
                </c:pt>
                <c:pt idx="3">
                  <c:v>39.3</c:v>
                </c:pt>
              </c:numCache>
            </c:numRef>
          </c:val>
          <c:smooth val="0"/>
          <c:extLst>
            <c:ext xmlns:c16="http://schemas.microsoft.com/office/drawing/2014/chart" uri="{C3380CC4-5D6E-409C-BE32-E72D297353CC}">
              <c16:uniqueId val="{00000001-7756-3A43-9AC4-C3DEE0980EBC}"/>
            </c:ext>
          </c:extLst>
        </c:ser>
        <c:ser>
          <c:idx val="2"/>
          <c:order val="2"/>
          <c:tx>
            <c:strRef>
              <c:f>Sheet1!$D$1</c:f>
              <c:strCache>
                <c:ptCount val="1"/>
                <c:pt idx="0">
                  <c:v>3–4 events</c:v>
                </c:pt>
              </c:strCache>
            </c:strRef>
          </c:tx>
          <c:spPr>
            <a:ln w="38100">
              <a:solidFill>
                <a:srgbClr val="3E6FA5"/>
              </a:solidFill>
            </a:ln>
          </c:spPr>
          <c:marker>
            <c:symbol val="none"/>
          </c:marker>
          <c:cat>
            <c:strRef>
              <c:f>Sheet1!$A$2:$A$5</c:f>
              <c:strCache>
                <c:ptCount val="4"/>
                <c:pt idx="0">
                  <c:v>0</c:v>
                </c:pt>
                <c:pt idx="1">
                  <c:v>2</c:v>
                </c:pt>
                <c:pt idx="2">
                  <c:v>4</c:v>
                </c:pt>
                <c:pt idx="3">
                  <c:v>6</c:v>
                </c:pt>
              </c:strCache>
            </c:strRef>
          </c:cat>
          <c:val>
            <c:numRef>
              <c:f>Sheet1!$D$2:$D$5</c:f>
              <c:numCache>
                <c:formatCode>General</c:formatCode>
                <c:ptCount val="4"/>
                <c:pt idx="0">
                  <c:v>19.5</c:v>
                </c:pt>
                <c:pt idx="1">
                  <c:v>21.5</c:v>
                </c:pt>
                <c:pt idx="2">
                  <c:v>23.6</c:v>
                </c:pt>
                <c:pt idx="3">
                  <c:v>26.0</c:v>
                </c:pt>
              </c:numCache>
            </c:numRef>
          </c:val>
          <c:smooth val="0"/>
          <c:extLst>
            <c:ext xmlns:c16="http://schemas.microsoft.com/office/drawing/2014/chart" uri="{C3380CC4-5D6E-409C-BE32-E72D297353CC}">
              <c16:uniqueId val="{00000002-7756-3A43-9AC4-C3DEE0980EBC}"/>
            </c:ext>
          </c:extLst>
        </c:ser>
        <c:ser>
          <c:idx val="3"/>
          <c:order val="3"/>
          <c:tx>
            <c:strRef>
              <c:f>Sheet1!$E$1</c:f>
              <c:strCache>
                <c:ptCount val="1"/>
                <c:pt idx="0">
                  <c:v>5+ events</c:v>
                </c:pt>
              </c:strCache>
            </c:strRef>
          </c:tx>
          <c:spPr>
            <a:ln w="38100">
              <a:solidFill>
                <a:srgbClr val="1E3A5C"/>
              </a:solidFill>
            </a:ln>
          </c:spPr>
          <c:marker>
            <c:symbol val="none"/>
          </c:marker>
          <c:cat>
            <c:strRef>
              <c:f>Sheet1!$A$2:$A$5</c:f>
              <c:strCache>
                <c:ptCount val="4"/>
                <c:pt idx="0">
                  <c:v>0</c:v>
                </c:pt>
                <c:pt idx="1">
                  <c:v>2</c:v>
                </c:pt>
                <c:pt idx="2">
                  <c:v>4</c:v>
                </c:pt>
                <c:pt idx="3">
                  <c:v>6</c:v>
                </c:pt>
              </c:strCache>
            </c:strRef>
          </c:cat>
          <c:val>
            <c:numRef>
              <c:f>Sheet1!$E$2:$E$5</c:f>
              <c:numCache>
                <c:formatCode>General</c:formatCode>
                <c:ptCount val="4"/>
                <c:pt idx="0">
                  <c:v>39.6</c:v>
                </c:pt>
                <c:pt idx="1">
                  <c:v>35.7</c:v>
                </c:pt>
                <c:pt idx="2">
                  <c:v>32.2</c:v>
                </c:pt>
                <c:pt idx="3">
                  <c:v>29.1</c:v>
                </c:pt>
              </c:numCache>
            </c:numRef>
          </c:val>
          <c:smooth val="0"/>
          <c:extLst>
            <c:ext xmlns:c16="http://schemas.microsoft.com/office/drawing/2014/chart" uri="{C3380CC4-5D6E-409C-BE32-E72D297353CC}">
              <c16:uniqueId val="{00000003-7756-3A43-9AC4-C3DEE0980EBC}"/>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r>
                  <a:rPr lang="en-US">
                    <a:solidFill>
                      <a:srgbClr val="262626"/>
                    </a:solidFill>
                  </a:rPr>
                  <a:t>Socioeconomic stressors (count)</a:t>
                </a:r>
              </a:p>
            </c:rich>
          </c:tx>
          <c:overlay val="0"/>
        </c:title>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max val="60"/>
          <c:min val="0"/>
        </c:scaling>
        <c:delete val="0"/>
        <c:axPos val="l"/>
        <c:majorGridlines>
          <c:spPr>
            <a:ln w="12700">
              <a:solidFill>
                <a:srgbClr val="BFBFBF"/>
              </a:solidFill>
            </a:ln>
          </c:spPr>
        </c:majorGridlines>
        <c:numFmt formatCode="General" sourceLinked="1"/>
        <c:majorTickMark val="out"/>
        <c:minorTickMark val="none"/>
        <c:tickLblPos val="nextTo"/>
        <c:crossAx val="2118791784"/>
        <c:crosses val="autoZero"/>
        <c:crossBetween val="between"/>
      </c:valAx>
      <c:spPr>
        <a:solidFill>
          <a:srgbClr val="FFFFFF"/>
        </a:solidFill>
        <a:ln>
          <a:noFill/>
        </a:ln>
      </c:spPr>
    </c:plotArea>
    <c:legend>
      <c:legendPos val="b"/>
      <c:overlay val="0"/>
    </c:legend>
    <c:plotVisOnly val="1"/>
    <c:dispBlanksAs val="gap"/>
    <c:showDLblsOverMax val="0"/>
  </c:chart>
  <c:spPr>
    <a:solidFill>
      <a:srgbClr val="FFFFFF"/>
    </a:solidFill>
    <a:ln>
      <a:noFill/>
    </a:ln>
  </c:spPr>
  <c:txPr>
    <a:bodyPr/>
    <a:lstStyle/>
    <a:p>
      <a:pPr>
        <a:defRPr sz="1800">
          <a:solidFill>
            <a:srgbClr val="262626"/>
          </a:solidFill>
          <a:latin typeface="Aveni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4012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paper uses the same survey and asks a different question. Dr. Abdalla showed that trauma and camp residence each raise the burden. I want to ask whether trauma changes what everyday stress does to people.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have no financial relationships to disclose.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spline itself: the per-stressor prevalence ratio as a continuous function of the trauma count, with its confidence band. The curve was free to rise, stay flat, or fall. It falls smoothly and crosses the null at about four events. The red markers are the categorical estimates, and the two approaches agree on the shape. The spline interaction is significant for all three outcomes: p of 0.003 for PTSD, 0.0001 for depression, and 0.003 for anxiety.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People in this population carry two kinds of load. One is the traumatic events: assault, armed attack, disaster. The other is the daily grind: losing a job, struggling to pay rent, family breakdown, isolation. Most humanitarian programming assumes the two simply add, so reducing stress helps everyone equally. Whether that is true decides who benefits from which intervention, and the literature offers three accounts that predict different answers.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The first is the building-block model of Miller and Rasmussen. Trauma and daily stressors each add risk independently. Trauma raises the whole line; each stressor adds the same amount whoever you are. The implication is that stress reduction helps everyone equally.</a:t>
            </a:r>
          </a:p>
        </p:txBody>
      </p:sp>
    </p:spTree>
    <p:extLst>
      <p:ext uri="{BB962C8B-B14F-4D97-AF65-F5344CB8AC3E}">
        <p14:creationId xmlns:p14="http://schemas.microsoft.com/office/powerpoint/2010/main" val="733979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The second is stress sensitization, from Hammen and from McLaughlin's work on childhood adversity. Trauma lowers the threshold at which stress produces symptoms, so each added stressor does more harm among people with more trauma. If that is right, stress reduction does the most good for the most exposed.</a:t>
            </a:r>
          </a:p>
        </p:txBody>
      </p:sp>
    </p:spTree>
    <p:extLst>
      <p:ext uri="{BB962C8B-B14F-4D97-AF65-F5344CB8AC3E}">
        <p14:creationId xmlns:p14="http://schemas.microsoft.com/office/powerpoint/2010/main" val="3184049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The third is less developed. Studies of Syrian and Burundian refugees found that stress sensitivity diminished among the most exposed: their symptoms were high and stopped tracking current stress. Nobody had formally tested the shape of this interaction, across several outcomes, in an African conflict setting, in a population where exposure runs this high. That is the gap this paper addresses.</a:t>
            </a:r>
          </a:p>
        </p:txBody>
      </p:sp>
    </p:spTree>
    <p:extLst>
      <p:ext uri="{BB962C8B-B14F-4D97-AF65-F5344CB8AC3E}">
        <p14:creationId xmlns:p14="http://schemas.microsoft.com/office/powerpoint/2010/main" val="37325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objective was to test whether trauma exposure modifies the association between socioeconomic stressors and PTSD, depression, and anxiety. We had two hypotheses. First, that the trauma-by-stressor interaction is real, meaning the two exposures do not simply add. Second, that the interaction is negative: stress sensitivity diminishes with extensive trauma, which is saturation, not sensitization.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two exposures are correlated. Mean stressor burden rises from about one at no trauma to about five at five or more events, which is why the interaction needs formal, adjusted testing. Note also the spread: the five-plus group has the widest stressor range in the sample, from zero to ten, so any null in that group is estimated over real variation, not a compressed range.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This is the survey you have just seen: a cross-sectional, population-based sample from six states, one per geopolitical zone, fielded between August and December 2025. Ogun matters here. It gives us people with little or no trauma exposure, which is where the stress gradient turns out to live.</a:t>
            </a:r>
          </a:p>
        </p:txBody>
      </p:sp>
    </p:spTree>
    <p:extLst>
      <p:ext uri="{BB962C8B-B14F-4D97-AF65-F5344CB8AC3E}">
        <p14:creationId xmlns:p14="http://schemas.microsoft.com/office/powerpoint/2010/main" val="3068177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The outcomes are the same: PCL-5 at 38, PHQ-9 at 10, and GAD-7 at 10, read cautiously. Trauma is the count of twelve event types from the adapted Life Events Checklist. Daily stressors are a ten-item count developed for Nigeria, covering job loss, rent, eviction, family disruption, and isolation. All models adjust for age, gender, education, and state.</a:t>
            </a:r>
          </a:p>
        </p:txBody>
      </p:sp>
    </p:spTree>
    <p:extLst>
      <p:ext uri="{BB962C8B-B14F-4D97-AF65-F5344CB8AC3E}">
        <p14:creationId xmlns:p14="http://schemas.microsoft.com/office/powerpoint/2010/main" val="3447207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analytic choices carry the argument. The first concerns how we enter trauma. In the dissertation version we grouped people into bins: none, one to two, three to four, five or more. A sceptic can reasonably say the bins produced the pattern. So here trauma enters as a continuous count through a restricted cubic spline, a set of smooth curve segments joined at chosen points, called knots, at zero, two, and five events. The spline lets the data choose the shape: a steepening, no change, or a flattening. We did not decide in advance which.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choice is to read the interaction on two scales. A ratio can shrink for purely arithmetic reasons when baseline risk is high, so we also report absolute differences in percentage points, which do not have that property. Claims about who should receive which intervention rest on absolute risk. We prespecified sensitivity analyses at other cut-points, on continuous symptom scores, and with the categorical version of trauma.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Of the 1,774 adults interviewed, 1,729 completed the trauma inventory and the outcome measures; 37 declined the trauma items and 8 lacked outcome or sampling data. Adjusted models include 1,706 people with complete covariates. This is a complete-case analysis.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Just over a quarter of people reported no traumatic event, about half reported one or two, 13 percent three or four, and 5.5 percent five or more. The average person reported about two current stressors.</a:t>
            </a:r>
          </a:p>
        </p:txBody>
      </p:sp>
    </p:spTree>
    <p:extLst>
      <p:ext uri="{BB962C8B-B14F-4D97-AF65-F5344CB8AC3E}">
        <p14:creationId xmlns:p14="http://schemas.microsoft.com/office/powerpoint/2010/main" val="40028018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First, the main effect, so the interaction has context. At zero stressors, model-predicted PTSD prevalence rises from about 7 percent among people with no trauma to about 40 percent at five events. Trauma dominates the risk landscape. These are predicted prevalences from the Poisson model using Stata's margins: each person's probability is predicted at a fixed trauma and stressor level, keeping their own age, gender, education, and state, and the predictions are averaged. That standardizes the comparison to the same covariate mix. The gradient itself is expected. The question is what happens to the stress gradient along the way.</a:t>
            </a:r>
          </a:p>
        </p:txBody>
      </p:sp>
    </p:spTree>
    <p:extLst>
      <p:ext uri="{BB962C8B-B14F-4D97-AF65-F5344CB8AC3E}">
        <p14:creationId xmlns:p14="http://schemas.microsoft.com/office/powerpoint/2010/main" val="3715066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central result. Each marker is the prevalence ratio for one additional daily stressor, with its confidence interval; the dashed line at 1 means no added risk. Start on the left. Among adults with no traumatic events, each added stressor nearly doubles the prevalence of probable PTSD, a ratio of 1.97. Depression, at 1.83, and anxiety, at 1.71, move with it. Now read to the right. At one to two events the ratios fall to between 1.15 and 1.27. At three to four events the intervals sit on the line, and at five or more events all three outcomes are at the null. The interaction is below 0.0001 for all three outcomes. The stressor gradient is steepest where trauma is lowest, which is the opposite of what sensitization predicts.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t>A sceptic would say the ratio fades only because people with heavy trauma already have high prevalence. So here is the same comparison in percentage points, as differences in model-predicted prevalence estimated with margins contrasts. Going from zero to four stressors adds about 22 points of PTSD prevalence among people with no trauma exposure, 24 points of depression, and 18 points of anxiety. Among people with five or more events, the same four stressors add nothing measurable to any of the three. The fading appears in percentage points too, so it is not an artifact of the ratio scale.</a:t>
            </a:r>
          </a:p>
        </p:txBody>
      </p:sp>
    </p:spTree>
    <p:extLst>
      <p:ext uri="{BB962C8B-B14F-4D97-AF65-F5344CB8AC3E}">
        <p14:creationId xmlns:p14="http://schemas.microsoft.com/office/powerpoint/2010/main" val="14631391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same result as model-predicted prevalence. Each line is a level of trauma. The red line, no trauma exposure, rises from about 7 percent to 28 percent across four stressors and keeps climbing. Each step up in trauma rotates the line flatter, and at five or more events the line is high and does not rise with stress; if anything it drifts down. The gradient belongs to people with little trauma; the burden belongs to people with a lot. Depression and anxiety fan out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tried every route to an artifact we could think of. The pattern holds at alternative cut-points: PCL-5 at 33, PHQ-9 at 15, and GAD-7 at 7. It holds in continuous symptom scores, where there is no cut-point at all. The high-trauma group is not at a ceiling; its prevalence is between 30 and 40 percent, not near 100, and its confidence interval is narrow.</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We addressed bias on four fronts. The 37 people who declined the trauma items are treated as missing, not as unexposed, and we checked every count against the item-level answers. All models adjust for age, gender, education, and state. Stressor burden rises with trauma, so the interaction had to be tested formally, with adjustment. And each route to a statistical artifact, from ratio-scale compression to the choice of cut-off to an imposed functional form, has its own prespecified analysis.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return to the objective: trauma does modify how daily stressors relate to all three outcomes. The interaction is significant for PTSD, depression, and anxiety, so the exposures do not simply add; that is hypothesis one. And the direction is negative: with no trauma, each stressor nearly doubles PTSD prevalence, and with five or more events it adds nothing; that is hypothesis two, saturation rather than sensitization.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change is graded, not a switch. Sensitivity is retained at one or two events, flattens at three or four, and is gone by five. One reading is that both older theories hold, at different levels of exposure.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Several mechanisms could produce this pattern: allostatic exhaustion, in McEwen's sense; blunted cortisol and amygdala responses after chronic trauma, which Yehuda has documented; emotional numbing; and altered assumptions about the world, so that one more hardship no longer registers as a departure from expected danger. These data describe a pattern across people; they do not demonstrate a mechanism within a person.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practical implication is stratification. About four in five adults in this sample have fewer than three types of trauma and retain stress sensitivity. For them, stress management, livelihood support, Problem Management Plus, and community psychosocial support address something their symptoms respond to. The minority with extensive exposure carries high prevalence whatever their current stress. For them the treatments with evidence are trauma-focused: Narrative Exposure Therapy and culturally adapted Cognitive Processing Therapy. A brief trauma-history screen at program entry could route scarce specialist capacity to the people for whom stress reduction cannot substitute.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limitations: the design is cross-sectional, so selection and reverse causation cannot be excluded; trauma is lifetime recall while stressors are current; data above six events are sparse, so we report predictions only to five; and these are screens, not diagnoses, although they are locally validated and the pattern holds in continuous scores.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Trauma changes what everyday stress does. The risk from each additional stressor falls from nearly double among people with no trauma to nothing among people with five or more events, for all three outcomes, on both scales, and in every sensitivity analysis. These data come from six states spanning five forms of violence and a peaceful comparison; replication in other high-exposure settings, and a longitudinal test of when saturation develops and whether it reverses with treatment, are the next steps. Universal programs built on simple dose-response assumptions do not fit these data; we should match the intervention to trauma history.</a:t>
            </a:r>
          </a:p>
          <a:p/>
          <a:p>
            <a:r>
              <a:t>[Handover] If need comes in two tiers, the service system has to be built in two tiers. That is a policy question, and Dr. Ojo is the person in Nigeria who has to answer it.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D2F07-ACD0-46D7-5BFB-BAA0E7043F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DD8877-66BE-034D-D927-46D0CFC5C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0559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7AD1-73C4-45F4-685A-791D9BA00D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16B9-DA0F-8DBB-30CF-93F515B64E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006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9D04-BFB6-D2BC-915D-4141F304F3DC}"/>
              </a:ext>
            </a:extLst>
          </p:cNvPr>
          <p:cNvSpPr>
            <a:spLocks noGrp="1"/>
          </p:cNvSpPr>
          <p:nvPr>
            <p:ph type="title"/>
          </p:nvPr>
        </p:nvSpPr>
        <p:spPr>
          <a:xfrm>
            <a:off x="838200" y="1389064"/>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F2FBB4D8-C7D6-5799-D878-9127D945061D}"/>
              </a:ext>
            </a:extLst>
          </p:cNvPr>
          <p:cNvSpPr>
            <a:spLocks noGrp="1"/>
          </p:cNvSpPr>
          <p:nvPr>
            <p:ph type="body" idx="1"/>
          </p:nvPr>
        </p:nvSpPr>
        <p:spPr>
          <a:xfrm>
            <a:off x="831850" y="4239419"/>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141844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C3695-D63C-614A-592E-C7C8FACCA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8F1E00-535F-7798-D7B7-5A0785FC9E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F184D3-E0CB-B543-4600-1FE46236B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729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98F22-5587-8C51-9F26-1E85693E01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94F101-494F-5244-4B75-4BC8C06B7D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FA9443-1733-8D80-2317-10C962795C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EE2E3-1BBA-B796-F81E-702496D22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D05EE-EFD6-E52C-CC7B-97E1B68F7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998D-6DCB-8761-7948-816D8008FC4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2705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9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F78FD-4F04-A735-7227-DD9D0C87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BADDE-A346-86EE-C54B-288C8AFFED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7005A3-29D6-AA06-6647-2698D53E2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1899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21318-1CBF-6DBA-89C5-EB895780A5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82C6D3-53AB-5EF9-3972-451B420594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F8AF908-CEBB-39F5-AB46-A54554EF4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971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26688-A6E8-DA47-A8C6-286905CD8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F5354-8E45-2730-2ADA-A07632389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887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12CACC-1178-676F-DA41-87E1A8685B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D34D08-8B2B-9DEF-6A0A-537FAE2CED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06087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E5FE3E-9707-5232-D1A7-10EE269B70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727243-EF1D-5BAF-7E5C-54B7AE289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64935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chart" Target="../charts/char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18A9-85F0-3BCF-08E3-53242BED322C}"/>
              </a:ext>
            </a:extLst>
          </p:cNvPr>
          <p:cNvSpPr>
            <a:spLocks noGrp="1"/>
          </p:cNvSpPr>
          <p:nvPr>
            <p:ph type="ctrTitle"/>
          </p:nvPr>
        </p:nvSpPr>
        <p:spPr>
          <a:xfrm>
            <a:off x="1524000" y="391410"/>
            <a:ext cx="9144000" cy="2387600"/>
          </a:xfrm>
        </p:spPr>
        <p:txBody>
          <a:bodyPr/>
          <a:lstStyle/>
          <a:p>
            <a:r>
              <a:rPr sz="2600" dirty="0"/>
              <a:t>When More Trauma Means Less Stress Sensitivity</a:t>
            </a:r>
          </a:p>
        </p:txBody>
      </p:sp>
      <p:sp>
        <p:nvSpPr>
          <p:cNvPr id="3" name="Subtitle 2">
            <a:extLst>
              <a:ext uri="{FF2B5EF4-FFF2-40B4-BE49-F238E27FC236}">
                <a16:creationId xmlns:a16="http://schemas.microsoft.com/office/drawing/2014/main" id="{27C44F12-169B-E2E1-BF80-C326C1BF9763}"/>
              </a:ext>
            </a:extLst>
          </p:cNvPr>
          <p:cNvSpPr>
            <a:spLocks noGrp="1"/>
          </p:cNvSpPr>
          <p:nvPr>
            <p:ph type="subTitle" idx="1"/>
          </p:nvPr>
        </p:nvSpPr>
        <p:spPr>
          <a:xfrm>
            <a:off x="1718872" y="2927480"/>
            <a:ext cx="9144000" cy="1655762"/>
          </a:xfrm>
        </p:spPr>
        <p:txBody>
          <a:bodyPr>
            <a:normAutofit lnSpcReduction="10000"/>
          </a:bodyPr>
          <a:lstStyle/>
          <a:p>
            <a:r>
              <a:rPr dirty="0"/>
              <a:t>Evidence for a Trauma Saturation Effect Among Violence-Exposed Populations in Nigeria</a:t>
            </a:r>
          </a:p>
          <a:p>
            <a:endParaRPr lang="en-US" sz="1400" dirty="0">
              <a:solidFill>
                <a:schemeClr val="bg1"/>
              </a:solidFill>
            </a:endParaRPr>
          </a:p>
          <a:p>
            <a:r>
              <a:rPr sz="1400" dirty="0">
                <a:solidFill>
                  <a:schemeClr val="bg1"/>
                </a:solidFill>
              </a:rPr>
              <a:t>Mohammed Abba-Aji, MBBS, MPH, DrPH · Washington University</a:t>
            </a:r>
            <a:r>
              <a:rPr lang="en-US" sz="1400" dirty="0">
                <a:solidFill>
                  <a:schemeClr val="bg1"/>
                </a:solidFill>
              </a:rPr>
              <a:t> Bursky School of Public Health</a:t>
            </a:r>
            <a:endParaRPr sz="1400" dirty="0">
              <a:solidFill>
                <a:schemeClr val="bg1"/>
              </a:solidFill>
            </a:endParaRPr>
          </a:p>
          <a:p>
            <a:r>
              <a:rPr sz="1300" dirty="0">
                <a:solidFill>
                  <a:schemeClr val="bg1"/>
                </a:solidFill>
              </a:rPr>
              <a:t>ISTSS 42nd Annual Meeting · San Antonio, TX · September 24, 2026</a:t>
            </a:r>
          </a:p>
        </p:txBody>
      </p:sp>
    </p:spTree>
    <p:extLst>
      <p:ext uri="{BB962C8B-B14F-4D97-AF65-F5344CB8AC3E}">
        <p14:creationId xmlns:p14="http://schemas.microsoft.com/office/powerpoint/2010/main" val="3095867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1808E-CCF4-3463-2FDA-3BA4D8F6B1F1}"/>
              </a:ext>
            </a:extLst>
          </p:cNvPr>
          <p:cNvSpPr>
            <a:spLocks noGrp="1"/>
          </p:cNvSpPr>
          <p:nvPr>
            <p:ph type="title"/>
          </p:nvPr>
        </p:nvSpPr>
        <p:spPr/>
        <p:txBody>
          <a:bodyPr>
            <a:normAutofit fontScale="90000"/>
          </a:bodyPr>
          <a:lstStyle/>
          <a:p>
            <a:pPr algn="ctr"/>
            <a:r>
              <a:rPr lang="en-US" sz="5600">
                <a:solidFill>
                  <a:schemeClr val="bg1"/>
                </a:solidFill>
                <a:ea typeface="+mj-lt"/>
                <a:cs typeface="+mj-lt"/>
              </a:rPr>
              <a:t>Continuing Medical Education Financial Disclosure </a:t>
            </a:r>
            <a:endParaRPr lang="en-US">
              <a:solidFill>
                <a:schemeClr val="bg1"/>
              </a:solidFill>
            </a:endParaRPr>
          </a:p>
        </p:txBody>
      </p:sp>
      <p:sp>
        <p:nvSpPr>
          <p:cNvPr id="3" name="Content Placeholder 2">
            <a:extLst>
              <a:ext uri="{FF2B5EF4-FFF2-40B4-BE49-F238E27FC236}">
                <a16:creationId xmlns:a16="http://schemas.microsoft.com/office/drawing/2014/main" id="{D81E43C8-B81F-911F-DFA1-9067AA2E8A2B}"/>
              </a:ext>
            </a:extLst>
          </p:cNvPr>
          <p:cNvSpPr>
            <a:spLocks noGrp="1"/>
          </p:cNvSpPr>
          <p:nvPr>
            <p:ph idx="1"/>
          </p:nvPr>
        </p:nvSpPr>
        <p:spPr/>
        <p:txBody>
          <a:bodyPr vert="horz" lIns="91440" tIns="45720" rIns="91440" bIns="45720" rtlCol="0" anchor="t">
            <a:normAutofit/>
          </a:bodyPr>
          <a:lstStyle/>
          <a:p>
            <a:pPr marL="0" indent="0">
              <a:lnSpc>
                <a:spcPct val="100000"/>
              </a:lnSpc>
              <a:spcBef>
                <a:spcPts val="0"/>
              </a:spcBef>
              <a:buNone/>
            </a:pPr>
            <a:r>
              <a:rPr lang="en-US" sz="2400" dirty="0" err="1">
                <a:solidFill>
                  <a:schemeClr val="bg1"/>
                </a:solidFill>
                <a:latin typeface="Avenir"/>
              </a:rPr>
              <a:t>Amedco</a:t>
            </a:r>
            <a:r>
              <a:rPr lang="en-US" sz="2400" dirty="0">
                <a:solidFill>
                  <a:schemeClr val="bg1"/>
                </a:solidFill>
                <a:latin typeface="Avenir"/>
              </a:rPr>
              <a:t>, our CME provider, asks that all individuals who have the ability to influence and/or control the content of this accredited activity disclose any/all relationships with ‎Ineligible Companies. </a:t>
            </a:r>
          </a:p>
          <a:p>
            <a:pPr marL="0" indent="0">
              <a:lnSpc>
                <a:spcPct val="100000"/>
              </a:lnSpc>
              <a:spcBef>
                <a:spcPts val="0"/>
              </a:spcBef>
              <a:buNone/>
            </a:pPr>
            <a:r>
              <a:rPr lang="en-US" sz="2400" dirty="0">
                <a:solidFill>
                  <a:schemeClr val="bg1"/>
                </a:solidFill>
                <a:latin typeface="Avenir"/>
              </a:rPr>
              <a:t>This information is disclosed to CME activity participants, and </a:t>
            </a:r>
            <a:r>
              <a:rPr lang="en-US" sz="2400" dirty="0" err="1">
                <a:solidFill>
                  <a:schemeClr val="bg1"/>
                </a:solidFill>
                <a:latin typeface="Avenir"/>
              </a:rPr>
              <a:t>Amedco</a:t>
            </a:r>
            <a:r>
              <a:rPr lang="en-US" sz="2400" dirty="0">
                <a:solidFill>
                  <a:schemeClr val="bg1"/>
                </a:solidFill>
                <a:latin typeface="Avenir"/>
              </a:rPr>
              <a:t> has procedures in place to resolve any apparent conflicts. In addition, presenters are asked to disclose when any discussion of unapproved use of pharmaceuticals and devices are being discussed. </a:t>
            </a:r>
          </a:p>
          <a:p>
            <a:pPr marL="0" indent="0">
              <a:lnSpc>
                <a:spcPct val="100000"/>
              </a:lnSpc>
              <a:spcBef>
                <a:spcPts val="0"/>
              </a:spcBef>
              <a:buNone/>
            </a:pPr>
            <a:endParaRPr lang="en-US" sz="2400" dirty="0">
              <a:solidFill>
                <a:schemeClr val="bg1"/>
              </a:solidFill>
              <a:latin typeface="Avenir"/>
              <a:ea typeface="Calibri"/>
              <a:cs typeface="Calibri"/>
            </a:endParaRPr>
          </a:p>
          <a:p>
            <a:pPr marL="0" indent="0">
              <a:lnSpc>
                <a:spcPct val="100000"/>
              </a:lnSpc>
              <a:spcBef>
                <a:spcPts val="0"/>
              </a:spcBef>
              <a:buNone/>
            </a:pPr>
            <a:r>
              <a:rPr lang="en-US" sz="2400" dirty="0">
                <a:solidFill>
                  <a:schemeClr val="bg1"/>
                </a:solidFill>
                <a:latin typeface="Avenir"/>
              </a:rPr>
              <a:t>In the past 24 months, I Mohammed Abba-Aji, have not had financial relationships with any ineligible companies. </a:t>
            </a:r>
          </a:p>
          <a:p>
            <a:pPr marL="0" indent="0">
              <a:lnSpc>
                <a:spcPct val="100000"/>
              </a:lnSpc>
              <a:spcBef>
                <a:spcPts val="0"/>
              </a:spcBef>
              <a:buNone/>
            </a:pPr>
            <a:endParaRPr lang="en-US" sz="2400" dirty="0">
              <a:solidFill>
                <a:schemeClr val="bg1"/>
              </a:solidFill>
              <a:latin typeface="Avenir"/>
              <a:ea typeface="Calibri"/>
              <a:cs typeface="Calibri"/>
            </a:endParaRPr>
          </a:p>
        </p:txBody>
      </p:sp>
    </p:spTree>
    <p:extLst>
      <p:ext uri="{BB962C8B-B14F-4D97-AF65-F5344CB8AC3E}">
        <p14:creationId xmlns:p14="http://schemas.microsoft.com/office/powerpoint/2010/main" val="355655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Background</a:t>
            </a:r>
          </a:p>
        </p:txBody>
      </p:sp>
      <p:sp>
        <p:nvSpPr>
          <p:cNvPr id="8" name="Content Placeholder 7">
            <a:extLst>
              <a:ext uri="{FF2B5EF4-FFF2-40B4-BE49-F238E27FC236}">
                <a16:creationId xmlns:a16="http://schemas.microsoft.com/office/drawing/2014/main" id="{69DF1F5E-E9C7-47B4-6889-190F2D712A81}"/>
              </a:ext>
            </a:extLst>
          </p:cNvPr>
          <p:cNvSpPr>
            <a:spLocks noGrp="1"/>
          </p:cNvSpPr>
          <p:nvPr>
            <p:ph idx="1"/>
          </p:nvPr>
        </p:nvSpPr>
        <p:spPr/>
        <p:txBody>
          <a:bodyPr/>
          <a:lstStyle/>
          <a:p>
            <a:pPr>
              <a:spcAft>
                <a:spcPts val="800"/>
              </a:spcAft>
            </a:pPr>
            <a:r>
              <a:rPr sz="1800"/>
              <a:t>Violence-exposed Nigerians carry two loads: traumatic events and daily socioeconomic stressors</a:t>
            </a:r>
            <a:endParaRPr lang="en-US"/>
          </a:p>
          <a:p>
            <a:pPr>
              <a:spcAft>
                <a:spcPts val="800"/>
              </a:spcAft>
            </a:pPr>
            <a:r>
              <a:rPr sz="1800"/>
              <a:t>Most humanitarian programming assumes the two add, so stress reduction helps everyone equally</a:t>
            </a:r>
          </a:p>
          <a:p>
            <a:pPr>
              <a:spcAft>
                <a:spcPts val="800"/>
              </a:spcAft>
            </a:pPr>
            <a:r>
              <a:rPr sz="1800"/>
              <a:t>Whether they add or interact decides who benefits from which intervention</a:t>
            </a:r>
          </a:p>
          <a:p>
            <a:pPr>
              <a:spcAft>
                <a:spcPts val="800"/>
              </a:spcAft>
            </a:pPr>
            <a:r>
              <a:rPr sz="1800"/>
              <a:t>Three accounts in the literature predict different answers</a:t>
            </a:r>
          </a:p>
        </p:txBody>
      </p:sp>
      <p:sp>
        <p:nvSpPr>
          <p:cNvPr id="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1484977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EBB3-989B-5B37-05F8-116FBD14FB9E}"/>
              </a:ext>
            </a:extLst>
          </p:cNvPr>
          <p:cNvSpPr>
            <a:spLocks noGrp="1"/>
          </p:cNvSpPr>
          <p:nvPr>
            <p:ph type="title"/>
          </p:nvPr>
        </p:nvSpPr>
        <p:spPr/>
        <p:txBody>
          <a:bodyPr/>
          <a:lstStyle/>
          <a:p>
            <a:r>
              <a:rPr lang="en-US"/>
              <a:t>Background: Building-Block Model</a:t>
            </a:r>
          </a:p>
        </p:txBody>
      </p:sp>
      <p:sp>
        <p:nvSpPr>
          <p:cNvPr id="201" name="R201"/>
          <p:cNvSpPr/>
          <p:nvPr/>
        </p:nvSpPr>
        <p:spPr>
          <a:xfrm>
            <a:off x="838200" y="1905000"/>
            <a:ext cx="5588000" cy="3937000"/>
          </a:xfrm>
          <a:prstGeom prst="roundRect">
            <a:avLst>
              <a:gd name="adj" fmla="val 3000"/>
            </a:avLst>
          </a:prstGeom>
          <a:solidFill>
            <a:srgbClr val="FFFFFF"/>
          </a:solidFill>
          <a:ln>
            <a:noFill/>
          </a:ln>
        </p:spPr>
        <p:txBody>
          <a:bodyPr/>
          <a:lstStyle/>
          <a:p>
            <a:endParaRPr/>
          </a:p>
        </p:txBody>
      </p:sp>
      <p:sp>
        <p:nvSpPr>
          <p:cNvPr id="202" name="T202"/>
          <p:cNvSpPr txBox="1"/>
          <p:nvPr/>
        </p:nvSpPr>
        <p:spPr>
          <a:xfrm>
            <a:off x="1143000" y="2082800"/>
            <a:ext cx="2540000" cy="279400"/>
          </a:xfrm>
          <a:prstGeom prst="rect">
            <a:avLst/>
          </a:prstGeom>
          <a:noFill/>
        </p:spPr>
        <p:txBody>
          <a:bodyPr wrap="square" lIns="0" tIns="0" rIns="0" bIns="0" anchor="t"/>
          <a:lstStyle/>
          <a:p>
            <a:pPr algn="l">
              <a:lnSpc>
                <a:spcPct val="130000"/>
              </a:lnSpc>
              <a:spcAft>
                <a:spcPts val="0"/>
              </a:spcAft>
              <a:buNone/>
            </a:pPr>
            <a:r>
              <a:rPr lang="en-US" sz="1400" dirty="0">
                <a:solidFill>
                  <a:srgbClr val="595959"/>
                </a:solidFill>
              </a:rPr>
              <a:t>Symptoms</a:t>
            </a:r>
          </a:p>
        </p:txBody>
      </p:sp>
      <p:sp>
        <p:nvSpPr>
          <p:cNvPr id="203" name="L203"/>
          <p:cNvSpPr/>
          <p:nvPr/>
        </p:nvSpPr>
        <p:spPr>
          <a:xfrm>
            <a:off x="1397000" y="2413000"/>
            <a:ext cx="6350" cy="2794000"/>
          </a:xfrm>
          <a:prstGeom prst="line">
            <a:avLst/>
          </a:prstGeom>
          <a:ln w="12700" cap="rnd">
            <a:solidFill>
              <a:srgbClr val="8C8C8C"/>
            </a:solidFill>
          </a:ln>
        </p:spPr>
        <p:txBody>
          <a:bodyPr/>
          <a:lstStyle/>
          <a:p>
            <a:endParaRPr/>
          </a:p>
        </p:txBody>
      </p:sp>
      <p:sp>
        <p:nvSpPr>
          <p:cNvPr id="204" name="L204"/>
          <p:cNvSpPr/>
          <p:nvPr/>
        </p:nvSpPr>
        <p:spPr>
          <a:xfrm>
            <a:off x="1397000" y="5207000"/>
            <a:ext cx="4699000" cy="6350"/>
          </a:xfrm>
          <a:prstGeom prst="line">
            <a:avLst/>
          </a:prstGeom>
          <a:ln w="12700" cap="rnd">
            <a:solidFill>
              <a:srgbClr val="8C8C8C"/>
            </a:solidFill>
          </a:ln>
        </p:spPr>
        <p:txBody>
          <a:bodyPr/>
          <a:lstStyle/>
          <a:p>
            <a:endParaRPr/>
          </a:p>
        </p:txBody>
      </p:sp>
      <p:sp>
        <p:nvSpPr>
          <p:cNvPr id="205" name="T205"/>
          <p:cNvSpPr txBox="1"/>
          <p:nvPr/>
        </p:nvSpPr>
        <p:spPr>
          <a:xfrm>
            <a:off x="1397000" y="5308600"/>
            <a:ext cx="3683000" cy="279400"/>
          </a:xfrm>
          <a:prstGeom prst="rect">
            <a:avLst/>
          </a:prstGeom>
          <a:noFill/>
        </p:spPr>
        <p:txBody>
          <a:bodyPr wrap="square" lIns="0" tIns="0" rIns="0" bIns="0" anchor="t"/>
          <a:lstStyle/>
          <a:p>
            <a:pPr algn="ctr">
              <a:lnSpc>
                <a:spcPct val="130000"/>
              </a:lnSpc>
              <a:spcAft>
                <a:spcPts val="0"/>
              </a:spcAft>
              <a:buNone/>
            </a:pPr>
            <a:r>
              <a:rPr lang="en-US" sz="1400" dirty="0">
                <a:solidFill>
                  <a:srgbClr val="595959"/>
                </a:solidFill>
              </a:rPr>
              <a:t>Daily stressors →</a:t>
            </a:r>
          </a:p>
        </p:txBody>
      </p:sp>
      <p:sp>
        <p:nvSpPr>
          <p:cNvPr id="206" name="L206"/>
          <p:cNvSpPr/>
          <p:nvPr/>
        </p:nvSpPr>
        <p:spPr>
          <a:xfrm flipV="1">
            <a:off x="1397000" y="4064000"/>
            <a:ext cx="3683000" cy="762000"/>
          </a:xfrm>
          <a:prstGeom prst="line">
            <a:avLst/>
          </a:prstGeom>
          <a:ln w="44450" cap="rnd">
            <a:solidFill>
              <a:srgbClr val="C8102E"/>
            </a:solidFill>
          </a:ln>
        </p:spPr>
        <p:txBody>
          <a:bodyPr/>
          <a:lstStyle/>
          <a:p>
            <a:endParaRPr/>
          </a:p>
        </p:txBody>
      </p:sp>
      <p:sp>
        <p:nvSpPr>
          <p:cNvPr id="207" name="L207"/>
          <p:cNvSpPr/>
          <p:nvPr/>
        </p:nvSpPr>
        <p:spPr>
          <a:xfrm flipV="1">
            <a:off x="1397000" y="3302000"/>
            <a:ext cx="3683000" cy="762000"/>
          </a:xfrm>
          <a:prstGeom prst="line">
            <a:avLst/>
          </a:prstGeom>
          <a:ln w="44450" cap="rnd">
            <a:solidFill>
              <a:srgbClr val="1E3A5C"/>
            </a:solidFill>
          </a:ln>
        </p:spPr>
        <p:txBody>
          <a:bodyPr/>
          <a:lstStyle/>
          <a:p>
            <a:endParaRPr/>
          </a:p>
        </p:txBody>
      </p:sp>
      <p:sp>
        <p:nvSpPr>
          <p:cNvPr id="208" name="T208"/>
          <p:cNvSpPr txBox="1"/>
          <p:nvPr/>
        </p:nvSpPr>
        <p:spPr>
          <a:xfrm>
            <a:off x="4191000" y="2082800"/>
            <a:ext cx="9906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No trauma</a:t>
            </a:r>
          </a:p>
        </p:txBody>
      </p:sp>
      <p:sp>
        <p:nvSpPr>
          <p:cNvPr id="209" name="T209"/>
          <p:cNvSpPr txBox="1"/>
          <p:nvPr/>
        </p:nvSpPr>
        <p:spPr>
          <a:xfrm>
            <a:off x="5537200" y="2082800"/>
            <a:ext cx="8382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Trauma</a:t>
            </a:r>
          </a:p>
        </p:txBody>
      </p:sp>
      <p:sp>
        <p:nvSpPr>
          <p:cNvPr id="210" name="T210"/>
          <p:cNvSpPr txBox="1"/>
          <p:nvPr/>
        </p:nvSpPr>
        <p:spPr>
          <a:xfrm>
            <a:off x="6807200" y="1905000"/>
            <a:ext cx="4546600" cy="3556000"/>
          </a:xfrm>
          <a:prstGeom prst="rect">
            <a:avLst/>
          </a:prstGeom>
          <a:noFill/>
        </p:spPr>
        <p:txBody>
          <a:bodyPr wrap="square" lIns="0" tIns="0" rIns="0" bIns="0" anchor="t"/>
          <a:lstStyle/>
          <a:p>
            <a:pPr algn="l">
              <a:lnSpc>
                <a:spcPct val="130000"/>
              </a:lnSpc>
              <a:spcAft>
                <a:spcPts val="1200"/>
              </a:spcAft>
              <a:buNone/>
            </a:pPr>
            <a:r>
              <a:rPr lang="en-US" sz="2000" dirty="0">
                <a:solidFill>
                  <a:srgbClr val="FFFFFF"/>
                </a:solidFill>
              </a:rPr>
              <a:t>Trauma and daily stressors raise symptoms independently</a:t>
            </a:r>
          </a:p>
          <a:p>
            <a:pPr algn="l">
              <a:lnSpc>
                <a:spcPct val="130000"/>
              </a:lnSpc>
              <a:spcAft>
                <a:spcPts val="1200"/>
              </a:spcAft>
              <a:buNone/>
            </a:pPr>
            <a:r>
              <a:rPr lang="en-US" sz="2000" dirty="0">
                <a:solidFill>
                  <a:srgbClr val="FFFFFF"/>
                </a:solidFill>
              </a:rPr>
              <a:t>S</a:t>
            </a:r>
            <a:r>
              <a:rPr lang="en-US" sz="1600" dirty="0">
                <a:solidFill>
                  <a:srgbClr val="D9D9D9"/>
                </a:solidFill>
              </a:rPr>
              <a:t>tress reduction helps everyone equally</a:t>
            </a:r>
          </a:p>
        </p:txBody>
      </p:sp>
      <p:sp>
        <p:nvSpPr>
          <p:cNvPr id="211" name="T211"/>
          <p:cNvSpPr txBox="1"/>
          <p:nvPr/>
        </p:nvSpPr>
        <p:spPr>
          <a:xfrm>
            <a:off x="6807200" y="5537200"/>
            <a:ext cx="4546600" cy="304800"/>
          </a:xfrm>
          <a:prstGeom prst="rect">
            <a:avLst/>
          </a:prstGeom>
          <a:noFill/>
        </p:spPr>
        <p:txBody>
          <a:bodyPr wrap="square" lIns="0" tIns="0" rIns="0" bIns="0" anchor="t"/>
          <a:lstStyle/>
          <a:p>
            <a:pPr algn="l">
              <a:lnSpc>
                <a:spcPct val="130000"/>
              </a:lnSpc>
              <a:spcAft>
                <a:spcPts val="0"/>
              </a:spcAft>
              <a:buNone/>
            </a:pPr>
            <a:r>
              <a:rPr lang="en-US" sz="1400" dirty="0">
                <a:solidFill>
                  <a:srgbClr val="D9D9D9"/>
                </a:solidFill>
              </a:rPr>
              <a:t>Miller &amp; Rasmussen, 2010</a:t>
            </a:r>
          </a:p>
        </p:txBody>
      </p:sp>
      <p:cxnSp>
        <p:nvCxnSpPr>
          <p:cNvPr id="212" name="Legend swatch 212"/>
          <p:cNvCxnSpPr/>
          <p:nvPr/>
        </p:nvCxnSpPr>
        <p:spPr>
          <a:xfrm>
            <a:off x="3860800" y="2222500"/>
            <a:ext cx="254000" cy="0"/>
          </a:xfrm>
          <a:prstGeom prst="line">
            <a:avLst/>
          </a:prstGeom>
          <a:ln w="44450" cap="rnd">
            <a:solidFill>
              <a:srgbClr val="C8102E"/>
            </a:solidFill>
          </a:ln>
        </p:spPr>
      </p:cxnSp>
      <p:cxnSp>
        <p:nvCxnSpPr>
          <p:cNvPr id="213" name="Legend swatch 213"/>
          <p:cNvCxnSpPr/>
          <p:nvPr/>
        </p:nvCxnSpPr>
        <p:spPr>
          <a:xfrm>
            <a:off x="5207000" y="2222500"/>
            <a:ext cx="254000" cy="0"/>
          </a:xfrm>
          <a:prstGeom prst="line">
            <a:avLst/>
          </a:prstGeom>
          <a:ln w="44450" cap="rnd">
            <a:solidFill>
              <a:srgbClr val="1E3A5C"/>
            </a:solidFill>
          </a:ln>
        </p:spPr>
      </p:cxnSp>
      <p:sp>
        <p:nvSpPr>
          <p:cNvPr id="21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305171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left)">
                                      <p:cBhvr>
                                        <p:cTn id="7" dur="2500"/>
                                        <p:tgtEl>
                                          <p:spTgt spid="20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7"/>
                                        </p:tgtEl>
                                        <p:attrNameLst>
                                          <p:attrName>style.visibility</p:attrName>
                                        </p:attrNameLst>
                                      </p:cBhvr>
                                      <p:to>
                                        <p:strVal val="visible"/>
                                      </p:to>
                                    </p:set>
                                    <p:animEffect transition="in" filter="wipe(left)">
                                      <p:cBhvr>
                                        <p:cTn id="10" dur="2500"/>
                                        <p:tgtEl>
                                          <p:spTgt spid="20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0"/>
                                        </p:tgtEl>
                                        <p:attrNameLst>
                                          <p:attrName>style.visibility</p:attrName>
                                        </p:attrNameLst>
                                      </p:cBhvr>
                                      <p:to>
                                        <p:strVal val="visible"/>
                                      </p:to>
                                    </p:set>
                                    <p:animEffect transition="in" filter="fade">
                                      <p:cBhvr>
                                        <p:cTn id="15" dur="500"/>
                                        <p:tgtEl>
                                          <p:spTgt spid="2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1"/>
                                        </p:tgtEl>
                                        <p:attrNameLst>
                                          <p:attrName>style.visibility</p:attrName>
                                        </p:attrNameLst>
                                      </p:cBhvr>
                                      <p:to>
                                        <p:strVal val="visible"/>
                                      </p:to>
                                    </p:set>
                                    <p:animEffect transition="in" filter="fade">
                                      <p:cBhvr>
                                        <p:cTn id="1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0" grpId="0"/>
      <p:bldP spid="2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EBB3-989B-5B37-05F8-116FBD14FB9E}"/>
              </a:ext>
            </a:extLst>
          </p:cNvPr>
          <p:cNvSpPr>
            <a:spLocks noGrp="1"/>
          </p:cNvSpPr>
          <p:nvPr>
            <p:ph type="title"/>
          </p:nvPr>
        </p:nvSpPr>
        <p:spPr/>
        <p:txBody>
          <a:bodyPr/>
          <a:lstStyle/>
          <a:p>
            <a:r>
              <a:rPr lang="en-US"/>
              <a:t>Background: Stress Sensitization</a:t>
            </a:r>
          </a:p>
        </p:txBody>
      </p:sp>
      <p:sp>
        <p:nvSpPr>
          <p:cNvPr id="201" name="R201"/>
          <p:cNvSpPr/>
          <p:nvPr/>
        </p:nvSpPr>
        <p:spPr>
          <a:xfrm>
            <a:off x="838200" y="1905000"/>
            <a:ext cx="5588000" cy="3937000"/>
          </a:xfrm>
          <a:prstGeom prst="roundRect">
            <a:avLst>
              <a:gd name="adj" fmla="val 3000"/>
            </a:avLst>
          </a:prstGeom>
          <a:solidFill>
            <a:srgbClr val="FFFFFF"/>
          </a:solidFill>
          <a:ln>
            <a:noFill/>
          </a:ln>
        </p:spPr>
        <p:txBody>
          <a:bodyPr/>
          <a:lstStyle/>
          <a:p>
            <a:endParaRPr/>
          </a:p>
        </p:txBody>
      </p:sp>
      <p:sp>
        <p:nvSpPr>
          <p:cNvPr id="202" name="T202"/>
          <p:cNvSpPr txBox="1"/>
          <p:nvPr/>
        </p:nvSpPr>
        <p:spPr>
          <a:xfrm>
            <a:off x="1143000" y="2082800"/>
            <a:ext cx="2540000" cy="279400"/>
          </a:xfrm>
          <a:prstGeom prst="rect">
            <a:avLst/>
          </a:prstGeom>
          <a:noFill/>
        </p:spPr>
        <p:txBody>
          <a:bodyPr wrap="square" lIns="0" tIns="0" rIns="0" bIns="0" anchor="t"/>
          <a:lstStyle/>
          <a:p>
            <a:pPr algn="l">
              <a:lnSpc>
                <a:spcPct val="130000"/>
              </a:lnSpc>
              <a:spcAft>
                <a:spcPts val="0"/>
              </a:spcAft>
              <a:buNone/>
            </a:pPr>
            <a:r>
              <a:rPr lang="en-US" sz="1400" dirty="0">
                <a:solidFill>
                  <a:srgbClr val="595959"/>
                </a:solidFill>
              </a:rPr>
              <a:t>Symptoms</a:t>
            </a:r>
          </a:p>
        </p:txBody>
      </p:sp>
      <p:sp>
        <p:nvSpPr>
          <p:cNvPr id="203" name="L203"/>
          <p:cNvSpPr/>
          <p:nvPr/>
        </p:nvSpPr>
        <p:spPr>
          <a:xfrm>
            <a:off x="1397000" y="2413000"/>
            <a:ext cx="6350" cy="2794000"/>
          </a:xfrm>
          <a:prstGeom prst="line">
            <a:avLst/>
          </a:prstGeom>
          <a:ln w="12700" cap="rnd">
            <a:solidFill>
              <a:srgbClr val="8C8C8C"/>
            </a:solidFill>
          </a:ln>
        </p:spPr>
        <p:txBody>
          <a:bodyPr/>
          <a:lstStyle/>
          <a:p>
            <a:endParaRPr/>
          </a:p>
        </p:txBody>
      </p:sp>
      <p:sp>
        <p:nvSpPr>
          <p:cNvPr id="204" name="L204"/>
          <p:cNvSpPr/>
          <p:nvPr/>
        </p:nvSpPr>
        <p:spPr>
          <a:xfrm>
            <a:off x="1397000" y="5207000"/>
            <a:ext cx="4699000" cy="6350"/>
          </a:xfrm>
          <a:prstGeom prst="line">
            <a:avLst/>
          </a:prstGeom>
          <a:ln w="12700" cap="rnd">
            <a:solidFill>
              <a:srgbClr val="8C8C8C"/>
            </a:solidFill>
          </a:ln>
        </p:spPr>
        <p:txBody>
          <a:bodyPr/>
          <a:lstStyle/>
          <a:p>
            <a:endParaRPr/>
          </a:p>
        </p:txBody>
      </p:sp>
      <p:sp>
        <p:nvSpPr>
          <p:cNvPr id="205" name="T205"/>
          <p:cNvSpPr txBox="1"/>
          <p:nvPr/>
        </p:nvSpPr>
        <p:spPr>
          <a:xfrm>
            <a:off x="1397000" y="5308600"/>
            <a:ext cx="3683000" cy="279400"/>
          </a:xfrm>
          <a:prstGeom prst="rect">
            <a:avLst/>
          </a:prstGeom>
          <a:noFill/>
        </p:spPr>
        <p:txBody>
          <a:bodyPr wrap="square" lIns="0" tIns="0" rIns="0" bIns="0" anchor="t"/>
          <a:lstStyle/>
          <a:p>
            <a:pPr algn="ctr">
              <a:lnSpc>
                <a:spcPct val="130000"/>
              </a:lnSpc>
              <a:spcAft>
                <a:spcPts val="0"/>
              </a:spcAft>
              <a:buNone/>
            </a:pPr>
            <a:r>
              <a:rPr lang="en-US" sz="1400" dirty="0">
                <a:solidFill>
                  <a:srgbClr val="595959"/>
                </a:solidFill>
              </a:rPr>
              <a:t>Daily stressors →</a:t>
            </a:r>
          </a:p>
        </p:txBody>
      </p:sp>
      <p:sp>
        <p:nvSpPr>
          <p:cNvPr id="206" name="L206"/>
          <p:cNvSpPr/>
          <p:nvPr/>
        </p:nvSpPr>
        <p:spPr>
          <a:xfrm flipV="1">
            <a:off x="1397000" y="4445000"/>
            <a:ext cx="3683000" cy="381000"/>
          </a:xfrm>
          <a:prstGeom prst="line">
            <a:avLst/>
          </a:prstGeom>
          <a:ln w="44450" cap="rnd">
            <a:solidFill>
              <a:srgbClr val="C8102E"/>
            </a:solidFill>
          </a:ln>
        </p:spPr>
        <p:txBody>
          <a:bodyPr/>
          <a:lstStyle/>
          <a:p>
            <a:endParaRPr/>
          </a:p>
        </p:txBody>
      </p:sp>
      <p:sp>
        <p:nvSpPr>
          <p:cNvPr id="207" name="L207"/>
          <p:cNvSpPr/>
          <p:nvPr/>
        </p:nvSpPr>
        <p:spPr>
          <a:xfrm flipV="1">
            <a:off x="1397000" y="2603500"/>
            <a:ext cx="3683000" cy="2095500"/>
          </a:xfrm>
          <a:prstGeom prst="line">
            <a:avLst/>
          </a:prstGeom>
          <a:ln w="44450" cap="rnd">
            <a:solidFill>
              <a:srgbClr val="1E3A5C"/>
            </a:solidFill>
          </a:ln>
        </p:spPr>
        <p:txBody>
          <a:bodyPr/>
          <a:lstStyle/>
          <a:p>
            <a:endParaRPr/>
          </a:p>
        </p:txBody>
      </p:sp>
      <p:sp>
        <p:nvSpPr>
          <p:cNvPr id="208" name="T208"/>
          <p:cNvSpPr txBox="1"/>
          <p:nvPr/>
        </p:nvSpPr>
        <p:spPr>
          <a:xfrm>
            <a:off x="4191000" y="2082800"/>
            <a:ext cx="9906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No trauma</a:t>
            </a:r>
          </a:p>
        </p:txBody>
      </p:sp>
      <p:sp>
        <p:nvSpPr>
          <p:cNvPr id="209" name="T209"/>
          <p:cNvSpPr txBox="1"/>
          <p:nvPr/>
        </p:nvSpPr>
        <p:spPr>
          <a:xfrm>
            <a:off x="5537200" y="2082800"/>
            <a:ext cx="8382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Trauma</a:t>
            </a:r>
          </a:p>
        </p:txBody>
      </p:sp>
      <p:sp>
        <p:nvSpPr>
          <p:cNvPr id="210" name="T210"/>
          <p:cNvSpPr txBox="1"/>
          <p:nvPr/>
        </p:nvSpPr>
        <p:spPr>
          <a:xfrm>
            <a:off x="6731000" y="2174329"/>
            <a:ext cx="5126220" cy="1325563"/>
          </a:xfrm>
          <a:prstGeom prst="rect">
            <a:avLst/>
          </a:prstGeom>
          <a:noFill/>
        </p:spPr>
        <p:txBody>
          <a:bodyPr wrap="square" lIns="0" tIns="0" rIns="0" bIns="0" anchor="t"/>
          <a:lstStyle/>
          <a:p>
            <a:pPr algn="l">
              <a:lnSpc>
                <a:spcPct val="130000"/>
              </a:lnSpc>
              <a:spcAft>
                <a:spcPts val="1200"/>
              </a:spcAft>
              <a:buNone/>
            </a:pPr>
            <a:r>
              <a:rPr lang="en-US" sz="2000" dirty="0">
                <a:solidFill>
                  <a:srgbClr val="FFFFFF"/>
                </a:solidFill>
              </a:rPr>
              <a:t>Trauma amplifies reactivity to later stress</a:t>
            </a:r>
          </a:p>
          <a:p>
            <a:pPr algn="l">
              <a:lnSpc>
                <a:spcPct val="130000"/>
              </a:lnSpc>
              <a:spcAft>
                <a:spcPts val="900"/>
              </a:spcAft>
              <a:buNone/>
            </a:pPr>
            <a:r>
              <a:rPr lang="en-US" sz="1600" dirty="0">
                <a:solidFill>
                  <a:srgbClr val="D9D9D9"/>
                </a:solidFill>
              </a:rPr>
              <a:t>Stress reduction would do the most good for the most exposed</a:t>
            </a:r>
          </a:p>
        </p:txBody>
      </p:sp>
      <p:sp>
        <p:nvSpPr>
          <p:cNvPr id="211" name="T211"/>
          <p:cNvSpPr txBox="1"/>
          <p:nvPr/>
        </p:nvSpPr>
        <p:spPr>
          <a:xfrm>
            <a:off x="6807200" y="5537200"/>
            <a:ext cx="4546600" cy="304800"/>
          </a:xfrm>
          <a:prstGeom prst="rect">
            <a:avLst/>
          </a:prstGeom>
          <a:noFill/>
        </p:spPr>
        <p:txBody>
          <a:bodyPr wrap="square" lIns="0" tIns="0" rIns="0" bIns="0" anchor="t"/>
          <a:lstStyle/>
          <a:p>
            <a:pPr algn="l">
              <a:lnSpc>
                <a:spcPct val="130000"/>
              </a:lnSpc>
              <a:spcAft>
                <a:spcPts val="0"/>
              </a:spcAft>
              <a:buNone/>
            </a:pPr>
            <a:r>
              <a:rPr lang="en-US" sz="1400" dirty="0">
                <a:solidFill>
                  <a:srgbClr val="D9D9D9"/>
                </a:solidFill>
              </a:rPr>
              <a:t>Hammen, 2005; McLaughlin et al., 2010</a:t>
            </a:r>
          </a:p>
        </p:txBody>
      </p:sp>
      <p:cxnSp>
        <p:nvCxnSpPr>
          <p:cNvPr id="212" name="Legend swatch 212"/>
          <p:cNvCxnSpPr/>
          <p:nvPr/>
        </p:nvCxnSpPr>
        <p:spPr>
          <a:xfrm>
            <a:off x="3860800" y="2222500"/>
            <a:ext cx="254000" cy="0"/>
          </a:xfrm>
          <a:prstGeom prst="line">
            <a:avLst/>
          </a:prstGeom>
          <a:ln w="44450" cap="rnd">
            <a:solidFill>
              <a:srgbClr val="C8102E"/>
            </a:solidFill>
          </a:ln>
        </p:spPr>
      </p:cxnSp>
      <p:cxnSp>
        <p:nvCxnSpPr>
          <p:cNvPr id="213" name="Legend swatch 213"/>
          <p:cNvCxnSpPr/>
          <p:nvPr/>
        </p:nvCxnSpPr>
        <p:spPr>
          <a:xfrm>
            <a:off x="5207000" y="2222500"/>
            <a:ext cx="254000" cy="0"/>
          </a:xfrm>
          <a:prstGeom prst="line">
            <a:avLst/>
          </a:prstGeom>
          <a:ln w="44450" cap="rnd">
            <a:solidFill>
              <a:srgbClr val="1E3A5C"/>
            </a:solidFill>
          </a:ln>
        </p:spPr>
      </p:cxnSp>
      <p:sp>
        <p:nvSpPr>
          <p:cNvPr id="21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2706503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left)">
                                      <p:cBhvr>
                                        <p:cTn id="7" dur="2500"/>
                                        <p:tgtEl>
                                          <p:spTgt spid="20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7"/>
                                        </p:tgtEl>
                                        <p:attrNameLst>
                                          <p:attrName>style.visibility</p:attrName>
                                        </p:attrNameLst>
                                      </p:cBhvr>
                                      <p:to>
                                        <p:strVal val="visible"/>
                                      </p:to>
                                    </p:set>
                                    <p:animEffect transition="in" filter="wipe(left)">
                                      <p:cBhvr>
                                        <p:cTn id="10" dur="2500"/>
                                        <p:tgtEl>
                                          <p:spTgt spid="20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0"/>
                                        </p:tgtEl>
                                        <p:attrNameLst>
                                          <p:attrName>style.visibility</p:attrName>
                                        </p:attrNameLst>
                                      </p:cBhvr>
                                      <p:to>
                                        <p:strVal val="visible"/>
                                      </p:to>
                                    </p:set>
                                    <p:animEffect transition="in" filter="fade">
                                      <p:cBhvr>
                                        <p:cTn id="15" dur="500"/>
                                        <p:tgtEl>
                                          <p:spTgt spid="2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1"/>
                                        </p:tgtEl>
                                        <p:attrNameLst>
                                          <p:attrName>style.visibility</p:attrName>
                                        </p:attrNameLst>
                                      </p:cBhvr>
                                      <p:to>
                                        <p:strVal val="visible"/>
                                      </p:to>
                                    </p:set>
                                    <p:animEffect transition="in" filter="fade">
                                      <p:cBhvr>
                                        <p:cTn id="1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0" grpId="0"/>
      <p:bldP spid="2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EEBB3-989B-5B37-05F8-116FBD14FB9E}"/>
              </a:ext>
            </a:extLst>
          </p:cNvPr>
          <p:cNvSpPr>
            <a:spLocks noGrp="1"/>
          </p:cNvSpPr>
          <p:nvPr>
            <p:ph type="title"/>
          </p:nvPr>
        </p:nvSpPr>
        <p:spPr/>
        <p:txBody>
          <a:bodyPr/>
          <a:lstStyle/>
          <a:p>
            <a:r>
              <a:rPr lang="en-US"/>
              <a:t>Rationale: Saturation, Never Formally Tested</a:t>
            </a:r>
          </a:p>
        </p:txBody>
      </p:sp>
      <p:sp>
        <p:nvSpPr>
          <p:cNvPr id="201" name="R201"/>
          <p:cNvSpPr/>
          <p:nvPr/>
        </p:nvSpPr>
        <p:spPr>
          <a:xfrm>
            <a:off x="838200" y="1905000"/>
            <a:ext cx="5588000" cy="3937000"/>
          </a:xfrm>
          <a:prstGeom prst="roundRect">
            <a:avLst>
              <a:gd name="adj" fmla="val 3000"/>
            </a:avLst>
          </a:prstGeom>
          <a:solidFill>
            <a:srgbClr val="FFFFFF"/>
          </a:solidFill>
          <a:ln>
            <a:noFill/>
          </a:ln>
        </p:spPr>
        <p:txBody>
          <a:bodyPr/>
          <a:lstStyle/>
          <a:p>
            <a:endParaRPr/>
          </a:p>
        </p:txBody>
      </p:sp>
      <p:sp>
        <p:nvSpPr>
          <p:cNvPr id="202" name="T202"/>
          <p:cNvSpPr txBox="1"/>
          <p:nvPr/>
        </p:nvSpPr>
        <p:spPr>
          <a:xfrm>
            <a:off x="1143000" y="2082800"/>
            <a:ext cx="2540000" cy="279400"/>
          </a:xfrm>
          <a:prstGeom prst="rect">
            <a:avLst/>
          </a:prstGeom>
          <a:noFill/>
        </p:spPr>
        <p:txBody>
          <a:bodyPr wrap="square" lIns="0" tIns="0" rIns="0" bIns="0" anchor="t"/>
          <a:lstStyle/>
          <a:p>
            <a:pPr algn="l">
              <a:lnSpc>
                <a:spcPct val="130000"/>
              </a:lnSpc>
              <a:spcAft>
                <a:spcPts val="0"/>
              </a:spcAft>
              <a:buNone/>
            </a:pPr>
            <a:r>
              <a:rPr lang="en-US" sz="1400" dirty="0">
                <a:solidFill>
                  <a:srgbClr val="595959"/>
                </a:solidFill>
              </a:rPr>
              <a:t>Symptoms</a:t>
            </a:r>
          </a:p>
        </p:txBody>
      </p:sp>
      <p:sp>
        <p:nvSpPr>
          <p:cNvPr id="203" name="L203"/>
          <p:cNvSpPr/>
          <p:nvPr/>
        </p:nvSpPr>
        <p:spPr>
          <a:xfrm>
            <a:off x="1397000" y="2413000"/>
            <a:ext cx="6350" cy="2794000"/>
          </a:xfrm>
          <a:prstGeom prst="line">
            <a:avLst/>
          </a:prstGeom>
          <a:ln w="12700" cap="rnd">
            <a:solidFill>
              <a:srgbClr val="8C8C8C"/>
            </a:solidFill>
          </a:ln>
        </p:spPr>
        <p:txBody>
          <a:bodyPr/>
          <a:lstStyle/>
          <a:p>
            <a:endParaRPr/>
          </a:p>
        </p:txBody>
      </p:sp>
      <p:sp>
        <p:nvSpPr>
          <p:cNvPr id="204" name="L204"/>
          <p:cNvSpPr/>
          <p:nvPr/>
        </p:nvSpPr>
        <p:spPr>
          <a:xfrm>
            <a:off x="1397000" y="5207000"/>
            <a:ext cx="4699000" cy="6350"/>
          </a:xfrm>
          <a:prstGeom prst="line">
            <a:avLst/>
          </a:prstGeom>
          <a:ln w="12700" cap="rnd">
            <a:solidFill>
              <a:srgbClr val="8C8C8C"/>
            </a:solidFill>
          </a:ln>
        </p:spPr>
        <p:txBody>
          <a:bodyPr/>
          <a:lstStyle/>
          <a:p>
            <a:endParaRPr/>
          </a:p>
        </p:txBody>
      </p:sp>
      <p:sp>
        <p:nvSpPr>
          <p:cNvPr id="205" name="T205"/>
          <p:cNvSpPr txBox="1"/>
          <p:nvPr/>
        </p:nvSpPr>
        <p:spPr>
          <a:xfrm>
            <a:off x="1397000" y="5308600"/>
            <a:ext cx="3683000" cy="279400"/>
          </a:xfrm>
          <a:prstGeom prst="rect">
            <a:avLst/>
          </a:prstGeom>
          <a:noFill/>
        </p:spPr>
        <p:txBody>
          <a:bodyPr wrap="square" lIns="0" tIns="0" rIns="0" bIns="0" anchor="t"/>
          <a:lstStyle/>
          <a:p>
            <a:pPr algn="ctr">
              <a:lnSpc>
                <a:spcPct val="130000"/>
              </a:lnSpc>
              <a:spcAft>
                <a:spcPts val="0"/>
              </a:spcAft>
              <a:buNone/>
            </a:pPr>
            <a:r>
              <a:rPr lang="en-US" sz="1400" dirty="0">
                <a:solidFill>
                  <a:srgbClr val="595959"/>
                </a:solidFill>
              </a:rPr>
              <a:t>Daily stressors →</a:t>
            </a:r>
          </a:p>
        </p:txBody>
      </p:sp>
      <p:sp>
        <p:nvSpPr>
          <p:cNvPr id="206" name="L206"/>
          <p:cNvSpPr/>
          <p:nvPr/>
        </p:nvSpPr>
        <p:spPr>
          <a:xfrm flipV="1">
            <a:off x="1397000" y="2730500"/>
            <a:ext cx="3683000" cy="2095500"/>
          </a:xfrm>
          <a:prstGeom prst="line">
            <a:avLst/>
          </a:prstGeom>
          <a:ln w="44450" cap="rnd">
            <a:solidFill>
              <a:srgbClr val="C8102E"/>
            </a:solidFill>
          </a:ln>
        </p:spPr>
        <p:txBody>
          <a:bodyPr/>
          <a:lstStyle/>
          <a:p>
            <a:endParaRPr/>
          </a:p>
        </p:txBody>
      </p:sp>
      <p:sp>
        <p:nvSpPr>
          <p:cNvPr id="207" name="L207"/>
          <p:cNvSpPr/>
          <p:nvPr/>
        </p:nvSpPr>
        <p:spPr>
          <a:xfrm flipV="1">
            <a:off x="1397000" y="3327400"/>
            <a:ext cx="3683000" cy="76200"/>
          </a:xfrm>
          <a:prstGeom prst="line">
            <a:avLst/>
          </a:prstGeom>
          <a:ln w="44450" cap="rnd">
            <a:solidFill>
              <a:srgbClr val="1E3A5C"/>
            </a:solidFill>
          </a:ln>
        </p:spPr>
        <p:txBody>
          <a:bodyPr/>
          <a:lstStyle/>
          <a:p>
            <a:endParaRPr/>
          </a:p>
        </p:txBody>
      </p:sp>
      <p:sp>
        <p:nvSpPr>
          <p:cNvPr id="208" name="T208"/>
          <p:cNvSpPr txBox="1"/>
          <p:nvPr/>
        </p:nvSpPr>
        <p:spPr>
          <a:xfrm>
            <a:off x="4191000" y="2082800"/>
            <a:ext cx="9906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No trauma</a:t>
            </a:r>
          </a:p>
        </p:txBody>
      </p:sp>
      <p:sp>
        <p:nvSpPr>
          <p:cNvPr id="209" name="T209"/>
          <p:cNvSpPr txBox="1"/>
          <p:nvPr/>
        </p:nvSpPr>
        <p:spPr>
          <a:xfrm>
            <a:off x="5537200" y="2082800"/>
            <a:ext cx="838200" cy="279400"/>
          </a:xfrm>
          <a:prstGeom prst="rect">
            <a:avLst/>
          </a:prstGeom>
          <a:noFill/>
        </p:spPr>
        <p:txBody>
          <a:bodyPr wrap="square" lIns="0" tIns="0" rIns="0" bIns="0" anchor="ctr"/>
          <a:lstStyle/>
          <a:p>
            <a:pPr algn="l">
              <a:lnSpc>
                <a:spcPct val="130000"/>
              </a:lnSpc>
              <a:spcAft>
                <a:spcPts val="0"/>
              </a:spcAft>
              <a:buNone/>
            </a:pPr>
            <a:r>
              <a:rPr lang="en-US" sz="1400" dirty="0">
                <a:solidFill>
                  <a:srgbClr val="262626"/>
                </a:solidFill>
              </a:rPr>
              <a:t>Trauma</a:t>
            </a:r>
          </a:p>
        </p:txBody>
      </p:sp>
      <p:sp>
        <p:nvSpPr>
          <p:cNvPr id="210" name="T210"/>
          <p:cNvSpPr txBox="1"/>
          <p:nvPr/>
        </p:nvSpPr>
        <p:spPr>
          <a:xfrm>
            <a:off x="6807200" y="1905000"/>
            <a:ext cx="4546600" cy="3556000"/>
          </a:xfrm>
          <a:prstGeom prst="rect">
            <a:avLst/>
          </a:prstGeom>
          <a:noFill/>
        </p:spPr>
        <p:txBody>
          <a:bodyPr wrap="square" lIns="0" tIns="0" rIns="0" bIns="0" anchor="t"/>
          <a:lstStyle/>
          <a:p>
            <a:pPr algn="l">
              <a:lnSpc>
                <a:spcPct val="130000"/>
              </a:lnSpc>
              <a:spcAft>
                <a:spcPts val="1200"/>
              </a:spcAft>
              <a:buNone/>
            </a:pPr>
            <a:r>
              <a:rPr lang="en-US" sz="2000" dirty="0">
                <a:solidFill>
                  <a:srgbClr val="FFFFFF"/>
                </a:solidFill>
              </a:rPr>
              <a:t>Stress sensitivity diminishes at high trauma exposure</a:t>
            </a:r>
          </a:p>
          <a:p>
            <a:pPr algn="l">
              <a:lnSpc>
                <a:spcPct val="130000"/>
              </a:lnSpc>
              <a:spcAft>
                <a:spcPts val="900"/>
              </a:spcAft>
              <a:buNone/>
            </a:pPr>
            <a:r>
              <a:rPr lang="en-US" sz="1600" dirty="0">
                <a:solidFill>
                  <a:srgbClr val="D9D9D9"/>
                </a:solidFill>
              </a:rPr>
              <a:t>Never formally tested: the shape of the interaction, multiple outcomes, an African conflict setting</a:t>
            </a:r>
          </a:p>
        </p:txBody>
      </p:sp>
      <p:sp>
        <p:nvSpPr>
          <p:cNvPr id="211" name="T211"/>
          <p:cNvSpPr txBox="1"/>
          <p:nvPr/>
        </p:nvSpPr>
        <p:spPr>
          <a:xfrm>
            <a:off x="6807200" y="5537200"/>
            <a:ext cx="4546600" cy="304800"/>
          </a:xfrm>
          <a:prstGeom prst="rect">
            <a:avLst/>
          </a:prstGeom>
          <a:noFill/>
        </p:spPr>
        <p:txBody>
          <a:bodyPr wrap="square" lIns="0" tIns="0" rIns="0" bIns="0" anchor="t"/>
          <a:lstStyle/>
          <a:p>
            <a:pPr algn="l">
              <a:lnSpc>
                <a:spcPct val="130000"/>
              </a:lnSpc>
              <a:spcAft>
                <a:spcPts val="0"/>
              </a:spcAft>
              <a:buNone/>
            </a:pPr>
            <a:r>
              <a:rPr lang="en-US" sz="1400" dirty="0">
                <a:solidFill>
                  <a:srgbClr val="D9D9D9"/>
                </a:solidFill>
              </a:rPr>
              <a:t>Hou et al., 2020; Scharpf et al., 2021</a:t>
            </a:r>
          </a:p>
        </p:txBody>
      </p:sp>
      <p:cxnSp>
        <p:nvCxnSpPr>
          <p:cNvPr id="212" name="Legend swatch 212"/>
          <p:cNvCxnSpPr/>
          <p:nvPr/>
        </p:nvCxnSpPr>
        <p:spPr>
          <a:xfrm>
            <a:off x="3860800" y="2222500"/>
            <a:ext cx="254000" cy="0"/>
          </a:xfrm>
          <a:prstGeom prst="line">
            <a:avLst/>
          </a:prstGeom>
          <a:ln w="44450" cap="rnd">
            <a:solidFill>
              <a:srgbClr val="C8102E"/>
            </a:solidFill>
          </a:ln>
        </p:spPr>
      </p:cxnSp>
      <p:cxnSp>
        <p:nvCxnSpPr>
          <p:cNvPr id="213" name="Legend swatch 213"/>
          <p:cNvCxnSpPr/>
          <p:nvPr/>
        </p:nvCxnSpPr>
        <p:spPr>
          <a:xfrm>
            <a:off x="5207000" y="2222500"/>
            <a:ext cx="254000" cy="0"/>
          </a:xfrm>
          <a:prstGeom prst="line">
            <a:avLst/>
          </a:prstGeom>
          <a:ln w="44450" cap="rnd">
            <a:solidFill>
              <a:srgbClr val="1E3A5C"/>
            </a:solidFill>
          </a:ln>
        </p:spPr>
      </p:cxnSp>
      <p:sp>
        <p:nvSpPr>
          <p:cNvPr id="21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104117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wipe(left)">
                                      <p:cBhvr>
                                        <p:cTn id="7" dur="2500"/>
                                        <p:tgtEl>
                                          <p:spTgt spid="20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7"/>
                                        </p:tgtEl>
                                        <p:attrNameLst>
                                          <p:attrName>style.visibility</p:attrName>
                                        </p:attrNameLst>
                                      </p:cBhvr>
                                      <p:to>
                                        <p:strVal val="visible"/>
                                      </p:to>
                                    </p:set>
                                    <p:animEffect transition="in" filter="wipe(left)">
                                      <p:cBhvr>
                                        <p:cTn id="10" dur="2500"/>
                                        <p:tgtEl>
                                          <p:spTgt spid="20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0"/>
                                        </p:tgtEl>
                                        <p:attrNameLst>
                                          <p:attrName>style.visibility</p:attrName>
                                        </p:attrNameLst>
                                      </p:cBhvr>
                                      <p:to>
                                        <p:strVal val="visible"/>
                                      </p:to>
                                    </p:set>
                                    <p:animEffect transition="in" filter="fade">
                                      <p:cBhvr>
                                        <p:cTn id="15" dur="500"/>
                                        <p:tgtEl>
                                          <p:spTgt spid="2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1"/>
                                        </p:tgtEl>
                                        <p:attrNameLst>
                                          <p:attrName>style.visibility</p:attrName>
                                        </p:attrNameLst>
                                      </p:cBhvr>
                                      <p:to>
                                        <p:strVal val="visible"/>
                                      </p:to>
                                    </p:set>
                                    <p:animEffect transition="in" filter="fade">
                                      <p:cBhvr>
                                        <p:cTn id="18"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210" grpId="0"/>
      <p:bldP spid="2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and Hypotheses</a:t>
            </a:r>
          </a:p>
        </p:txBody>
      </p:sp>
      <p:sp>
        <p:nvSpPr>
          <p:cNvPr id="3" name="Content Placeholder 2"/>
          <p:cNvSpPr>
            <a:spLocks noGrp="1"/>
          </p:cNvSpPr>
          <p:nvPr>
            <p:ph idx="1"/>
          </p:nvPr>
        </p:nvSpPr>
        <p:spPr/>
        <p:txBody>
          <a:bodyPr wrap="square">
            <a:noAutofit/>
          </a:bodyPr>
          <a:lstStyle/>
          <a:p>
            <a:pPr marL="0" indent="0">
              <a:lnSpc>
                <a:spcPct val="130000"/>
              </a:lnSpc>
              <a:spcBef>
                <a:spcPts val="0"/>
              </a:spcBef>
              <a:spcAft>
                <a:spcPts val="200"/>
              </a:spcAft>
              <a:buNone/>
            </a:pPr>
            <a:r>
              <a:rPr lang="en-US" sz="1400" b="0" dirty="0">
                <a:solidFill>
                  <a:srgbClr val="E8963C"/>
                </a:solidFill>
              </a:rPr>
              <a:t>AIM</a:t>
            </a:r>
          </a:p>
          <a:p>
            <a:pPr marL="0" indent="0">
              <a:lnSpc>
                <a:spcPct val="130000"/>
              </a:lnSpc>
              <a:spcBef>
                <a:spcPts val="0"/>
              </a:spcBef>
              <a:spcAft>
                <a:spcPts val="3000"/>
              </a:spcAft>
              <a:buNone/>
            </a:pPr>
            <a:r>
              <a:rPr lang="en-US" sz="2600" b="0" dirty="0">
                <a:solidFill>
                  <a:srgbClr val="FFFFFF"/>
                </a:solidFill>
              </a:rPr>
              <a:t>Test whether trauma exposure modifies the association between socioeconomic stressors and PTSD, depression, and anxiety</a:t>
            </a:r>
          </a:p>
          <a:p>
            <a:pPr marL="0" indent="0">
              <a:lnSpc>
                <a:spcPct val="130000"/>
              </a:lnSpc>
              <a:spcBef>
                <a:spcPts val="0"/>
              </a:spcBef>
              <a:spcAft>
                <a:spcPts val="600"/>
              </a:spcAft>
              <a:buNone/>
            </a:pPr>
            <a:r>
              <a:rPr lang="en-US" sz="1400" b="0" dirty="0">
                <a:solidFill>
                  <a:srgbClr val="E8963C"/>
                </a:solidFill>
              </a:rPr>
              <a:t>HYPOTHESES</a:t>
            </a:r>
          </a:p>
          <a:p>
            <a:pPr marL="685800" indent="-685800">
              <a:lnSpc>
                <a:spcPct val="130000"/>
              </a:lnSpc>
              <a:spcBef>
                <a:spcPts val="0"/>
              </a:spcBef>
              <a:spcAft>
                <a:spcPts val="1000"/>
              </a:spcAft>
              <a:buNone/>
            </a:pPr>
            <a:r>
              <a:rPr lang="en-US" sz="1800" b="0" dirty="0">
                <a:solidFill>
                  <a:srgbClr val="E8963C"/>
                </a:solidFill>
              </a:rPr>
              <a:t>H1	</a:t>
            </a:r>
            <a:r>
              <a:rPr lang="en-US" sz="1800" b="0" dirty="0">
                <a:solidFill>
                  <a:srgbClr val="FFFFFF"/>
                </a:solidFill>
              </a:rPr>
              <a:t>Trauma × stressor interactions are significant, so the effects do not simply add</a:t>
            </a:r>
          </a:p>
          <a:p>
            <a:pPr marL="685800" indent="-685800">
              <a:lnSpc>
                <a:spcPct val="130000"/>
              </a:lnSpc>
              <a:spcBef>
                <a:spcPts val="0"/>
              </a:spcBef>
              <a:spcAft>
                <a:spcPts val="0"/>
              </a:spcAft>
              <a:buNone/>
            </a:pPr>
            <a:r>
              <a:rPr lang="en-US" sz="1800" b="0" dirty="0">
                <a:solidFill>
                  <a:srgbClr val="E8963C"/>
                </a:solidFill>
              </a:rPr>
              <a:t>H2	</a:t>
            </a:r>
            <a:r>
              <a:rPr lang="en-US" sz="1800" b="0" dirty="0">
                <a:solidFill>
                  <a:srgbClr val="FFFFFF"/>
                </a:solidFill>
              </a:rPr>
              <a:t>Direction of H1: the interaction is negative; stress sensitivity diminishes with extensive trauma, which is saturation, not sensitization</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INTRODUCTION</a:t>
            </a:r>
          </a:p>
        </p:txBody>
      </p:sp>
    </p:spTree>
    <p:extLst>
      <p:ext uri="{BB962C8B-B14F-4D97-AF65-F5344CB8AC3E}">
        <p14:creationId xmlns:p14="http://schemas.microsoft.com/office/powerpoint/2010/main" val="506960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F446-EC8D-515A-87DC-DC702F03ADCF}"/>
              </a:ext>
            </a:extLst>
          </p:cNvPr>
          <p:cNvSpPr>
            <a:spLocks noGrp="1"/>
          </p:cNvSpPr>
          <p:nvPr>
            <p:ph type="title"/>
          </p:nvPr>
        </p:nvSpPr>
        <p:spPr/>
        <p:txBody>
          <a:bodyPr/>
          <a:lstStyle/>
          <a:p>
            <a:r>
              <a:rPr lang="en-US" dirty="0"/>
              <a:t>Study Design, Setting, and Participants</a:t>
            </a:r>
          </a:p>
        </p:txBody>
      </p:sp>
      <p:pic>
        <p:nvPicPr>
          <p:cNvPr id="3" name="Graphic 3" descr="Adults surveye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14500" y="2133600"/>
            <a:ext cx="685800" cy="685800"/>
          </a:xfrm>
          <a:prstGeom prst="rect">
            <a:avLst/>
          </a:prstGeom>
        </p:spPr>
      </p:pic>
      <p:pic>
        <p:nvPicPr>
          <p:cNvPr id="4" name="Graphic 4" descr="Stat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06900" y="2133600"/>
            <a:ext cx="685800" cy="685800"/>
          </a:xfrm>
          <a:prstGeom prst="rect">
            <a:avLst/>
          </a:prstGeom>
        </p:spPr>
      </p:pic>
      <p:pic>
        <p:nvPicPr>
          <p:cNvPr id="5" name="Graphic 5" descr="Communities and camp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99300" y="2133600"/>
            <a:ext cx="685800" cy="685800"/>
          </a:xfrm>
          <a:prstGeom prst="rect">
            <a:avLst/>
          </a:prstGeom>
        </p:spPr>
      </p:pic>
      <p:pic>
        <p:nvPicPr>
          <p:cNvPr id="6" name="Graphic 6" descr="Fieldwork period"/>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91700" y="2133600"/>
            <a:ext cx="685800" cy="685800"/>
          </a:xfrm>
          <a:prstGeom prst="rect">
            <a:avLst/>
          </a:prstGeom>
        </p:spPr>
      </p:pic>
      <p:sp>
        <p:nvSpPr>
          <p:cNvPr id="301" name="T301"/>
          <p:cNvSpPr txBox="1"/>
          <p:nvPr/>
        </p:nvSpPr>
        <p:spPr>
          <a:xfrm>
            <a:off x="838200" y="30226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1,729</a:t>
            </a:r>
          </a:p>
        </p:txBody>
      </p:sp>
      <p:sp>
        <p:nvSpPr>
          <p:cNvPr id="302" name="T302"/>
          <p:cNvSpPr txBox="1"/>
          <p:nvPr/>
        </p:nvSpPr>
        <p:spPr>
          <a:xfrm>
            <a:off x="914400" y="38100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adults completed the trauma inventory (of 1,774 interviewed)</a:t>
            </a:r>
          </a:p>
        </p:txBody>
      </p:sp>
      <p:sp>
        <p:nvSpPr>
          <p:cNvPr id="303" name="T303"/>
          <p:cNvSpPr txBox="1"/>
          <p:nvPr/>
        </p:nvSpPr>
        <p:spPr>
          <a:xfrm>
            <a:off x="3530600" y="30226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6</a:t>
            </a:r>
          </a:p>
        </p:txBody>
      </p:sp>
      <p:sp>
        <p:nvSpPr>
          <p:cNvPr id="304" name="T304"/>
          <p:cNvSpPr txBox="1"/>
          <p:nvPr/>
        </p:nvSpPr>
        <p:spPr>
          <a:xfrm>
            <a:off x="3606800" y="38100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states, one per zone: five conflict-affected plus Ogun</a:t>
            </a:r>
          </a:p>
        </p:txBody>
      </p:sp>
      <p:sp>
        <p:nvSpPr>
          <p:cNvPr id="305" name="T305"/>
          <p:cNvSpPr txBox="1"/>
          <p:nvPr/>
        </p:nvSpPr>
        <p:spPr>
          <a:xfrm>
            <a:off x="6223000" y="30226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70</a:t>
            </a:r>
          </a:p>
        </p:txBody>
      </p:sp>
      <p:sp>
        <p:nvSpPr>
          <p:cNvPr id="306" name="T306"/>
          <p:cNvSpPr txBox="1"/>
          <p:nvPr/>
        </p:nvSpPr>
        <p:spPr>
          <a:xfrm>
            <a:off x="6299200" y="38100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70 wards across 12 LGAs, IDP camps included</a:t>
            </a:r>
          </a:p>
        </p:txBody>
      </p:sp>
      <p:sp>
        <p:nvSpPr>
          <p:cNvPr id="307" name="T307"/>
          <p:cNvSpPr txBox="1"/>
          <p:nvPr/>
        </p:nvSpPr>
        <p:spPr>
          <a:xfrm>
            <a:off x="8915400" y="3022600"/>
            <a:ext cx="2438400" cy="635000"/>
          </a:xfrm>
          <a:prstGeom prst="rect">
            <a:avLst/>
          </a:prstGeom>
          <a:noFill/>
        </p:spPr>
        <p:txBody>
          <a:bodyPr wrap="square" lIns="0" tIns="0" rIns="0" bIns="0"/>
          <a:lstStyle/>
          <a:p>
            <a:pPr algn="ctr">
              <a:lnSpc>
                <a:spcPct val="130000"/>
              </a:lnSpc>
              <a:buNone/>
            </a:pPr>
            <a:r>
              <a:rPr lang="en-US" sz="3600" dirty="0">
                <a:solidFill>
                  <a:srgbClr val="FFFFFF"/>
                </a:solidFill>
              </a:rPr>
              <a:t>2025</a:t>
            </a:r>
          </a:p>
        </p:txBody>
      </p:sp>
      <p:sp>
        <p:nvSpPr>
          <p:cNvPr id="308" name="T308"/>
          <p:cNvSpPr txBox="1"/>
          <p:nvPr/>
        </p:nvSpPr>
        <p:spPr>
          <a:xfrm>
            <a:off x="8991600" y="3810000"/>
            <a:ext cx="2286000" cy="1397000"/>
          </a:xfrm>
          <a:prstGeom prst="rect">
            <a:avLst/>
          </a:prstGeom>
          <a:noFill/>
        </p:spPr>
        <p:txBody>
          <a:bodyPr wrap="square" lIns="0" tIns="0" rIns="0" bIns="0"/>
          <a:lstStyle/>
          <a:p>
            <a:pPr algn="ctr">
              <a:lnSpc>
                <a:spcPct val="130000"/>
              </a:lnSpc>
              <a:buNone/>
            </a:pPr>
            <a:r>
              <a:rPr lang="en-US" sz="1600" dirty="0">
                <a:solidFill>
                  <a:srgbClr val="D9D9D9"/>
                </a:solidFill>
              </a:rPr>
              <a:t>fieldwork, August to December, with AFENET and FMoHSW</a:t>
            </a:r>
          </a:p>
        </p:txBody>
      </p:sp>
      <p:sp>
        <p:nvSpPr>
          <p:cNvPr id="30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2042958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3087-4595-A11A-39D6-7914633288A8}"/>
              </a:ext>
            </a:extLst>
          </p:cNvPr>
          <p:cNvSpPr>
            <a:spLocks noGrp="1"/>
          </p:cNvSpPr>
          <p:nvPr>
            <p:ph type="title"/>
          </p:nvPr>
        </p:nvSpPr>
        <p:spPr/>
        <p:txBody>
          <a:bodyPr/>
          <a:lstStyle/>
          <a:p>
            <a:r>
              <a:rPr lang="en-US" dirty="0"/>
              <a:t>Variables and Measurement</a:t>
            </a:r>
          </a:p>
        </p:txBody>
      </p:sp>
      <p:sp>
        <p:nvSpPr>
          <p:cNvPr id="301" name="R301"/>
          <p:cNvSpPr/>
          <p:nvPr/>
        </p:nvSpPr>
        <p:spPr>
          <a:xfrm>
            <a:off x="838200" y="2082800"/>
            <a:ext cx="3352800" cy="1168400"/>
          </a:xfrm>
          <a:prstGeom prst="roundRect">
            <a:avLst>
              <a:gd name="adj" fmla="val 4000"/>
            </a:avLst>
          </a:prstGeom>
          <a:solidFill>
            <a:srgbClr val="FFFFFF"/>
          </a:solidFill>
          <a:ln>
            <a:noFill/>
          </a:ln>
        </p:spPr>
        <p:txBody>
          <a:bodyPr/>
          <a:lstStyle/>
          <a:p>
            <a:endParaRPr/>
          </a:p>
        </p:txBody>
      </p:sp>
      <p:sp>
        <p:nvSpPr>
          <p:cNvPr id="302" name="T302"/>
          <p:cNvSpPr txBox="1"/>
          <p:nvPr/>
        </p:nvSpPr>
        <p:spPr>
          <a:xfrm>
            <a:off x="1117600" y="2260600"/>
            <a:ext cx="2794000" cy="7620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Probable PTSD</a:t>
            </a:r>
          </a:p>
          <a:p>
            <a:pPr>
              <a:lnSpc>
                <a:spcPct val="130000"/>
              </a:lnSpc>
              <a:spcAft>
                <a:spcPts val="0"/>
              </a:spcAft>
              <a:buNone/>
            </a:pPr>
            <a:r>
              <a:rPr lang="en-US" sz="1600" dirty="0">
                <a:solidFill>
                  <a:srgbClr val="595959"/>
                </a:solidFill>
              </a:rPr>
              <a:t>PCL-5</a:t>
            </a:r>
          </a:p>
        </p:txBody>
      </p:sp>
      <p:sp>
        <p:nvSpPr>
          <p:cNvPr id="305" name="R305"/>
          <p:cNvSpPr/>
          <p:nvPr/>
        </p:nvSpPr>
        <p:spPr>
          <a:xfrm>
            <a:off x="4419600" y="2082800"/>
            <a:ext cx="3352800" cy="1168400"/>
          </a:xfrm>
          <a:prstGeom prst="roundRect">
            <a:avLst>
              <a:gd name="adj" fmla="val 4000"/>
            </a:avLst>
          </a:prstGeom>
          <a:solidFill>
            <a:srgbClr val="FFFFFF"/>
          </a:solidFill>
          <a:ln>
            <a:noFill/>
          </a:ln>
        </p:spPr>
        <p:txBody>
          <a:bodyPr/>
          <a:lstStyle/>
          <a:p>
            <a:endParaRPr/>
          </a:p>
        </p:txBody>
      </p:sp>
      <p:sp>
        <p:nvSpPr>
          <p:cNvPr id="306" name="T306"/>
          <p:cNvSpPr txBox="1"/>
          <p:nvPr/>
        </p:nvSpPr>
        <p:spPr>
          <a:xfrm>
            <a:off x="4699000" y="2260600"/>
            <a:ext cx="2794000" cy="7620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Depression</a:t>
            </a:r>
          </a:p>
          <a:p>
            <a:pPr>
              <a:lnSpc>
                <a:spcPct val="130000"/>
              </a:lnSpc>
              <a:spcAft>
                <a:spcPts val="0"/>
              </a:spcAft>
              <a:buNone/>
            </a:pPr>
            <a:r>
              <a:rPr lang="en-US" sz="1600" dirty="0">
                <a:solidFill>
                  <a:srgbClr val="595959"/>
                </a:solidFill>
              </a:rPr>
              <a:t>PHQ-9</a:t>
            </a:r>
          </a:p>
        </p:txBody>
      </p:sp>
      <p:sp>
        <p:nvSpPr>
          <p:cNvPr id="309" name="R309"/>
          <p:cNvSpPr/>
          <p:nvPr/>
        </p:nvSpPr>
        <p:spPr>
          <a:xfrm>
            <a:off x="8001000" y="2082800"/>
            <a:ext cx="3352800" cy="1168400"/>
          </a:xfrm>
          <a:prstGeom prst="roundRect">
            <a:avLst>
              <a:gd name="adj" fmla="val 4000"/>
            </a:avLst>
          </a:prstGeom>
          <a:solidFill>
            <a:srgbClr val="FFFFFF"/>
          </a:solidFill>
          <a:ln>
            <a:noFill/>
          </a:ln>
        </p:spPr>
        <p:txBody>
          <a:bodyPr/>
          <a:lstStyle/>
          <a:p>
            <a:endParaRPr/>
          </a:p>
        </p:txBody>
      </p:sp>
      <p:sp>
        <p:nvSpPr>
          <p:cNvPr id="310" name="T310"/>
          <p:cNvSpPr txBox="1"/>
          <p:nvPr/>
        </p:nvSpPr>
        <p:spPr>
          <a:xfrm>
            <a:off x="8280400" y="2260600"/>
            <a:ext cx="2794000" cy="7620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Anxiety</a:t>
            </a:r>
          </a:p>
          <a:p>
            <a:pPr>
              <a:lnSpc>
                <a:spcPct val="130000"/>
              </a:lnSpc>
              <a:spcAft>
                <a:spcPts val="0"/>
              </a:spcAft>
              <a:buNone/>
            </a:pPr>
            <a:r>
              <a:rPr lang="en-US" sz="1600" dirty="0">
                <a:solidFill>
                  <a:srgbClr val="595959"/>
                </a:solidFill>
              </a:rPr>
              <a:t>GAD-7</a:t>
            </a:r>
          </a:p>
        </p:txBody>
      </p:sp>
      <p:sp>
        <p:nvSpPr>
          <p:cNvPr id="313" name="T313"/>
          <p:cNvSpPr txBox="1"/>
          <p:nvPr/>
        </p:nvSpPr>
        <p:spPr>
          <a:xfrm>
            <a:off x="838200" y="5562600"/>
            <a:ext cx="9652000" cy="304800"/>
          </a:xfrm>
          <a:prstGeom prst="rect">
            <a:avLst/>
          </a:prstGeom>
          <a:noFill/>
        </p:spPr>
        <p:txBody>
          <a:bodyPr wrap="square" lIns="0" tIns="0" rIns="0" bIns="0"/>
          <a:lstStyle/>
          <a:p>
            <a:pPr>
              <a:lnSpc>
                <a:spcPct val="130000"/>
              </a:lnSpc>
              <a:spcAft>
                <a:spcPts val="0"/>
              </a:spcAft>
              <a:buNone/>
            </a:pPr>
            <a:r>
              <a:rPr lang="en-US" sz="1400" dirty="0">
                <a:solidFill>
                  <a:srgbClr val="D9D9D9"/>
                </a:solidFill>
              </a:rPr>
              <a:t>PCL-5 and PHQ-9 cut-offs from the validation study (paper 1); GAD-7 at the international ≥10, interpreted cautiously</a:t>
            </a:r>
          </a:p>
        </p:txBody>
      </p:sp>
      <p:sp>
        <p:nvSpPr>
          <p:cNvPr id="400" name="Card Trauma exposure"/>
          <p:cNvSpPr/>
          <p:nvPr/>
        </p:nvSpPr>
        <p:spPr>
          <a:xfrm>
            <a:off x="838200" y="3810000"/>
            <a:ext cx="3352800" cy="1549400"/>
          </a:xfrm>
          <a:prstGeom prst="roundRect">
            <a:avLst>
              <a:gd name="adj" fmla="val 4000"/>
            </a:avLst>
          </a:prstGeom>
          <a:solidFill>
            <a:srgbClr val="FFFFFF"/>
          </a:solidFill>
          <a:ln>
            <a:noFill/>
          </a:ln>
        </p:spPr>
        <p:txBody>
          <a:bodyPr/>
          <a:lstStyle/>
          <a:p>
            <a:endParaRPr/>
          </a:p>
        </p:txBody>
      </p:sp>
      <p:sp>
        <p:nvSpPr>
          <p:cNvPr id="401" name="Card text Trauma exposure"/>
          <p:cNvSpPr txBox="1"/>
          <p:nvPr/>
        </p:nvSpPr>
        <p:spPr>
          <a:xfrm>
            <a:off x="1117600" y="3987800"/>
            <a:ext cx="2794000" cy="11684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Trauma exposure</a:t>
            </a:r>
          </a:p>
          <a:p>
            <a:pPr>
              <a:lnSpc>
                <a:spcPct val="130000"/>
              </a:lnSpc>
              <a:spcAft>
                <a:spcPts val="0"/>
              </a:spcAft>
              <a:buNone/>
            </a:pPr>
            <a:r>
              <a:rPr lang="en-US" sz="1600" dirty="0">
                <a:solidFill>
                  <a:srgbClr val="595959"/>
                </a:solidFill>
              </a:rPr>
              <a:t>Adapted Life Events Checklist; 12 types, lifetime</a:t>
            </a:r>
          </a:p>
        </p:txBody>
      </p:sp>
      <p:sp>
        <p:nvSpPr>
          <p:cNvPr id="402" name="Card Daily stressors"/>
          <p:cNvSpPr/>
          <p:nvPr/>
        </p:nvSpPr>
        <p:spPr>
          <a:xfrm>
            <a:off x="4419600" y="3810000"/>
            <a:ext cx="3352800" cy="1549400"/>
          </a:xfrm>
          <a:prstGeom prst="roundRect">
            <a:avLst>
              <a:gd name="adj" fmla="val 4000"/>
            </a:avLst>
          </a:prstGeom>
          <a:solidFill>
            <a:srgbClr val="FFFFFF"/>
          </a:solidFill>
          <a:ln>
            <a:noFill/>
          </a:ln>
        </p:spPr>
        <p:txBody>
          <a:bodyPr/>
          <a:lstStyle/>
          <a:p>
            <a:endParaRPr/>
          </a:p>
        </p:txBody>
      </p:sp>
      <p:sp>
        <p:nvSpPr>
          <p:cNvPr id="403" name="Card text Daily stressors"/>
          <p:cNvSpPr txBox="1"/>
          <p:nvPr/>
        </p:nvSpPr>
        <p:spPr>
          <a:xfrm>
            <a:off x="4699000" y="3987800"/>
            <a:ext cx="2794000" cy="11684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Daily stressors</a:t>
            </a:r>
          </a:p>
          <a:p>
            <a:pPr>
              <a:lnSpc>
                <a:spcPct val="130000"/>
              </a:lnSpc>
              <a:spcAft>
                <a:spcPts val="0"/>
              </a:spcAft>
              <a:buNone/>
            </a:pPr>
            <a:r>
              <a:rPr lang="en-US" sz="1600" dirty="0">
                <a:solidFill>
                  <a:srgbClr val="595959"/>
                </a:solidFill>
              </a:rPr>
              <a:t>10-item Nigerian-specific count, 0–10</a:t>
            </a:r>
          </a:p>
        </p:txBody>
      </p:sp>
      <p:sp>
        <p:nvSpPr>
          <p:cNvPr id="404" name="Card Covariates"/>
          <p:cNvSpPr/>
          <p:nvPr/>
        </p:nvSpPr>
        <p:spPr>
          <a:xfrm>
            <a:off x="8001000" y="3810000"/>
            <a:ext cx="3352800" cy="1549400"/>
          </a:xfrm>
          <a:prstGeom prst="roundRect">
            <a:avLst>
              <a:gd name="adj" fmla="val 4000"/>
            </a:avLst>
          </a:prstGeom>
          <a:solidFill>
            <a:srgbClr val="FFFFFF"/>
          </a:solidFill>
          <a:ln>
            <a:noFill/>
          </a:ln>
        </p:spPr>
        <p:txBody>
          <a:bodyPr/>
          <a:lstStyle/>
          <a:p>
            <a:endParaRPr/>
          </a:p>
        </p:txBody>
      </p:sp>
      <p:sp>
        <p:nvSpPr>
          <p:cNvPr id="405" name="Card text Covariates"/>
          <p:cNvSpPr txBox="1"/>
          <p:nvPr/>
        </p:nvSpPr>
        <p:spPr>
          <a:xfrm>
            <a:off x="8280400" y="3987800"/>
            <a:ext cx="2794000" cy="1168400"/>
          </a:xfrm>
          <a:prstGeom prst="rect">
            <a:avLst/>
          </a:prstGeom>
          <a:noFill/>
        </p:spPr>
        <p:txBody>
          <a:bodyPr wrap="square" lIns="0" tIns="0" rIns="0" bIns="0"/>
          <a:lstStyle/>
          <a:p>
            <a:pPr>
              <a:lnSpc>
                <a:spcPct val="130000"/>
              </a:lnSpc>
              <a:spcAft>
                <a:spcPts val="0"/>
              </a:spcAft>
              <a:buNone/>
            </a:pPr>
            <a:r>
              <a:rPr lang="en-US" sz="2400" dirty="0">
                <a:solidFill>
                  <a:srgbClr val="262626"/>
                </a:solidFill>
              </a:rPr>
              <a:t>Covariates</a:t>
            </a:r>
          </a:p>
          <a:p>
            <a:pPr>
              <a:lnSpc>
                <a:spcPct val="130000"/>
              </a:lnSpc>
              <a:spcAft>
                <a:spcPts val="0"/>
              </a:spcAft>
              <a:buNone/>
            </a:pPr>
            <a:r>
              <a:rPr lang="en-US" sz="1600" dirty="0">
                <a:solidFill>
                  <a:srgbClr val="595959"/>
                </a:solidFill>
              </a:rPr>
              <a:t>Age, gender, education, state</a:t>
            </a:r>
          </a:p>
        </p:txBody>
      </p:sp>
      <p:sp>
        <p:nvSpPr>
          <p:cNvPr id="406" name="Section label OUTCOMES"/>
          <p:cNvSpPr txBox="1"/>
          <p:nvPr/>
        </p:nvSpPr>
        <p:spPr>
          <a:xfrm>
            <a:off x="838200" y="1778000"/>
            <a:ext cx="3810000" cy="279400"/>
          </a:xfrm>
          <a:prstGeom prst="rect">
            <a:avLst/>
          </a:prstGeom>
          <a:noFill/>
        </p:spPr>
        <p:txBody>
          <a:bodyPr wrap="square" lIns="0" tIns="0" rIns="0" bIns="0"/>
          <a:lstStyle/>
          <a:p>
            <a:pPr>
              <a:lnSpc>
                <a:spcPct val="130000"/>
              </a:lnSpc>
              <a:spcAft>
                <a:spcPts val="0"/>
              </a:spcAft>
              <a:buNone/>
            </a:pPr>
            <a:r>
              <a:rPr lang="en-US" sz="1400" dirty="0">
                <a:solidFill>
                  <a:srgbClr val="E8963C"/>
                </a:solidFill>
              </a:rPr>
              <a:t>OUTCOMES</a:t>
            </a:r>
          </a:p>
        </p:txBody>
      </p:sp>
      <p:sp>
        <p:nvSpPr>
          <p:cNvPr id="407" name="Section label EXPOSURES"/>
          <p:cNvSpPr txBox="1"/>
          <p:nvPr/>
        </p:nvSpPr>
        <p:spPr>
          <a:xfrm>
            <a:off x="838200" y="3505200"/>
            <a:ext cx="3810000" cy="279400"/>
          </a:xfrm>
          <a:prstGeom prst="rect">
            <a:avLst/>
          </a:prstGeom>
          <a:noFill/>
        </p:spPr>
        <p:txBody>
          <a:bodyPr wrap="square" lIns="0" tIns="0" rIns="0" bIns="0"/>
          <a:lstStyle/>
          <a:p>
            <a:pPr>
              <a:lnSpc>
                <a:spcPct val="130000"/>
              </a:lnSpc>
              <a:spcAft>
                <a:spcPts val="0"/>
              </a:spcAft>
              <a:buNone/>
            </a:pPr>
            <a:r>
              <a:rPr lang="en-US" sz="1400" dirty="0">
                <a:solidFill>
                  <a:srgbClr val="E8963C"/>
                </a:solidFill>
              </a:rPr>
              <a:t>EXPOSURES</a:t>
            </a:r>
          </a:p>
        </p:txBody>
      </p:sp>
      <p:sp>
        <p:nvSpPr>
          <p:cNvPr id="408" name="Section label COVARIATES"/>
          <p:cNvSpPr txBox="1"/>
          <p:nvPr/>
        </p:nvSpPr>
        <p:spPr>
          <a:xfrm>
            <a:off x="8001000" y="3505200"/>
            <a:ext cx="3352800" cy="279400"/>
          </a:xfrm>
          <a:prstGeom prst="rect">
            <a:avLst/>
          </a:prstGeom>
          <a:noFill/>
        </p:spPr>
        <p:txBody>
          <a:bodyPr wrap="square" lIns="0" tIns="0" rIns="0" bIns="0"/>
          <a:lstStyle/>
          <a:p>
            <a:pPr>
              <a:lnSpc>
                <a:spcPct val="130000"/>
              </a:lnSpc>
              <a:spcAft>
                <a:spcPts val="0"/>
              </a:spcAft>
              <a:buNone/>
            </a:pPr>
            <a:r>
              <a:rPr lang="en-US" sz="1400" dirty="0">
                <a:solidFill>
                  <a:srgbClr val="E8963C"/>
                </a:solidFill>
              </a:rPr>
              <a:t>COVARIATES</a:t>
            </a:r>
          </a:p>
        </p:txBody>
      </p:sp>
      <p:sp>
        <p:nvSpPr>
          <p:cNvPr id="40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37874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fill="hold" grpId="0" nodeType="clickEffect">
                                  <p:stCondLst>
                                    <p:cond delay="0"/>
                                  </p:stCondLst>
                                  <p:childTnLst>
                                    <p:set>
                                      <p:cBhvr>
                                        <p:cTn id="6" dur="400" fill="hold"/>
                                        <p:tgtEl>
                                          <p:spTgt spid="407"/>
                                        </p:tgtEl>
                                        <p:attrNameLst>
                                          <p:attrName>style.opacity</p:attrName>
                                        </p:attrNameLst>
                                      </p:cBhvr>
                                      <p:to>
                                        <p:strVal val="0.2"/>
                                      </p:to>
                                    </p:set>
                                    <p:animEffect filter="image" prLst="opacity: 0.2">
                                      <p:cBhvr rctx="IE">
                                        <p:cTn id="7" dur="400" fill="hold"/>
                                        <p:tgtEl>
                                          <p:spTgt spid="407"/>
                                        </p:tgtEl>
                                      </p:cBhvr>
                                    </p:animEffect>
                                  </p:childTnLst>
                                </p:cTn>
                              </p:par>
                              <p:par>
                                <p:cTn id="8" presetID="9" presetClass="emph" presetSubtype="0" fill="hold" grpId="0" nodeType="withEffect">
                                  <p:stCondLst>
                                    <p:cond delay="0"/>
                                  </p:stCondLst>
                                  <p:childTnLst>
                                    <p:set>
                                      <p:cBhvr>
                                        <p:cTn id="9" dur="400" fill="hold"/>
                                        <p:tgtEl>
                                          <p:spTgt spid="400"/>
                                        </p:tgtEl>
                                        <p:attrNameLst>
                                          <p:attrName>style.opacity</p:attrName>
                                        </p:attrNameLst>
                                      </p:cBhvr>
                                      <p:to>
                                        <p:strVal val="0.2"/>
                                      </p:to>
                                    </p:set>
                                    <p:animEffect filter="image" prLst="opacity: 0.2">
                                      <p:cBhvr rctx="IE">
                                        <p:cTn id="10" dur="400" fill="hold"/>
                                        <p:tgtEl>
                                          <p:spTgt spid="400"/>
                                        </p:tgtEl>
                                      </p:cBhvr>
                                    </p:animEffect>
                                  </p:childTnLst>
                                </p:cTn>
                              </p:par>
                              <p:par>
                                <p:cTn id="11" presetID="9" presetClass="emph" presetSubtype="0" fill="hold" grpId="0" nodeType="withEffect">
                                  <p:stCondLst>
                                    <p:cond delay="0"/>
                                  </p:stCondLst>
                                  <p:childTnLst>
                                    <p:set>
                                      <p:cBhvr>
                                        <p:cTn id="12" dur="400" fill="hold"/>
                                        <p:tgtEl>
                                          <p:spTgt spid="401"/>
                                        </p:tgtEl>
                                        <p:attrNameLst>
                                          <p:attrName>style.opacity</p:attrName>
                                        </p:attrNameLst>
                                      </p:cBhvr>
                                      <p:to>
                                        <p:strVal val="0.2"/>
                                      </p:to>
                                    </p:set>
                                    <p:animEffect filter="image" prLst="opacity: 0.2">
                                      <p:cBhvr rctx="IE">
                                        <p:cTn id="13" dur="400" fill="hold"/>
                                        <p:tgtEl>
                                          <p:spTgt spid="401"/>
                                        </p:tgtEl>
                                      </p:cBhvr>
                                    </p:animEffect>
                                  </p:childTnLst>
                                </p:cTn>
                              </p:par>
                              <p:par>
                                <p:cTn id="14" presetID="9" presetClass="emph" presetSubtype="0" fill="hold" grpId="0" nodeType="withEffect">
                                  <p:stCondLst>
                                    <p:cond delay="0"/>
                                  </p:stCondLst>
                                  <p:childTnLst>
                                    <p:set>
                                      <p:cBhvr>
                                        <p:cTn id="15" dur="400" fill="hold"/>
                                        <p:tgtEl>
                                          <p:spTgt spid="402"/>
                                        </p:tgtEl>
                                        <p:attrNameLst>
                                          <p:attrName>style.opacity</p:attrName>
                                        </p:attrNameLst>
                                      </p:cBhvr>
                                      <p:to>
                                        <p:strVal val="0.2"/>
                                      </p:to>
                                    </p:set>
                                    <p:animEffect filter="image" prLst="opacity: 0.2">
                                      <p:cBhvr rctx="IE">
                                        <p:cTn id="16" dur="400" fill="hold"/>
                                        <p:tgtEl>
                                          <p:spTgt spid="402"/>
                                        </p:tgtEl>
                                      </p:cBhvr>
                                    </p:animEffect>
                                  </p:childTnLst>
                                </p:cTn>
                              </p:par>
                              <p:par>
                                <p:cTn id="17" presetID="9" presetClass="emph" presetSubtype="0" fill="hold" grpId="0" nodeType="withEffect">
                                  <p:stCondLst>
                                    <p:cond delay="0"/>
                                  </p:stCondLst>
                                  <p:childTnLst>
                                    <p:set>
                                      <p:cBhvr>
                                        <p:cTn id="18" dur="400" fill="hold"/>
                                        <p:tgtEl>
                                          <p:spTgt spid="403"/>
                                        </p:tgtEl>
                                        <p:attrNameLst>
                                          <p:attrName>style.opacity</p:attrName>
                                        </p:attrNameLst>
                                      </p:cBhvr>
                                      <p:to>
                                        <p:strVal val="0.2"/>
                                      </p:to>
                                    </p:set>
                                    <p:animEffect filter="image" prLst="opacity: 0.2">
                                      <p:cBhvr rctx="IE">
                                        <p:cTn id="19" dur="400" fill="hold"/>
                                        <p:tgtEl>
                                          <p:spTgt spid="403"/>
                                        </p:tgtEl>
                                      </p:cBhvr>
                                    </p:animEffect>
                                  </p:childTnLst>
                                </p:cTn>
                              </p:par>
                              <p:par>
                                <p:cTn id="20" presetID="9" presetClass="emph" presetSubtype="0" fill="hold" grpId="0" nodeType="withEffect">
                                  <p:stCondLst>
                                    <p:cond delay="0"/>
                                  </p:stCondLst>
                                  <p:childTnLst>
                                    <p:set>
                                      <p:cBhvr>
                                        <p:cTn id="21" dur="400" fill="hold"/>
                                        <p:tgtEl>
                                          <p:spTgt spid="408"/>
                                        </p:tgtEl>
                                        <p:attrNameLst>
                                          <p:attrName>style.opacity</p:attrName>
                                        </p:attrNameLst>
                                      </p:cBhvr>
                                      <p:to>
                                        <p:strVal val="0.2"/>
                                      </p:to>
                                    </p:set>
                                    <p:animEffect filter="image" prLst="opacity: 0.2">
                                      <p:cBhvr rctx="IE">
                                        <p:cTn id="22" dur="400" fill="hold"/>
                                        <p:tgtEl>
                                          <p:spTgt spid="408"/>
                                        </p:tgtEl>
                                      </p:cBhvr>
                                    </p:animEffect>
                                  </p:childTnLst>
                                </p:cTn>
                              </p:par>
                              <p:par>
                                <p:cTn id="23" presetID="9" presetClass="emph" presetSubtype="0" fill="hold" grpId="0" nodeType="withEffect">
                                  <p:stCondLst>
                                    <p:cond delay="0"/>
                                  </p:stCondLst>
                                  <p:childTnLst>
                                    <p:set>
                                      <p:cBhvr>
                                        <p:cTn id="24" dur="400" fill="hold"/>
                                        <p:tgtEl>
                                          <p:spTgt spid="404"/>
                                        </p:tgtEl>
                                        <p:attrNameLst>
                                          <p:attrName>style.opacity</p:attrName>
                                        </p:attrNameLst>
                                      </p:cBhvr>
                                      <p:to>
                                        <p:strVal val="0.2"/>
                                      </p:to>
                                    </p:set>
                                    <p:animEffect filter="image" prLst="opacity: 0.2">
                                      <p:cBhvr rctx="IE">
                                        <p:cTn id="25" dur="400" fill="hold"/>
                                        <p:tgtEl>
                                          <p:spTgt spid="404"/>
                                        </p:tgtEl>
                                      </p:cBhvr>
                                    </p:animEffect>
                                  </p:childTnLst>
                                </p:cTn>
                              </p:par>
                              <p:par>
                                <p:cTn id="26" presetID="9" presetClass="emph" presetSubtype="0" fill="hold" grpId="0" nodeType="withEffect">
                                  <p:stCondLst>
                                    <p:cond delay="0"/>
                                  </p:stCondLst>
                                  <p:childTnLst>
                                    <p:set>
                                      <p:cBhvr>
                                        <p:cTn id="27" dur="400" fill="hold"/>
                                        <p:tgtEl>
                                          <p:spTgt spid="405"/>
                                        </p:tgtEl>
                                        <p:attrNameLst>
                                          <p:attrName>style.opacity</p:attrName>
                                        </p:attrNameLst>
                                      </p:cBhvr>
                                      <p:to>
                                        <p:strVal val="0.2"/>
                                      </p:to>
                                    </p:set>
                                    <p:animEffect filter="image" prLst="opacity: 0.2">
                                      <p:cBhvr rctx="IE">
                                        <p:cTn id="28" dur="400" fill="hold"/>
                                        <p:tgtEl>
                                          <p:spTgt spid="40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mph" presetSubtype="0" fill="hold" grpId="1" nodeType="clickEffect">
                                  <p:stCondLst>
                                    <p:cond delay="0"/>
                                  </p:stCondLst>
                                  <p:childTnLst>
                                    <p:set>
                                      <p:cBhvr>
                                        <p:cTn id="32" dur="400" fill="hold"/>
                                        <p:tgtEl>
                                          <p:spTgt spid="407"/>
                                        </p:tgtEl>
                                        <p:attrNameLst>
                                          <p:attrName>style.opacity</p:attrName>
                                        </p:attrNameLst>
                                      </p:cBhvr>
                                      <p:to>
                                        <p:strVal val="1"/>
                                      </p:to>
                                    </p:set>
                                    <p:animEffect filter="image" prLst="opacity: 1">
                                      <p:cBhvr rctx="IE">
                                        <p:cTn id="33" dur="400" fill="hold"/>
                                        <p:tgtEl>
                                          <p:spTgt spid="407"/>
                                        </p:tgtEl>
                                      </p:cBhvr>
                                    </p:animEffect>
                                  </p:childTnLst>
                                </p:cTn>
                              </p:par>
                              <p:par>
                                <p:cTn id="34" presetID="9" presetClass="emph" presetSubtype="0" fill="hold" grpId="1" nodeType="withEffect">
                                  <p:stCondLst>
                                    <p:cond delay="0"/>
                                  </p:stCondLst>
                                  <p:childTnLst>
                                    <p:set>
                                      <p:cBhvr>
                                        <p:cTn id="35" dur="400" fill="hold"/>
                                        <p:tgtEl>
                                          <p:spTgt spid="400"/>
                                        </p:tgtEl>
                                        <p:attrNameLst>
                                          <p:attrName>style.opacity</p:attrName>
                                        </p:attrNameLst>
                                      </p:cBhvr>
                                      <p:to>
                                        <p:strVal val="1"/>
                                      </p:to>
                                    </p:set>
                                    <p:animEffect filter="image" prLst="opacity: 1">
                                      <p:cBhvr rctx="IE">
                                        <p:cTn id="36" dur="400" fill="hold"/>
                                        <p:tgtEl>
                                          <p:spTgt spid="400"/>
                                        </p:tgtEl>
                                      </p:cBhvr>
                                    </p:animEffect>
                                  </p:childTnLst>
                                </p:cTn>
                              </p:par>
                              <p:par>
                                <p:cTn id="37" presetID="9" presetClass="emph" presetSubtype="0" fill="hold" grpId="1" nodeType="withEffect">
                                  <p:stCondLst>
                                    <p:cond delay="0"/>
                                  </p:stCondLst>
                                  <p:childTnLst>
                                    <p:set>
                                      <p:cBhvr>
                                        <p:cTn id="38" dur="400" fill="hold"/>
                                        <p:tgtEl>
                                          <p:spTgt spid="401"/>
                                        </p:tgtEl>
                                        <p:attrNameLst>
                                          <p:attrName>style.opacity</p:attrName>
                                        </p:attrNameLst>
                                      </p:cBhvr>
                                      <p:to>
                                        <p:strVal val="1"/>
                                      </p:to>
                                    </p:set>
                                    <p:animEffect filter="image" prLst="opacity: 1">
                                      <p:cBhvr rctx="IE">
                                        <p:cTn id="39" dur="400" fill="hold"/>
                                        <p:tgtEl>
                                          <p:spTgt spid="401"/>
                                        </p:tgtEl>
                                      </p:cBhvr>
                                    </p:animEffect>
                                  </p:childTnLst>
                                </p:cTn>
                              </p:par>
                              <p:par>
                                <p:cTn id="40" presetID="9" presetClass="emph" presetSubtype="0" fill="hold" grpId="1" nodeType="withEffect">
                                  <p:stCondLst>
                                    <p:cond delay="0"/>
                                  </p:stCondLst>
                                  <p:childTnLst>
                                    <p:set>
                                      <p:cBhvr>
                                        <p:cTn id="41" dur="400" fill="hold"/>
                                        <p:tgtEl>
                                          <p:spTgt spid="402"/>
                                        </p:tgtEl>
                                        <p:attrNameLst>
                                          <p:attrName>style.opacity</p:attrName>
                                        </p:attrNameLst>
                                      </p:cBhvr>
                                      <p:to>
                                        <p:strVal val="1"/>
                                      </p:to>
                                    </p:set>
                                    <p:animEffect filter="image" prLst="opacity: 1">
                                      <p:cBhvr rctx="IE">
                                        <p:cTn id="42" dur="400" fill="hold"/>
                                        <p:tgtEl>
                                          <p:spTgt spid="402"/>
                                        </p:tgtEl>
                                      </p:cBhvr>
                                    </p:animEffect>
                                  </p:childTnLst>
                                </p:cTn>
                              </p:par>
                              <p:par>
                                <p:cTn id="43" presetID="9" presetClass="emph" presetSubtype="0" fill="hold" grpId="1" nodeType="withEffect">
                                  <p:stCondLst>
                                    <p:cond delay="0"/>
                                  </p:stCondLst>
                                  <p:childTnLst>
                                    <p:set>
                                      <p:cBhvr>
                                        <p:cTn id="44" dur="400" fill="hold"/>
                                        <p:tgtEl>
                                          <p:spTgt spid="403"/>
                                        </p:tgtEl>
                                        <p:attrNameLst>
                                          <p:attrName>style.opacity</p:attrName>
                                        </p:attrNameLst>
                                      </p:cBhvr>
                                      <p:to>
                                        <p:strVal val="1"/>
                                      </p:to>
                                    </p:set>
                                    <p:animEffect filter="image" prLst="opacity: 1">
                                      <p:cBhvr rctx="IE">
                                        <p:cTn id="45" dur="400" fill="hold"/>
                                        <p:tgtEl>
                                          <p:spTgt spid="403"/>
                                        </p:tgtEl>
                                      </p:cBhvr>
                                    </p:animEffect>
                                  </p:childTnLst>
                                </p:cTn>
                              </p:par>
                              <p:par>
                                <p:cTn id="46" presetID="9" presetClass="emph" presetSubtype="0" fill="hold" grpId="0" nodeType="withEffect">
                                  <p:stCondLst>
                                    <p:cond delay="0"/>
                                  </p:stCondLst>
                                  <p:childTnLst>
                                    <p:set>
                                      <p:cBhvr>
                                        <p:cTn id="47" dur="400" fill="hold"/>
                                        <p:tgtEl>
                                          <p:spTgt spid="406"/>
                                        </p:tgtEl>
                                        <p:attrNameLst>
                                          <p:attrName>style.opacity</p:attrName>
                                        </p:attrNameLst>
                                      </p:cBhvr>
                                      <p:to>
                                        <p:strVal val="0.2"/>
                                      </p:to>
                                    </p:set>
                                    <p:animEffect filter="image" prLst="opacity: 0.2">
                                      <p:cBhvr rctx="IE">
                                        <p:cTn id="48" dur="400" fill="hold"/>
                                        <p:tgtEl>
                                          <p:spTgt spid="406"/>
                                        </p:tgtEl>
                                      </p:cBhvr>
                                    </p:animEffect>
                                  </p:childTnLst>
                                </p:cTn>
                              </p:par>
                              <p:par>
                                <p:cTn id="49" presetID="9" presetClass="emph" presetSubtype="0" fill="hold" grpId="0" nodeType="withEffect">
                                  <p:stCondLst>
                                    <p:cond delay="0"/>
                                  </p:stCondLst>
                                  <p:childTnLst>
                                    <p:set>
                                      <p:cBhvr>
                                        <p:cTn id="50" dur="400" fill="hold"/>
                                        <p:tgtEl>
                                          <p:spTgt spid="301"/>
                                        </p:tgtEl>
                                        <p:attrNameLst>
                                          <p:attrName>style.opacity</p:attrName>
                                        </p:attrNameLst>
                                      </p:cBhvr>
                                      <p:to>
                                        <p:strVal val="0.2"/>
                                      </p:to>
                                    </p:set>
                                    <p:animEffect filter="image" prLst="opacity: 0.2">
                                      <p:cBhvr rctx="IE">
                                        <p:cTn id="51" dur="400" fill="hold"/>
                                        <p:tgtEl>
                                          <p:spTgt spid="301"/>
                                        </p:tgtEl>
                                      </p:cBhvr>
                                    </p:animEffect>
                                  </p:childTnLst>
                                </p:cTn>
                              </p:par>
                              <p:par>
                                <p:cTn id="52" presetID="9" presetClass="emph" presetSubtype="0" fill="hold" grpId="0" nodeType="withEffect">
                                  <p:stCondLst>
                                    <p:cond delay="0"/>
                                  </p:stCondLst>
                                  <p:childTnLst>
                                    <p:set>
                                      <p:cBhvr>
                                        <p:cTn id="53" dur="400" fill="hold"/>
                                        <p:tgtEl>
                                          <p:spTgt spid="302"/>
                                        </p:tgtEl>
                                        <p:attrNameLst>
                                          <p:attrName>style.opacity</p:attrName>
                                        </p:attrNameLst>
                                      </p:cBhvr>
                                      <p:to>
                                        <p:strVal val="0.2"/>
                                      </p:to>
                                    </p:set>
                                    <p:animEffect filter="image" prLst="opacity: 0.2">
                                      <p:cBhvr rctx="IE">
                                        <p:cTn id="54" dur="400" fill="hold"/>
                                        <p:tgtEl>
                                          <p:spTgt spid="302"/>
                                        </p:tgtEl>
                                      </p:cBhvr>
                                    </p:animEffect>
                                  </p:childTnLst>
                                </p:cTn>
                              </p:par>
                              <p:par>
                                <p:cTn id="55" presetID="9" presetClass="emph" presetSubtype="0" fill="hold" grpId="0" nodeType="withEffect">
                                  <p:stCondLst>
                                    <p:cond delay="0"/>
                                  </p:stCondLst>
                                  <p:childTnLst>
                                    <p:set>
                                      <p:cBhvr>
                                        <p:cTn id="56" dur="400" fill="hold"/>
                                        <p:tgtEl>
                                          <p:spTgt spid="305"/>
                                        </p:tgtEl>
                                        <p:attrNameLst>
                                          <p:attrName>style.opacity</p:attrName>
                                        </p:attrNameLst>
                                      </p:cBhvr>
                                      <p:to>
                                        <p:strVal val="0.2"/>
                                      </p:to>
                                    </p:set>
                                    <p:animEffect filter="image" prLst="opacity: 0.2">
                                      <p:cBhvr rctx="IE">
                                        <p:cTn id="57" dur="400" fill="hold"/>
                                        <p:tgtEl>
                                          <p:spTgt spid="305"/>
                                        </p:tgtEl>
                                      </p:cBhvr>
                                    </p:animEffect>
                                  </p:childTnLst>
                                </p:cTn>
                              </p:par>
                              <p:par>
                                <p:cTn id="58" presetID="9" presetClass="emph" presetSubtype="0" fill="hold" grpId="0" nodeType="withEffect">
                                  <p:stCondLst>
                                    <p:cond delay="0"/>
                                  </p:stCondLst>
                                  <p:childTnLst>
                                    <p:set>
                                      <p:cBhvr>
                                        <p:cTn id="59" dur="400" fill="hold"/>
                                        <p:tgtEl>
                                          <p:spTgt spid="306"/>
                                        </p:tgtEl>
                                        <p:attrNameLst>
                                          <p:attrName>style.opacity</p:attrName>
                                        </p:attrNameLst>
                                      </p:cBhvr>
                                      <p:to>
                                        <p:strVal val="0.2"/>
                                      </p:to>
                                    </p:set>
                                    <p:animEffect filter="image" prLst="opacity: 0.2">
                                      <p:cBhvr rctx="IE">
                                        <p:cTn id="60" dur="400" fill="hold"/>
                                        <p:tgtEl>
                                          <p:spTgt spid="306"/>
                                        </p:tgtEl>
                                      </p:cBhvr>
                                    </p:animEffect>
                                  </p:childTnLst>
                                </p:cTn>
                              </p:par>
                              <p:par>
                                <p:cTn id="61" presetID="9" presetClass="emph" presetSubtype="0" fill="hold" grpId="0" nodeType="withEffect">
                                  <p:stCondLst>
                                    <p:cond delay="0"/>
                                  </p:stCondLst>
                                  <p:childTnLst>
                                    <p:set>
                                      <p:cBhvr>
                                        <p:cTn id="62" dur="400" fill="hold"/>
                                        <p:tgtEl>
                                          <p:spTgt spid="309"/>
                                        </p:tgtEl>
                                        <p:attrNameLst>
                                          <p:attrName>style.opacity</p:attrName>
                                        </p:attrNameLst>
                                      </p:cBhvr>
                                      <p:to>
                                        <p:strVal val="0.2"/>
                                      </p:to>
                                    </p:set>
                                    <p:animEffect filter="image" prLst="opacity: 0.2">
                                      <p:cBhvr rctx="IE">
                                        <p:cTn id="63" dur="400" fill="hold"/>
                                        <p:tgtEl>
                                          <p:spTgt spid="309"/>
                                        </p:tgtEl>
                                      </p:cBhvr>
                                    </p:animEffect>
                                  </p:childTnLst>
                                </p:cTn>
                              </p:par>
                              <p:par>
                                <p:cTn id="64" presetID="9" presetClass="emph" presetSubtype="0" fill="hold" grpId="0" nodeType="withEffect">
                                  <p:stCondLst>
                                    <p:cond delay="0"/>
                                  </p:stCondLst>
                                  <p:childTnLst>
                                    <p:set>
                                      <p:cBhvr>
                                        <p:cTn id="65" dur="400" fill="hold"/>
                                        <p:tgtEl>
                                          <p:spTgt spid="310"/>
                                        </p:tgtEl>
                                        <p:attrNameLst>
                                          <p:attrName>style.opacity</p:attrName>
                                        </p:attrNameLst>
                                      </p:cBhvr>
                                      <p:to>
                                        <p:strVal val="0.2"/>
                                      </p:to>
                                    </p:set>
                                    <p:animEffect filter="image" prLst="opacity: 0.2">
                                      <p:cBhvr rctx="IE">
                                        <p:cTn id="66" dur="400" fill="hold"/>
                                        <p:tgtEl>
                                          <p:spTgt spid="310"/>
                                        </p:tgtEl>
                                      </p:cBhvr>
                                    </p:animEffect>
                                  </p:childTnLst>
                                </p:cTn>
                              </p:par>
                              <p:par>
                                <p:cTn id="67" presetID="9" presetClass="emph" presetSubtype="0" fill="hold" grpId="0" nodeType="withEffect">
                                  <p:stCondLst>
                                    <p:cond delay="0"/>
                                  </p:stCondLst>
                                  <p:childTnLst>
                                    <p:set>
                                      <p:cBhvr>
                                        <p:cTn id="68" dur="400" fill="hold"/>
                                        <p:tgtEl>
                                          <p:spTgt spid="313"/>
                                        </p:tgtEl>
                                        <p:attrNameLst>
                                          <p:attrName>style.opacity</p:attrName>
                                        </p:attrNameLst>
                                      </p:cBhvr>
                                      <p:to>
                                        <p:strVal val="0.2"/>
                                      </p:to>
                                    </p:set>
                                    <p:animEffect filter="image" prLst="opacity: 0.2">
                                      <p:cBhvr rctx="IE">
                                        <p:cTn id="69" dur="400" fill="hold"/>
                                        <p:tgtEl>
                                          <p:spTgt spid="313"/>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mph" presetSubtype="0" fill="hold" grpId="1" nodeType="clickEffect">
                                  <p:stCondLst>
                                    <p:cond delay="0"/>
                                  </p:stCondLst>
                                  <p:childTnLst>
                                    <p:set>
                                      <p:cBhvr>
                                        <p:cTn id="73" dur="400" fill="hold"/>
                                        <p:tgtEl>
                                          <p:spTgt spid="408"/>
                                        </p:tgtEl>
                                        <p:attrNameLst>
                                          <p:attrName>style.opacity</p:attrName>
                                        </p:attrNameLst>
                                      </p:cBhvr>
                                      <p:to>
                                        <p:strVal val="1"/>
                                      </p:to>
                                    </p:set>
                                    <p:animEffect filter="image" prLst="opacity: 1">
                                      <p:cBhvr rctx="IE">
                                        <p:cTn id="74" dur="400" fill="hold"/>
                                        <p:tgtEl>
                                          <p:spTgt spid="408"/>
                                        </p:tgtEl>
                                      </p:cBhvr>
                                    </p:animEffect>
                                  </p:childTnLst>
                                </p:cTn>
                              </p:par>
                              <p:par>
                                <p:cTn id="75" presetID="9" presetClass="emph" presetSubtype="0" fill="hold" grpId="1" nodeType="withEffect">
                                  <p:stCondLst>
                                    <p:cond delay="0"/>
                                  </p:stCondLst>
                                  <p:childTnLst>
                                    <p:set>
                                      <p:cBhvr>
                                        <p:cTn id="76" dur="400" fill="hold"/>
                                        <p:tgtEl>
                                          <p:spTgt spid="404"/>
                                        </p:tgtEl>
                                        <p:attrNameLst>
                                          <p:attrName>style.opacity</p:attrName>
                                        </p:attrNameLst>
                                      </p:cBhvr>
                                      <p:to>
                                        <p:strVal val="1"/>
                                      </p:to>
                                    </p:set>
                                    <p:animEffect filter="image" prLst="opacity: 1">
                                      <p:cBhvr rctx="IE">
                                        <p:cTn id="77" dur="400" fill="hold"/>
                                        <p:tgtEl>
                                          <p:spTgt spid="404"/>
                                        </p:tgtEl>
                                      </p:cBhvr>
                                    </p:animEffect>
                                  </p:childTnLst>
                                </p:cTn>
                              </p:par>
                              <p:par>
                                <p:cTn id="78" presetID="9" presetClass="emph" presetSubtype="0" fill="hold" grpId="1" nodeType="withEffect">
                                  <p:stCondLst>
                                    <p:cond delay="0"/>
                                  </p:stCondLst>
                                  <p:childTnLst>
                                    <p:set>
                                      <p:cBhvr>
                                        <p:cTn id="79" dur="400" fill="hold"/>
                                        <p:tgtEl>
                                          <p:spTgt spid="405"/>
                                        </p:tgtEl>
                                        <p:attrNameLst>
                                          <p:attrName>style.opacity</p:attrName>
                                        </p:attrNameLst>
                                      </p:cBhvr>
                                      <p:to>
                                        <p:strVal val="1"/>
                                      </p:to>
                                    </p:set>
                                    <p:animEffect filter="image" prLst="opacity: 1">
                                      <p:cBhvr rctx="IE">
                                        <p:cTn id="80" dur="400" fill="hold"/>
                                        <p:tgtEl>
                                          <p:spTgt spid="405"/>
                                        </p:tgtEl>
                                      </p:cBhvr>
                                    </p:animEffect>
                                  </p:childTnLst>
                                </p:cTn>
                              </p:par>
                              <p:par>
                                <p:cTn id="81" presetID="9" presetClass="emph" presetSubtype="0" fill="hold" grpId="2" nodeType="withEffect">
                                  <p:stCondLst>
                                    <p:cond delay="0"/>
                                  </p:stCondLst>
                                  <p:childTnLst>
                                    <p:set>
                                      <p:cBhvr>
                                        <p:cTn id="82" dur="400" fill="hold"/>
                                        <p:tgtEl>
                                          <p:spTgt spid="407"/>
                                        </p:tgtEl>
                                        <p:attrNameLst>
                                          <p:attrName>style.opacity</p:attrName>
                                        </p:attrNameLst>
                                      </p:cBhvr>
                                      <p:to>
                                        <p:strVal val="0.2"/>
                                      </p:to>
                                    </p:set>
                                    <p:animEffect filter="image" prLst="opacity: 0.2">
                                      <p:cBhvr rctx="IE">
                                        <p:cTn id="83" dur="400" fill="hold"/>
                                        <p:tgtEl>
                                          <p:spTgt spid="407"/>
                                        </p:tgtEl>
                                      </p:cBhvr>
                                    </p:animEffect>
                                  </p:childTnLst>
                                </p:cTn>
                              </p:par>
                              <p:par>
                                <p:cTn id="84" presetID="9" presetClass="emph" presetSubtype="0" fill="hold" grpId="2" nodeType="withEffect">
                                  <p:stCondLst>
                                    <p:cond delay="0"/>
                                  </p:stCondLst>
                                  <p:childTnLst>
                                    <p:set>
                                      <p:cBhvr>
                                        <p:cTn id="85" dur="400" fill="hold"/>
                                        <p:tgtEl>
                                          <p:spTgt spid="400"/>
                                        </p:tgtEl>
                                        <p:attrNameLst>
                                          <p:attrName>style.opacity</p:attrName>
                                        </p:attrNameLst>
                                      </p:cBhvr>
                                      <p:to>
                                        <p:strVal val="0.2"/>
                                      </p:to>
                                    </p:set>
                                    <p:animEffect filter="image" prLst="opacity: 0.2">
                                      <p:cBhvr rctx="IE">
                                        <p:cTn id="86" dur="400" fill="hold"/>
                                        <p:tgtEl>
                                          <p:spTgt spid="400"/>
                                        </p:tgtEl>
                                      </p:cBhvr>
                                    </p:animEffect>
                                  </p:childTnLst>
                                </p:cTn>
                              </p:par>
                              <p:par>
                                <p:cTn id="87" presetID="9" presetClass="emph" presetSubtype="0" fill="hold" grpId="2" nodeType="withEffect">
                                  <p:stCondLst>
                                    <p:cond delay="0"/>
                                  </p:stCondLst>
                                  <p:childTnLst>
                                    <p:set>
                                      <p:cBhvr>
                                        <p:cTn id="88" dur="400" fill="hold"/>
                                        <p:tgtEl>
                                          <p:spTgt spid="401"/>
                                        </p:tgtEl>
                                        <p:attrNameLst>
                                          <p:attrName>style.opacity</p:attrName>
                                        </p:attrNameLst>
                                      </p:cBhvr>
                                      <p:to>
                                        <p:strVal val="0.2"/>
                                      </p:to>
                                    </p:set>
                                    <p:animEffect filter="image" prLst="opacity: 0.2">
                                      <p:cBhvr rctx="IE">
                                        <p:cTn id="89" dur="400" fill="hold"/>
                                        <p:tgtEl>
                                          <p:spTgt spid="401"/>
                                        </p:tgtEl>
                                      </p:cBhvr>
                                    </p:animEffect>
                                  </p:childTnLst>
                                </p:cTn>
                              </p:par>
                              <p:par>
                                <p:cTn id="90" presetID="9" presetClass="emph" presetSubtype="0" fill="hold" grpId="2" nodeType="withEffect">
                                  <p:stCondLst>
                                    <p:cond delay="0"/>
                                  </p:stCondLst>
                                  <p:childTnLst>
                                    <p:set>
                                      <p:cBhvr>
                                        <p:cTn id="91" dur="400" fill="hold"/>
                                        <p:tgtEl>
                                          <p:spTgt spid="402"/>
                                        </p:tgtEl>
                                        <p:attrNameLst>
                                          <p:attrName>style.opacity</p:attrName>
                                        </p:attrNameLst>
                                      </p:cBhvr>
                                      <p:to>
                                        <p:strVal val="0.2"/>
                                      </p:to>
                                    </p:set>
                                    <p:animEffect filter="image" prLst="opacity: 0.2">
                                      <p:cBhvr rctx="IE">
                                        <p:cTn id="92" dur="400" fill="hold"/>
                                        <p:tgtEl>
                                          <p:spTgt spid="402"/>
                                        </p:tgtEl>
                                      </p:cBhvr>
                                    </p:animEffect>
                                  </p:childTnLst>
                                </p:cTn>
                              </p:par>
                              <p:par>
                                <p:cTn id="93" presetID="9" presetClass="emph" presetSubtype="0" fill="hold" grpId="2" nodeType="withEffect">
                                  <p:stCondLst>
                                    <p:cond delay="0"/>
                                  </p:stCondLst>
                                  <p:childTnLst>
                                    <p:set>
                                      <p:cBhvr>
                                        <p:cTn id="94" dur="400" fill="hold"/>
                                        <p:tgtEl>
                                          <p:spTgt spid="403"/>
                                        </p:tgtEl>
                                        <p:attrNameLst>
                                          <p:attrName>style.opacity</p:attrName>
                                        </p:attrNameLst>
                                      </p:cBhvr>
                                      <p:to>
                                        <p:strVal val="0.2"/>
                                      </p:to>
                                    </p:set>
                                    <p:animEffect filter="image" prLst="opacity: 0.2">
                                      <p:cBhvr rctx="IE">
                                        <p:cTn id="95" dur="400" fill="hold"/>
                                        <p:tgtEl>
                                          <p:spTgt spid="403"/>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mph" presetSubtype="0" fill="hold" grpId="1" nodeType="clickEffect">
                                  <p:stCondLst>
                                    <p:cond delay="0"/>
                                  </p:stCondLst>
                                  <p:childTnLst>
                                    <p:set>
                                      <p:cBhvr>
                                        <p:cTn id="99" dur="400" fill="hold"/>
                                        <p:tgtEl>
                                          <p:spTgt spid="406"/>
                                        </p:tgtEl>
                                        <p:attrNameLst>
                                          <p:attrName>style.opacity</p:attrName>
                                        </p:attrNameLst>
                                      </p:cBhvr>
                                      <p:to>
                                        <p:strVal val="1"/>
                                      </p:to>
                                    </p:set>
                                    <p:animEffect filter="image" prLst="opacity: 1">
                                      <p:cBhvr rctx="IE">
                                        <p:cTn id="100" dur="400" fill="hold"/>
                                        <p:tgtEl>
                                          <p:spTgt spid="406"/>
                                        </p:tgtEl>
                                      </p:cBhvr>
                                    </p:animEffect>
                                  </p:childTnLst>
                                </p:cTn>
                              </p:par>
                              <p:par>
                                <p:cTn id="101" presetID="9" presetClass="emph" presetSubtype="0" fill="hold" grpId="1" nodeType="withEffect">
                                  <p:stCondLst>
                                    <p:cond delay="0"/>
                                  </p:stCondLst>
                                  <p:childTnLst>
                                    <p:set>
                                      <p:cBhvr>
                                        <p:cTn id="102" dur="400" fill="hold"/>
                                        <p:tgtEl>
                                          <p:spTgt spid="301"/>
                                        </p:tgtEl>
                                        <p:attrNameLst>
                                          <p:attrName>style.opacity</p:attrName>
                                        </p:attrNameLst>
                                      </p:cBhvr>
                                      <p:to>
                                        <p:strVal val="1"/>
                                      </p:to>
                                    </p:set>
                                    <p:animEffect filter="image" prLst="opacity: 1">
                                      <p:cBhvr rctx="IE">
                                        <p:cTn id="103" dur="400" fill="hold"/>
                                        <p:tgtEl>
                                          <p:spTgt spid="301"/>
                                        </p:tgtEl>
                                      </p:cBhvr>
                                    </p:animEffect>
                                  </p:childTnLst>
                                </p:cTn>
                              </p:par>
                              <p:par>
                                <p:cTn id="104" presetID="9" presetClass="emph" presetSubtype="0" fill="hold" grpId="1" nodeType="withEffect">
                                  <p:stCondLst>
                                    <p:cond delay="0"/>
                                  </p:stCondLst>
                                  <p:childTnLst>
                                    <p:set>
                                      <p:cBhvr>
                                        <p:cTn id="105" dur="400" fill="hold"/>
                                        <p:tgtEl>
                                          <p:spTgt spid="302"/>
                                        </p:tgtEl>
                                        <p:attrNameLst>
                                          <p:attrName>style.opacity</p:attrName>
                                        </p:attrNameLst>
                                      </p:cBhvr>
                                      <p:to>
                                        <p:strVal val="1"/>
                                      </p:to>
                                    </p:set>
                                    <p:animEffect filter="image" prLst="opacity: 1">
                                      <p:cBhvr rctx="IE">
                                        <p:cTn id="106" dur="400" fill="hold"/>
                                        <p:tgtEl>
                                          <p:spTgt spid="302"/>
                                        </p:tgtEl>
                                      </p:cBhvr>
                                    </p:animEffect>
                                  </p:childTnLst>
                                </p:cTn>
                              </p:par>
                              <p:par>
                                <p:cTn id="107" presetID="9" presetClass="emph" presetSubtype="0" fill="hold" grpId="1" nodeType="withEffect">
                                  <p:stCondLst>
                                    <p:cond delay="0"/>
                                  </p:stCondLst>
                                  <p:childTnLst>
                                    <p:set>
                                      <p:cBhvr>
                                        <p:cTn id="108" dur="400" fill="hold"/>
                                        <p:tgtEl>
                                          <p:spTgt spid="305"/>
                                        </p:tgtEl>
                                        <p:attrNameLst>
                                          <p:attrName>style.opacity</p:attrName>
                                        </p:attrNameLst>
                                      </p:cBhvr>
                                      <p:to>
                                        <p:strVal val="1"/>
                                      </p:to>
                                    </p:set>
                                    <p:animEffect filter="image" prLst="opacity: 1">
                                      <p:cBhvr rctx="IE">
                                        <p:cTn id="109" dur="400" fill="hold"/>
                                        <p:tgtEl>
                                          <p:spTgt spid="305"/>
                                        </p:tgtEl>
                                      </p:cBhvr>
                                    </p:animEffect>
                                  </p:childTnLst>
                                </p:cTn>
                              </p:par>
                              <p:par>
                                <p:cTn id="110" presetID="9" presetClass="emph" presetSubtype="0" fill="hold" grpId="1" nodeType="withEffect">
                                  <p:stCondLst>
                                    <p:cond delay="0"/>
                                  </p:stCondLst>
                                  <p:childTnLst>
                                    <p:set>
                                      <p:cBhvr>
                                        <p:cTn id="111" dur="400" fill="hold"/>
                                        <p:tgtEl>
                                          <p:spTgt spid="306"/>
                                        </p:tgtEl>
                                        <p:attrNameLst>
                                          <p:attrName>style.opacity</p:attrName>
                                        </p:attrNameLst>
                                      </p:cBhvr>
                                      <p:to>
                                        <p:strVal val="1"/>
                                      </p:to>
                                    </p:set>
                                    <p:animEffect filter="image" prLst="opacity: 1">
                                      <p:cBhvr rctx="IE">
                                        <p:cTn id="112" dur="400" fill="hold"/>
                                        <p:tgtEl>
                                          <p:spTgt spid="306"/>
                                        </p:tgtEl>
                                      </p:cBhvr>
                                    </p:animEffect>
                                  </p:childTnLst>
                                </p:cTn>
                              </p:par>
                              <p:par>
                                <p:cTn id="113" presetID="9" presetClass="emph" presetSubtype="0" fill="hold" grpId="1" nodeType="withEffect">
                                  <p:stCondLst>
                                    <p:cond delay="0"/>
                                  </p:stCondLst>
                                  <p:childTnLst>
                                    <p:set>
                                      <p:cBhvr>
                                        <p:cTn id="114" dur="400" fill="hold"/>
                                        <p:tgtEl>
                                          <p:spTgt spid="309"/>
                                        </p:tgtEl>
                                        <p:attrNameLst>
                                          <p:attrName>style.opacity</p:attrName>
                                        </p:attrNameLst>
                                      </p:cBhvr>
                                      <p:to>
                                        <p:strVal val="1"/>
                                      </p:to>
                                    </p:set>
                                    <p:animEffect filter="image" prLst="opacity: 1">
                                      <p:cBhvr rctx="IE">
                                        <p:cTn id="115" dur="400" fill="hold"/>
                                        <p:tgtEl>
                                          <p:spTgt spid="309"/>
                                        </p:tgtEl>
                                      </p:cBhvr>
                                    </p:animEffect>
                                  </p:childTnLst>
                                </p:cTn>
                              </p:par>
                              <p:par>
                                <p:cTn id="116" presetID="9" presetClass="emph" presetSubtype="0" fill="hold" grpId="1" nodeType="withEffect">
                                  <p:stCondLst>
                                    <p:cond delay="0"/>
                                  </p:stCondLst>
                                  <p:childTnLst>
                                    <p:set>
                                      <p:cBhvr>
                                        <p:cTn id="117" dur="400" fill="hold"/>
                                        <p:tgtEl>
                                          <p:spTgt spid="310"/>
                                        </p:tgtEl>
                                        <p:attrNameLst>
                                          <p:attrName>style.opacity</p:attrName>
                                        </p:attrNameLst>
                                      </p:cBhvr>
                                      <p:to>
                                        <p:strVal val="1"/>
                                      </p:to>
                                    </p:set>
                                    <p:animEffect filter="image" prLst="opacity: 1">
                                      <p:cBhvr rctx="IE">
                                        <p:cTn id="118" dur="400" fill="hold"/>
                                        <p:tgtEl>
                                          <p:spTgt spid="310"/>
                                        </p:tgtEl>
                                      </p:cBhvr>
                                    </p:animEffect>
                                  </p:childTnLst>
                                </p:cTn>
                              </p:par>
                              <p:par>
                                <p:cTn id="119" presetID="9" presetClass="emph" presetSubtype="0" fill="hold" grpId="1" nodeType="withEffect">
                                  <p:stCondLst>
                                    <p:cond delay="0"/>
                                  </p:stCondLst>
                                  <p:childTnLst>
                                    <p:set>
                                      <p:cBhvr>
                                        <p:cTn id="120" dur="400" fill="hold"/>
                                        <p:tgtEl>
                                          <p:spTgt spid="313"/>
                                        </p:tgtEl>
                                        <p:attrNameLst>
                                          <p:attrName>style.opacity</p:attrName>
                                        </p:attrNameLst>
                                      </p:cBhvr>
                                      <p:to>
                                        <p:strVal val="1"/>
                                      </p:to>
                                    </p:set>
                                    <p:animEffect filter="image" prLst="opacity: 1">
                                      <p:cBhvr rctx="IE">
                                        <p:cTn id="121" dur="400" fill="hold"/>
                                        <p:tgtEl>
                                          <p:spTgt spid="313"/>
                                        </p:tgtEl>
                                      </p:cBhvr>
                                    </p:animEffect>
                                  </p:childTnLst>
                                </p:cTn>
                              </p:par>
                              <p:par>
                                <p:cTn id="122" presetID="9" presetClass="emph" presetSubtype="0" fill="hold" grpId="3" nodeType="withEffect">
                                  <p:stCondLst>
                                    <p:cond delay="0"/>
                                  </p:stCondLst>
                                  <p:childTnLst>
                                    <p:set>
                                      <p:cBhvr>
                                        <p:cTn id="123" dur="400" fill="hold"/>
                                        <p:tgtEl>
                                          <p:spTgt spid="407"/>
                                        </p:tgtEl>
                                        <p:attrNameLst>
                                          <p:attrName>style.opacity</p:attrName>
                                        </p:attrNameLst>
                                      </p:cBhvr>
                                      <p:to>
                                        <p:strVal val="1"/>
                                      </p:to>
                                    </p:set>
                                    <p:animEffect filter="image" prLst="opacity: 1">
                                      <p:cBhvr rctx="IE">
                                        <p:cTn id="124" dur="400" fill="hold"/>
                                        <p:tgtEl>
                                          <p:spTgt spid="407"/>
                                        </p:tgtEl>
                                      </p:cBhvr>
                                    </p:animEffect>
                                  </p:childTnLst>
                                </p:cTn>
                              </p:par>
                              <p:par>
                                <p:cTn id="125" presetID="9" presetClass="emph" presetSubtype="0" fill="hold" grpId="3" nodeType="withEffect">
                                  <p:stCondLst>
                                    <p:cond delay="0"/>
                                  </p:stCondLst>
                                  <p:childTnLst>
                                    <p:set>
                                      <p:cBhvr>
                                        <p:cTn id="126" dur="400" fill="hold"/>
                                        <p:tgtEl>
                                          <p:spTgt spid="400"/>
                                        </p:tgtEl>
                                        <p:attrNameLst>
                                          <p:attrName>style.opacity</p:attrName>
                                        </p:attrNameLst>
                                      </p:cBhvr>
                                      <p:to>
                                        <p:strVal val="1"/>
                                      </p:to>
                                    </p:set>
                                    <p:animEffect filter="image" prLst="opacity: 1">
                                      <p:cBhvr rctx="IE">
                                        <p:cTn id="127" dur="400" fill="hold"/>
                                        <p:tgtEl>
                                          <p:spTgt spid="400"/>
                                        </p:tgtEl>
                                      </p:cBhvr>
                                    </p:animEffect>
                                  </p:childTnLst>
                                </p:cTn>
                              </p:par>
                              <p:par>
                                <p:cTn id="128" presetID="9" presetClass="emph" presetSubtype="0" fill="hold" grpId="3" nodeType="withEffect">
                                  <p:stCondLst>
                                    <p:cond delay="0"/>
                                  </p:stCondLst>
                                  <p:childTnLst>
                                    <p:set>
                                      <p:cBhvr>
                                        <p:cTn id="129" dur="400" fill="hold"/>
                                        <p:tgtEl>
                                          <p:spTgt spid="401"/>
                                        </p:tgtEl>
                                        <p:attrNameLst>
                                          <p:attrName>style.opacity</p:attrName>
                                        </p:attrNameLst>
                                      </p:cBhvr>
                                      <p:to>
                                        <p:strVal val="1"/>
                                      </p:to>
                                    </p:set>
                                    <p:animEffect filter="image" prLst="opacity: 1">
                                      <p:cBhvr rctx="IE">
                                        <p:cTn id="130" dur="400" fill="hold"/>
                                        <p:tgtEl>
                                          <p:spTgt spid="401"/>
                                        </p:tgtEl>
                                      </p:cBhvr>
                                    </p:animEffect>
                                  </p:childTnLst>
                                </p:cTn>
                              </p:par>
                              <p:par>
                                <p:cTn id="131" presetID="9" presetClass="emph" presetSubtype="0" fill="hold" grpId="3" nodeType="withEffect">
                                  <p:stCondLst>
                                    <p:cond delay="0"/>
                                  </p:stCondLst>
                                  <p:childTnLst>
                                    <p:set>
                                      <p:cBhvr>
                                        <p:cTn id="132" dur="400" fill="hold"/>
                                        <p:tgtEl>
                                          <p:spTgt spid="402"/>
                                        </p:tgtEl>
                                        <p:attrNameLst>
                                          <p:attrName>style.opacity</p:attrName>
                                        </p:attrNameLst>
                                      </p:cBhvr>
                                      <p:to>
                                        <p:strVal val="1"/>
                                      </p:to>
                                    </p:set>
                                    <p:animEffect filter="image" prLst="opacity: 1">
                                      <p:cBhvr rctx="IE">
                                        <p:cTn id="133" dur="400" fill="hold"/>
                                        <p:tgtEl>
                                          <p:spTgt spid="402"/>
                                        </p:tgtEl>
                                      </p:cBhvr>
                                    </p:animEffect>
                                  </p:childTnLst>
                                </p:cTn>
                              </p:par>
                              <p:par>
                                <p:cTn id="134" presetID="9" presetClass="emph" presetSubtype="0" fill="hold" grpId="3" nodeType="withEffect">
                                  <p:stCondLst>
                                    <p:cond delay="0"/>
                                  </p:stCondLst>
                                  <p:childTnLst>
                                    <p:set>
                                      <p:cBhvr>
                                        <p:cTn id="135" dur="400" fill="hold"/>
                                        <p:tgtEl>
                                          <p:spTgt spid="403"/>
                                        </p:tgtEl>
                                        <p:attrNameLst>
                                          <p:attrName>style.opacity</p:attrName>
                                        </p:attrNameLst>
                                      </p:cBhvr>
                                      <p:to>
                                        <p:strVal val="1"/>
                                      </p:to>
                                    </p:set>
                                    <p:animEffect filter="image" prLst="opacity: 1">
                                      <p:cBhvr rctx="IE">
                                        <p:cTn id="136" dur="400" fill="hold"/>
                                        <p:tgtEl>
                                          <p:spTgt spid="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 grpId="0" animBg="1"/>
      <p:bldP spid="301" grpId="1" animBg="1"/>
      <p:bldP spid="302" grpId="0" animBg="1"/>
      <p:bldP spid="302" grpId="1" animBg="1"/>
      <p:bldP spid="305" grpId="0" animBg="1"/>
      <p:bldP spid="305" grpId="1" animBg="1"/>
      <p:bldP spid="306" grpId="0" animBg="1"/>
      <p:bldP spid="306" grpId="1" animBg="1"/>
      <p:bldP spid="309" grpId="0" animBg="1"/>
      <p:bldP spid="309" grpId="1" animBg="1"/>
      <p:bldP spid="310" grpId="0" animBg="1"/>
      <p:bldP spid="310" grpId="1" animBg="1"/>
      <p:bldP spid="313" grpId="0" animBg="1"/>
      <p:bldP spid="313" grpId="1" animBg="1"/>
      <p:bldP spid="400" grpId="0" animBg="1"/>
      <p:bldP spid="400" grpId="1" animBg="1"/>
      <p:bldP spid="400" grpId="2" animBg="1"/>
      <p:bldP spid="400" grpId="3" animBg="1"/>
      <p:bldP spid="401" grpId="0" animBg="1"/>
      <p:bldP spid="401" grpId="1" animBg="1"/>
      <p:bldP spid="401" grpId="2" animBg="1"/>
      <p:bldP spid="401" grpId="3" animBg="1"/>
      <p:bldP spid="402" grpId="0" animBg="1"/>
      <p:bldP spid="402" grpId="1" animBg="1"/>
      <p:bldP spid="402" grpId="2" animBg="1"/>
      <p:bldP spid="402" grpId="3" animBg="1"/>
      <p:bldP spid="403" grpId="0" animBg="1"/>
      <p:bldP spid="403" grpId="1" animBg="1"/>
      <p:bldP spid="403" grpId="2" animBg="1"/>
      <p:bldP spid="403" grpId="3" animBg="1"/>
      <p:bldP spid="404" grpId="0" animBg="1"/>
      <p:bldP spid="404" grpId="1" animBg="1"/>
      <p:bldP spid="405" grpId="0" animBg="1"/>
      <p:bldP spid="405" grpId="1" animBg="1"/>
      <p:bldP spid="406" grpId="0" animBg="1"/>
      <p:bldP spid="406" grpId="1" animBg="1"/>
      <p:bldP spid="407" grpId="0" animBg="1"/>
      <p:bldP spid="407" grpId="1" animBg="1"/>
      <p:bldP spid="407" grpId="2" animBg="1"/>
      <p:bldP spid="407" grpId="3" animBg="1"/>
      <p:bldP spid="408" grpId="0" animBg="1"/>
      <p:bldP spid="40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Statistical Analysis: Spline Model</a:t>
            </a:r>
          </a:p>
        </p:txBody>
      </p:sp>
      <p:sp>
        <p:nvSpPr>
          <p:cNvPr id="3" name="Content Placeholder 2"/>
          <p:cNvSpPr>
            <a:spLocks noGrp="1"/>
          </p:cNvSpPr>
          <p:nvPr>
            <p:ph idx="1"/>
          </p:nvPr>
        </p:nvSpPr>
        <p:spPr/>
        <p:txBody>
          <a:bodyPr wrap="square">
            <a:noAutofit/>
          </a:bodyPr>
          <a:lstStyle/>
          <a:p>
            <a:pPr>
              <a:lnSpc>
                <a:spcPct val="130000"/>
              </a:lnSpc>
              <a:spcAft>
                <a:spcPts val="800"/>
              </a:spcAft>
            </a:pPr>
            <a:r>
              <a:rPr lang="en-US" sz="2000" dirty="0"/>
              <a:t>Poisson regression → prevalence ratios; design-based variances (state strata, community PSUs, Taylor linearization)</a:t>
            </a:r>
          </a:p>
          <a:p>
            <a:pPr>
              <a:lnSpc>
                <a:spcPct val="130000"/>
              </a:lnSpc>
              <a:spcAft>
                <a:spcPts val="800"/>
              </a:spcAft>
            </a:pPr>
            <a:r>
              <a:rPr lang="en-US" sz="2000" dirty="0"/>
              <a:t>Trauma entered continuously as a restricted cubic spline (knots 0, 2, 5)</a:t>
            </a:r>
          </a:p>
          <a:p>
            <a:pPr lvl="1">
              <a:lnSpc>
                <a:spcPct val="130000"/>
              </a:lnSpc>
              <a:spcAft>
                <a:spcPts val="400"/>
              </a:spcAft>
            </a:pPr>
            <a:r>
              <a:rPr lang="en-US" sz="1600" dirty="0"/>
              <a:t>Smooth curve segments joined at knots — the data chooses the shape; categories would impose it</a:t>
            </a:r>
          </a:p>
          <a:p>
            <a:pPr>
              <a:lnSpc>
                <a:spcPct val="130000"/>
              </a:lnSpc>
              <a:spcAft>
                <a:spcPts val="800"/>
              </a:spcAft>
            </a:pPr>
            <a:r>
              <a:rPr lang="en-US" sz="2000" dirty="0"/>
              <a:t>H1: trauma × stressor interaction, adjusted Wald test</a:t>
            </a:r>
          </a:p>
          <a:p>
            <a:pPr>
              <a:lnSpc>
                <a:spcPct val="130000"/>
              </a:lnSpc>
              <a:spcAft>
                <a:spcPts val="800"/>
              </a:spcAft>
            </a:pPr>
            <a:r>
              <a:rPr lang="en-US" sz="2000" dirty="0"/>
              <a:t>H2: direction and shape of that same interaction across the trauma spline, on both scales</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280026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Statistical Analysis: Scales and Sensitivity</a:t>
            </a:r>
            <a:endParaRPr dirty="0"/>
          </a:p>
        </p:txBody>
      </p:sp>
      <p:sp>
        <p:nvSpPr>
          <p:cNvPr id="3" name="Content Placeholder 2"/>
          <p:cNvSpPr>
            <a:spLocks noGrp="1"/>
          </p:cNvSpPr>
          <p:nvPr>
            <p:ph idx="1"/>
          </p:nvPr>
        </p:nvSpPr>
        <p:spPr/>
        <p:txBody>
          <a:bodyPr wrap="square"/>
          <a:lstStyle/>
          <a:p>
            <a:pPr>
              <a:lnSpc>
                <a:spcPct val="130000"/>
              </a:lnSpc>
              <a:spcAft>
                <a:spcPts val="400"/>
              </a:spcAft>
            </a:pPr>
            <a:r>
              <a:rPr lang="en-US" sz="2000" dirty="0"/>
              <a:t>Both scales: per-stressor prevalence ratios AND absolute differences in model-predicted prevalence (Stata margins: predictions at fixed trauma and stressor values, averaged over each participant's own covariates)</a:t>
            </a:r>
          </a:p>
          <a:p>
            <a:pPr lvl="1">
              <a:lnSpc>
                <a:spcPct val="130000"/>
              </a:lnSpc>
              <a:spcAft>
                <a:spcPts val="1200"/>
              </a:spcAft>
            </a:pPr>
            <a:r>
              <a:rPr lang="en-US" sz="1600" dirty="0"/>
              <a:t>Targeting claims rest on absolute risk</a:t>
            </a:r>
          </a:p>
          <a:p>
            <a:pPr>
              <a:lnSpc>
                <a:spcPct val="130000"/>
              </a:lnSpc>
              <a:spcAft>
                <a:spcPts val="400"/>
              </a:spcAft>
            </a:pPr>
            <a:r>
              <a:rPr lang="en-US" sz="2000" dirty="0"/>
              <a:t>Prespecified sensitivity analyses:</a:t>
            </a:r>
          </a:p>
          <a:p>
            <a:pPr lvl="1">
              <a:lnSpc>
                <a:spcPct val="130000"/>
              </a:lnSpc>
              <a:spcAft>
                <a:spcPts val="400"/>
              </a:spcAft>
            </a:pPr>
            <a:r>
              <a:rPr lang="en-US" sz="1600" dirty="0"/>
              <a:t>Alternative cut-offs: PCL-5 ≥ 33, PHQ-9 ≥ 15, GAD-7 ≥ 7</a:t>
            </a:r>
          </a:p>
          <a:p>
            <a:pPr lvl="1">
              <a:lnSpc>
                <a:spcPct val="130000"/>
              </a:lnSpc>
              <a:spcAft>
                <a:spcPts val="400"/>
              </a:spcAft>
            </a:pPr>
            <a:r>
              <a:rPr lang="en-US" sz="1600" dirty="0"/>
              <a:t>Continuous scores</a:t>
            </a:r>
          </a:p>
          <a:p>
            <a:pPr lvl="1">
              <a:lnSpc>
                <a:spcPct val="130000"/>
              </a:lnSpc>
              <a:spcAft>
                <a:spcPts val="1200"/>
              </a:spcAft>
            </a:pPr>
            <a:r>
              <a:rPr lang="en-US" sz="1600" dirty="0"/>
              <a:t>Categorical specification of trauma</a:t>
            </a:r>
          </a:p>
          <a:p>
            <a:pPr>
              <a:lnSpc>
                <a:spcPct val="130000"/>
              </a:lnSpc>
              <a:spcAft>
                <a:spcPts val="800"/>
              </a:spcAft>
            </a:pPr>
            <a:r>
              <a:rPr lang="en-US" sz="2000" dirty="0"/>
              <a:t>All analyses in Stata 19.5</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extLst>
      <p:ext uri="{BB962C8B-B14F-4D97-AF65-F5344CB8AC3E}">
        <p14:creationId xmlns:p14="http://schemas.microsoft.com/office/powerpoint/2010/main" val="2669071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3087-4595-A11A-39D6-7914633288A8}"/>
              </a:ext>
            </a:extLst>
          </p:cNvPr>
          <p:cNvSpPr>
            <a:spLocks noGrp="1"/>
          </p:cNvSpPr>
          <p:nvPr>
            <p:ph type="title"/>
          </p:nvPr>
        </p:nvSpPr>
        <p:spPr/>
        <p:txBody>
          <a:bodyPr/>
          <a:lstStyle/>
          <a:p>
            <a:r>
              <a:rPr lang="en-US" dirty="0"/>
              <a:t>Descriptive Data: Exposures</a:t>
            </a:r>
          </a:p>
        </p:txBody>
      </p:sp>
      <p:sp>
        <p:nvSpPr>
          <p:cNvPr id="301" name="R301"/>
          <p:cNvSpPr/>
          <p:nvPr/>
        </p:nvSpPr>
        <p:spPr>
          <a:xfrm>
            <a:off x="838200" y="1905000"/>
            <a:ext cx="5130800" cy="3683000"/>
          </a:xfrm>
          <a:prstGeom prst="roundRect">
            <a:avLst>
              <a:gd name="adj" fmla="val 4000"/>
            </a:avLst>
          </a:prstGeom>
          <a:solidFill>
            <a:srgbClr val="FFFFFF"/>
          </a:solidFill>
          <a:ln>
            <a:noFill/>
          </a:ln>
        </p:spPr>
        <p:txBody>
          <a:bodyPr/>
          <a:lstStyle/>
          <a:p>
            <a:endParaRPr/>
          </a:p>
        </p:txBody>
      </p:sp>
      <p:sp>
        <p:nvSpPr>
          <p:cNvPr id="302" name="T302"/>
          <p:cNvSpPr txBox="1"/>
          <p:nvPr/>
        </p:nvSpPr>
        <p:spPr>
          <a:xfrm>
            <a:off x="1117600" y="2082800"/>
            <a:ext cx="4572000" cy="685800"/>
          </a:xfrm>
          <a:prstGeom prst="rect">
            <a:avLst/>
          </a:prstGeom>
          <a:noFill/>
        </p:spPr>
        <p:txBody>
          <a:bodyPr wrap="square" lIns="0" tIns="0" rIns="0" bIns="0" anchor="t"/>
          <a:lstStyle/>
          <a:p>
            <a:pPr algn="l">
              <a:lnSpc>
                <a:spcPct val="130000"/>
              </a:lnSpc>
              <a:spcAft>
                <a:spcPts val="0"/>
              </a:spcAft>
              <a:buNone/>
            </a:pPr>
            <a:r>
              <a:rPr lang="en-US" sz="2000" dirty="0">
                <a:solidFill>
                  <a:srgbClr val="262626"/>
                </a:solidFill>
              </a:rPr>
              <a:t>Trauma exposure</a:t>
            </a:r>
          </a:p>
          <a:p>
            <a:pPr algn="l">
              <a:lnSpc>
                <a:spcPct val="130000"/>
              </a:lnSpc>
              <a:spcAft>
                <a:spcPts val="0"/>
              </a:spcAft>
              <a:buNone/>
            </a:pPr>
            <a:r>
              <a:rPr lang="en-US" sz="1400" dirty="0">
                <a:solidFill>
                  <a:srgbClr val="595959"/>
                </a:solidFill>
              </a:rPr>
              <a:t>Adapted Life Events Checklist; 12 types, lifetime</a:t>
            </a:r>
          </a:p>
        </p:txBody>
      </p:sp>
      <p:sp>
        <p:nvSpPr>
          <p:cNvPr id="303" name="R303"/>
          <p:cNvSpPr/>
          <p:nvPr/>
        </p:nvSpPr>
        <p:spPr>
          <a:xfrm>
            <a:off x="1117600" y="3022600"/>
            <a:ext cx="1273791" cy="431800"/>
          </a:xfrm>
          <a:prstGeom prst="rect">
            <a:avLst/>
          </a:prstGeom>
          <a:solidFill>
            <a:srgbClr val="C8102E"/>
          </a:solidFill>
          <a:ln>
            <a:noFill/>
          </a:ln>
        </p:spPr>
        <p:txBody>
          <a:bodyPr/>
          <a:lstStyle/>
          <a:p>
            <a:endParaRPr/>
          </a:p>
        </p:txBody>
      </p:sp>
      <p:sp>
        <p:nvSpPr>
          <p:cNvPr id="304" name="R304"/>
          <p:cNvSpPr/>
          <p:nvPr/>
        </p:nvSpPr>
        <p:spPr>
          <a:xfrm>
            <a:off x="2391391" y="3022600"/>
            <a:ext cx="2456597" cy="431800"/>
          </a:xfrm>
          <a:prstGeom prst="rect">
            <a:avLst/>
          </a:prstGeom>
          <a:solidFill>
            <a:srgbClr val="7FA8D9"/>
          </a:solidFill>
          <a:ln>
            <a:noFill/>
          </a:ln>
        </p:spPr>
        <p:txBody>
          <a:bodyPr/>
          <a:lstStyle/>
          <a:p>
            <a:endParaRPr/>
          </a:p>
        </p:txBody>
      </p:sp>
      <p:sp>
        <p:nvSpPr>
          <p:cNvPr id="305" name="R305"/>
          <p:cNvSpPr/>
          <p:nvPr/>
        </p:nvSpPr>
        <p:spPr>
          <a:xfrm>
            <a:off x="4847988" y="3022600"/>
            <a:ext cx="591403" cy="431800"/>
          </a:xfrm>
          <a:prstGeom prst="rect">
            <a:avLst/>
          </a:prstGeom>
          <a:solidFill>
            <a:srgbClr val="3E6FA5"/>
          </a:solidFill>
          <a:ln>
            <a:noFill/>
          </a:ln>
        </p:spPr>
        <p:txBody>
          <a:bodyPr/>
          <a:lstStyle/>
          <a:p>
            <a:endParaRPr/>
          </a:p>
        </p:txBody>
      </p:sp>
      <p:sp>
        <p:nvSpPr>
          <p:cNvPr id="306" name="R306"/>
          <p:cNvSpPr/>
          <p:nvPr/>
        </p:nvSpPr>
        <p:spPr>
          <a:xfrm>
            <a:off x="5439391" y="3022600"/>
            <a:ext cx="250209" cy="431800"/>
          </a:xfrm>
          <a:prstGeom prst="rect">
            <a:avLst/>
          </a:prstGeom>
          <a:solidFill>
            <a:srgbClr val="1E3A5C"/>
          </a:solidFill>
          <a:ln>
            <a:noFill/>
          </a:ln>
        </p:spPr>
        <p:txBody>
          <a:bodyPr/>
          <a:lstStyle/>
          <a:p>
            <a:endParaRPr/>
          </a:p>
        </p:txBody>
      </p:sp>
      <p:sp>
        <p:nvSpPr>
          <p:cNvPr id="307" name="R307"/>
          <p:cNvSpPr/>
          <p:nvPr/>
        </p:nvSpPr>
        <p:spPr>
          <a:xfrm>
            <a:off x="1117600" y="3759200"/>
            <a:ext cx="203200" cy="203200"/>
          </a:xfrm>
          <a:prstGeom prst="rect">
            <a:avLst/>
          </a:prstGeom>
          <a:solidFill>
            <a:srgbClr val="C8102E"/>
          </a:solidFill>
          <a:ln>
            <a:noFill/>
          </a:ln>
        </p:spPr>
        <p:txBody>
          <a:bodyPr/>
          <a:lstStyle/>
          <a:p>
            <a:endParaRPr/>
          </a:p>
        </p:txBody>
      </p:sp>
      <p:sp>
        <p:nvSpPr>
          <p:cNvPr id="308" name="T308"/>
          <p:cNvSpPr txBox="1"/>
          <p:nvPr/>
        </p:nvSpPr>
        <p:spPr>
          <a:xfrm>
            <a:off x="1447800" y="3683000"/>
            <a:ext cx="2794000" cy="3556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None</a:t>
            </a:r>
          </a:p>
        </p:txBody>
      </p:sp>
      <p:sp>
        <p:nvSpPr>
          <p:cNvPr id="309" name="T309"/>
          <p:cNvSpPr txBox="1"/>
          <p:nvPr/>
        </p:nvSpPr>
        <p:spPr>
          <a:xfrm>
            <a:off x="4572000" y="3683000"/>
            <a:ext cx="1117600" cy="355600"/>
          </a:xfrm>
          <a:prstGeom prst="rect">
            <a:avLst/>
          </a:prstGeom>
          <a:noFill/>
        </p:spPr>
        <p:txBody>
          <a:bodyPr wrap="square" lIns="0" tIns="0" rIns="0" bIns="0" anchor="ctr"/>
          <a:lstStyle/>
          <a:p>
            <a:pPr algn="r">
              <a:lnSpc>
                <a:spcPct val="130000"/>
              </a:lnSpc>
              <a:spcAft>
                <a:spcPts val="0"/>
              </a:spcAft>
              <a:buNone/>
            </a:pPr>
            <a:r>
              <a:rPr lang="en-US" sz="1600" dirty="0">
                <a:solidFill>
                  <a:srgbClr val="262626"/>
                </a:solidFill>
              </a:rPr>
              <a:t>28%</a:t>
            </a:r>
          </a:p>
        </p:txBody>
      </p:sp>
      <p:sp>
        <p:nvSpPr>
          <p:cNvPr id="310" name="R310"/>
          <p:cNvSpPr/>
          <p:nvPr/>
        </p:nvSpPr>
        <p:spPr>
          <a:xfrm>
            <a:off x="1117600" y="4191000"/>
            <a:ext cx="203200" cy="203200"/>
          </a:xfrm>
          <a:prstGeom prst="rect">
            <a:avLst/>
          </a:prstGeom>
          <a:solidFill>
            <a:srgbClr val="7FA8D9"/>
          </a:solidFill>
          <a:ln>
            <a:noFill/>
          </a:ln>
        </p:spPr>
        <p:txBody>
          <a:bodyPr/>
          <a:lstStyle/>
          <a:p>
            <a:endParaRPr/>
          </a:p>
        </p:txBody>
      </p:sp>
      <p:sp>
        <p:nvSpPr>
          <p:cNvPr id="311" name="T311"/>
          <p:cNvSpPr txBox="1"/>
          <p:nvPr/>
        </p:nvSpPr>
        <p:spPr>
          <a:xfrm>
            <a:off x="1447800" y="4114800"/>
            <a:ext cx="2794000" cy="3556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1–2 events</a:t>
            </a:r>
          </a:p>
        </p:txBody>
      </p:sp>
      <p:sp>
        <p:nvSpPr>
          <p:cNvPr id="312" name="T312"/>
          <p:cNvSpPr txBox="1"/>
          <p:nvPr/>
        </p:nvSpPr>
        <p:spPr>
          <a:xfrm>
            <a:off x="4572000" y="4114800"/>
            <a:ext cx="1117600" cy="355600"/>
          </a:xfrm>
          <a:prstGeom prst="rect">
            <a:avLst/>
          </a:prstGeom>
          <a:noFill/>
        </p:spPr>
        <p:txBody>
          <a:bodyPr wrap="square" lIns="0" tIns="0" rIns="0" bIns="0" anchor="ctr"/>
          <a:lstStyle/>
          <a:p>
            <a:pPr algn="r">
              <a:lnSpc>
                <a:spcPct val="130000"/>
              </a:lnSpc>
              <a:spcAft>
                <a:spcPts val="0"/>
              </a:spcAft>
              <a:buNone/>
            </a:pPr>
            <a:r>
              <a:rPr lang="en-US" sz="1600" dirty="0">
                <a:solidFill>
                  <a:srgbClr val="262626"/>
                </a:solidFill>
              </a:rPr>
              <a:t>54%</a:t>
            </a:r>
          </a:p>
        </p:txBody>
      </p:sp>
      <p:sp>
        <p:nvSpPr>
          <p:cNvPr id="313" name="R313"/>
          <p:cNvSpPr/>
          <p:nvPr/>
        </p:nvSpPr>
        <p:spPr>
          <a:xfrm>
            <a:off x="1117600" y="4622800"/>
            <a:ext cx="203200" cy="203200"/>
          </a:xfrm>
          <a:prstGeom prst="rect">
            <a:avLst/>
          </a:prstGeom>
          <a:solidFill>
            <a:srgbClr val="3E6FA5"/>
          </a:solidFill>
          <a:ln>
            <a:noFill/>
          </a:ln>
        </p:spPr>
        <p:txBody>
          <a:bodyPr/>
          <a:lstStyle/>
          <a:p>
            <a:endParaRPr/>
          </a:p>
        </p:txBody>
      </p:sp>
      <p:sp>
        <p:nvSpPr>
          <p:cNvPr id="314" name="T314"/>
          <p:cNvSpPr txBox="1"/>
          <p:nvPr/>
        </p:nvSpPr>
        <p:spPr>
          <a:xfrm>
            <a:off x="1447800" y="4546600"/>
            <a:ext cx="2794000" cy="3556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3–4 events</a:t>
            </a:r>
          </a:p>
        </p:txBody>
      </p:sp>
      <p:sp>
        <p:nvSpPr>
          <p:cNvPr id="315" name="T315"/>
          <p:cNvSpPr txBox="1"/>
          <p:nvPr/>
        </p:nvSpPr>
        <p:spPr>
          <a:xfrm>
            <a:off x="4572000" y="4546600"/>
            <a:ext cx="1117600" cy="355600"/>
          </a:xfrm>
          <a:prstGeom prst="rect">
            <a:avLst/>
          </a:prstGeom>
          <a:noFill/>
        </p:spPr>
        <p:txBody>
          <a:bodyPr wrap="square" lIns="0" tIns="0" rIns="0" bIns="0" anchor="ctr"/>
          <a:lstStyle/>
          <a:p>
            <a:pPr algn="r">
              <a:lnSpc>
                <a:spcPct val="130000"/>
              </a:lnSpc>
              <a:spcAft>
                <a:spcPts val="0"/>
              </a:spcAft>
              <a:buNone/>
            </a:pPr>
            <a:r>
              <a:rPr lang="en-US" sz="1600" dirty="0">
                <a:solidFill>
                  <a:srgbClr val="262626"/>
                </a:solidFill>
              </a:rPr>
              <a:t>13%</a:t>
            </a:r>
          </a:p>
        </p:txBody>
      </p:sp>
      <p:sp>
        <p:nvSpPr>
          <p:cNvPr id="316" name="R316"/>
          <p:cNvSpPr/>
          <p:nvPr/>
        </p:nvSpPr>
        <p:spPr>
          <a:xfrm>
            <a:off x="1117600" y="5054600"/>
            <a:ext cx="203200" cy="203200"/>
          </a:xfrm>
          <a:prstGeom prst="rect">
            <a:avLst/>
          </a:prstGeom>
          <a:solidFill>
            <a:srgbClr val="1E3A5C"/>
          </a:solidFill>
          <a:ln>
            <a:noFill/>
          </a:ln>
        </p:spPr>
        <p:txBody>
          <a:bodyPr/>
          <a:lstStyle/>
          <a:p>
            <a:endParaRPr/>
          </a:p>
        </p:txBody>
      </p:sp>
      <p:sp>
        <p:nvSpPr>
          <p:cNvPr id="317" name="T317"/>
          <p:cNvSpPr txBox="1"/>
          <p:nvPr/>
        </p:nvSpPr>
        <p:spPr>
          <a:xfrm>
            <a:off x="1447800" y="4978400"/>
            <a:ext cx="2794000" cy="355600"/>
          </a:xfrm>
          <a:prstGeom prst="rect">
            <a:avLst/>
          </a:prstGeom>
          <a:noFill/>
        </p:spPr>
        <p:txBody>
          <a:bodyPr wrap="square" lIns="0" tIns="0" rIns="0" bIns="0" anchor="ctr"/>
          <a:lstStyle/>
          <a:p>
            <a:pPr algn="l">
              <a:lnSpc>
                <a:spcPct val="130000"/>
              </a:lnSpc>
              <a:spcAft>
                <a:spcPts val="0"/>
              </a:spcAft>
              <a:buNone/>
            </a:pPr>
            <a:r>
              <a:rPr lang="en-US" sz="1600" dirty="0">
                <a:solidFill>
                  <a:srgbClr val="262626"/>
                </a:solidFill>
              </a:rPr>
              <a:t>5+ events</a:t>
            </a:r>
          </a:p>
        </p:txBody>
      </p:sp>
      <p:sp>
        <p:nvSpPr>
          <p:cNvPr id="318" name="T318"/>
          <p:cNvSpPr txBox="1"/>
          <p:nvPr/>
        </p:nvSpPr>
        <p:spPr>
          <a:xfrm>
            <a:off x="4572000" y="4978400"/>
            <a:ext cx="1117600" cy="355600"/>
          </a:xfrm>
          <a:prstGeom prst="rect">
            <a:avLst/>
          </a:prstGeom>
          <a:noFill/>
        </p:spPr>
        <p:txBody>
          <a:bodyPr wrap="square" lIns="0" tIns="0" rIns="0" bIns="0" anchor="ctr"/>
          <a:lstStyle/>
          <a:p>
            <a:pPr algn="r">
              <a:lnSpc>
                <a:spcPct val="130000"/>
              </a:lnSpc>
              <a:spcAft>
                <a:spcPts val="0"/>
              </a:spcAft>
              <a:buNone/>
            </a:pPr>
            <a:r>
              <a:rPr lang="en-US" sz="1600" dirty="0">
                <a:solidFill>
                  <a:srgbClr val="262626"/>
                </a:solidFill>
              </a:rPr>
              <a:t>5.5%</a:t>
            </a:r>
          </a:p>
        </p:txBody>
      </p:sp>
      <p:sp>
        <p:nvSpPr>
          <p:cNvPr id="319" name="R319"/>
          <p:cNvSpPr/>
          <p:nvPr/>
        </p:nvSpPr>
        <p:spPr>
          <a:xfrm>
            <a:off x="6223000" y="1905000"/>
            <a:ext cx="5130800" cy="3683000"/>
          </a:xfrm>
          <a:prstGeom prst="roundRect">
            <a:avLst>
              <a:gd name="adj" fmla="val 4000"/>
            </a:avLst>
          </a:prstGeom>
          <a:solidFill>
            <a:srgbClr val="FFFFFF"/>
          </a:solidFill>
          <a:ln>
            <a:noFill/>
          </a:ln>
        </p:spPr>
        <p:txBody>
          <a:bodyPr/>
          <a:lstStyle/>
          <a:p>
            <a:endParaRPr/>
          </a:p>
        </p:txBody>
      </p:sp>
      <p:sp>
        <p:nvSpPr>
          <p:cNvPr id="320" name="T320"/>
          <p:cNvSpPr txBox="1"/>
          <p:nvPr/>
        </p:nvSpPr>
        <p:spPr>
          <a:xfrm>
            <a:off x="6502400" y="2082800"/>
            <a:ext cx="4572000" cy="685800"/>
          </a:xfrm>
          <a:prstGeom prst="rect">
            <a:avLst/>
          </a:prstGeom>
          <a:noFill/>
        </p:spPr>
        <p:txBody>
          <a:bodyPr wrap="square" lIns="0" tIns="0" rIns="0" bIns="0" anchor="t"/>
          <a:lstStyle/>
          <a:p>
            <a:pPr algn="l">
              <a:lnSpc>
                <a:spcPct val="130000"/>
              </a:lnSpc>
              <a:spcAft>
                <a:spcPts val="0"/>
              </a:spcAft>
              <a:buNone/>
            </a:pPr>
            <a:r>
              <a:rPr lang="en-US" sz="2000" dirty="0">
                <a:solidFill>
                  <a:srgbClr val="262626"/>
                </a:solidFill>
              </a:rPr>
              <a:t>Daily stressors</a:t>
            </a:r>
          </a:p>
          <a:p>
            <a:pPr algn="l">
              <a:lnSpc>
                <a:spcPct val="130000"/>
              </a:lnSpc>
              <a:spcAft>
                <a:spcPts val="0"/>
              </a:spcAft>
              <a:buNone/>
            </a:pPr>
            <a:r>
              <a:rPr lang="en-US" sz="1400" dirty="0">
                <a:solidFill>
                  <a:srgbClr val="595959"/>
                </a:solidFill>
              </a:rPr>
              <a:t>10-item Nigerian-specific count, 0–10</a:t>
            </a:r>
          </a:p>
        </p:txBody>
      </p:sp>
      <p:sp>
        <p:nvSpPr>
          <p:cNvPr id="321" name="L321"/>
          <p:cNvSpPr/>
          <p:nvPr/>
        </p:nvSpPr>
        <p:spPr>
          <a:xfrm>
            <a:off x="6731000" y="3429000"/>
            <a:ext cx="4064000" cy="6350"/>
          </a:xfrm>
          <a:prstGeom prst="line">
            <a:avLst/>
          </a:prstGeom>
          <a:ln w="25400" cap="rnd">
            <a:solidFill>
              <a:srgbClr val="8C8C8C"/>
            </a:solidFill>
          </a:ln>
        </p:spPr>
        <p:txBody>
          <a:bodyPr/>
          <a:lstStyle/>
          <a:p>
            <a:endParaRPr/>
          </a:p>
        </p:txBody>
      </p:sp>
      <p:sp>
        <p:nvSpPr>
          <p:cNvPr id="322" name="L322"/>
          <p:cNvSpPr/>
          <p:nvPr/>
        </p:nvSpPr>
        <p:spPr>
          <a:xfrm>
            <a:off x="6731000" y="3365500"/>
            <a:ext cx="6350" cy="127000"/>
          </a:xfrm>
          <a:prstGeom prst="line">
            <a:avLst/>
          </a:prstGeom>
          <a:ln w="12700" cap="rnd">
            <a:solidFill>
              <a:srgbClr val="8C8C8C"/>
            </a:solidFill>
          </a:ln>
        </p:spPr>
        <p:txBody>
          <a:bodyPr/>
          <a:lstStyle/>
          <a:p>
            <a:endParaRPr/>
          </a:p>
        </p:txBody>
      </p:sp>
      <p:sp>
        <p:nvSpPr>
          <p:cNvPr id="323" name="L323"/>
          <p:cNvSpPr/>
          <p:nvPr/>
        </p:nvSpPr>
        <p:spPr>
          <a:xfrm>
            <a:off x="7137400" y="3365500"/>
            <a:ext cx="6350" cy="127000"/>
          </a:xfrm>
          <a:prstGeom prst="line">
            <a:avLst/>
          </a:prstGeom>
          <a:ln w="12700" cap="rnd">
            <a:solidFill>
              <a:srgbClr val="8C8C8C"/>
            </a:solidFill>
          </a:ln>
        </p:spPr>
        <p:txBody>
          <a:bodyPr/>
          <a:lstStyle/>
          <a:p>
            <a:endParaRPr/>
          </a:p>
        </p:txBody>
      </p:sp>
      <p:sp>
        <p:nvSpPr>
          <p:cNvPr id="324" name="L324"/>
          <p:cNvSpPr/>
          <p:nvPr/>
        </p:nvSpPr>
        <p:spPr>
          <a:xfrm>
            <a:off x="7543800" y="3365500"/>
            <a:ext cx="6350" cy="127000"/>
          </a:xfrm>
          <a:prstGeom prst="line">
            <a:avLst/>
          </a:prstGeom>
          <a:ln w="12700" cap="rnd">
            <a:solidFill>
              <a:srgbClr val="8C8C8C"/>
            </a:solidFill>
          </a:ln>
        </p:spPr>
        <p:txBody>
          <a:bodyPr/>
          <a:lstStyle/>
          <a:p>
            <a:endParaRPr/>
          </a:p>
        </p:txBody>
      </p:sp>
      <p:sp>
        <p:nvSpPr>
          <p:cNvPr id="325" name="L325"/>
          <p:cNvSpPr/>
          <p:nvPr/>
        </p:nvSpPr>
        <p:spPr>
          <a:xfrm>
            <a:off x="7950200" y="3365500"/>
            <a:ext cx="6350" cy="127000"/>
          </a:xfrm>
          <a:prstGeom prst="line">
            <a:avLst/>
          </a:prstGeom>
          <a:ln w="12700" cap="rnd">
            <a:solidFill>
              <a:srgbClr val="8C8C8C"/>
            </a:solidFill>
          </a:ln>
        </p:spPr>
        <p:txBody>
          <a:bodyPr/>
          <a:lstStyle/>
          <a:p>
            <a:endParaRPr/>
          </a:p>
        </p:txBody>
      </p:sp>
      <p:sp>
        <p:nvSpPr>
          <p:cNvPr id="326" name="L326"/>
          <p:cNvSpPr/>
          <p:nvPr/>
        </p:nvSpPr>
        <p:spPr>
          <a:xfrm>
            <a:off x="8356600" y="3365500"/>
            <a:ext cx="6350" cy="127000"/>
          </a:xfrm>
          <a:prstGeom prst="line">
            <a:avLst/>
          </a:prstGeom>
          <a:ln w="12700" cap="rnd">
            <a:solidFill>
              <a:srgbClr val="8C8C8C"/>
            </a:solidFill>
          </a:ln>
        </p:spPr>
        <p:txBody>
          <a:bodyPr/>
          <a:lstStyle/>
          <a:p>
            <a:endParaRPr/>
          </a:p>
        </p:txBody>
      </p:sp>
      <p:sp>
        <p:nvSpPr>
          <p:cNvPr id="327" name="L327"/>
          <p:cNvSpPr/>
          <p:nvPr/>
        </p:nvSpPr>
        <p:spPr>
          <a:xfrm>
            <a:off x="8763000" y="3365500"/>
            <a:ext cx="6350" cy="127000"/>
          </a:xfrm>
          <a:prstGeom prst="line">
            <a:avLst/>
          </a:prstGeom>
          <a:ln w="12700" cap="rnd">
            <a:solidFill>
              <a:srgbClr val="8C8C8C"/>
            </a:solidFill>
          </a:ln>
        </p:spPr>
        <p:txBody>
          <a:bodyPr/>
          <a:lstStyle/>
          <a:p>
            <a:endParaRPr/>
          </a:p>
        </p:txBody>
      </p:sp>
      <p:sp>
        <p:nvSpPr>
          <p:cNvPr id="328" name="L328"/>
          <p:cNvSpPr/>
          <p:nvPr/>
        </p:nvSpPr>
        <p:spPr>
          <a:xfrm>
            <a:off x="9169400" y="3365500"/>
            <a:ext cx="6350" cy="127000"/>
          </a:xfrm>
          <a:prstGeom prst="line">
            <a:avLst/>
          </a:prstGeom>
          <a:ln w="12700" cap="rnd">
            <a:solidFill>
              <a:srgbClr val="8C8C8C"/>
            </a:solidFill>
          </a:ln>
        </p:spPr>
        <p:txBody>
          <a:bodyPr/>
          <a:lstStyle/>
          <a:p>
            <a:endParaRPr/>
          </a:p>
        </p:txBody>
      </p:sp>
      <p:sp>
        <p:nvSpPr>
          <p:cNvPr id="329" name="L329"/>
          <p:cNvSpPr/>
          <p:nvPr/>
        </p:nvSpPr>
        <p:spPr>
          <a:xfrm>
            <a:off x="9575800" y="3365500"/>
            <a:ext cx="6350" cy="127000"/>
          </a:xfrm>
          <a:prstGeom prst="line">
            <a:avLst/>
          </a:prstGeom>
          <a:ln w="12700" cap="rnd">
            <a:solidFill>
              <a:srgbClr val="8C8C8C"/>
            </a:solidFill>
          </a:ln>
        </p:spPr>
        <p:txBody>
          <a:bodyPr/>
          <a:lstStyle/>
          <a:p>
            <a:endParaRPr/>
          </a:p>
        </p:txBody>
      </p:sp>
      <p:sp>
        <p:nvSpPr>
          <p:cNvPr id="330" name="L330"/>
          <p:cNvSpPr/>
          <p:nvPr/>
        </p:nvSpPr>
        <p:spPr>
          <a:xfrm>
            <a:off x="9982200" y="3365500"/>
            <a:ext cx="6350" cy="127000"/>
          </a:xfrm>
          <a:prstGeom prst="line">
            <a:avLst/>
          </a:prstGeom>
          <a:ln w="12700" cap="rnd">
            <a:solidFill>
              <a:srgbClr val="8C8C8C"/>
            </a:solidFill>
          </a:ln>
        </p:spPr>
        <p:txBody>
          <a:bodyPr/>
          <a:lstStyle/>
          <a:p>
            <a:endParaRPr/>
          </a:p>
        </p:txBody>
      </p:sp>
      <p:sp>
        <p:nvSpPr>
          <p:cNvPr id="331" name="L331"/>
          <p:cNvSpPr/>
          <p:nvPr/>
        </p:nvSpPr>
        <p:spPr>
          <a:xfrm>
            <a:off x="10388600" y="3365500"/>
            <a:ext cx="6350" cy="127000"/>
          </a:xfrm>
          <a:prstGeom prst="line">
            <a:avLst/>
          </a:prstGeom>
          <a:ln w="12700" cap="rnd">
            <a:solidFill>
              <a:srgbClr val="8C8C8C"/>
            </a:solidFill>
          </a:ln>
        </p:spPr>
        <p:txBody>
          <a:bodyPr/>
          <a:lstStyle/>
          <a:p>
            <a:endParaRPr/>
          </a:p>
        </p:txBody>
      </p:sp>
      <p:sp>
        <p:nvSpPr>
          <p:cNvPr id="332" name="L332"/>
          <p:cNvSpPr/>
          <p:nvPr/>
        </p:nvSpPr>
        <p:spPr>
          <a:xfrm>
            <a:off x="10795000" y="3365500"/>
            <a:ext cx="6350" cy="127000"/>
          </a:xfrm>
          <a:prstGeom prst="line">
            <a:avLst/>
          </a:prstGeom>
          <a:ln w="12700" cap="rnd">
            <a:solidFill>
              <a:srgbClr val="8C8C8C"/>
            </a:solidFill>
          </a:ln>
        </p:spPr>
        <p:txBody>
          <a:bodyPr/>
          <a:lstStyle/>
          <a:p>
            <a:endParaRPr/>
          </a:p>
        </p:txBody>
      </p:sp>
      <p:sp>
        <p:nvSpPr>
          <p:cNvPr id="333" name="T333"/>
          <p:cNvSpPr txBox="1"/>
          <p:nvPr/>
        </p:nvSpPr>
        <p:spPr>
          <a:xfrm>
            <a:off x="6540500" y="3556000"/>
            <a:ext cx="381000" cy="254000"/>
          </a:xfrm>
          <a:prstGeom prst="rect">
            <a:avLst/>
          </a:prstGeom>
          <a:noFill/>
        </p:spPr>
        <p:txBody>
          <a:bodyPr wrap="square" lIns="0" tIns="0" rIns="0" bIns="0" anchor="t"/>
          <a:lstStyle/>
          <a:p>
            <a:pPr algn="ctr">
              <a:lnSpc>
                <a:spcPct val="130000"/>
              </a:lnSpc>
              <a:spcAft>
                <a:spcPts val="0"/>
              </a:spcAft>
              <a:buNone/>
            </a:pPr>
            <a:r>
              <a:rPr lang="en-US" sz="1400" dirty="0">
                <a:solidFill>
                  <a:srgbClr val="595959"/>
                </a:solidFill>
              </a:rPr>
              <a:t>0</a:t>
            </a:r>
          </a:p>
        </p:txBody>
      </p:sp>
      <p:sp>
        <p:nvSpPr>
          <p:cNvPr id="334" name="T334"/>
          <p:cNvSpPr txBox="1"/>
          <p:nvPr/>
        </p:nvSpPr>
        <p:spPr>
          <a:xfrm>
            <a:off x="10604500" y="3556000"/>
            <a:ext cx="381000" cy="254000"/>
          </a:xfrm>
          <a:prstGeom prst="rect">
            <a:avLst/>
          </a:prstGeom>
          <a:noFill/>
        </p:spPr>
        <p:txBody>
          <a:bodyPr wrap="square" lIns="0" tIns="0" rIns="0" bIns="0" anchor="t"/>
          <a:lstStyle/>
          <a:p>
            <a:pPr algn="ctr">
              <a:lnSpc>
                <a:spcPct val="130000"/>
              </a:lnSpc>
              <a:spcAft>
                <a:spcPts val="0"/>
              </a:spcAft>
              <a:buNone/>
            </a:pPr>
            <a:r>
              <a:rPr lang="en-US" sz="1400" dirty="0">
                <a:solidFill>
                  <a:srgbClr val="595959"/>
                </a:solidFill>
              </a:rPr>
              <a:t>10</a:t>
            </a:r>
          </a:p>
        </p:txBody>
      </p:sp>
      <p:sp>
        <p:nvSpPr>
          <p:cNvPr id="335" name="D335"/>
          <p:cNvSpPr/>
          <p:nvPr/>
        </p:nvSpPr>
        <p:spPr>
          <a:xfrm>
            <a:off x="7449820" y="3314700"/>
            <a:ext cx="228600" cy="228600"/>
          </a:xfrm>
          <a:prstGeom prst="ellipse">
            <a:avLst/>
          </a:prstGeom>
          <a:solidFill>
            <a:srgbClr val="1E3A5C"/>
          </a:solidFill>
          <a:ln>
            <a:noFill/>
          </a:ln>
        </p:spPr>
        <p:txBody>
          <a:bodyPr/>
          <a:lstStyle/>
          <a:p>
            <a:endParaRPr/>
          </a:p>
        </p:txBody>
      </p:sp>
      <p:sp>
        <p:nvSpPr>
          <p:cNvPr id="336" name="T336"/>
          <p:cNvSpPr txBox="1"/>
          <p:nvPr/>
        </p:nvSpPr>
        <p:spPr>
          <a:xfrm>
            <a:off x="7437120" y="2870200"/>
            <a:ext cx="2540000" cy="330200"/>
          </a:xfrm>
          <a:prstGeom prst="rect">
            <a:avLst/>
          </a:prstGeom>
          <a:noFill/>
        </p:spPr>
        <p:txBody>
          <a:bodyPr wrap="square" lIns="0" tIns="0" rIns="0" bIns="0" anchor="t"/>
          <a:lstStyle/>
          <a:p>
            <a:pPr algn="l">
              <a:lnSpc>
                <a:spcPct val="130000"/>
              </a:lnSpc>
              <a:spcAft>
                <a:spcPts val="0"/>
              </a:spcAft>
              <a:buNone/>
            </a:pPr>
            <a:r>
              <a:rPr lang="en-US" sz="1600" dirty="0">
                <a:solidFill>
                  <a:srgbClr val="1E3A5C"/>
                </a:solidFill>
              </a:rPr>
              <a:t>mean 2.05 (SD 1.65)</a:t>
            </a:r>
          </a:p>
        </p:txBody>
      </p:sp>
      <p:sp>
        <p:nvSpPr>
          <p:cNvPr id="337" name="T337"/>
          <p:cNvSpPr txBox="1"/>
          <p:nvPr/>
        </p:nvSpPr>
        <p:spPr>
          <a:xfrm>
            <a:off x="6502400" y="4038600"/>
            <a:ext cx="4572000" cy="1397000"/>
          </a:xfrm>
          <a:prstGeom prst="rect">
            <a:avLst/>
          </a:prstGeom>
          <a:noFill/>
        </p:spPr>
        <p:txBody>
          <a:bodyPr wrap="square" lIns="0" tIns="0" rIns="0" bIns="0" anchor="t"/>
          <a:lstStyle/>
          <a:p>
            <a:pPr algn="l">
              <a:lnSpc>
                <a:spcPct val="130000"/>
              </a:lnSpc>
              <a:spcAft>
                <a:spcPts val="300"/>
              </a:spcAft>
              <a:buNone/>
            </a:pPr>
            <a:r>
              <a:rPr lang="en-US" sz="1400" dirty="0">
                <a:solidFill>
                  <a:srgbClr val="595959"/>
                </a:solidFill>
              </a:rPr>
              <a:t>Items include</a:t>
            </a:r>
          </a:p>
          <a:p>
            <a:pPr algn="l">
              <a:lnSpc>
                <a:spcPct val="130000"/>
              </a:lnSpc>
              <a:spcAft>
                <a:spcPts val="0"/>
              </a:spcAft>
              <a:buNone/>
            </a:pPr>
            <a:r>
              <a:rPr lang="en-US" sz="1600" dirty="0">
                <a:solidFill>
                  <a:srgbClr val="262626"/>
                </a:solidFill>
              </a:rPr>
              <a:t>Job loss · rent · eviction · family disruption · isolation</a:t>
            </a:r>
          </a:p>
        </p:txBody>
      </p:sp>
      <p:sp>
        <p:nvSpPr>
          <p:cNvPr id="338" name="T338"/>
          <p:cNvSpPr txBox="1"/>
          <p:nvPr/>
        </p:nvSpPr>
        <p:spPr>
          <a:xfrm>
            <a:off x="838200" y="5740400"/>
            <a:ext cx="8890000" cy="304800"/>
          </a:xfrm>
          <a:prstGeom prst="rect">
            <a:avLst/>
          </a:prstGeom>
          <a:noFill/>
        </p:spPr>
        <p:txBody>
          <a:bodyPr wrap="square" lIns="0" tIns="0" rIns="0" bIns="0" anchor="t"/>
          <a:lstStyle/>
          <a:p>
            <a:pPr algn="l">
              <a:lnSpc>
                <a:spcPct val="130000"/>
              </a:lnSpc>
              <a:spcAft>
                <a:spcPts val="0"/>
              </a:spcAft>
              <a:buNone/>
            </a:pPr>
            <a:r>
              <a:rPr lang="en-US" sz="1400" dirty="0">
                <a:solidFill>
                  <a:srgbClr val="D9D9D9"/>
                </a:solidFill>
              </a:rPr>
              <a:t>Covariates in all models: age, gender, education, state</a:t>
            </a:r>
          </a:p>
        </p:txBody>
      </p:sp>
      <p:sp>
        <p:nvSpPr>
          <p:cNvPr id="339"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76177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264C2-3338-4B28-DAE9-CB57B4719FE5}"/>
              </a:ext>
            </a:extLst>
          </p:cNvPr>
          <p:cNvSpPr>
            <a:spLocks noGrp="1"/>
          </p:cNvSpPr>
          <p:nvPr>
            <p:ph type="title"/>
          </p:nvPr>
        </p:nvSpPr>
        <p:spPr/>
        <p:txBody>
          <a:bodyPr>
            <a:normAutofit/>
          </a:bodyPr>
          <a:lstStyle/>
          <a:p>
            <a:r>
              <a:rPr lang="en-US" dirty="0">
                <a:solidFill>
                  <a:srgbClr val="D9D9D9"/>
                </a:solidFill>
              </a:rPr>
              <a:t>Outcome Data: PTSD by Trauma</a:t>
            </a:r>
            <a:endParaRPr lang="en-US" dirty="0"/>
          </a:p>
        </p:txBody>
      </p:sp>
      <p:graphicFrame>
        <p:nvGraphicFramePr>
          <p:cNvPr id="3" name="Chart"/>
          <p:cNvGraphicFramePr/>
          <p:nvPr/>
        </p:nvGraphicFramePr>
        <p:xfrm>
          <a:off x="838200" y="1769308"/>
          <a:ext cx="939800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500" name="ChartLabel"/>
          <p:cNvSpPr txBox="1"/>
          <p:nvPr/>
        </p:nvSpPr>
        <p:spPr>
          <a:xfrm>
            <a:off x="838200" y="1278692"/>
            <a:ext cx="10515600" cy="330200"/>
          </a:xfrm>
          <a:prstGeom prst="rect">
            <a:avLst/>
          </a:prstGeom>
          <a:noFill/>
        </p:spPr>
        <p:txBody>
          <a:bodyPr wrap="square" lIns="0" tIns="0" rIns="0" bIns="0"/>
          <a:lstStyle/>
          <a:p>
            <a:pPr>
              <a:lnSpc>
                <a:spcPct val="130000"/>
              </a:lnSpc>
              <a:buNone/>
            </a:pPr>
            <a:r>
              <a:rPr sz="1300">
                <a:solidFill>
                  <a:srgbClr val="FFFFFF"/>
                </a:solidFill>
              </a:rPr>
              <a:t>Model-predicted PTSD prevalence at zero stressors, standardized to sample covariates (Stata margins)</a:t>
            </a:r>
            <a:endParaRPr lang="en-US" sz="1600" dirty="0">
              <a:solidFill>
                <a:srgbClr val="D9D9D9"/>
              </a:solidFill>
            </a:endParaRPr>
          </a:p>
        </p:txBody>
      </p:sp>
      <p:sp>
        <p:nvSpPr>
          <p:cNvPr id="5" name="TextBox 4">
            <a:extLst>
              <a:ext uri="{FF2B5EF4-FFF2-40B4-BE49-F238E27FC236}">
                <a16:creationId xmlns:a16="http://schemas.microsoft.com/office/drawing/2014/main" id="{C3CF9C22-552A-24B5-8184-7A079CD70E6A}"/>
              </a:ext>
            </a:extLst>
          </p:cNvPr>
          <p:cNvSpPr txBox="1"/>
          <p:nvPr/>
        </p:nvSpPr>
        <p:spPr>
          <a:xfrm>
            <a:off x="1124263" y="5739724"/>
            <a:ext cx="11797258" cy="369332"/>
          </a:xfrm>
          <a:prstGeom prst="rect">
            <a:avLst/>
          </a:prstGeom>
          <a:noFill/>
        </p:spPr>
        <p:txBody>
          <a:bodyPr wrap="square">
            <a:spAutoFit/>
          </a:bodyPr>
          <a:lstStyle/>
          <a:p>
            <a:r>
              <a:rPr lang="en-US" dirty="0">
                <a:solidFill>
                  <a:srgbClr val="FF0000"/>
                </a:solidFill>
              </a:rPr>
              <a:t>PTSD Prevalence Rises Sixfold With Trauma</a:t>
            </a:r>
          </a:p>
        </p:txBody>
      </p:sp>
      <p:sp>
        <p:nvSpPr>
          <p:cNvPr id="501"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447503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Main Results: Per-Stressor Prevalence Ratios</a:t>
            </a:r>
          </a:p>
        </p:txBody>
      </p:sp>
      <p:sp>
        <p:nvSpPr>
          <p:cNvPr id="11" name="Content Placeholder 10">
            <a:extLst>
              <a:ext uri="{FF2B5EF4-FFF2-40B4-BE49-F238E27FC236}">
                <a16:creationId xmlns:a16="http://schemas.microsoft.com/office/drawing/2014/main" id="{B001089C-E299-3FFD-CA77-ACA1F197E4BE}"/>
              </a:ext>
            </a:extLst>
          </p:cNvPr>
          <p:cNvSpPr>
            <a:spLocks noGrp="1"/>
          </p:cNvSpPr>
          <p:nvPr>
            <p:ph idx="1"/>
          </p:nvPr>
        </p:nvSpPr>
        <p:spPr/>
        <p:txBody>
          <a:bodyPr/>
          <a:lstStyle/>
          <a:p>
            <a:endParaRPr lang="en-US"/>
          </a:p>
        </p:txBody>
      </p:sp>
      <p:sp>
        <p:nvSpPr>
          <p:cNvPr id="4" name="Chart panel">
            <a:extLst>
              <a:ext uri="{FF2B5EF4-FFF2-40B4-BE49-F238E27FC236}">
                <a16:creationId xmlns:a16="http://schemas.microsoft.com/office/drawing/2014/main" id="{64ABD30A-FBD6-F446-8719-5D9255C879C4}"/>
              </a:ext>
            </a:extLst>
          </p:cNvPr>
          <p:cNvSpPr/>
          <p:nvPr/>
        </p:nvSpPr>
        <p:spPr>
          <a:xfrm>
            <a:off x="838200" y="1828800"/>
            <a:ext cx="10033000" cy="4191000"/>
          </a:xfrm>
          <a:prstGeom prst="rect">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5" name="Chart"/>
          <p:cNvGraphicFramePr/>
          <p:nvPr/>
        </p:nvGraphicFramePr>
        <p:xfrm>
          <a:off x="990600" y="2209800"/>
          <a:ext cx="9728200" cy="3733800"/>
        </p:xfrm>
        <a:graphic>
          <a:graphicData uri="http://schemas.openxmlformats.org/drawingml/2006/chart">
            <c:chart xmlns:c="http://schemas.openxmlformats.org/drawingml/2006/chart" xmlns:r="http://schemas.openxmlformats.org/officeDocument/2006/relationships" r:id="rId3"/>
          </a:graphicData>
        </a:graphic>
      </p:graphicFrame>
      <p:sp>
        <p:nvSpPr>
          <p:cNvPr id="3" name="Chart label">
            <a:extLst>
              <a:ext uri="{FF2B5EF4-FFF2-40B4-BE49-F238E27FC236}">
                <a16:creationId xmlns:a16="http://schemas.microsoft.com/office/drawing/2014/main" id="{37C4005E-D8E1-C242-92C1-84451D3082C9}"/>
              </a:ext>
            </a:extLst>
          </p:cNvPr>
          <p:cNvSpPr txBox="1"/>
          <p:nvPr/>
        </p:nvSpPr>
        <p:spPr>
          <a:xfrm>
            <a:off x="990600" y="1930400"/>
            <a:ext cx="9906000" cy="330200"/>
          </a:xfrm>
          <a:prstGeom prst="rect">
            <a:avLst/>
          </a:prstGeom>
          <a:noFill/>
        </p:spPr>
        <p:txBody>
          <a:bodyPr vertOverflow="overflow" vert="horz" wrap="square" rtlCol="0" anchor="t">
            <a:spAutoFit/>
          </a:bodyPr>
          <a:lstStyle/>
          <a:p>
            <a:pPr algn="l"/>
            <a:r>
              <a:rPr lang="en-US" sz="1400">
                <a:solidFill>
                  <a:srgbClr val="262626"/>
                </a:solidFill>
              </a:rPr>
              <a:t>Prevalence ratio per additional daily stressor (95% CI), by lifetime trauma events</a:t>
            </a:r>
          </a:p>
        </p:txBody>
      </p:sp>
      <p:sp>
        <p:nvSpPr>
          <p:cNvPr id="6" name="Footnote">
            <a:extLst>
              <a:ext uri="{FF2B5EF4-FFF2-40B4-BE49-F238E27FC236}">
                <a16:creationId xmlns:a16="http://schemas.microsoft.com/office/drawing/2014/main" id="{E54E7CA6-4A95-944D-A8E5-F701E75DC9AE}"/>
              </a:ext>
            </a:extLst>
          </p:cNvPr>
          <p:cNvSpPr txBox="1"/>
          <p:nvPr/>
        </p:nvSpPr>
        <p:spPr>
          <a:xfrm>
            <a:off x="838200" y="6070600"/>
            <a:ext cx="8890000" cy="279400"/>
          </a:xfrm>
          <a:prstGeom prst="rect">
            <a:avLst/>
          </a:prstGeom>
          <a:noFill/>
        </p:spPr>
        <p:txBody>
          <a:bodyPr vertOverflow="overflow" vert="horz" wrap="square" rtlCol="0" anchor="t">
            <a:spAutoFit/>
          </a:bodyPr>
          <a:lstStyle/>
          <a:p>
            <a:pPr algn="l"/>
            <a:r>
              <a:rPr lang="en-US" sz="1100">
                <a:solidFill>
                  <a:srgbClr val="D9D9D9"/>
                </a:solidFill>
              </a:rPr>
              <a:t>Interaction p &lt; 0.0001 for all three outcomes. A ratio of 1.0 means no added risk per stressor.</a:t>
            </a:r>
          </a:p>
        </p:txBody>
      </p:sp>
      <p:sp>
        <p:nvSpPr>
          <p:cNvPr id="7" name="Group label 1"/>
          <p:cNvSpPr txBox="1"/>
          <p:nvPr/>
        </p:nvSpPr>
        <p:spPr>
          <a:xfrm>
            <a:off x="2063179" y="5294178"/>
            <a:ext cx="1600200" cy="330200"/>
          </a:xfrm>
          <a:prstGeom prst="rect">
            <a:avLst/>
          </a:prstGeom>
          <a:noFill/>
        </p:spPr>
        <p:txBody>
          <a:bodyPr wrap="none" lIns="0" tIns="0" rIns="0" bIns="0" anchor="t">
            <a:noAutofit/>
          </a:bodyPr>
          <a:lstStyle/>
          <a:p>
            <a:pPr algn="ctr">
              <a:lnSpc>
                <a:spcPct val="130000"/>
              </a:lnSpc>
            </a:pPr>
            <a:r>
              <a:rPr lang="en-US" sz="1400" b="0" dirty="0">
                <a:solidFill>
                  <a:srgbClr val="262626"/>
                </a:solidFill>
              </a:rPr>
              <a:t>0 events</a:t>
            </a:r>
          </a:p>
        </p:txBody>
      </p:sp>
      <p:sp>
        <p:nvSpPr>
          <p:cNvPr id="8" name="Group label 2"/>
          <p:cNvSpPr txBox="1"/>
          <p:nvPr/>
        </p:nvSpPr>
        <p:spPr>
          <a:xfrm>
            <a:off x="4252024" y="5294178"/>
            <a:ext cx="1600200" cy="330200"/>
          </a:xfrm>
          <a:prstGeom prst="rect">
            <a:avLst/>
          </a:prstGeom>
          <a:noFill/>
        </p:spPr>
        <p:txBody>
          <a:bodyPr wrap="none" lIns="0" tIns="0" rIns="0" bIns="0" anchor="t">
            <a:noAutofit/>
          </a:bodyPr>
          <a:lstStyle/>
          <a:p>
            <a:pPr algn="ctr">
              <a:lnSpc>
                <a:spcPct val="130000"/>
              </a:lnSpc>
            </a:pPr>
            <a:r>
              <a:rPr lang="en-US" sz="1400" b="0" dirty="0">
                <a:solidFill>
                  <a:srgbClr val="262626"/>
                </a:solidFill>
              </a:rPr>
              <a:t>1–2 events</a:t>
            </a:r>
          </a:p>
        </p:txBody>
      </p:sp>
      <p:sp>
        <p:nvSpPr>
          <p:cNvPr id="9" name="Group label 3"/>
          <p:cNvSpPr txBox="1"/>
          <p:nvPr/>
        </p:nvSpPr>
        <p:spPr>
          <a:xfrm>
            <a:off x="6440869" y="5294178"/>
            <a:ext cx="1600200" cy="330200"/>
          </a:xfrm>
          <a:prstGeom prst="rect">
            <a:avLst/>
          </a:prstGeom>
          <a:noFill/>
        </p:spPr>
        <p:txBody>
          <a:bodyPr wrap="none" lIns="0" tIns="0" rIns="0" bIns="0" anchor="t">
            <a:noAutofit/>
          </a:bodyPr>
          <a:lstStyle/>
          <a:p>
            <a:pPr algn="ctr">
              <a:lnSpc>
                <a:spcPct val="130000"/>
              </a:lnSpc>
            </a:pPr>
            <a:r>
              <a:rPr lang="en-US" sz="1400" b="0" dirty="0">
                <a:solidFill>
                  <a:srgbClr val="262626"/>
                </a:solidFill>
              </a:rPr>
              <a:t>3–4 events</a:t>
            </a:r>
          </a:p>
        </p:txBody>
      </p:sp>
      <p:sp>
        <p:nvSpPr>
          <p:cNvPr id="10" name="Group label 4"/>
          <p:cNvSpPr txBox="1"/>
          <p:nvPr/>
        </p:nvSpPr>
        <p:spPr>
          <a:xfrm>
            <a:off x="8629714" y="5294178"/>
            <a:ext cx="1600200" cy="330200"/>
          </a:xfrm>
          <a:prstGeom prst="rect">
            <a:avLst/>
          </a:prstGeom>
          <a:noFill/>
        </p:spPr>
        <p:txBody>
          <a:bodyPr wrap="none" lIns="0" tIns="0" rIns="0" bIns="0" anchor="t">
            <a:noAutofit/>
          </a:bodyPr>
          <a:lstStyle/>
          <a:p>
            <a:pPr algn="ctr">
              <a:lnSpc>
                <a:spcPct val="130000"/>
              </a:lnSpc>
            </a:pPr>
            <a:r>
              <a:rPr lang="en-US" sz="1400" b="0" dirty="0">
                <a:solidFill>
                  <a:srgbClr val="262626"/>
                </a:solidFill>
              </a:rPr>
              <a:t>5+ events</a:t>
            </a:r>
          </a:p>
        </p:txBody>
      </p:sp>
      <p:sp>
        <p:nvSpPr>
          <p:cNvPr id="12"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3106717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B91D-281D-6F6B-FC4C-9015DE727B1F}"/>
              </a:ext>
            </a:extLst>
          </p:cNvPr>
          <p:cNvSpPr>
            <a:spLocks noGrp="1"/>
          </p:cNvSpPr>
          <p:nvPr>
            <p:ph type="title"/>
          </p:nvPr>
        </p:nvSpPr>
        <p:spPr/>
        <p:txBody>
          <a:bodyPr/>
          <a:lstStyle/>
          <a:p>
            <a:r>
              <a:rPr lang="en-US" dirty="0"/>
              <a:t>Main Results: Absolute Scale</a:t>
            </a:r>
          </a:p>
        </p:txBody>
      </p:sp>
      <p:sp>
        <p:nvSpPr>
          <p:cNvPr id="401" name="T401"/>
          <p:cNvSpPr txBox="1"/>
          <p:nvPr/>
        </p:nvSpPr>
        <p:spPr>
          <a:xfrm>
            <a:off x="838200" y="1727200"/>
            <a:ext cx="10515600" cy="304800"/>
          </a:xfrm>
          <a:prstGeom prst="rect">
            <a:avLst/>
          </a:prstGeom>
          <a:noFill/>
        </p:spPr>
        <p:txBody>
          <a:bodyPr wrap="square" lIns="0" tIns="0" rIns="0" bIns="0" anchor="ctr"/>
          <a:lstStyle/>
          <a:p>
            <a:pPr algn="l">
              <a:lnSpc>
                <a:spcPct val="100000"/>
              </a:lnSpc>
              <a:buNone/>
            </a:pPr>
            <a:r>
              <a:rPr lang="en-US" sz="1600" dirty="0">
                <a:solidFill>
                  <a:srgbClr val="D9D9D9"/>
                </a:solidFill>
              </a:rPr>
              <a:t>Change in model-predicted prevalence, 0 → 4 stressors, percentage points (Stata margins; 95% CI)</a:t>
            </a:r>
          </a:p>
        </p:txBody>
      </p:sp>
      <p:sp>
        <p:nvSpPr>
          <p:cNvPr id="402" name="R402"/>
          <p:cNvSpPr/>
          <p:nvPr/>
        </p:nvSpPr>
        <p:spPr>
          <a:xfrm>
            <a:off x="838200" y="2133600"/>
            <a:ext cx="10515600" cy="3581400"/>
          </a:xfrm>
          <a:prstGeom prst="roundRect">
            <a:avLst>
              <a:gd name="adj" fmla="val 3000"/>
            </a:avLst>
          </a:prstGeom>
          <a:solidFill>
            <a:srgbClr val="FFFFFF"/>
          </a:solidFill>
          <a:ln>
            <a:noFill/>
          </a:ln>
        </p:spPr>
        <p:txBody>
          <a:bodyPr/>
          <a:lstStyle/>
          <a:p>
            <a:endParaRPr/>
          </a:p>
        </p:txBody>
      </p:sp>
      <p:sp>
        <p:nvSpPr>
          <p:cNvPr id="403" name="R403"/>
          <p:cNvSpPr/>
          <p:nvPr/>
        </p:nvSpPr>
        <p:spPr>
          <a:xfrm>
            <a:off x="1092200" y="2349500"/>
            <a:ext cx="304800" cy="76200"/>
          </a:xfrm>
          <a:prstGeom prst="rect">
            <a:avLst/>
          </a:prstGeom>
          <a:solidFill>
            <a:srgbClr val="C8102E"/>
          </a:solidFill>
          <a:ln>
            <a:noFill/>
          </a:ln>
        </p:spPr>
        <p:txBody>
          <a:bodyPr/>
          <a:lstStyle/>
          <a:p>
            <a:endParaRPr/>
          </a:p>
        </p:txBody>
      </p:sp>
      <p:sp>
        <p:nvSpPr>
          <p:cNvPr id="404" name="T404"/>
          <p:cNvSpPr txBox="1"/>
          <p:nvPr/>
        </p:nvSpPr>
        <p:spPr>
          <a:xfrm>
            <a:off x="1498600" y="2260600"/>
            <a:ext cx="2032000" cy="254000"/>
          </a:xfrm>
          <a:prstGeom prst="rect">
            <a:avLst/>
          </a:prstGeom>
          <a:noFill/>
        </p:spPr>
        <p:txBody>
          <a:bodyPr wrap="square" lIns="0" tIns="0" rIns="0" bIns="0" anchor="ctr"/>
          <a:lstStyle/>
          <a:p>
            <a:pPr algn="l">
              <a:lnSpc>
                <a:spcPct val="100000"/>
              </a:lnSpc>
              <a:buNone/>
            </a:pPr>
            <a:r>
              <a:rPr lang="en-US" sz="1400" dirty="0">
                <a:solidFill>
                  <a:srgbClr val="262626"/>
                </a:solidFill>
              </a:rPr>
              <a:t>no trauma exposure</a:t>
            </a:r>
          </a:p>
        </p:txBody>
      </p:sp>
      <p:sp>
        <p:nvSpPr>
          <p:cNvPr id="405" name="R405"/>
          <p:cNvSpPr/>
          <p:nvPr/>
        </p:nvSpPr>
        <p:spPr>
          <a:xfrm>
            <a:off x="3683000" y="2349500"/>
            <a:ext cx="304800" cy="76200"/>
          </a:xfrm>
          <a:prstGeom prst="rect">
            <a:avLst/>
          </a:prstGeom>
          <a:solidFill>
            <a:srgbClr val="1E3A5C"/>
          </a:solidFill>
          <a:ln>
            <a:noFill/>
          </a:ln>
        </p:spPr>
        <p:txBody>
          <a:bodyPr/>
          <a:lstStyle/>
          <a:p>
            <a:endParaRPr/>
          </a:p>
        </p:txBody>
      </p:sp>
      <p:sp>
        <p:nvSpPr>
          <p:cNvPr id="406" name="T406"/>
          <p:cNvSpPr txBox="1"/>
          <p:nvPr/>
        </p:nvSpPr>
        <p:spPr>
          <a:xfrm>
            <a:off x="4089400" y="2260600"/>
            <a:ext cx="2159000" cy="254000"/>
          </a:xfrm>
          <a:prstGeom prst="rect">
            <a:avLst/>
          </a:prstGeom>
          <a:noFill/>
        </p:spPr>
        <p:txBody>
          <a:bodyPr wrap="square" lIns="0" tIns="0" rIns="0" bIns="0" anchor="ctr"/>
          <a:lstStyle/>
          <a:p>
            <a:pPr algn="l">
              <a:lnSpc>
                <a:spcPct val="100000"/>
              </a:lnSpc>
              <a:buNone/>
            </a:pPr>
            <a:r>
              <a:rPr lang="en-US" sz="1400" dirty="0">
                <a:solidFill>
                  <a:srgbClr val="262626"/>
                </a:solidFill>
              </a:rPr>
              <a:t>five or more events</a:t>
            </a:r>
          </a:p>
        </p:txBody>
      </p:sp>
      <p:sp>
        <p:nvSpPr>
          <p:cNvPr id="407" name="L407"/>
          <p:cNvSpPr/>
          <p:nvPr/>
        </p:nvSpPr>
        <p:spPr>
          <a:xfrm>
            <a:off x="5799667" y="2616200"/>
            <a:ext cx="6350" cy="2692400"/>
          </a:xfrm>
          <a:prstGeom prst="line">
            <a:avLst/>
          </a:prstGeom>
          <a:ln w="12700" cap="rnd">
            <a:solidFill>
              <a:srgbClr val="8C8C8C"/>
            </a:solidFill>
            <a:prstDash val="dash"/>
          </a:ln>
        </p:spPr>
        <p:txBody>
          <a:bodyPr/>
          <a:lstStyle/>
          <a:p>
            <a:endParaRPr/>
          </a:p>
        </p:txBody>
      </p:sp>
      <p:sp>
        <p:nvSpPr>
          <p:cNvPr id="408" name="L408"/>
          <p:cNvSpPr/>
          <p:nvPr/>
        </p:nvSpPr>
        <p:spPr>
          <a:xfrm>
            <a:off x="3175000" y="5308600"/>
            <a:ext cx="7874000" cy="6350"/>
          </a:xfrm>
          <a:prstGeom prst="line">
            <a:avLst/>
          </a:prstGeom>
          <a:ln w="12700" cap="rnd">
            <a:solidFill>
              <a:srgbClr val="8C8C8C"/>
            </a:solidFill>
          </a:ln>
        </p:spPr>
        <p:txBody>
          <a:bodyPr/>
          <a:lstStyle/>
          <a:p>
            <a:endParaRPr/>
          </a:p>
        </p:txBody>
      </p:sp>
      <p:sp>
        <p:nvSpPr>
          <p:cNvPr id="409" name="L409"/>
          <p:cNvSpPr/>
          <p:nvPr/>
        </p:nvSpPr>
        <p:spPr>
          <a:xfrm>
            <a:off x="3175000" y="5308600"/>
            <a:ext cx="6350" cy="63500"/>
          </a:xfrm>
          <a:prstGeom prst="line">
            <a:avLst/>
          </a:prstGeom>
          <a:ln w="12700" cap="rnd">
            <a:solidFill>
              <a:srgbClr val="8C8C8C"/>
            </a:solidFill>
          </a:ln>
        </p:spPr>
        <p:txBody>
          <a:bodyPr/>
          <a:lstStyle/>
          <a:p>
            <a:endParaRPr/>
          </a:p>
        </p:txBody>
      </p:sp>
      <p:sp>
        <p:nvSpPr>
          <p:cNvPr id="410" name="T410"/>
          <p:cNvSpPr txBox="1"/>
          <p:nvPr/>
        </p:nvSpPr>
        <p:spPr>
          <a:xfrm>
            <a:off x="2857500"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−20</a:t>
            </a:r>
          </a:p>
        </p:txBody>
      </p:sp>
      <p:sp>
        <p:nvSpPr>
          <p:cNvPr id="411" name="L411"/>
          <p:cNvSpPr/>
          <p:nvPr/>
        </p:nvSpPr>
        <p:spPr>
          <a:xfrm>
            <a:off x="4487333" y="5308600"/>
            <a:ext cx="6350" cy="63500"/>
          </a:xfrm>
          <a:prstGeom prst="line">
            <a:avLst/>
          </a:prstGeom>
          <a:ln w="12700" cap="rnd">
            <a:solidFill>
              <a:srgbClr val="8C8C8C"/>
            </a:solidFill>
          </a:ln>
        </p:spPr>
        <p:txBody>
          <a:bodyPr/>
          <a:lstStyle/>
          <a:p>
            <a:endParaRPr/>
          </a:p>
        </p:txBody>
      </p:sp>
      <p:sp>
        <p:nvSpPr>
          <p:cNvPr id="412" name="T412"/>
          <p:cNvSpPr txBox="1"/>
          <p:nvPr/>
        </p:nvSpPr>
        <p:spPr>
          <a:xfrm>
            <a:off x="4169833"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−10</a:t>
            </a:r>
          </a:p>
        </p:txBody>
      </p:sp>
      <p:sp>
        <p:nvSpPr>
          <p:cNvPr id="413" name="L413"/>
          <p:cNvSpPr/>
          <p:nvPr/>
        </p:nvSpPr>
        <p:spPr>
          <a:xfrm>
            <a:off x="5799667" y="5308600"/>
            <a:ext cx="6350" cy="63500"/>
          </a:xfrm>
          <a:prstGeom prst="line">
            <a:avLst/>
          </a:prstGeom>
          <a:ln w="12700" cap="rnd">
            <a:solidFill>
              <a:srgbClr val="8C8C8C"/>
            </a:solidFill>
          </a:ln>
        </p:spPr>
        <p:txBody>
          <a:bodyPr/>
          <a:lstStyle/>
          <a:p>
            <a:endParaRPr/>
          </a:p>
        </p:txBody>
      </p:sp>
      <p:sp>
        <p:nvSpPr>
          <p:cNvPr id="414" name="T414"/>
          <p:cNvSpPr txBox="1"/>
          <p:nvPr/>
        </p:nvSpPr>
        <p:spPr>
          <a:xfrm>
            <a:off x="5482167"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0</a:t>
            </a:r>
          </a:p>
        </p:txBody>
      </p:sp>
      <p:sp>
        <p:nvSpPr>
          <p:cNvPr id="415" name="L415"/>
          <p:cNvSpPr/>
          <p:nvPr/>
        </p:nvSpPr>
        <p:spPr>
          <a:xfrm>
            <a:off x="7112000" y="5308600"/>
            <a:ext cx="6350" cy="63500"/>
          </a:xfrm>
          <a:prstGeom prst="line">
            <a:avLst/>
          </a:prstGeom>
          <a:ln w="12700" cap="rnd">
            <a:solidFill>
              <a:srgbClr val="8C8C8C"/>
            </a:solidFill>
          </a:ln>
        </p:spPr>
        <p:txBody>
          <a:bodyPr/>
          <a:lstStyle/>
          <a:p>
            <a:endParaRPr/>
          </a:p>
        </p:txBody>
      </p:sp>
      <p:sp>
        <p:nvSpPr>
          <p:cNvPr id="416" name="T416"/>
          <p:cNvSpPr txBox="1"/>
          <p:nvPr/>
        </p:nvSpPr>
        <p:spPr>
          <a:xfrm>
            <a:off x="6794500"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+10</a:t>
            </a:r>
          </a:p>
        </p:txBody>
      </p:sp>
      <p:sp>
        <p:nvSpPr>
          <p:cNvPr id="417" name="L417"/>
          <p:cNvSpPr/>
          <p:nvPr/>
        </p:nvSpPr>
        <p:spPr>
          <a:xfrm>
            <a:off x="8424333" y="5308600"/>
            <a:ext cx="6350" cy="63500"/>
          </a:xfrm>
          <a:prstGeom prst="line">
            <a:avLst/>
          </a:prstGeom>
          <a:ln w="12700" cap="rnd">
            <a:solidFill>
              <a:srgbClr val="8C8C8C"/>
            </a:solidFill>
          </a:ln>
        </p:spPr>
        <p:txBody>
          <a:bodyPr/>
          <a:lstStyle/>
          <a:p>
            <a:endParaRPr/>
          </a:p>
        </p:txBody>
      </p:sp>
      <p:sp>
        <p:nvSpPr>
          <p:cNvPr id="418" name="T418"/>
          <p:cNvSpPr txBox="1"/>
          <p:nvPr/>
        </p:nvSpPr>
        <p:spPr>
          <a:xfrm>
            <a:off x="8106833"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+20</a:t>
            </a:r>
          </a:p>
        </p:txBody>
      </p:sp>
      <p:sp>
        <p:nvSpPr>
          <p:cNvPr id="419" name="L419"/>
          <p:cNvSpPr/>
          <p:nvPr/>
        </p:nvSpPr>
        <p:spPr>
          <a:xfrm>
            <a:off x="9736667" y="5308600"/>
            <a:ext cx="6350" cy="63500"/>
          </a:xfrm>
          <a:prstGeom prst="line">
            <a:avLst/>
          </a:prstGeom>
          <a:ln w="12700" cap="rnd">
            <a:solidFill>
              <a:srgbClr val="8C8C8C"/>
            </a:solidFill>
          </a:ln>
        </p:spPr>
        <p:txBody>
          <a:bodyPr/>
          <a:lstStyle/>
          <a:p>
            <a:endParaRPr/>
          </a:p>
        </p:txBody>
      </p:sp>
      <p:sp>
        <p:nvSpPr>
          <p:cNvPr id="420" name="T420"/>
          <p:cNvSpPr txBox="1"/>
          <p:nvPr/>
        </p:nvSpPr>
        <p:spPr>
          <a:xfrm>
            <a:off x="9419167"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+30</a:t>
            </a:r>
          </a:p>
        </p:txBody>
      </p:sp>
      <p:sp>
        <p:nvSpPr>
          <p:cNvPr id="421" name="L421"/>
          <p:cNvSpPr/>
          <p:nvPr/>
        </p:nvSpPr>
        <p:spPr>
          <a:xfrm>
            <a:off x="11049000" y="5308600"/>
            <a:ext cx="6350" cy="63500"/>
          </a:xfrm>
          <a:prstGeom prst="line">
            <a:avLst/>
          </a:prstGeom>
          <a:ln w="12700" cap="rnd">
            <a:solidFill>
              <a:srgbClr val="8C8C8C"/>
            </a:solidFill>
          </a:ln>
        </p:spPr>
        <p:txBody>
          <a:bodyPr/>
          <a:lstStyle/>
          <a:p>
            <a:endParaRPr/>
          </a:p>
        </p:txBody>
      </p:sp>
      <p:sp>
        <p:nvSpPr>
          <p:cNvPr id="422" name="T422"/>
          <p:cNvSpPr txBox="1"/>
          <p:nvPr/>
        </p:nvSpPr>
        <p:spPr>
          <a:xfrm>
            <a:off x="10731500" y="5397500"/>
            <a:ext cx="635000" cy="228600"/>
          </a:xfrm>
          <a:prstGeom prst="rect">
            <a:avLst/>
          </a:prstGeom>
          <a:noFill/>
        </p:spPr>
        <p:txBody>
          <a:bodyPr wrap="square" lIns="0" tIns="0" rIns="0" bIns="0" anchor="ctr"/>
          <a:lstStyle/>
          <a:p>
            <a:pPr algn="ctr">
              <a:lnSpc>
                <a:spcPct val="100000"/>
              </a:lnSpc>
              <a:buNone/>
            </a:pPr>
            <a:r>
              <a:rPr lang="en-US" sz="1400" dirty="0">
                <a:solidFill>
                  <a:srgbClr val="595959"/>
                </a:solidFill>
              </a:rPr>
              <a:t>+40</a:t>
            </a:r>
          </a:p>
        </p:txBody>
      </p:sp>
      <p:sp>
        <p:nvSpPr>
          <p:cNvPr id="423" name="T423"/>
          <p:cNvSpPr txBox="1"/>
          <p:nvPr/>
        </p:nvSpPr>
        <p:spPr>
          <a:xfrm>
            <a:off x="1092200" y="2794000"/>
            <a:ext cx="1905000" cy="381000"/>
          </a:xfrm>
          <a:prstGeom prst="rect">
            <a:avLst/>
          </a:prstGeom>
          <a:noFill/>
        </p:spPr>
        <p:txBody>
          <a:bodyPr wrap="square" lIns="0" tIns="0" rIns="0" bIns="0" anchor="ctr"/>
          <a:lstStyle/>
          <a:p>
            <a:pPr algn="l">
              <a:lnSpc>
                <a:spcPct val="100000"/>
              </a:lnSpc>
              <a:buNone/>
            </a:pPr>
            <a:r>
              <a:rPr lang="en-US" sz="1800" dirty="0">
                <a:solidFill>
                  <a:srgbClr val="262626"/>
                </a:solidFill>
              </a:rPr>
              <a:t>PTSD</a:t>
            </a:r>
          </a:p>
        </p:txBody>
      </p:sp>
      <p:sp>
        <p:nvSpPr>
          <p:cNvPr id="424" name="L424"/>
          <p:cNvSpPr/>
          <p:nvPr/>
        </p:nvSpPr>
        <p:spPr>
          <a:xfrm>
            <a:off x="6744547" y="2819400"/>
            <a:ext cx="3845137" cy="6350"/>
          </a:xfrm>
          <a:prstGeom prst="line">
            <a:avLst/>
          </a:prstGeom>
          <a:ln w="28575" cap="rnd">
            <a:solidFill>
              <a:srgbClr val="C8102E"/>
            </a:solidFill>
          </a:ln>
        </p:spPr>
        <p:txBody>
          <a:bodyPr/>
          <a:lstStyle/>
          <a:p>
            <a:endParaRPr/>
          </a:p>
        </p:txBody>
      </p:sp>
      <p:sp>
        <p:nvSpPr>
          <p:cNvPr id="425" name="L425"/>
          <p:cNvSpPr/>
          <p:nvPr/>
        </p:nvSpPr>
        <p:spPr>
          <a:xfrm>
            <a:off x="6744547" y="2743200"/>
            <a:ext cx="6350" cy="152400"/>
          </a:xfrm>
          <a:prstGeom prst="line">
            <a:avLst/>
          </a:prstGeom>
          <a:ln w="25400" cap="rnd">
            <a:solidFill>
              <a:srgbClr val="C8102E"/>
            </a:solidFill>
          </a:ln>
        </p:spPr>
        <p:txBody>
          <a:bodyPr/>
          <a:lstStyle/>
          <a:p>
            <a:endParaRPr/>
          </a:p>
        </p:txBody>
      </p:sp>
      <p:sp>
        <p:nvSpPr>
          <p:cNvPr id="426" name="L426"/>
          <p:cNvSpPr/>
          <p:nvPr/>
        </p:nvSpPr>
        <p:spPr>
          <a:xfrm>
            <a:off x="10589683" y="2743200"/>
            <a:ext cx="6350" cy="152400"/>
          </a:xfrm>
          <a:prstGeom prst="line">
            <a:avLst/>
          </a:prstGeom>
          <a:ln w="25400" cap="rnd">
            <a:solidFill>
              <a:srgbClr val="C8102E"/>
            </a:solidFill>
          </a:ln>
        </p:spPr>
        <p:txBody>
          <a:bodyPr/>
          <a:lstStyle/>
          <a:p>
            <a:endParaRPr/>
          </a:p>
        </p:txBody>
      </p:sp>
      <p:sp>
        <p:nvSpPr>
          <p:cNvPr id="427" name="D427"/>
          <p:cNvSpPr/>
          <p:nvPr/>
        </p:nvSpPr>
        <p:spPr>
          <a:xfrm>
            <a:off x="8584353" y="2743200"/>
            <a:ext cx="152400" cy="152400"/>
          </a:xfrm>
          <a:prstGeom prst="ellipse">
            <a:avLst/>
          </a:prstGeom>
          <a:solidFill>
            <a:srgbClr val="C8102E"/>
          </a:solidFill>
          <a:ln>
            <a:noFill/>
          </a:ln>
        </p:spPr>
        <p:txBody>
          <a:bodyPr/>
          <a:lstStyle/>
          <a:p>
            <a:endParaRPr/>
          </a:p>
        </p:txBody>
      </p:sp>
      <p:sp>
        <p:nvSpPr>
          <p:cNvPr id="428" name="T428"/>
          <p:cNvSpPr txBox="1"/>
          <p:nvPr/>
        </p:nvSpPr>
        <p:spPr>
          <a:xfrm>
            <a:off x="8483600" y="2495550"/>
            <a:ext cx="635000" cy="254000"/>
          </a:xfrm>
          <a:prstGeom prst="rect">
            <a:avLst/>
          </a:prstGeom>
          <a:noFill/>
        </p:spPr>
        <p:txBody>
          <a:bodyPr wrap="square" lIns="0" tIns="0" rIns="0" bIns="0" anchor="ctr"/>
          <a:lstStyle/>
          <a:p>
            <a:pPr algn="l">
              <a:lnSpc>
                <a:spcPct val="100000"/>
              </a:lnSpc>
              <a:buNone/>
            </a:pPr>
            <a:r>
              <a:rPr lang="en-US" sz="1400" dirty="0">
                <a:solidFill>
                  <a:srgbClr val="C8102E"/>
                </a:solidFill>
              </a:rPr>
              <a:t>+21.8</a:t>
            </a:r>
          </a:p>
        </p:txBody>
      </p:sp>
      <p:sp>
        <p:nvSpPr>
          <p:cNvPr id="429" name="L429"/>
          <p:cNvSpPr/>
          <p:nvPr/>
        </p:nvSpPr>
        <p:spPr>
          <a:xfrm>
            <a:off x="3172968" y="3149600"/>
            <a:ext cx="4638609" cy="6350"/>
          </a:xfrm>
          <a:prstGeom prst="line">
            <a:avLst/>
          </a:prstGeom>
          <a:ln w="28575" cap="rnd">
            <a:solidFill>
              <a:srgbClr val="1E3A5C"/>
            </a:solidFill>
          </a:ln>
        </p:spPr>
        <p:txBody>
          <a:bodyPr/>
          <a:lstStyle/>
          <a:p>
            <a:endParaRPr/>
          </a:p>
        </p:txBody>
      </p:sp>
      <p:sp>
        <p:nvSpPr>
          <p:cNvPr id="431" name="L431"/>
          <p:cNvSpPr/>
          <p:nvPr/>
        </p:nvSpPr>
        <p:spPr>
          <a:xfrm>
            <a:off x="7811577" y="3073400"/>
            <a:ext cx="6350" cy="152400"/>
          </a:xfrm>
          <a:prstGeom prst="line">
            <a:avLst/>
          </a:prstGeom>
          <a:ln w="25400" cap="rnd">
            <a:solidFill>
              <a:srgbClr val="1E3A5C"/>
            </a:solidFill>
          </a:ln>
        </p:spPr>
        <p:txBody>
          <a:bodyPr/>
          <a:lstStyle/>
          <a:p>
            <a:endParaRPr/>
          </a:p>
        </p:txBody>
      </p:sp>
      <p:sp>
        <p:nvSpPr>
          <p:cNvPr id="432" name="D432"/>
          <p:cNvSpPr/>
          <p:nvPr/>
        </p:nvSpPr>
        <p:spPr>
          <a:xfrm>
            <a:off x="4765263" y="3073400"/>
            <a:ext cx="152400" cy="152400"/>
          </a:xfrm>
          <a:prstGeom prst="ellipse">
            <a:avLst/>
          </a:prstGeom>
          <a:solidFill>
            <a:srgbClr val="1E3A5C"/>
          </a:solidFill>
          <a:ln>
            <a:noFill/>
          </a:ln>
        </p:spPr>
        <p:txBody>
          <a:bodyPr/>
          <a:lstStyle/>
          <a:p>
            <a:endParaRPr/>
          </a:p>
        </p:txBody>
      </p:sp>
      <p:sp>
        <p:nvSpPr>
          <p:cNvPr id="433" name="T433"/>
          <p:cNvSpPr txBox="1"/>
          <p:nvPr/>
        </p:nvSpPr>
        <p:spPr>
          <a:xfrm>
            <a:off x="4649645" y="2825750"/>
            <a:ext cx="635000" cy="254000"/>
          </a:xfrm>
          <a:prstGeom prst="rect">
            <a:avLst/>
          </a:prstGeom>
          <a:noFill/>
        </p:spPr>
        <p:txBody>
          <a:bodyPr wrap="square" lIns="0" tIns="0" rIns="0" bIns="0" anchor="ctr"/>
          <a:lstStyle/>
          <a:p>
            <a:pPr algn="l">
              <a:lnSpc>
                <a:spcPct val="100000"/>
              </a:lnSpc>
              <a:buNone/>
            </a:pPr>
            <a:r>
              <a:rPr lang="en-US" sz="1400" dirty="0">
                <a:solidFill>
                  <a:srgbClr val="1E3A5C"/>
                </a:solidFill>
              </a:rPr>
              <a:t>−7.3</a:t>
            </a:r>
          </a:p>
        </p:txBody>
      </p:sp>
      <p:sp>
        <p:nvSpPr>
          <p:cNvPr id="434" name="T434"/>
          <p:cNvSpPr txBox="1"/>
          <p:nvPr/>
        </p:nvSpPr>
        <p:spPr>
          <a:xfrm>
            <a:off x="1092200" y="3759200"/>
            <a:ext cx="1905000" cy="381000"/>
          </a:xfrm>
          <a:prstGeom prst="rect">
            <a:avLst/>
          </a:prstGeom>
          <a:noFill/>
        </p:spPr>
        <p:txBody>
          <a:bodyPr wrap="square" lIns="0" tIns="0" rIns="0" bIns="0" anchor="ctr"/>
          <a:lstStyle/>
          <a:p>
            <a:pPr algn="l">
              <a:lnSpc>
                <a:spcPct val="100000"/>
              </a:lnSpc>
              <a:buNone/>
            </a:pPr>
            <a:r>
              <a:rPr lang="en-US" sz="1800" dirty="0">
                <a:solidFill>
                  <a:srgbClr val="262626"/>
                </a:solidFill>
              </a:rPr>
              <a:t>Depression</a:t>
            </a:r>
          </a:p>
        </p:txBody>
      </p:sp>
      <p:sp>
        <p:nvSpPr>
          <p:cNvPr id="435" name="L435"/>
          <p:cNvSpPr/>
          <p:nvPr/>
        </p:nvSpPr>
        <p:spPr>
          <a:xfrm>
            <a:off x="7177617" y="3784600"/>
            <a:ext cx="3556423" cy="6350"/>
          </a:xfrm>
          <a:prstGeom prst="line">
            <a:avLst/>
          </a:prstGeom>
          <a:ln w="28575" cap="rnd">
            <a:solidFill>
              <a:srgbClr val="C8102E"/>
            </a:solidFill>
          </a:ln>
        </p:spPr>
        <p:txBody>
          <a:bodyPr/>
          <a:lstStyle/>
          <a:p>
            <a:endParaRPr/>
          </a:p>
        </p:txBody>
      </p:sp>
      <p:sp>
        <p:nvSpPr>
          <p:cNvPr id="436" name="L436"/>
          <p:cNvSpPr/>
          <p:nvPr/>
        </p:nvSpPr>
        <p:spPr>
          <a:xfrm>
            <a:off x="7177617" y="3708400"/>
            <a:ext cx="6350" cy="152400"/>
          </a:xfrm>
          <a:prstGeom prst="line">
            <a:avLst/>
          </a:prstGeom>
          <a:ln w="25400" cap="rnd">
            <a:solidFill>
              <a:srgbClr val="C8102E"/>
            </a:solidFill>
          </a:ln>
        </p:spPr>
        <p:txBody>
          <a:bodyPr/>
          <a:lstStyle/>
          <a:p>
            <a:endParaRPr/>
          </a:p>
        </p:txBody>
      </p:sp>
      <p:sp>
        <p:nvSpPr>
          <p:cNvPr id="437" name="L437"/>
          <p:cNvSpPr/>
          <p:nvPr/>
        </p:nvSpPr>
        <p:spPr>
          <a:xfrm>
            <a:off x="10734040" y="3708400"/>
            <a:ext cx="6350" cy="152400"/>
          </a:xfrm>
          <a:prstGeom prst="line">
            <a:avLst/>
          </a:prstGeom>
          <a:ln w="25400" cap="rnd">
            <a:solidFill>
              <a:srgbClr val="C8102E"/>
            </a:solidFill>
          </a:ln>
        </p:spPr>
        <p:txBody>
          <a:bodyPr/>
          <a:lstStyle/>
          <a:p>
            <a:endParaRPr/>
          </a:p>
        </p:txBody>
      </p:sp>
      <p:sp>
        <p:nvSpPr>
          <p:cNvPr id="438" name="D438"/>
          <p:cNvSpPr/>
          <p:nvPr/>
        </p:nvSpPr>
        <p:spPr>
          <a:xfrm>
            <a:off x="8886190" y="3708400"/>
            <a:ext cx="152400" cy="152400"/>
          </a:xfrm>
          <a:prstGeom prst="ellipse">
            <a:avLst/>
          </a:prstGeom>
          <a:solidFill>
            <a:srgbClr val="C8102E"/>
          </a:solidFill>
          <a:ln>
            <a:noFill/>
          </a:ln>
        </p:spPr>
        <p:txBody>
          <a:bodyPr/>
          <a:lstStyle/>
          <a:p>
            <a:endParaRPr/>
          </a:p>
        </p:txBody>
      </p:sp>
      <p:sp>
        <p:nvSpPr>
          <p:cNvPr id="439" name="T439"/>
          <p:cNvSpPr txBox="1"/>
          <p:nvPr/>
        </p:nvSpPr>
        <p:spPr>
          <a:xfrm>
            <a:off x="8721090" y="3448050"/>
            <a:ext cx="635000" cy="254000"/>
          </a:xfrm>
          <a:prstGeom prst="rect">
            <a:avLst/>
          </a:prstGeom>
          <a:noFill/>
        </p:spPr>
        <p:txBody>
          <a:bodyPr wrap="square" lIns="0" tIns="0" rIns="0" bIns="0" anchor="ctr"/>
          <a:lstStyle/>
          <a:p>
            <a:pPr algn="l">
              <a:lnSpc>
                <a:spcPct val="100000"/>
              </a:lnSpc>
              <a:buNone/>
            </a:pPr>
            <a:r>
              <a:rPr lang="en-US" sz="1400" dirty="0">
                <a:solidFill>
                  <a:srgbClr val="C8102E"/>
                </a:solidFill>
              </a:rPr>
              <a:t>+24.1</a:t>
            </a:r>
          </a:p>
        </p:txBody>
      </p:sp>
      <p:sp>
        <p:nvSpPr>
          <p:cNvPr id="440" name="L440"/>
          <p:cNvSpPr/>
          <p:nvPr/>
        </p:nvSpPr>
        <p:spPr>
          <a:xfrm>
            <a:off x="4789170" y="4114800"/>
            <a:ext cx="2926503" cy="6350"/>
          </a:xfrm>
          <a:prstGeom prst="line">
            <a:avLst/>
          </a:prstGeom>
          <a:ln w="28575" cap="rnd">
            <a:solidFill>
              <a:srgbClr val="1E3A5C"/>
            </a:solidFill>
          </a:ln>
        </p:spPr>
        <p:txBody>
          <a:bodyPr/>
          <a:lstStyle/>
          <a:p>
            <a:endParaRPr/>
          </a:p>
        </p:txBody>
      </p:sp>
      <p:sp>
        <p:nvSpPr>
          <p:cNvPr id="441" name="L441"/>
          <p:cNvSpPr/>
          <p:nvPr/>
        </p:nvSpPr>
        <p:spPr>
          <a:xfrm>
            <a:off x="4789170" y="4038600"/>
            <a:ext cx="6350" cy="152400"/>
          </a:xfrm>
          <a:prstGeom prst="line">
            <a:avLst/>
          </a:prstGeom>
          <a:ln w="25400" cap="rnd">
            <a:solidFill>
              <a:srgbClr val="1E3A5C"/>
            </a:solidFill>
          </a:ln>
        </p:spPr>
        <p:txBody>
          <a:bodyPr/>
          <a:lstStyle/>
          <a:p>
            <a:endParaRPr/>
          </a:p>
        </p:txBody>
      </p:sp>
      <p:sp>
        <p:nvSpPr>
          <p:cNvPr id="442" name="L442"/>
          <p:cNvSpPr/>
          <p:nvPr/>
        </p:nvSpPr>
        <p:spPr>
          <a:xfrm>
            <a:off x="7715673" y="4038600"/>
            <a:ext cx="6350" cy="152400"/>
          </a:xfrm>
          <a:prstGeom prst="line">
            <a:avLst/>
          </a:prstGeom>
          <a:ln w="25400" cap="rnd">
            <a:solidFill>
              <a:srgbClr val="1E3A5C"/>
            </a:solidFill>
          </a:ln>
        </p:spPr>
        <p:txBody>
          <a:bodyPr/>
          <a:lstStyle/>
          <a:p>
            <a:endParaRPr/>
          </a:p>
        </p:txBody>
      </p:sp>
      <p:sp>
        <p:nvSpPr>
          <p:cNvPr id="443" name="D443"/>
          <p:cNvSpPr/>
          <p:nvPr/>
        </p:nvSpPr>
        <p:spPr>
          <a:xfrm>
            <a:off x="6182783" y="4038600"/>
            <a:ext cx="152400" cy="152400"/>
          </a:xfrm>
          <a:prstGeom prst="ellipse">
            <a:avLst/>
          </a:prstGeom>
          <a:solidFill>
            <a:srgbClr val="1E3A5C"/>
          </a:solidFill>
          <a:ln>
            <a:noFill/>
          </a:ln>
        </p:spPr>
        <p:txBody>
          <a:bodyPr/>
          <a:lstStyle/>
          <a:p>
            <a:endParaRPr/>
          </a:p>
        </p:txBody>
      </p:sp>
      <p:sp>
        <p:nvSpPr>
          <p:cNvPr id="444" name="T444"/>
          <p:cNvSpPr txBox="1"/>
          <p:nvPr/>
        </p:nvSpPr>
        <p:spPr>
          <a:xfrm>
            <a:off x="6079861" y="3810000"/>
            <a:ext cx="635000" cy="254000"/>
          </a:xfrm>
          <a:prstGeom prst="rect">
            <a:avLst/>
          </a:prstGeom>
          <a:noFill/>
        </p:spPr>
        <p:txBody>
          <a:bodyPr wrap="square" lIns="0" tIns="0" rIns="0" bIns="0" anchor="ctr"/>
          <a:lstStyle/>
          <a:p>
            <a:pPr algn="l">
              <a:lnSpc>
                <a:spcPct val="100000"/>
              </a:lnSpc>
              <a:buNone/>
            </a:pPr>
            <a:r>
              <a:rPr lang="en-US" sz="1400" dirty="0">
                <a:solidFill>
                  <a:srgbClr val="1E3A5C"/>
                </a:solidFill>
              </a:rPr>
              <a:t>+3.5</a:t>
            </a:r>
          </a:p>
        </p:txBody>
      </p:sp>
      <p:sp>
        <p:nvSpPr>
          <p:cNvPr id="445" name="T445"/>
          <p:cNvSpPr txBox="1"/>
          <p:nvPr/>
        </p:nvSpPr>
        <p:spPr>
          <a:xfrm>
            <a:off x="1092200" y="4724400"/>
            <a:ext cx="1905000" cy="381000"/>
          </a:xfrm>
          <a:prstGeom prst="rect">
            <a:avLst/>
          </a:prstGeom>
          <a:noFill/>
        </p:spPr>
        <p:txBody>
          <a:bodyPr wrap="square" lIns="0" tIns="0" rIns="0" bIns="0" anchor="ctr"/>
          <a:lstStyle/>
          <a:p>
            <a:pPr algn="l">
              <a:lnSpc>
                <a:spcPct val="100000"/>
              </a:lnSpc>
              <a:buNone/>
            </a:pPr>
            <a:r>
              <a:rPr lang="en-US" sz="1800" dirty="0">
                <a:solidFill>
                  <a:srgbClr val="262626"/>
                </a:solidFill>
              </a:rPr>
              <a:t>Anxiety</a:t>
            </a:r>
          </a:p>
        </p:txBody>
      </p:sp>
      <p:sp>
        <p:nvSpPr>
          <p:cNvPr id="446" name="L446"/>
          <p:cNvSpPr/>
          <p:nvPr/>
        </p:nvSpPr>
        <p:spPr>
          <a:xfrm>
            <a:off x="6311477" y="4749800"/>
            <a:ext cx="3635163" cy="6350"/>
          </a:xfrm>
          <a:prstGeom prst="line">
            <a:avLst/>
          </a:prstGeom>
          <a:ln w="28575" cap="rnd">
            <a:solidFill>
              <a:srgbClr val="C8102E"/>
            </a:solidFill>
          </a:ln>
        </p:spPr>
        <p:txBody>
          <a:bodyPr/>
          <a:lstStyle/>
          <a:p>
            <a:endParaRPr/>
          </a:p>
        </p:txBody>
      </p:sp>
      <p:sp>
        <p:nvSpPr>
          <p:cNvPr id="447" name="L447"/>
          <p:cNvSpPr/>
          <p:nvPr/>
        </p:nvSpPr>
        <p:spPr>
          <a:xfrm>
            <a:off x="6311477" y="4673600"/>
            <a:ext cx="6350" cy="152400"/>
          </a:xfrm>
          <a:prstGeom prst="line">
            <a:avLst/>
          </a:prstGeom>
          <a:ln w="25400" cap="rnd">
            <a:solidFill>
              <a:srgbClr val="C8102E"/>
            </a:solidFill>
          </a:ln>
        </p:spPr>
        <p:txBody>
          <a:bodyPr/>
          <a:lstStyle/>
          <a:p>
            <a:endParaRPr/>
          </a:p>
        </p:txBody>
      </p:sp>
      <p:sp>
        <p:nvSpPr>
          <p:cNvPr id="448" name="L448"/>
          <p:cNvSpPr/>
          <p:nvPr/>
        </p:nvSpPr>
        <p:spPr>
          <a:xfrm>
            <a:off x="9946640" y="4673600"/>
            <a:ext cx="6350" cy="152400"/>
          </a:xfrm>
          <a:prstGeom prst="line">
            <a:avLst/>
          </a:prstGeom>
          <a:ln w="25400" cap="rnd">
            <a:solidFill>
              <a:srgbClr val="C8102E"/>
            </a:solidFill>
          </a:ln>
        </p:spPr>
        <p:txBody>
          <a:bodyPr/>
          <a:lstStyle/>
          <a:p>
            <a:endParaRPr/>
          </a:p>
        </p:txBody>
      </p:sp>
      <p:sp>
        <p:nvSpPr>
          <p:cNvPr id="449" name="D449"/>
          <p:cNvSpPr/>
          <p:nvPr/>
        </p:nvSpPr>
        <p:spPr>
          <a:xfrm>
            <a:off x="8059420" y="4673600"/>
            <a:ext cx="152400" cy="152400"/>
          </a:xfrm>
          <a:prstGeom prst="ellipse">
            <a:avLst/>
          </a:prstGeom>
          <a:solidFill>
            <a:srgbClr val="C8102E"/>
          </a:solidFill>
          <a:ln>
            <a:noFill/>
          </a:ln>
        </p:spPr>
        <p:txBody>
          <a:bodyPr/>
          <a:lstStyle/>
          <a:p>
            <a:endParaRPr/>
          </a:p>
        </p:txBody>
      </p:sp>
      <p:sp>
        <p:nvSpPr>
          <p:cNvPr id="450" name="T450"/>
          <p:cNvSpPr txBox="1"/>
          <p:nvPr/>
        </p:nvSpPr>
        <p:spPr>
          <a:xfrm>
            <a:off x="7894320" y="4381500"/>
            <a:ext cx="635000" cy="254000"/>
          </a:xfrm>
          <a:prstGeom prst="rect">
            <a:avLst/>
          </a:prstGeom>
          <a:noFill/>
        </p:spPr>
        <p:txBody>
          <a:bodyPr wrap="square" lIns="0" tIns="0" rIns="0" bIns="0" anchor="ctr"/>
          <a:lstStyle/>
          <a:p>
            <a:pPr algn="l">
              <a:lnSpc>
                <a:spcPct val="100000"/>
              </a:lnSpc>
              <a:buNone/>
            </a:pPr>
            <a:r>
              <a:rPr lang="en-US" sz="1400" dirty="0">
                <a:solidFill>
                  <a:srgbClr val="C8102E"/>
                </a:solidFill>
              </a:rPr>
              <a:t>+17.8</a:t>
            </a:r>
          </a:p>
        </p:txBody>
      </p:sp>
      <p:sp>
        <p:nvSpPr>
          <p:cNvPr id="451" name="L451"/>
          <p:cNvSpPr/>
          <p:nvPr/>
        </p:nvSpPr>
        <p:spPr>
          <a:xfrm>
            <a:off x="3818043" y="5080000"/>
            <a:ext cx="2913380" cy="6350"/>
          </a:xfrm>
          <a:prstGeom prst="line">
            <a:avLst/>
          </a:prstGeom>
          <a:ln w="28575" cap="rnd">
            <a:solidFill>
              <a:srgbClr val="1E3A5C"/>
            </a:solidFill>
          </a:ln>
        </p:spPr>
        <p:txBody>
          <a:bodyPr/>
          <a:lstStyle/>
          <a:p>
            <a:endParaRPr/>
          </a:p>
        </p:txBody>
      </p:sp>
      <p:sp>
        <p:nvSpPr>
          <p:cNvPr id="452" name="L452"/>
          <p:cNvSpPr/>
          <p:nvPr/>
        </p:nvSpPr>
        <p:spPr>
          <a:xfrm>
            <a:off x="3818043" y="5003800"/>
            <a:ext cx="6350" cy="152400"/>
          </a:xfrm>
          <a:prstGeom prst="line">
            <a:avLst/>
          </a:prstGeom>
          <a:ln w="25400" cap="rnd">
            <a:solidFill>
              <a:srgbClr val="1E3A5C"/>
            </a:solidFill>
          </a:ln>
        </p:spPr>
        <p:txBody>
          <a:bodyPr/>
          <a:lstStyle/>
          <a:p>
            <a:endParaRPr/>
          </a:p>
        </p:txBody>
      </p:sp>
      <p:sp>
        <p:nvSpPr>
          <p:cNvPr id="453" name="L453"/>
          <p:cNvSpPr/>
          <p:nvPr/>
        </p:nvSpPr>
        <p:spPr>
          <a:xfrm>
            <a:off x="6731423" y="5003800"/>
            <a:ext cx="6350" cy="152400"/>
          </a:xfrm>
          <a:prstGeom prst="line">
            <a:avLst/>
          </a:prstGeom>
          <a:ln w="25400" cap="rnd">
            <a:solidFill>
              <a:srgbClr val="1E3A5C"/>
            </a:solidFill>
          </a:ln>
        </p:spPr>
        <p:txBody>
          <a:bodyPr/>
          <a:lstStyle/>
          <a:p>
            <a:endParaRPr/>
          </a:p>
        </p:txBody>
      </p:sp>
      <p:sp>
        <p:nvSpPr>
          <p:cNvPr id="454" name="D454"/>
          <p:cNvSpPr/>
          <p:nvPr/>
        </p:nvSpPr>
        <p:spPr>
          <a:xfrm>
            <a:off x="5198533" y="5003800"/>
            <a:ext cx="152400" cy="152400"/>
          </a:xfrm>
          <a:prstGeom prst="ellipse">
            <a:avLst/>
          </a:prstGeom>
          <a:solidFill>
            <a:srgbClr val="1E3A5C"/>
          </a:solidFill>
          <a:ln>
            <a:noFill/>
          </a:ln>
        </p:spPr>
        <p:txBody>
          <a:bodyPr/>
          <a:lstStyle/>
          <a:p>
            <a:endParaRPr/>
          </a:p>
        </p:txBody>
      </p:sp>
      <p:sp>
        <p:nvSpPr>
          <p:cNvPr id="455" name="T455"/>
          <p:cNvSpPr txBox="1"/>
          <p:nvPr/>
        </p:nvSpPr>
        <p:spPr>
          <a:xfrm>
            <a:off x="5105401" y="4730750"/>
            <a:ext cx="635000" cy="254000"/>
          </a:xfrm>
          <a:prstGeom prst="rect">
            <a:avLst/>
          </a:prstGeom>
          <a:noFill/>
        </p:spPr>
        <p:txBody>
          <a:bodyPr wrap="square" lIns="0" tIns="0" rIns="0" bIns="0" anchor="ctr"/>
          <a:lstStyle/>
          <a:p>
            <a:pPr algn="l">
              <a:lnSpc>
                <a:spcPct val="100000"/>
              </a:lnSpc>
              <a:buNone/>
            </a:pPr>
            <a:r>
              <a:rPr lang="en-US" sz="1400" dirty="0">
                <a:solidFill>
                  <a:srgbClr val="1E3A5C"/>
                </a:solidFill>
              </a:rPr>
              <a:t>−4.0</a:t>
            </a:r>
          </a:p>
        </p:txBody>
      </p:sp>
      <p:sp>
        <p:nvSpPr>
          <p:cNvPr id="456" name="TextBox 455"/>
          <p:cNvSpPr txBox="1"/>
          <p:nvPr/>
        </p:nvSpPr>
        <p:spPr>
          <a:xfrm>
            <a:off x="3154680" y="3191256"/>
            <a:ext cx="1097280" cy="228600"/>
          </a:xfrm>
          <a:prstGeom prst="rect">
            <a:avLst/>
          </a:prstGeom>
          <a:noFill/>
        </p:spPr>
        <p:txBody>
          <a:bodyPr wrap="none">
            <a:spAutoFit/>
          </a:bodyPr>
          <a:lstStyle/>
          <a:p>
            <a:r>
              <a:rPr sz="900">
                <a:solidFill>
                  <a:srgbClr val="5A5F66"/>
                </a:solidFill>
              </a:rPr>
              <a:t>◂ to −30.0</a:t>
            </a:r>
          </a:p>
        </p:txBody>
      </p:sp>
      <p:sp>
        <p:nvSpPr>
          <p:cNvPr id="457"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1831017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Results: Prevalence Curves</a:t>
            </a:r>
          </a:p>
        </p:txBody>
      </p:sp>
      <p:sp>
        <p:nvSpPr>
          <p:cNvPr id="4" name="Content Placeholder 3">
            <a:extLst>
              <a:ext uri="{FF2B5EF4-FFF2-40B4-BE49-F238E27FC236}">
                <a16:creationId xmlns:a16="http://schemas.microsoft.com/office/drawing/2014/main" id="{8C2BAF29-04AF-38BA-C8F2-1E359EF36305}"/>
              </a:ext>
            </a:extLst>
          </p:cNvPr>
          <p:cNvSpPr>
            <a:spLocks noGrp="1"/>
          </p:cNvSpPr>
          <p:nvPr>
            <p:ph idx="1"/>
          </p:nvPr>
        </p:nvSpPr>
        <p:spPr/>
        <p:txBody>
          <a:bodyPr/>
          <a:lstStyle/>
          <a:p>
            <a:endParaRPr lang="en-US"/>
          </a:p>
        </p:txBody>
      </p:sp>
      <p:graphicFrame>
        <p:nvGraphicFramePr>
          <p:cNvPr id="3" name="Chart 2"/>
          <p:cNvGraphicFramePr>
            <a:graphicFrameLocks noGrp="1"/>
          </p:cNvGraphicFramePr>
          <p:nvPr/>
        </p:nvGraphicFramePr>
        <p:xfrm>
          <a:off x="838200" y="1810512"/>
          <a:ext cx="9729866" cy="3822191"/>
        </p:xfrm>
        <a:graphic>
          <a:graphicData uri="http://schemas.openxmlformats.org/drawingml/2006/chart">
            <c:chart xmlns:c="http://schemas.openxmlformats.org/drawingml/2006/chart" xmlns:r="http://schemas.openxmlformats.org/officeDocument/2006/relationships" r:id="rId3"/>
          </a:graphicData>
        </a:graphic>
      </p:graphicFrame>
      <p:sp>
        <p:nvSpPr>
          <p:cNvPr id="500" name="ChartLabel"/>
          <p:cNvSpPr txBox="1"/>
          <p:nvPr/>
        </p:nvSpPr>
        <p:spPr>
          <a:xfrm>
            <a:off x="838200" y="1481328"/>
            <a:ext cx="10515600" cy="330200"/>
          </a:xfrm>
          <a:prstGeom prst="rect">
            <a:avLst/>
          </a:prstGeom>
          <a:noFill/>
        </p:spPr>
        <p:txBody>
          <a:bodyPr wrap="square" lIns="0" tIns="0" rIns="0" bIns="0"/>
          <a:lstStyle/>
          <a:p>
            <a:pPr>
              <a:lnSpc>
                <a:spcPct val="130000"/>
              </a:lnSpc>
              <a:buNone/>
            </a:pPr>
            <a:r>
              <a:rPr lang="en-US" sz="1600" dirty="0">
                <a:solidFill>
                  <a:srgbClr val="D9D9D9"/>
                </a:solidFill>
              </a:rPr>
              <a:t>Model-predicted prevalence (%) by stressor count, at four levels of trauma exposure (Stata margins)</a:t>
            </a:r>
          </a:p>
        </p:txBody>
      </p:sp>
      <p:sp>
        <p:nvSpPr>
          <p:cNvPr id="5" name="TextBox 4">
            <a:extLst>
              <a:ext uri="{FF2B5EF4-FFF2-40B4-BE49-F238E27FC236}">
                <a16:creationId xmlns:a16="http://schemas.microsoft.com/office/drawing/2014/main" id="{1EBF3AF0-D124-6B79-F4DF-7A4A444727A8}"/>
              </a:ext>
            </a:extLst>
          </p:cNvPr>
          <p:cNvSpPr txBox="1"/>
          <p:nvPr/>
        </p:nvSpPr>
        <p:spPr>
          <a:xfrm>
            <a:off x="2788170" y="5726618"/>
            <a:ext cx="13212996" cy="369332"/>
          </a:xfrm>
          <a:prstGeom prst="rect">
            <a:avLst/>
          </a:prstGeom>
          <a:noFill/>
        </p:spPr>
        <p:txBody>
          <a:bodyPr wrap="square">
            <a:spAutoFit/>
          </a:bodyPr>
          <a:lstStyle/>
          <a:p>
            <a:r>
              <a:rPr lang="en-US" dirty="0">
                <a:solidFill>
                  <a:srgbClr val="FF0000"/>
                </a:solidFill>
              </a:rPr>
              <a:t>The Stressor Gradient Flattens as Trauma Rises</a:t>
            </a:r>
          </a:p>
        </p:txBody>
      </p:sp>
      <p:sp>
        <p:nvSpPr>
          <p:cNvPr id="501"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3633949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wipe(left)">
                                      <p:cBhvr>
                                        <p:cTn id="7" dur="400"/>
                                        <p:tgtEl>
                                          <p:spTgt spid="3">
                                            <p:graphicEl>
                                              <a:chart seriesIdx="-3" categoryIdx="-3" bldStep="gridLegend"/>
                                            </p:graphicEl>
                                          </p:spTgt>
                                        </p:tgtEl>
                                      </p:cBhvr>
                                    </p:animEffect>
                                  </p:childTnLst>
                                </p:cTn>
                              </p:par>
                            </p:childTnLst>
                          </p:cTn>
                        </p:par>
                        <p:par>
                          <p:cTn id="8" fill="hold">
                            <p:stCondLst>
                              <p:cond delay="400"/>
                            </p:stCondLst>
                            <p:childTnLst>
                              <p:par>
                                <p:cTn id="9" presetID="22" presetClass="entr" presetSubtype="8" fill="hold" grpId="0" nodeType="afterEffect">
                                  <p:stCondLst>
                                    <p:cond delay="0"/>
                                  </p:stCondLst>
                                  <p:childTnLst>
                                    <p:set>
                                      <p:cBhvr>
                                        <p:cTn id="10" dur="1" fill="hold">
                                          <p:stCondLst>
                                            <p:cond delay="0"/>
                                          </p:stCondLst>
                                        </p:cTn>
                                        <p:tgtEl>
                                          <p:spTgt spid="3">
                                            <p:graphicEl>
                                              <a:chart seriesIdx="-4" categoryIdx="0" bldStep="category"/>
                                            </p:graphicEl>
                                          </p:spTgt>
                                        </p:tgtEl>
                                        <p:attrNameLst>
                                          <p:attrName>style.visibility</p:attrName>
                                        </p:attrNameLst>
                                      </p:cBhvr>
                                      <p:to>
                                        <p:strVal val="visible"/>
                                      </p:to>
                                    </p:set>
                                    <p:animEffect transition="in" filter="wipe(left)">
                                      <p:cBhvr>
                                        <p:cTn id="11" dur="800"/>
                                        <p:tgtEl>
                                          <p:spTgt spid="3">
                                            <p:graphicEl>
                                              <a:chart seriesIdx="-4" categoryIdx="0" bldStep="category"/>
                                            </p:graphicEl>
                                          </p:spTgt>
                                        </p:tgtEl>
                                      </p:cBhvr>
                                    </p:animEffect>
                                  </p:childTnLst>
                                </p:cTn>
                              </p:par>
                            </p:childTnLst>
                          </p:cTn>
                        </p:par>
                        <p:par>
                          <p:cTn id="12" fill="hold">
                            <p:stCondLst>
                              <p:cond delay="1200"/>
                            </p:stCondLst>
                            <p:childTnLst>
                              <p:par>
                                <p:cTn id="13" presetID="22" presetClass="entr" presetSubtype="8" fill="hold" grpId="0" nodeType="afterEffect">
                                  <p:stCondLst>
                                    <p:cond delay="0"/>
                                  </p:stCondLst>
                                  <p:childTnLst>
                                    <p:set>
                                      <p:cBhvr>
                                        <p:cTn id="14" dur="1" fill="hold">
                                          <p:stCondLst>
                                            <p:cond delay="0"/>
                                          </p:stCondLst>
                                        </p:cTn>
                                        <p:tgtEl>
                                          <p:spTgt spid="3">
                                            <p:graphicEl>
                                              <a:chart seriesIdx="-4" categoryIdx="1" bldStep="category"/>
                                            </p:graphicEl>
                                          </p:spTgt>
                                        </p:tgtEl>
                                        <p:attrNameLst>
                                          <p:attrName>style.visibility</p:attrName>
                                        </p:attrNameLst>
                                      </p:cBhvr>
                                      <p:to>
                                        <p:strVal val="visible"/>
                                      </p:to>
                                    </p:set>
                                    <p:animEffect transition="in" filter="wipe(left)">
                                      <p:cBhvr>
                                        <p:cTn id="15" dur="800"/>
                                        <p:tgtEl>
                                          <p:spTgt spid="3">
                                            <p:graphicEl>
                                              <a:chart seriesIdx="-4" categoryIdx="1" bldStep="category"/>
                                            </p:graphic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3">
                                            <p:graphicEl>
                                              <a:chart seriesIdx="-4" categoryIdx="2" bldStep="category"/>
                                            </p:graphicEl>
                                          </p:spTgt>
                                        </p:tgtEl>
                                        <p:attrNameLst>
                                          <p:attrName>style.visibility</p:attrName>
                                        </p:attrNameLst>
                                      </p:cBhvr>
                                      <p:to>
                                        <p:strVal val="visible"/>
                                      </p:to>
                                    </p:set>
                                    <p:animEffect transition="in" filter="wipe(left)">
                                      <p:cBhvr>
                                        <p:cTn id="19" dur="800"/>
                                        <p:tgtEl>
                                          <p:spTgt spid="3">
                                            <p:graphicEl>
                                              <a:chart seriesIdx="-4" categoryIdx="2" bldStep="category"/>
                                            </p:graphicEl>
                                          </p:spTgt>
                                        </p:tgtEl>
                                      </p:cBhvr>
                                    </p:animEffect>
                                  </p:childTnLst>
                                </p:cTn>
                              </p:par>
                            </p:childTnLst>
                          </p:cTn>
                        </p:par>
                        <p:par>
                          <p:cTn id="20" fill="hold">
                            <p:stCondLst>
                              <p:cond delay="2800"/>
                            </p:stCondLst>
                            <p:childTnLst>
                              <p:par>
                                <p:cTn id="21" presetID="22" presetClass="entr" presetSubtype="8" fill="hold" grpId="0" nodeType="afterEffect">
                                  <p:stCondLst>
                                    <p:cond delay="0"/>
                                  </p:stCondLst>
                                  <p:childTnLst>
                                    <p:set>
                                      <p:cBhvr>
                                        <p:cTn id="22" dur="1" fill="hold">
                                          <p:stCondLst>
                                            <p:cond delay="0"/>
                                          </p:stCondLst>
                                        </p:cTn>
                                        <p:tgtEl>
                                          <p:spTgt spid="3">
                                            <p:graphicEl>
                                              <a:chart seriesIdx="-4" categoryIdx="3" bldStep="category"/>
                                            </p:graphicEl>
                                          </p:spTgt>
                                        </p:tgtEl>
                                        <p:attrNameLst>
                                          <p:attrName>style.visibility</p:attrName>
                                        </p:attrNameLst>
                                      </p:cBhvr>
                                      <p:to>
                                        <p:strVal val="visible"/>
                                      </p:to>
                                    </p:set>
                                    <p:animEffect transition="in" filter="wipe(left)">
                                      <p:cBhvr>
                                        <p:cTn id="23" dur="800"/>
                                        <p:tgtEl>
                                          <p:spTgt spid="3">
                                            <p:graphicEl>
                                              <a:chart seriesIdx="-4" categoryIdx="3" bldStep="category"/>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Chart bld="category"/>
        </p:bldSub>
      </p:bldGraphic>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Sensitivity Analyses</a:t>
            </a:r>
            <a:endParaRPr dirty="0"/>
          </a:p>
        </p:txBody>
      </p:sp>
      <p:sp>
        <p:nvSpPr>
          <p:cNvPr id="3" name="Content Placeholder 2"/>
          <p:cNvSpPr>
            <a:spLocks noGrp="1"/>
          </p:cNvSpPr>
          <p:nvPr>
            <p:ph idx="1"/>
          </p:nvPr>
        </p:nvSpPr>
        <p:spPr/>
        <p:txBody>
          <a:bodyPr wrap="square"/>
          <a:lstStyle/>
          <a:p>
            <a:pPr>
              <a:spcAft>
                <a:spcPts val="800"/>
              </a:spcAft>
            </a:pPr>
            <a:r>
              <a:rPr sz="1800" dirty="0"/>
              <a:t>Adjusted spline interaction: PTSD p=0.0027; depression p=0.0001; anxiety p=0.0027</a:t>
            </a:r>
          </a:p>
          <a:p>
            <a:pPr>
              <a:spcAft>
                <a:spcPts val="800"/>
              </a:spcAft>
            </a:pPr>
            <a:r>
              <a:rPr sz="1800" dirty="0"/>
              <a:t>Alternative thresholds: PCL-5≥33 (p=0.0002), PHQ-9≥15 (p=0.0001), GAD-7≥7 (p&lt;0.0001)</a:t>
            </a:r>
          </a:p>
          <a:p>
            <a:pPr>
              <a:spcAft>
                <a:spcPts val="800"/>
              </a:spcAft>
            </a:pPr>
            <a:r>
              <a:rPr sz="1800" dirty="0"/>
              <a:t>Continuous symptom scores — no cutoff at all: all p≤0.0001</a:t>
            </a:r>
          </a:p>
          <a:p>
            <a:pPr>
              <a:spcAft>
                <a:spcPts val="800"/>
              </a:spcAft>
            </a:pPr>
            <a:r>
              <a:rPr sz="1800" dirty="0"/>
              <a:t>Not a ceiling: the 5+ group sits at 30–40% prevalence with a tight confidence interval, estimated over real stressor variation</a:t>
            </a:r>
          </a:p>
          <a:p>
            <a:pPr>
              <a:spcAft>
                <a:spcPts val="800"/>
              </a:spcAft>
            </a:pPr>
            <a:r>
              <a:rPr sz="1800" dirty="0"/>
              <a:t>Categorical and continuous specifications agree; adjusted and unadjusted agree</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extLst>
      <p:ext uri="{BB962C8B-B14F-4D97-AF65-F5344CB8AC3E}">
        <p14:creationId xmlns:p14="http://schemas.microsoft.com/office/powerpoint/2010/main" val="2324500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Results: Hypotheses</a:t>
            </a:r>
          </a:p>
        </p:txBody>
      </p:sp>
      <p:sp>
        <p:nvSpPr>
          <p:cNvPr id="3" name="Content Placeholder 2"/>
          <p:cNvSpPr>
            <a:spLocks noGrp="1"/>
          </p:cNvSpPr>
          <p:nvPr>
            <p:ph idx="1"/>
          </p:nvPr>
        </p:nvSpPr>
        <p:spPr/>
        <p:txBody>
          <a:bodyPr wrap="square">
            <a:noAutofit/>
          </a:bodyPr>
          <a:lstStyle/>
          <a:p>
            <a:pPr marL="0" indent="0">
              <a:lnSpc>
                <a:spcPct val="130000"/>
              </a:lnSpc>
              <a:spcBef>
                <a:spcPts val="0"/>
              </a:spcBef>
              <a:spcAft>
                <a:spcPts val="200"/>
              </a:spcAft>
              <a:buNone/>
            </a:pPr>
            <a:r>
              <a:rPr lang="en-US" sz="1400" b="0" dirty="0">
                <a:solidFill>
                  <a:srgbClr val="E8963C"/>
                </a:solidFill>
              </a:rPr>
              <a:t>AIM, ANSWERED</a:t>
            </a:r>
          </a:p>
          <a:p>
            <a:pPr marL="0" indent="0">
              <a:lnSpc>
                <a:spcPct val="130000"/>
              </a:lnSpc>
              <a:spcBef>
                <a:spcPts val="0"/>
              </a:spcBef>
              <a:spcAft>
                <a:spcPts val="3000"/>
              </a:spcAft>
              <a:buNone/>
            </a:pPr>
            <a:r>
              <a:rPr lang="en-US" sz="2600" b="0" dirty="0">
                <a:solidFill>
                  <a:srgbClr val="FFFFFF"/>
                </a:solidFill>
                <a:latin typeface="Avenir"/>
              </a:rPr>
              <a:t>Yes: trauma exposure modifies the stressor association for PTSD, depression, and anxiety</a:t>
            </a:r>
          </a:p>
          <a:p>
            <a:pPr marL="0" indent="0">
              <a:lnSpc>
                <a:spcPct val="130000"/>
              </a:lnSpc>
              <a:spcBef>
                <a:spcPts val="0"/>
              </a:spcBef>
              <a:spcAft>
                <a:spcPts val="600"/>
              </a:spcAft>
              <a:buNone/>
            </a:pPr>
            <a:r>
              <a:rPr lang="en-US" sz="1400" b="0" dirty="0">
                <a:solidFill>
                  <a:srgbClr val="E8963C"/>
                </a:solidFill>
              </a:rPr>
              <a:t>HYPOTHESES</a:t>
            </a:r>
          </a:p>
          <a:p>
            <a:pPr marL="685800" indent="-685800">
              <a:lnSpc>
                <a:spcPct val="130000"/>
              </a:lnSpc>
              <a:spcBef>
                <a:spcPts val="0"/>
              </a:spcBef>
              <a:spcAft>
                <a:spcPts val="1000"/>
              </a:spcAft>
              <a:buNone/>
            </a:pPr>
            <a:r>
              <a:rPr lang="en-US" sz="1800" b="0" dirty="0">
                <a:solidFill>
                  <a:srgbClr val="E8963C"/>
                </a:solidFill>
              </a:rPr>
              <a:t>H1	Supported. </a:t>
            </a:r>
            <a:r>
              <a:rPr lang="en-US" sz="1800" b="0" dirty="0">
                <a:solidFill>
                  <a:srgbClr val="FFFFFF"/>
                </a:solidFill>
              </a:rPr>
              <a:t>Trauma × stressor interaction p &lt; 0.0001 for all three outcomes</a:t>
            </a:r>
          </a:p>
          <a:p>
            <a:pPr marL="685800" indent="-685800">
              <a:lnSpc>
                <a:spcPct val="130000"/>
              </a:lnSpc>
              <a:spcBef>
                <a:spcPts val="0"/>
              </a:spcBef>
              <a:spcAft>
                <a:spcPts val="0"/>
              </a:spcAft>
              <a:buNone/>
            </a:pPr>
            <a:r>
              <a:rPr lang="en-US" sz="1800" b="0" dirty="0">
                <a:solidFill>
                  <a:srgbClr val="E8963C"/>
                </a:solidFill>
              </a:rPr>
              <a:t>H2	Supported. </a:t>
            </a:r>
            <a:r>
              <a:rPr lang="en-US" sz="1800" b="0" dirty="0">
                <a:solidFill>
                  <a:srgbClr val="FFFFFF"/>
                </a:solidFill>
              </a:rPr>
              <a:t>The interaction is negative: the PTSD ratio per added stressor falls from 1.97 with no trauma to 0.92 at 5+ events, and depression and anxiety follow the same pattern</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extLst>
      <p:ext uri="{BB962C8B-B14F-4D97-AF65-F5344CB8AC3E}">
        <p14:creationId xmlns:p14="http://schemas.microsoft.com/office/powerpoint/2010/main" val="1098928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Results: A Graded Pattern</a:t>
            </a:r>
          </a:p>
        </p:txBody>
      </p:sp>
      <p:sp>
        <p:nvSpPr>
          <p:cNvPr id="3" name="Content Placeholder 2"/>
          <p:cNvSpPr>
            <a:spLocks noGrp="1"/>
          </p:cNvSpPr>
          <p:nvPr>
            <p:ph idx="1"/>
          </p:nvPr>
        </p:nvSpPr>
        <p:spPr/>
        <p:txBody>
          <a:bodyPr wrap="square"/>
          <a:lstStyle/>
          <a:p>
            <a:pPr>
              <a:lnSpc>
                <a:spcPct val="130000"/>
              </a:lnSpc>
              <a:spcAft>
                <a:spcPts val="1800"/>
              </a:spcAft>
            </a:pPr>
            <a:r>
              <a:rPr lang="en-US" sz="2000" dirty="0"/>
              <a:t>The exposures do not simply add (H1), and the interaction runs toward saturation (H2)</a:t>
            </a:r>
          </a:p>
          <a:p>
            <a:pPr>
              <a:lnSpc>
                <a:spcPct val="130000"/>
              </a:lnSpc>
              <a:spcAft>
                <a:spcPts val="1800"/>
              </a:spcAft>
            </a:pPr>
            <a:r>
              <a:rPr lang="en-US" sz="2000" dirty="0"/>
              <a:t>The stress gradient sits among adults with little trauma; the heavily exposed are high at every stressor level</a:t>
            </a:r>
          </a:p>
          <a:p>
            <a:pPr>
              <a:lnSpc>
                <a:spcPct val="130000"/>
              </a:lnSpc>
              <a:spcAft>
                <a:spcPts val="1800"/>
              </a:spcAft>
            </a:pPr>
            <a:r>
              <a:rPr lang="en-US" sz="2000" dirty="0"/>
              <a:t>Graded, not a switch: sensitivity retained at 1–2 events, flattening at 3–4, gone by 5+</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extLst>
      <p:ext uri="{BB962C8B-B14F-4D97-AF65-F5344CB8AC3E}">
        <p14:creationId xmlns:p14="http://schemas.microsoft.com/office/powerpoint/2010/main" val="4081805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Interpretation: Candidate Mechanisms</a:t>
            </a:r>
          </a:p>
        </p:txBody>
      </p:sp>
      <p:sp>
        <p:nvSpPr>
          <p:cNvPr id="3" name="Content Placeholder 2"/>
          <p:cNvSpPr>
            <a:spLocks noGrp="1"/>
          </p:cNvSpPr>
          <p:nvPr>
            <p:ph idx="1"/>
          </p:nvPr>
        </p:nvSpPr>
        <p:spPr/>
        <p:txBody>
          <a:bodyPr wrap="square"/>
          <a:lstStyle/>
          <a:p>
            <a:pPr>
              <a:lnSpc>
                <a:spcPct val="130000"/>
              </a:lnSpc>
              <a:spcAft>
                <a:spcPts val="1400"/>
              </a:spcAft>
            </a:pPr>
            <a:r>
              <a:rPr lang="en-US" sz="2000" dirty="0"/>
              <a:t>Allostatic exhaustion (McEwen)</a:t>
            </a:r>
          </a:p>
          <a:p>
            <a:pPr>
              <a:lnSpc>
                <a:spcPct val="130000"/>
              </a:lnSpc>
              <a:spcAft>
                <a:spcPts val="1400"/>
              </a:spcAft>
            </a:pPr>
            <a:r>
              <a:rPr lang="en-US" sz="2000" dirty="0"/>
              <a:t>Hypocortisolism and blunted amygdala reactivity (Yehuda)</a:t>
            </a:r>
          </a:p>
          <a:p>
            <a:pPr>
              <a:lnSpc>
                <a:spcPct val="130000"/>
              </a:lnSpc>
              <a:spcAft>
                <a:spcPts val="1400"/>
              </a:spcAft>
            </a:pPr>
            <a:r>
              <a:rPr lang="en-US" sz="2000" dirty="0"/>
              <a:t>Emotional numbing</a:t>
            </a:r>
          </a:p>
          <a:p>
            <a:pPr>
              <a:lnSpc>
                <a:spcPct val="130000"/>
              </a:lnSpc>
              <a:spcAft>
                <a:spcPts val="1400"/>
              </a:spcAft>
            </a:pPr>
            <a:r>
              <a:rPr lang="en-US" sz="2000" dirty="0"/>
              <a:t>Altered world assumptions</a:t>
            </a:r>
          </a:p>
          <a:p>
            <a:pPr marL="0" indent="0">
              <a:lnSpc>
                <a:spcPct val="130000"/>
              </a:lnSpc>
              <a:spcBef>
                <a:spcPts val="1800"/>
              </a:spcBef>
              <a:spcAft>
                <a:spcPts val="1400"/>
              </a:spcAft>
              <a:buNone/>
            </a:pPr>
            <a:r>
              <a:rPr lang="en-US" sz="1800" i="1" dirty="0"/>
              <a:t>Cross-sectional data: a population pattern, not a demonstrated within-person mechanism</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extLst>
      <p:ext uri="{BB962C8B-B14F-4D97-AF65-F5344CB8AC3E}">
        <p14:creationId xmlns:p14="http://schemas.microsoft.com/office/powerpoint/2010/main" val="722977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Interpretation: Implications for Programming</a:t>
            </a:r>
          </a:p>
        </p:txBody>
      </p:sp>
      <p:sp>
        <p:nvSpPr>
          <p:cNvPr id="3" name="Content Placeholder 2"/>
          <p:cNvSpPr>
            <a:spLocks noGrp="1"/>
          </p:cNvSpPr>
          <p:nvPr>
            <p:ph idx="1"/>
          </p:nvPr>
        </p:nvSpPr>
        <p:spPr/>
        <p:txBody>
          <a:bodyPr wrap="square"/>
          <a:lstStyle/>
          <a:p>
            <a:pPr>
              <a:spcAft>
                <a:spcPts val="800"/>
              </a:spcAft>
            </a:pPr>
            <a:r>
              <a:rPr sz="1800" dirty="0"/>
              <a:t>One program for everyone serves neither group well</a:t>
            </a:r>
          </a:p>
          <a:p>
            <a:pPr>
              <a:spcAft>
                <a:spcPts val="800"/>
              </a:spcAft>
            </a:pPr>
            <a:r>
              <a:rPr sz="1800" dirty="0"/>
              <a:t>~4 in 5 adults have fewer than three event types and retain stress sensitivity:</a:t>
            </a:r>
          </a:p>
          <a:p>
            <a:pPr lvl="1">
              <a:spcAft>
                <a:spcPts val="400"/>
              </a:spcAft>
            </a:pPr>
            <a:r>
              <a:rPr sz="1500" dirty="0"/>
              <a:t>Stress management, livelihood support, Problem Management Plus, community psychosocial support (Rahman 2016; Jordans 2010)</a:t>
            </a:r>
          </a:p>
          <a:p>
            <a:pPr>
              <a:spcAft>
                <a:spcPts val="800"/>
              </a:spcAft>
            </a:pPr>
            <a:r>
              <a:rPr sz="1800" dirty="0"/>
              <a:t>The heavily exposed minority carries 30–40% prevalence at every stressor level:</a:t>
            </a:r>
          </a:p>
          <a:p>
            <a:pPr lvl="1">
              <a:spcAft>
                <a:spcPts val="400"/>
              </a:spcAft>
            </a:pPr>
            <a:r>
              <a:rPr sz="1500" dirty="0"/>
              <a:t>Trauma-focused therapies — Narrative Exposure Therapy (</a:t>
            </a:r>
            <a:r>
              <a:rPr sz="1500" dirty="0" err="1"/>
              <a:t>Robjant</a:t>
            </a:r>
            <a:r>
              <a:rPr sz="1500" dirty="0"/>
              <a:t> &amp; Fazel 2010), culturally adapted CPT (Bass 2013)</a:t>
            </a:r>
          </a:p>
          <a:p>
            <a:pPr>
              <a:spcAft>
                <a:spcPts val="800"/>
              </a:spcAft>
            </a:pPr>
            <a:r>
              <a:rPr sz="1800" dirty="0"/>
              <a:t>Brief trauma-history screening at program entry could route scarce specialist capacity to where stress reduction cannot substitute for it</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wrap="square"/>
          <a:lstStyle/>
          <a:p>
            <a:pPr>
              <a:spcAft>
                <a:spcPts val="800"/>
              </a:spcAft>
            </a:pPr>
            <a:r>
              <a:rPr sz="1800" dirty="0"/>
              <a:t>Cross-sectional: saturation </a:t>
            </a:r>
            <a:r>
              <a:rPr lang="en-US" sz="1800" dirty="0"/>
              <a:t>is </a:t>
            </a:r>
            <a:r>
              <a:rPr sz="1800" dirty="0"/>
              <a:t>an association pattern, not a </a:t>
            </a:r>
            <a:r>
              <a:rPr lang="en-US" sz="1800" dirty="0"/>
              <a:t>causal </a:t>
            </a:r>
            <a:r>
              <a:rPr sz="1800" dirty="0"/>
              <a:t>mechanism; selection and reverse causation cannot be excluded</a:t>
            </a:r>
          </a:p>
          <a:p>
            <a:pPr>
              <a:spcAft>
                <a:spcPts val="800"/>
              </a:spcAft>
            </a:pPr>
            <a:r>
              <a:rPr sz="1800" dirty="0"/>
              <a:t>Lifetime event recall set against current stressors</a:t>
            </a:r>
          </a:p>
          <a:p>
            <a:pPr>
              <a:spcAft>
                <a:spcPts val="800"/>
              </a:spcAft>
            </a:pPr>
            <a:r>
              <a:rPr sz="1800" dirty="0"/>
              <a:t>Sparse data above six events (~60 respondents): extreme-tail predictions unstable, reported only to five events</a:t>
            </a:r>
          </a:p>
          <a:p>
            <a:pPr>
              <a:spcAft>
                <a:spcPts val="800"/>
              </a:spcAft>
            </a:pPr>
            <a:r>
              <a:rPr sz="1800" dirty="0"/>
              <a:t>Screens, not diagnoses — though locally validated, and the pattern holds in continuous scores</a:t>
            </a:r>
          </a:p>
          <a:p>
            <a:pPr>
              <a:spcAft>
                <a:spcPts val="800"/>
              </a:spcAft>
            </a:pPr>
            <a:r>
              <a:rPr sz="1800" dirty="0"/>
              <a:t>Equal sampling weights; design-based clustering (state strata, community PSUs)</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Generalisability and Conclusions</a:t>
            </a:r>
          </a:p>
        </p:txBody>
      </p:sp>
      <p:sp>
        <p:nvSpPr>
          <p:cNvPr id="3" name="Content Placeholder 2"/>
          <p:cNvSpPr>
            <a:spLocks noGrp="1"/>
          </p:cNvSpPr>
          <p:nvPr>
            <p:ph idx="1"/>
          </p:nvPr>
        </p:nvSpPr>
        <p:spPr/>
        <p:txBody>
          <a:bodyPr wrap="square"/>
          <a:lstStyle/>
          <a:p>
            <a:pPr>
              <a:spcAft>
                <a:spcPts val="800"/>
              </a:spcAft>
            </a:pPr>
            <a:r>
              <a:rPr sz="1800" dirty="0"/>
              <a:t>Trauma exposure modifies what everyday stress does: per-stressor PTSD risk falls from ×1.97 among the unexposed to null at five or more events, across all three outcomes, on both scales, in every sensitivity analysis</a:t>
            </a:r>
          </a:p>
          <a:p>
            <a:pPr>
              <a:spcAft>
                <a:spcPts val="800"/>
              </a:spcAft>
            </a:pPr>
            <a:r>
              <a:rPr sz="1800" dirty="0"/>
              <a:t>Simple dose-response assumptions — and universal psychosocial programming built on them — do not fit these data</a:t>
            </a:r>
          </a:p>
          <a:p>
            <a:pPr>
              <a:spcAft>
                <a:spcPts val="800"/>
              </a:spcAft>
            </a:pPr>
            <a:r>
              <a:rPr sz="1800" dirty="0"/>
              <a:t>Match the intervention to trauma history: stress-focused support where sensitivity is retained; trauma-focused therapy where exposure is extensive</a:t>
            </a:r>
          </a:p>
          <a:p>
            <a:pPr>
              <a:spcAft>
                <a:spcPts val="800"/>
              </a:spcAft>
            </a:pPr>
            <a:r>
              <a:rPr sz="1800" dirty="0"/>
              <a:t>Next: longitudinal designs to establish when saturation develops and whether it reverses with treatment</a:t>
            </a:r>
          </a:p>
          <a:p>
            <a:pPr>
              <a:spcAft>
                <a:spcPts val="800"/>
              </a:spcAft>
            </a:pPr>
            <a:r>
              <a:rPr sz="1800" dirty="0"/>
              <a:t>Six states spanning five forms of violence and a non-conflict comparison; replication in other high-exposure settings is needed</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DISCUSSION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Bias</a:t>
            </a:r>
          </a:p>
        </p:txBody>
      </p:sp>
      <p:sp>
        <p:nvSpPr>
          <p:cNvPr id="3" name="Content Placeholder 2"/>
          <p:cNvSpPr>
            <a:spLocks noGrp="1"/>
          </p:cNvSpPr>
          <p:nvPr>
            <p:ph idx="1"/>
          </p:nvPr>
        </p:nvSpPr>
        <p:spPr/>
        <p:txBody>
          <a:bodyPr/>
          <a:lstStyle/>
          <a:p>
            <a:pPr>
              <a:spcAft>
                <a:spcPts val="800"/>
              </a:spcAft>
            </a:pPr>
            <a:r>
              <a:rPr sz="1600"/>
              <a:t>Exposure misclassification: the 37 who declined the trauma items treated as missing, not unexposed; counts verified against item-level responses</a:t>
            </a:r>
          </a:p>
          <a:p>
            <a:pPr>
              <a:spcAft>
                <a:spcPts val="800"/>
              </a:spcAft>
            </a:pPr>
            <a:r>
              <a:rPr sz="1600"/>
              <a:t>Confounding: all models adjusted for age, gender, education, and state</a:t>
            </a:r>
          </a:p>
          <a:p>
            <a:pPr>
              <a:spcAft>
                <a:spcPts val="800"/>
              </a:spcAft>
            </a:pPr>
            <a:r>
              <a:rPr sz="1600"/>
              <a:t>Correlated exposures: stressor burden rises with trauma, so the interaction is tested formally with adjustment</a:t>
            </a:r>
          </a:p>
          <a:p>
            <a:pPr>
              <a:spcAft>
                <a:spcPts val="800"/>
              </a:spcAft>
            </a:pPr>
            <a:r>
              <a:rPr sz="1600"/>
              <a:t>Artifacts: ratio-scale compression, cut-off choice, and imposed functional form each addressed by a prespecified analysis</a:t>
            </a:r>
          </a:p>
        </p:txBody>
      </p:sp>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METHODS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Participant Flow</a:t>
            </a:r>
          </a:p>
        </p:txBody>
      </p:sp>
      <p:sp>
        <p:nvSpPr>
          <p:cNvPr id="3" name="Rounded Rectangle 2"/>
          <p:cNvSpPr/>
          <p:nvPr/>
        </p:nvSpPr>
        <p:spPr>
          <a:xfrm>
            <a:off x="2103120" y="1783080"/>
            <a:ext cx="384048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3400" b="1">
                <a:solidFill>
                  <a:srgbClr val="1E3A5C"/>
                </a:solidFill>
              </a:rPr>
              <a:t>1,774</a:t>
            </a:r>
          </a:p>
          <a:p>
            <a:pPr algn="ctr"/>
            <a:r>
              <a:rPr sz="1600" b="0">
                <a:solidFill>
                  <a:srgbClr val="5A5F66"/>
                </a:solidFill>
              </a:rPr>
              <a:t>adults interviewed across six states</a:t>
            </a:r>
          </a:p>
        </p:txBody>
      </p:sp>
      <p:cxnSp>
        <p:nvCxnSpPr>
          <p:cNvPr id="4" name="Connector 3"/>
          <p:cNvCxnSpPr/>
          <p:nvPr/>
        </p:nvCxnSpPr>
        <p:spPr>
          <a:xfrm>
            <a:off x="4023360" y="2834639"/>
            <a:ext cx="0" cy="502920"/>
          </a:xfrm>
          <a:prstGeom prst="line">
            <a:avLst/>
          </a:prstGeom>
          <a:ln w="28575">
            <a:solidFill>
              <a:srgbClr val="E89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23360" y="3086099"/>
            <a:ext cx="2560320" cy="0"/>
          </a:xfrm>
          <a:prstGeom prst="line">
            <a:avLst/>
          </a:prstGeom>
          <a:ln w="19050">
            <a:solidFill>
              <a:srgbClr val="E8963C"/>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0" y="2537459"/>
            <a:ext cx="4389120" cy="1097280"/>
          </a:xfrm>
          <a:prstGeom prst="roundRect">
            <a:avLst>
              <a:gd name="adj" fmla="val 8000"/>
            </a:avLst>
          </a:prstGeom>
          <a:solidFill>
            <a:srgbClr val="1B2A4A"/>
          </a:solidFill>
          <a:ln w="19050">
            <a:solidFill>
              <a:srgbClr val="E896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1500" b="0">
                <a:solidFill>
                  <a:srgbClr val="FFFFFF"/>
                </a:solidFill>
              </a:rPr>
              <a:t>45 excluded: 37 declined the trauma items; 8 missing outcome or sampling data</a:t>
            </a:r>
          </a:p>
        </p:txBody>
      </p:sp>
      <p:sp>
        <p:nvSpPr>
          <p:cNvPr id="7" name="Rounded Rectangle 6"/>
          <p:cNvSpPr/>
          <p:nvPr/>
        </p:nvSpPr>
        <p:spPr>
          <a:xfrm>
            <a:off x="2103120" y="3337560"/>
            <a:ext cx="384048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3400" b="1">
                <a:solidFill>
                  <a:srgbClr val="1E3A5C"/>
                </a:solidFill>
              </a:rPr>
              <a:t>1,729</a:t>
            </a:r>
          </a:p>
          <a:p>
            <a:pPr algn="ctr"/>
            <a:r>
              <a:rPr sz="1600" b="0">
                <a:solidFill>
                  <a:srgbClr val="5A5F66"/>
                </a:solidFill>
              </a:rPr>
              <a:t>completed the trauma inventory and outcomes</a:t>
            </a:r>
          </a:p>
        </p:txBody>
      </p:sp>
      <p:cxnSp>
        <p:nvCxnSpPr>
          <p:cNvPr id="8" name="Connector 7"/>
          <p:cNvCxnSpPr/>
          <p:nvPr/>
        </p:nvCxnSpPr>
        <p:spPr>
          <a:xfrm>
            <a:off x="4023360" y="4389120"/>
            <a:ext cx="0" cy="502920"/>
          </a:xfrm>
          <a:prstGeom prst="line">
            <a:avLst/>
          </a:prstGeom>
          <a:ln w="28575">
            <a:solidFill>
              <a:srgbClr val="E8963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23360" y="4640580"/>
            <a:ext cx="2560320" cy="0"/>
          </a:xfrm>
          <a:prstGeom prst="line">
            <a:avLst/>
          </a:prstGeom>
          <a:ln w="19050">
            <a:solidFill>
              <a:srgbClr val="E8963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583680" y="4091940"/>
            <a:ext cx="4389120" cy="1097280"/>
          </a:xfrm>
          <a:prstGeom prst="roundRect">
            <a:avLst>
              <a:gd name="adj" fmla="val 8000"/>
            </a:avLst>
          </a:prstGeom>
          <a:solidFill>
            <a:srgbClr val="1B2A4A"/>
          </a:solidFill>
          <a:ln w="19050">
            <a:solidFill>
              <a:srgbClr val="E896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1500" b="0">
                <a:solidFill>
                  <a:srgbClr val="FFFFFF"/>
                </a:solidFill>
              </a:rPr>
              <a:t>23 excluded: missing covariate data</a:t>
            </a:r>
          </a:p>
        </p:txBody>
      </p:sp>
      <p:sp>
        <p:nvSpPr>
          <p:cNvPr id="11" name="Rounded Rectangle 10"/>
          <p:cNvSpPr/>
          <p:nvPr/>
        </p:nvSpPr>
        <p:spPr>
          <a:xfrm>
            <a:off x="2103120" y="4892040"/>
            <a:ext cx="3840480" cy="1051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ctr"/>
            <a:r>
              <a:rPr sz="3400" b="1">
                <a:solidFill>
                  <a:srgbClr val="C8102E"/>
                </a:solidFill>
              </a:rPr>
              <a:t>1,706</a:t>
            </a:r>
          </a:p>
          <a:p>
            <a:pPr algn="ctr"/>
            <a:r>
              <a:rPr sz="1600" b="0">
                <a:solidFill>
                  <a:srgbClr val="5A5F66"/>
                </a:solidFill>
              </a:rPr>
              <a:t>included in adjusted models (complete-case analysis)</a:t>
            </a:r>
          </a:p>
        </p:txBody>
      </p:sp>
      <p:sp>
        <p:nvSpPr>
          <p:cNvPr id="12"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Descriptive Data: Stressors by Trauma Exposure</a:t>
            </a:r>
          </a:p>
        </p:txBody>
      </p:sp>
      <p:pic>
        <p:nvPicPr>
          <p:cNvPr id="3" name="Picture 2" descr="stressor_by_trauma.png"/>
          <p:cNvPicPr>
            <a:picLocks noChangeAspect="1"/>
          </p:cNvPicPr>
          <p:nvPr/>
        </p:nvPicPr>
        <p:blipFill>
          <a:blip r:embed="rId2"/>
          <a:stretch>
            <a:fillRect/>
          </a:stretch>
        </p:blipFill>
        <p:spPr>
          <a:xfrm>
            <a:off x="2400458" y="1783080"/>
            <a:ext cx="7390777" cy="4069080"/>
          </a:xfrm>
          <a:prstGeom prst="rect">
            <a:avLst/>
          </a:prstGeom>
        </p:spPr>
      </p:pic>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Results: Spline Estimate</a:t>
            </a:r>
          </a:p>
        </p:txBody>
      </p:sp>
      <p:pic>
        <p:nvPicPr>
          <p:cNvPr id="3" name="Picture 2" descr="spline_effect.png"/>
          <p:cNvPicPr>
            <a:picLocks noChangeAspect="1"/>
          </p:cNvPicPr>
          <p:nvPr/>
        </p:nvPicPr>
        <p:blipFill>
          <a:blip r:embed="rId2"/>
          <a:stretch>
            <a:fillRect/>
          </a:stretch>
        </p:blipFill>
        <p:spPr>
          <a:xfrm>
            <a:off x="2625019" y="1783080"/>
            <a:ext cx="6941656" cy="4069080"/>
          </a:xfrm>
          <a:prstGeom prst="rect">
            <a:avLst/>
          </a:prstGeom>
        </p:spPr>
      </p:pic>
      <p:sp>
        <p:nvSpPr>
          <p:cNvPr id="4" name="Section label"/>
          <p:cNvSpPr txBox="1"/>
          <p:nvPr/>
        </p:nvSpPr>
        <p:spPr>
          <a:xfrm>
            <a:off x="841248" y="128016"/>
            <a:ext cx="5486400" cy="292608"/>
          </a:xfrm>
          <a:prstGeom prst="rect">
            <a:avLst/>
          </a:prstGeom>
          <a:noFill/>
        </p:spPr>
        <p:txBody>
          <a:bodyPr wrap="none" lIns="0" rIns="0" tIns="0" bIns="0">
            <a:spAutoFit/>
          </a:bodyPr>
          <a:lstStyle/>
          <a:p>
            <a:pPr algn="l"/>
            <a:r>
              <a:rPr sz="1200" b="1" spc="150">
                <a:solidFill>
                  <a:srgbClr val="E8963C"/>
                </a:solidFill>
              </a:rPr>
              <a:t>RESULTS</a:t>
            </a:r>
          </a:p>
        </p:txBody>
      </p:sp>
    </p:spTree>
  </p:cSld>
  <p:clrMapOvr>
    <a:masterClrMapping/>
  </p:clrMapOvr>
</p:sld>
</file>

<file path=ppt/theme/theme1.xml><?xml version="1.0" encoding="utf-8"?>
<a:theme xmlns:a="http://schemas.openxmlformats.org/drawingml/2006/main" name="Office Theme [1790225791192]">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veni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D1B339-9686-584A-863C-229B90637599}">
  <we:reference id="WA200010001" version="1.0.0.1" store="Omex" storeType="OMEX"/>
  <we:alternateReferences>
    <we:reference id="WA200010001" version="1.0.0.1" store="WA200010001" storeType="OMEX"/>
  </we:alternateReferences>
  <we:properties>
    <we:property name="claude.fileId" value="&quot;536db066-95c4-4d4d-8ede-e9996b7e533c&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4876336B1FEC34C9AF13CFD0682E5C4" ma:contentTypeVersion="15" ma:contentTypeDescription="Create a new document." ma:contentTypeScope="" ma:versionID="f930fe4fb9fc0775590c4daff8c16b97">
  <xsd:schema xmlns:xsd="http://www.w3.org/2001/XMLSchema" xmlns:xs="http://www.w3.org/2001/XMLSchema" xmlns:p="http://schemas.microsoft.com/office/2006/metadata/properties" xmlns:ns2="16f9e34a-f673-4991-bd36-81c9500deaa7" xmlns:ns3="0d455e71-3517-45a9-a939-bdf8808606ae" targetNamespace="http://schemas.microsoft.com/office/2006/metadata/properties" ma:root="true" ma:fieldsID="cde4bf3402db8cf643ee45ef11b54067" ns2:_="" ns3:_="">
    <xsd:import namespace="16f9e34a-f673-4991-bd36-81c9500deaa7"/>
    <xsd:import namespace="0d455e71-3517-45a9-a939-bdf880860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f9e34a-f673-4991-bd36-81c9500dea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22d6aeb-2130-4a19-b464-59cdf858f26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455e71-3517-45a9-a939-bdf8808606a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e837d8e-31af-40a5-9b44-e3432619d9a9}" ma:internalName="TaxCatchAll" ma:showField="CatchAllData" ma:web="0d455e71-3517-45a9-a939-bdf880860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6f9e34a-f673-4991-bd36-81c9500deaa7">
      <Terms xmlns="http://schemas.microsoft.com/office/infopath/2007/PartnerControls"/>
    </lcf76f155ced4ddcb4097134ff3c332f>
    <TaxCatchAll xmlns="0d455e71-3517-45a9-a939-bdf8808606ae" xsi:nil="true"/>
  </documentManagement>
</p:properties>
</file>

<file path=customXml/itemProps1.xml><?xml version="1.0" encoding="utf-8"?>
<ds:datastoreItem xmlns:ds="http://schemas.openxmlformats.org/officeDocument/2006/customXml" ds:itemID="{1C096B2B-A652-4499-9E2B-71FAFA9556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f9e34a-f673-4991-bd36-81c9500deaa7"/>
    <ds:schemaRef ds:uri="0d455e71-3517-45a9-a939-bdf880860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7461CDA-AB55-4D84-9CEF-669BCD74C02F}">
  <ds:schemaRefs>
    <ds:schemaRef ds:uri="http://schemas.microsoft.com/sharepoint/v3/contenttype/forms"/>
  </ds:schemaRefs>
</ds:datastoreItem>
</file>

<file path=customXml/itemProps3.xml><?xml version="1.0" encoding="utf-8"?>
<ds:datastoreItem xmlns:ds="http://schemas.openxmlformats.org/officeDocument/2006/customXml" ds:itemID="{5514700D-B035-4BA6-828A-0AE1243E6859}">
  <ds:schemaRefs>
    <ds:schemaRef ds:uri="http://schemas.microsoft.com/office/2006/metadata/properties"/>
    <ds:schemaRef ds:uri="http://schemas.microsoft.com/office/infopath/2007/PartnerControls"/>
    <ds:schemaRef ds:uri="16f9e34a-f673-4991-bd36-81c9500deaa7"/>
    <ds:schemaRef ds:uri="0d455e71-3517-45a9-a939-bdf8808606ae"/>
  </ds:schemaRefs>
</ds:datastoreItem>
</file>

<file path=docProps/app.xml><?xml version="1.0" encoding="utf-8"?>
<Properties xmlns="http://schemas.openxmlformats.org/officeDocument/2006/extended-properties" xmlns:vt="http://schemas.openxmlformats.org/officeDocument/2006/docPropsVTypes">
  <TotalTime>745</TotalTime>
  <Words>3295</Words>
  <Application>Microsoft Macintosh PowerPoint</Application>
  <PresentationFormat>Widescreen</PresentationFormat>
  <Paragraphs>251</Paragraphs>
  <Slides>30</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Avenir</vt:lpstr>
      <vt:lpstr>Office Theme [1790225791192]</vt:lpstr>
      <vt:lpstr>When More Trauma Means Less Stress Sensitivity</vt:lpstr>
      <vt:lpstr>Continuing Medical Education Financial Disclosure </vt:lpstr>
      <vt:lpstr>Background</vt:lpstr>
      <vt:lpstr>Burden of common mental health indicators</vt:lpstr>
      <vt:lpstr>Trauma in a Stressful Setting</vt:lpstr>
      <vt:lpstr>Two Exposures, Two Intervention Logics</vt:lpstr>
      <vt:lpstr>Building-Block Model: Effects Simply Add</vt:lpstr>
      <vt:lpstr>Sensitization: Trauma Steepens the Gradient</vt:lpstr>
      <vt:lpstr>Saturation: The Gradient Flattens</vt:lpstr>
      <vt:lpstr>Study Aim and Hypotheses</vt:lpstr>
      <vt:lpstr>Methods</vt:lpstr>
      <vt:lpstr>The Sample at a Glance</vt:lpstr>
      <vt:lpstr>Measures</vt:lpstr>
      <vt:lpstr>Analysis: Data Driven Curve</vt:lpstr>
      <vt:lpstr>Analysis: Ratio and Absolute Scales</vt:lpstr>
      <vt:lpstr>Results</vt:lpstr>
      <vt:lpstr>Exposures</vt:lpstr>
      <vt:lpstr>PTSD prevalence at zero stressors, by trauma exposure</vt:lpstr>
      <vt:lpstr>Per-Stressor Risk Falls as Trauma Rises</vt:lpstr>
      <vt:lpstr>Holds on the Absolute Scale</vt:lpstr>
      <vt:lpstr>Interaction in Prevalence</vt:lpstr>
      <vt:lpstr>Robustness test</vt:lpstr>
      <vt:lpstr>Discussion</vt:lpstr>
      <vt:lpstr>Both Hypotheses Supported: Saturation, Not Sensitization</vt:lpstr>
      <vt:lpstr>Stress Sensitivity Fades as Trauma Accumulates</vt:lpstr>
      <vt:lpstr>Candidate Mechanisms</vt:lpstr>
      <vt:lpstr>Implications for Humanitarian Programming</vt:lpstr>
      <vt:lpstr>Limitations</vt:lpstr>
      <vt:lpstr>Conclusion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Brahlek</dc:creator>
  <cp:lastModifiedBy>Abba-Aji, Mohammed</cp:lastModifiedBy>
  <cp:revision>26</cp:revision>
  <dcterms:created xsi:type="dcterms:W3CDTF">2026-04-30T16:25:28Z</dcterms:created>
  <dcterms:modified xsi:type="dcterms:W3CDTF">2026-09-24T05:00:44Z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0x010100E4876336B1FEC34C9AF13CFD0682E5C4</vt:lpwstr>
  </property>
  <property fmtid="{D5CDD505-2E9C-101B-9397-08002B2CF9AE}" pid="3" name="MediaServiceImageTags">
    <vt:lpwstr/>
  </property>
</Properties>
</file>